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5143500" cx="9144000"/>
  <p:notesSz cx="6858000" cy="9144000"/>
  <p:embeddedFontLst>
    <p:embeddedFont>
      <p:font typeface="Nunito"/>
      <p:regular r:id="rId57"/>
      <p:bold r:id="rId58"/>
      <p:italic r:id="rId59"/>
      <p:boldItalic r:id="rId60"/>
    </p:embeddedFont>
    <p:embeddedFont>
      <p:font typeface="Maven Pro"/>
      <p:regular r:id="rId61"/>
      <p:bold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avenPro-bold.fntdata"/><Relationship Id="rId61" Type="http://schemas.openxmlformats.org/officeDocument/2006/relationships/font" Target="fonts/MavenPro-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Nunito-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Nunito-regular.fntdata"/><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Nunito-italic.fntdata"/><Relationship Id="rId14" Type="http://schemas.openxmlformats.org/officeDocument/2006/relationships/slide" Target="slides/slide9.xml"/><Relationship Id="rId58" Type="http://schemas.openxmlformats.org/officeDocument/2006/relationships/font" Target="fonts/Nunito-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b8e2f809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b8e2f809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1087ecbd03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1087ecbd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0ca5513fe0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0ca5513fe0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135f40c38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135f40c38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135f40c38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1135f40c38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135f40c38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135f40c38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135f40c38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135f40c38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135f40c38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135f40c38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0ca5513fe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0ca5513fe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135f40c38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135f40c38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135f40c38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135f40c38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135f40c38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135f40c38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135f40c380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135f40c380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135f40c380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135f40c380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135f40c380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135f40c380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135f40c380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135f40c380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135f40c380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135f40c380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13951402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13951402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135f40c38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135f40c38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135f40c380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135f40c380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135f40c380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135f40c380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135f40c38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135f40c38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135f40c380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135f40c380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135f40c380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1135f40c380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135f40c380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135f40c380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135f40c380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135f40c380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135f40c380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135f40c380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1135f40c380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1135f40c380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135f40c380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135f40c380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1135f40c380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1135f40c380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1135f40c380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1135f40c380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1135f40c380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1135f40c380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1135f40c380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1135f40c380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135f40c380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135f40c380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135f40c380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135f40c380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135f40c380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1135f40c380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1135f40c380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1135f40c380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1135f40c380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1135f40c380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gama, phi, psi</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1135f40c380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1135f40c380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1135f40c380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1135f40c380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1135f40c380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1135f40c380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1135f40c380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1135f40c380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1135f40c380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1135f40c380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1135f40c380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1135f40c380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1135f40c380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1135f40c380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1135f40c380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1135f40c380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1135f40c380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1135f40c380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1135f40c380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1135f40c380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1135f40c380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1135f40c380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b70361a4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2b70361a4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 name="Google Shape;29;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0" name="Google Shape;30;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EFEFEF"/>
              </a:buClr>
              <a:buSzPts val="1600"/>
              <a:buNone/>
              <a:defRPr sz="1600">
                <a:solidFill>
                  <a:srgbClr val="EFEFEF"/>
                </a:solidFill>
              </a:defRPr>
            </a:lvl1pPr>
            <a:lvl2pPr lvl="1">
              <a:lnSpc>
                <a:spcPct val="100000"/>
              </a:lnSpc>
              <a:spcBef>
                <a:spcPts val="0"/>
              </a:spcBef>
              <a:spcAft>
                <a:spcPts val="0"/>
              </a:spcAft>
              <a:buClr>
                <a:srgbClr val="EFEFEF"/>
              </a:buClr>
              <a:buSzPts val="1600"/>
              <a:buNone/>
              <a:defRPr sz="1600">
                <a:solidFill>
                  <a:srgbClr val="EFEFEF"/>
                </a:solidFill>
              </a:defRPr>
            </a:lvl2pPr>
            <a:lvl3pPr lvl="2">
              <a:lnSpc>
                <a:spcPct val="100000"/>
              </a:lnSpc>
              <a:spcBef>
                <a:spcPts val="0"/>
              </a:spcBef>
              <a:spcAft>
                <a:spcPts val="0"/>
              </a:spcAft>
              <a:buClr>
                <a:srgbClr val="EFEFEF"/>
              </a:buClr>
              <a:buSzPts val="1600"/>
              <a:buNone/>
              <a:defRPr sz="1600">
                <a:solidFill>
                  <a:srgbClr val="EFEFEF"/>
                </a:solidFill>
              </a:defRPr>
            </a:lvl3pPr>
            <a:lvl4pPr lvl="3">
              <a:lnSpc>
                <a:spcPct val="100000"/>
              </a:lnSpc>
              <a:spcBef>
                <a:spcPts val="0"/>
              </a:spcBef>
              <a:spcAft>
                <a:spcPts val="0"/>
              </a:spcAft>
              <a:buClr>
                <a:srgbClr val="EFEFEF"/>
              </a:buClr>
              <a:buSzPts val="1600"/>
              <a:buNone/>
              <a:defRPr sz="1600">
                <a:solidFill>
                  <a:srgbClr val="EFEFEF"/>
                </a:solidFill>
              </a:defRPr>
            </a:lvl4pPr>
            <a:lvl5pPr lvl="4">
              <a:lnSpc>
                <a:spcPct val="100000"/>
              </a:lnSpc>
              <a:spcBef>
                <a:spcPts val="0"/>
              </a:spcBef>
              <a:spcAft>
                <a:spcPts val="0"/>
              </a:spcAft>
              <a:buClr>
                <a:srgbClr val="EFEFEF"/>
              </a:buClr>
              <a:buSzPts val="1600"/>
              <a:buNone/>
              <a:defRPr sz="1600">
                <a:solidFill>
                  <a:srgbClr val="EFEFEF"/>
                </a:solidFill>
              </a:defRPr>
            </a:lvl5pPr>
            <a:lvl6pPr lvl="5">
              <a:lnSpc>
                <a:spcPct val="100000"/>
              </a:lnSpc>
              <a:spcBef>
                <a:spcPts val="0"/>
              </a:spcBef>
              <a:spcAft>
                <a:spcPts val="0"/>
              </a:spcAft>
              <a:buClr>
                <a:srgbClr val="EFEFEF"/>
              </a:buClr>
              <a:buSzPts val="1600"/>
              <a:buNone/>
              <a:defRPr sz="1600">
                <a:solidFill>
                  <a:srgbClr val="EFEFEF"/>
                </a:solidFill>
              </a:defRPr>
            </a:lvl6pPr>
            <a:lvl7pPr lvl="6">
              <a:lnSpc>
                <a:spcPct val="100000"/>
              </a:lnSpc>
              <a:spcBef>
                <a:spcPts val="0"/>
              </a:spcBef>
              <a:spcAft>
                <a:spcPts val="0"/>
              </a:spcAft>
              <a:buClr>
                <a:srgbClr val="EFEFEF"/>
              </a:buClr>
              <a:buSzPts val="1600"/>
              <a:buNone/>
              <a:defRPr sz="1600">
                <a:solidFill>
                  <a:srgbClr val="EFEFEF"/>
                </a:solidFill>
              </a:defRPr>
            </a:lvl7pPr>
            <a:lvl8pPr lvl="7">
              <a:lnSpc>
                <a:spcPct val="100000"/>
              </a:lnSpc>
              <a:spcBef>
                <a:spcPts val="0"/>
              </a:spcBef>
              <a:spcAft>
                <a:spcPts val="0"/>
              </a:spcAft>
              <a:buClr>
                <a:srgbClr val="EFEFEF"/>
              </a:buClr>
              <a:buSzPts val="1600"/>
              <a:buNone/>
              <a:defRPr sz="1600">
                <a:solidFill>
                  <a:srgbClr val="EFEFEF"/>
                </a:solidFill>
              </a:defRPr>
            </a:lvl8pPr>
            <a:lvl9pPr lvl="8">
              <a:lnSpc>
                <a:spcPct val="100000"/>
              </a:lnSpc>
              <a:spcBef>
                <a:spcPts val="0"/>
              </a:spcBef>
              <a:spcAft>
                <a:spcPts val="0"/>
              </a:spcAft>
              <a:buClr>
                <a:srgbClr val="EFEFEF"/>
              </a:buClr>
              <a:buSzPts val="1600"/>
              <a:buNone/>
              <a:defRPr sz="1600">
                <a:solidFill>
                  <a:srgbClr val="EFEFEF"/>
                </a:solidFill>
              </a:defRPr>
            </a:lvl9pPr>
          </a:lstStyle>
          <a:p/>
        </p:txBody>
      </p:sp>
      <p:sp>
        <p:nvSpPr>
          <p:cNvPr id="31" name="Google Shape;31;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grpSp>
        <p:nvGrpSpPr>
          <p:cNvPr id="32" name="Google Shape;32;p2"/>
          <p:cNvGrpSpPr/>
          <p:nvPr/>
        </p:nvGrpSpPr>
        <p:grpSpPr>
          <a:xfrm>
            <a:off x="5043503" y="0"/>
            <a:ext cx="3814072" cy="3839102"/>
            <a:chOff x="5043503" y="0"/>
            <a:chExt cx="3814072" cy="3839102"/>
          </a:xfrm>
        </p:grpSpPr>
        <p:sp>
          <p:nvSpPr>
            <p:cNvPr id="33" name="Google Shape;33;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7647812" y="2704283"/>
              <a:ext cx="635219" cy="635219"/>
              <a:chOff x="6725724" y="2701260"/>
              <a:chExt cx="1208101" cy="1208100"/>
            </a:xfrm>
          </p:grpSpPr>
          <p:sp>
            <p:nvSpPr>
              <p:cNvPr id="36" name="Google Shape;36;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2"/>
            <p:cNvGrpSpPr/>
            <p:nvPr/>
          </p:nvGrpSpPr>
          <p:grpSpPr>
            <a:xfrm>
              <a:off x="7952720" y="179238"/>
              <a:ext cx="873165" cy="873003"/>
              <a:chOff x="7754428" y="208725"/>
              <a:chExt cx="541800" cy="541800"/>
            </a:xfrm>
          </p:grpSpPr>
          <p:sp>
            <p:nvSpPr>
              <p:cNvPr id="41" name="Google Shape;41;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F3F3F3"/>
              </a:buClr>
              <a:buSzPts val="3600"/>
              <a:buNone/>
              <a:defRPr sz="3600">
                <a:solidFill>
                  <a:srgbClr val="F3F3F3"/>
                </a:solidFill>
              </a:defRPr>
            </a:lvl1pPr>
            <a:lvl2pPr lvl="1">
              <a:spcBef>
                <a:spcPts val="0"/>
              </a:spcBef>
              <a:spcAft>
                <a:spcPts val="0"/>
              </a:spcAft>
              <a:buClr>
                <a:srgbClr val="F3F3F3"/>
              </a:buClr>
              <a:buSzPts val="3600"/>
              <a:buNone/>
              <a:defRPr sz="3600">
                <a:solidFill>
                  <a:srgbClr val="F3F3F3"/>
                </a:solidFill>
              </a:defRPr>
            </a:lvl2pPr>
            <a:lvl3pPr lvl="2">
              <a:spcBef>
                <a:spcPts val="0"/>
              </a:spcBef>
              <a:spcAft>
                <a:spcPts val="0"/>
              </a:spcAft>
              <a:buClr>
                <a:srgbClr val="F3F3F3"/>
              </a:buClr>
              <a:buSzPts val="3600"/>
              <a:buNone/>
              <a:defRPr sz="3600">
                <a:solidFill>
                  <a:srgbClr val="F3F3F3"/>
                </a:solidFill>
              </a:defRPr>
            </a:lvl3pPr>
            <a:lvl4pPr lvl="3">
              <a:spcBef>
                <a:spcPts val="0"/>
              </a:spcBef>
              <a:spcAft>
                <a:spcPts val="0"/>
              </a:spcAft>
              <a:buClr>
                <a:srgbClr val="F3F3F3"/>
              </a:buClr>
              <a:buSzPts val="3600"/>
              <a:buNone/>
              <a:defRPr sz="3600">
                <a:solidFill>
                  <a:srgbClr val="F3F3F3"/>
                </a:solidFill>
              </a:defRPr>
            </a:lvl4pPr>
            <a:lvl5pPr lvl="4">
              <a:spcBef>
                <a:spcPts val="0"/>
              </a:spcBef>
              <a:spcAft>
                <a:spcPts val="0"/>
              </a:spcAft>
              <a:buClr>
                <a:srgbClr val="F3F3F3"/>
              </a:buClr>
              <a:buSzPts val="3600"/>
              <a:buNone/>
              <a:defRPr sz="3600">
                <a:solidFill>
                  <a:srgbClr val="F3F3F3"/>
                </a:solidFill>
              </a:defRPr>
            </a:lvl5pPr>
            <a:lvl6pPr lvl="5">
              <a:spcBef>
                <a:spcPts val="0"/>
              </a:spcBef>
              <a:spcAft>
                <a:spcPts val="0"/>
              </a:spcAft>
              <a:buClr>
                <a:srgbClr val="F3F3F3"/>
              </a:buClr>
              <a:buSzPts val="3600"/>
              <a:buNone/>
              <a:defRPr sz="3600">
                <a:solidFill>
                  <a:srgbClr val="F3F3F3"/>
                </a:solidFill>
              </a:defRPr>
            </a:lvl6pPr>
            <a:lvl7pPr lvl="6">
              <a:spcBef>
                <a:spcPts val="0"/>
              </a:spcBef>
              <a:spcAft>
                <a:spcPts val="0"/>
              </a:spcAft>
              <a:buClr>
                <a:srgbClr val="F3F3F3"/>
              </a:buClr>
              <a:buSzPts val="3600"/>
              <a:buNone/>
              <a:defRPr sz="3600">
                <a:solidFill>
                  <a:srgbClr val="F3F3F3"/>
                </a:solidFill>
              </a:defRPr>
            </a:lvl7pPr>
            <a:lvl8pPr lvl="7">
              <a:spcBef>
                <a:spcPts val="0"/>
              </a:spcBef>
              <a:spcAft>
                <a:spcPts val="0"/>
              </a:spcAft>
              <a:buClr>
                <a:srgbClr val="F3F3F3"/>
              </a:buClr>
              <a:buSzPts val="3600"/>
              <a:buNone/>
              <a:defRPr sz="3600">
                <a:solidFill>
                  <a:srgbClr val="F3F3F3"/>
                </a:solidFill>
              </a:defRPr>
            </a:lvl8pPr>
            <a:lvl9pPr lvl="8">
              <a:spcBef>
                <a:spcPts val="0"/>
              </a:spcBef>
              <a:spcAft>
                <a:spcPts val="0"/>
              </a:spcAft>
              <a:buClr>
                <a:srgbClr val="F3F3F3"/>
              </a:buClr>
              <a:buSzPts val="3600"/>
              <a:buNone/>
              <a:defRPr sz="3600">
                <a:solidFill>
                  <a:srgbClr val="F3F3F3"/>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FEFEF"/>
              </a:buClr>
              <a:buSzPts val="3600"/>
              <a:buNone/>
              <a:defRPr sz="3600">
                <a:solidFill>
                  <a:srgbClr val="EFEFEF"/>
                </a:solidFill>
              </a:defRPr>
            </a:lvl1pPr>
            <a:lvl2pPr lvl="1">
              <a:spcBef>
                <a:spcPts val="0"/>
              </a:spcBef>
              <a:spcAft>
                <a:spcPts val="0"/>
              </a:spcAft>
              <a:buClr>
                <a:srgbClr val="EFEFEF"/>
              </a:buClr>
              <a:buSzPts val="3600"/>
              <a:buNone/>
              <a:defRPr sz="3600">
                <a:solidFill>
                  <a:srgbClr val="EFEFEF"/>
                </a:solidFill>
              </a:defRPr>
            </a:lvl2pPr>
            <a:lvl3pPr lvl="2">
              <a:spcBef>
                <a:spcPts val="0"/>
              </a:spcBef>
              <a:spcAft>
                <a:spcPts val="0"/>
              </a:spcAft>
              <a:buClr>
                <a:srgbClr val="EFEFEF"/>
              </a:buClr>
              <a:buSzPts val="3600"/>
              <a:buNone/>
              <a:defRPr sz="3600">
                <a:solidFill>
                  <a:srgbClr val="EFEFEF"/>
                </a:solidFill>
              </a:defRPr>
            </a:lvl3pPr>
            <a:lvl4pPr lvl="3">
              <a:spcBef>
                <a:spcPts val="0"/>
              </a:spcBef>
              <a:spcAft>
                <a:spcPts val="0"/>
              </a:spcAft>
              <a:buClr>
                <a:srgbClr val="EFEFEF"/>
              </a:buClr>
              <a:buSzPts val="3600"/>
              <a:buNone/>
              <a:defRPr sz="3600">
                <a:solidFill>
                  <a:srgbClr val="EFEFEF"/>
                </a:solidFill>
              </a:defRPr>
            </a:lvl4pPr>
            <a:lvl5pPr lvl="4">
              <a:spcBef>
                <a:spcPts val="0"/>
              </a:spcBef>
              <a:spcAft>
                <a:spcPts val="0"/>
              </a:spcAft>
              <a:buClr>
                <a:srgbClr val="EFEFEF"/>
              </a:buClr>
              <a:buSzPts val="3600"/>
              <a:buNone/>
              <a:defRPr sz="3600">
                <a:solidFill>
                  <a:srgbClr val="EFEFEF"/>
                </a:solidFill>
              </a:defRPr>
            </a:lvl5pPr>
            <a:lvl6pPr lvl="5">
              <a:spcBef>
                <a:spcPts val="0"/>
              </a:spcBef>
              <a:spcAft>
                <a:spcPts val="0"/>
              </a:spcAft>
              <a:buClr>
                <a:srgbClr val="EFEFEF"/>
              </a:buClr>
              <a:buSzPts val="3600"/>
              <a:buNone/>
              <a:defRPr sz="3600">
                <a:solidFill>
                  <a:srgbClr val="EFEFEF"/>
                </a:solidFill>
              </a:defRPr>
            </a:lvl6pPr>
            <a:lvl7pPr lvl="6">
              <a:spcBef>
                <a:spcPts val="0"/>
              </a:spcBef>
              <a:spcAft>
                <a:spcPts val="0"/>
              </a:spcAft>
              <a:buClr>
                <a:srgbClr val="EFEFEF"/>
              </a:buClr>
              <a:buSzPts val="3600"/>
              <a:buNone/>
              <a:defRPr sz="3600">
                <a:solidFill>
                  <a:srgbClr val="EFEFEF"/>
                </a:solidFill>
              </a:defRPr>
            </a:lvl7pPr>
            <a:lvl8pPr lvl="7">
              <a:spcBef>
                <a:spcPts val="0"/>
              </a:spcBef>
              <a:spcAft>
                <a:spcPts val="0"/>
              </a:spcAft>
              <a:buClr>
                <a:srgbClr val="EFEFEF"/>
              </a:buClr>
              <a:buSzPts val="3600"/>
              <a:buNone/>
              <a:defRPr sz="3600">
                <a:solidFill>
                  <a:srgbClr val="EFEFEF"/>
                </a:solidFill>
              </a:defRPr>
            </a:lvl8pPr>
            <a:lvl9pPr lvl="8">
              <a:spcBef>
                <a:spcPts val="0"/>
              </a:spcBef>
              <a:spcAft>
                <a:spcPts val="0"/>
              </a:spcAft>
              <a:buClr>
                <a:srgbClr val="EFEFEF"/>
              </a:buClr>
              <a:buSzPts val="3600"/>
              <a:buNone/>
              <a:defRPr sz="3600">
                <a:solidFill>
                  <a:srgbClr val="EFEFEF"/>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4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14.gif"/><Relationship Id="rId4" Type="http://schemas.openxmlformats.org/officeDocument/2006/relationships/image" Target="../media/image5.gif"/><Relationship Id="rId5" Type="http://schemas.openxmlformats.org/officeDocument/2006/relationships/image" Target="../media/image9.gif"/><Relationship Id="rId6" Type="http://schemas.openxmlformats.org/officeDocument/2006/relationships/image" Target="../media/image17.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 Id="rId3" Type="http://schemas.openxmlformats.org/officeDocument/2006/relationships/hyperlink" Target="http://drive.google.com/file/d/1LheiXvf5I7lalXRh4j-Fj9twtFzy1mZb/view" TargetMode="External"/><Relationship Id="rId4" Type="http://schemas.openxmlformats.org/officeDocument/2006/relationships/image" Target="../media/image2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 Id="rId3" Type="http://schemas.openxmlformats.org/officeDocument/2006/relationships/hyperlink" Target="http://drive.google.com/file/d/1zbHdyCxE8ZuLUoPrPOoUrSjgObD9hJrD/view" TargetMode="External"/><Relationship Id="rId4" Type="http://schemas.openxmlformats.org/officeDocument/2006/relationships/image" Target="../media/image25.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 Id="rId3"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 Id="rId3"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 Id="rId3"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 Id="rId3" Type="http://schemas.openxmlformats.org/officeDocument/2006/relationships/image" Target="../media/image2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9.xml"/><Relationship Id="rId3" Type="http://schemas.openxmlformats.org/officeDocument/2006/relationships/image" Target="../media/image35.png"/><Relationship Id="rId4" Type="http://schemas.openxmlformats.org/officeDocument/2006/relationships/image" Target="../media/image2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Relationship Id="rId3" Type="http://schemas.openxmlformats.org/officeDocument/2006/relationships/image" Target="../media/image43.png"/><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1.xml"/><Relationship Id="rId3" Type="http://schemas.openxmlformats.org/officeDocument/2006/relationships/image" Target="../media/image27.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Ciencia de Datos para Sensores Inteligentes</a:t>
            </a:r>
            <a:endParaRPr/>
          </a:p>
          <a:p>
            <a:pPr indent="0" lvl="0" marL="0" rtl="0" algn="l">
              <a:lnSpc>
                <a:spcPct val="115000"/>
              </a:lnSpc>
              <a:spcBef>
                <a:spcPts val="0"/>
              </a:spcBef>
              <a:spcAft>
                <a:spcPts val="0"/>
              </a:spcAft>
              <a:buNone/>
            </a:pPr>
            <a:r>
              <a:rPr b="0" lang="es-419" sz="1644">
                <a:solidFill>
                  <a:schemeClr val="dk1"/>
                </a:solidFill>
                <a:latin typeface="Arial"/>
                <a:ea typeface="Arial"/>
                <a:cs typeface="Arial"/>
                <a:sym typeface="Arial"/>
              </a:rPr>
              <a:t>Tópicos Selectos en Sistemas Interactivos</a:t>
            </a:r>
            <a:endParaRPr sz="4044"/>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rgbClr val="EFEFEF"/>
                </a:solidFill>
              </a:rPr>
              <a:t>Dr. Irvin Hussein López Nava</a:t>
            </a:r>
            <a:endParaRPr>
              <a:solidFill>
                <a:srgbClr val="EFEFEF"/>
              </a:solidFill>
            </a:endParaRPr>
          </a:p>
          <a:p>
            <a:pPr indent="0" lvl="0" marL="0" rtl="0" algn="l">
              <a:spcBef>
                <a:spcPts val="0"/>
              </a:spcBef>
              <a:spcAft>
                <a:spcPts val="0"/>
              </a:spcAft>
              <a:buNone/>
            </a:pPr>
            <a:r>
              <a:rPr lang="es-419">
                <a:solidFill>
                  <a:srgbClr val="D9D9D9"/>
                </a:solidFill>
              </a:rPr>
              <a:t>CICESE 2025 - I</a:t>
            </a:r>
            <a:endParaRPr>
              <a:solidFill>
                <a:srgbClr val="D9D9D9"/>
              </a:solidFill>
            </a:endParaRPr>
          </a:p>
        </p:txBody>
      </p:sp>
      <p:pic>
        <p:nvPicPr>
          <p:cNvPr id="279" name="Google Shape;279;p13"/>
          <p:cNvPicPr preferRelativeResize="0"/>
          <p:nvPr/>
        </p:nvPicPr>
        <p:blipFill>
          <a:blip r:embed="rId3">
            <a:alphaModFix amt="50000"/>
          </a:blip>
          <a:stretch>
            <a:fillRect/>
          </a:stretch>
        </p:blipFill>
        <p:spPr>
          <a:xfrm>
            <a:off x="6282225" y="1416333"/>
            <a:ext cx="908050" cy="448350"/>
          </a:xfrm>
          <a:prstGeom prst="rect">
            <a:avLst/>
          </a:prstGeom>
          <a:noFill/>
          <a:ln>
            <a:noFill/>
          </a:ln>
        </p:spPr>
      </p:pic>
      <p:pic>
        <p:nvPicPr>
          <p:cNvPr id="280" name="Google Shape;280;p13"/>
          <p:cNvPicPr preferRelativeResize="0"/>
          <p:nvPr/>
        </p:nvPicPr>
        <p:blipFill>
          <a:blip r:embed="rId4">
            <a:alphaModFix amt="75000"/>
          </a:blip>
          <a:stretch>
            <a:fillRect/>
          </a:stretch>
        </p:blipFill>
        <p:spPr>
          <a:xfrm>
            <a:off x="6023125" y="659125"/>
            <a:ext cx="318050" cy="318050"/>
          </a:xfrm>
          <a:prstGeom prst="rect">
            <a:avLst/>
          </a:prstGeom>
          <a:noFill/>
          <a:ln>
            <a:noFill/>
          </a:ln>
        </p:spPr>
      </p:pic>
      <p:pic>
        <p:nvPicPr>
          <p:cNvPr id="281" name="Google Shape;281;p13"/>
          <p:cNvPicPr preferRelativeResize="0"/>
          <p:nvPr/>
        </p:nvPicPr>
        <p:blipFill rotWithShape="1">
          <a:blip r:embed="rId5">
            <a:alphaModFix amt="75000"/>
          </a:blip>
          <a:srcRect b="35620" l="28214" r="28782" t="0"/>
          <a:stretch/>
        </p:blipFill>
        <p:spPr>
          <a:xfrm>
            <a:off x="5568825" y="1580658"/>
            <a:ext cx="227338" cy="20781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solidFill>
                  <a:schemeClr val="dk1"/>
                </a:solidFill>
              </a:rPr>
              <a:t>Unidad 4</a:t>
            </a:r>
            <a:endParaRPr sz="6000">
              <a:solidFill>
                <a:schemeClr val="dk1"/>
              </a:solidFill>
            </a:endParaRPr>
          </a:p>
        </p:txBody>
      </p:sp>
      <p:sp>
        <p:nvSpPr>
          <p:cNvPr id="287" name="Google Shape;287;p14"/>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s-419" sz="3200"/>
              <a:t>Sensado inercial</a:t>
            </a:r>
            <a:endParaRPr sz="3200"/>
          </a:p>
        </p:txBody>
      </p:sp>
      <p:sp>
        <p:nvSpPr>
          <p:cNvPr id="288" name="Google Shape;288;p1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5"/>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2400"/>
              <a:t>LECTURA</a:t>
            </a:r>
            <a:endParaRPr sz="2400"/>
          </a:p>
        </p:txBody>
      </p:sp>
      <p:sp>
        <p:nvSpPr>
          <p:cNvPr id="294" name="Google Shape;294;p15"/>
          <p:cNvSpPr txBox="1"/>
          <p:nvPr>
            <p:ph idx="1" type="body"/>
          </p:nvPr>
        </p:nvSpPr>
        <p:spPr>
          <a:xfrm>
            <a:off x="922800" y="2081075"/>
            <a:ext cx="3312000" cy="222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400"/>
              <a:t>Warrington, D. J., Shortis, E. J., &amp; Whittaker, P. J. (2021). </a:t>
            </a:r>
            <a:r>
              <a:rPr b="1" lang="es-419" sz="1400"/>
              <a:t>Are wearable devices effective for preventing and detecting falls: an umbrella review</a:t>
            </a:r>
            <a:r>
              <a:rPr lang="es-419" sz="1400"/>
              <a:t> </a:t>
            </a:r>
            <a:br>
              <a:rPr lang="es-419" sz="1400"/>
            </a:br>
            <a:r>
              <a:rPr lang="es-419" sz="1400"/>
              <a:t>(a review of systematic reviews). </a:t>
            </a:r>
            <a:br>
              <a:rPr lang="es-419" sz="1400"/>
            </a:br>
            <a:r>
              <a:rPr lang="es-419" sz="1400"/>
              <a:t>BMC public health, 21(1), 1-12.</a:t>
            </a:r>
            <a:endParaRPr sz="1400"/>
          </a:p>
        </p:txBody>
      </p:sp>
      <p:pic>
        <p:nvPicPr>
          <p:cNvPr id="295" name="Google Shape;295;p15"/>
          <p:cNvPicPr preferRelativeResize="0"/>
          <p:nvPr/>
        </p:nvPicPr>
        <p:blipFill rotWithShape="1">
          <a:blip r:embed="rId3">
            <a:alphaModFix/>
          </a:blip>
          <a:srcRect b="0" l="32845" r="0" t="0"/>
          <a:stretch/>
        </p:blipFill>
        <p:spPr>
          <a:xfrm>
            <a:off x="4612500" y="0"/>
            <a:ext cx="4531499" cy="5064469"/>
          </a:xfrm>
          <a:prstGeom prst="rect">
            <a:avLst/>
          </a:prstGeom>
          <a:noFill/>
          <a:ln>
            <a:noFill/>
          </a:ln>
        </p:spPr>
      </p:pic>
      <p:sp>
        <p:nvSpPr>
          <p:cNvPr id="296" name="Google Shape;296;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297" name="Google Shape;297;p15"/>
          <p:cNvPicPr preferRelativeResize="0"/>
          <p:nvPr/>
        </p:nvPicPr>
        <p:blipFill rotWithShape="1">
          <a:blip r:embed="rId4">
            <a:alphaModFix/>
          </a:blip>
          <a:srcRect b="0" l="35668" r="5570" t="0"/>
          <a:stretch/>
        </p:blipFill>
        <p:spPr>
          <a:xfrm>
            <a:off x="4612500" y="0"/>
            <a:ext cx="4531502" cy="51434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6"/>
          <p:cNvSpPr txBox="1"/>
          <p:nvPr>
            <p:ph type="title"/>
          </p:nvPr>
        </p:nvSpPr>
        <p:spPr>
          <a:xfrm>
            <a:off x="824000" y="1613825"/>
            <a:ext cx="6386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4</a:t>
            </a:r>
            <a:r>
              <a:rPr lang="es-419"/>
              <a:t>.3 Medición inercial</a:t>
            </a:r>
            <a:endParaRPr/>
          </a:p>
        </p:txBody>
      </p:sp>
      <p:sp>
        <p:nvSpPr>
          <p:cNvPr id="303" name="Google Shape;303;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7"/>
          <p:cNvSpPr txBox="1"/>
          <p:nvPr>
            <p:ph idx="1" type="body"/>
          </p:nvPr>
        </p:nvSpPr>
        <p:spPr>
          <a:xfrm>
            <a:off x="1303800" y="4138975"/>
            <a:ext cx="7147200" cy="7179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None/>
            </a:pPr>
            <a:r>
              <a:rPr b="1" lang="es-419" sz="1200"/>
              <a:t>S</a:t>
            </a:r>
            <a:r>
              <a:rPr b="1" lang="es-419" sz="1200"/>
              <a:t>istema Vicon con 6 cámaras</a:t>
            </a:r>
            <a:r>
              <a:rPr lang="es-419" sz="1200"/>
              <a:t>. En azul el espacio de visión de cada cámara. El espacio de trabajo </a:t>
            </a:r>
            <a:r>
              <a:rPr i="1" lang="es-419" sz="1200"/>
              <a:t>Ƥ</a:t>
            </a:r>
            <a:r>
              <a:rPr lang="es-419" sz="1200"/>
              <a:t>, el sistema de coordenadas global </a:t>
            </a:r>
            <a:r>
              <a:rPr i="1" lang="es-419" sz="1200"/>
              <a:t>W</a:t>
            </a:r>
            <a:r>
              <a:rPr lang="es-419" sz="1200"/>
              <a:t>, y el plano sagital </a:t>
            </a:r>
            <a:r>
              <a:rPr i="1" lang="es-419" sz="1200"/>
              <a:t>S</a:t>
            </a:r>
            <a:r>
              <a:rPr lang="es-419" sz="1200"/>
              <a:t> se muestran como referencia.</a:t>
            </a:r>
            <a:endParaRPr sz="1200"/>
          </a:p>
        </p:txBody>
      </p:sp>
      <p:sp>
        <p:nvSpPr>
          <p:cNvPr id="309" name="Google Shape;309;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10" name="Google Shape;310;p17"/>
          <p:cNvPicPr preferRelativeResize="0"/>
          <p:nvPr/>
        </p:nvPicPr>
        <p:blipFill>
          <a:blip r:embed="rId3">
            <a:alphaModFix/>
          </a:blip>
          <a:stretch>
            <a:fillRect/>
          </a:stretch>
        </p:blipFill>
        <p:spPr>
          <a:xfrm>
            <a:off x="1851000" y="407900"/>
            <a:ext cx="5442001" cy="3438950"/>
          </a:xfrm>
          <a:prstGeom prst="rect">
            <a:avLst/>
          </a:prstGeom>
          <a:noFill/>
          <a:ln>
            <a:noFill/>
          </a:ln>
        </p:spPr>
      </p:pic>
      <p:sp>
        <p:nvSpPr>
          <p:cNvPr id="311" name="Google Shape;311;p17"/>
          <p:cNvSpPr txBox="1"/>
          <p:nvPr/>
        </p:nvSpPr>
        <p:spPr>
          <a:xfrm>
            <a:off x="800450" y="45478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Komsuoglu, H., Majumdar, A., Aydin, Y. O., &amp; Koditschek, D. E. (2014). Characterization of dynamic behaviors in a hexapod robot. </a:t>
            </a:r>
            <a:br>
              <a:rPr lang="es-419" sz="800">
                <a:solidFill>
                  <a:srgbClr val="94B6BD"/>
                </a:solidFill>
              </a:rPr>
            </a:br>
            <a:r>
              <a:rPr lang="es-419" sz="800">
                <a:solidFill>
                  <a:srgbClr val="94B6BD"/>
                </a:solidFill>
              </a:rPr>
              <a:t>In Experimental Robotics (pp. 667-684). Springer, Berlin, Heidelberg</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Position and orientation</a:t>
            </a:r>
            <a:endParaRPr/>
          </a:p>
        </p:txBody>
      </p:sp>
      <p:sp>
        <p:nvSpPr>
          <p:cNvPr id="317" name="Google Shape;317;p1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posición y orientación de un cuerpo rígido en el espacio se denomina </a:t>
            </a:r>
            <a:r>
              <a:rPr b="1" lang="es-419"/>
              <a:t>pose</a:t>
            </a:r>
            <a:r>
              <a:rPr lang="es-419"/>
              <a:t>. Las traslaciones y rotaciones se utilizan para representar la pose de un cuerpo.</a:t>
            </a:r>
            <a:endParaRPr/>
          </a:p>
          <a:p>
            <a:pPr indent="0" lvl="0" marL="0" rtl="0" algn="l">
              <a:spcBef>
                <a:spcPts val="1200"/>
              </a:spcBef>
              <a:spcAft>
                <a:spcPts val="0"/>
              </a:spcAft>
              <a:buNone/>
            </a:pPr>
            <a:r>
              <a:rPr lang="es-419"/>
              <a:t>El número mínimo de coordenadas necesarias para ubicar un cuerpo en un espacio euclidiano es </a:t>
            </a:r>
            <a:r>
              <a:rPr lang="es-419"/>
              <a:t>seis</a:t>
            </a:r>
            <a:r>
              <a:rPr lang="es-419"/>
              <a:t>. </a:t>
            </a:r>
            <a:endParaRPr/>
          </a:p>
          <a:p>
            <a:pPr indent="0" lvl="0" marL="0" rtl="0" algn="l">
              <a:spcBef>
                <a:spcPts val="1200"/>
              </a:spcBef>
              <a:spcAft>
                <a:spcPts val="1200"/>
              </a:spcAft>
              <a:buNone/>
            </a:pPr>
            <a:r>
              <a:rPr lang="es-419"/>
              <a:t>Un marco de referencia de coordenadas </a:t>
            </a:r>
            <a:r>
              <a:rPr i="1" lang="es-419"/>
              <a:t>{i}</a:t>
            </a:r>
            <a:r>
              <a:rPr lang="es-419"/>
              <a:t> consiste en un origen, denotado por </a:t>
            </a:r>
            <a:r>
              <a:rPr i="1" lang="es-419"/>
              <a:t>O</a:t>
            </a:r>
            <a:r>
              <a:rPr baseline="-25000" i="1" lang="es-419"/>
              <a:t>i</a:t>
            </a:r>
            <a:r>
              <a:rPr lang="es-419"/>
              <a:t>, y una tríada de vectores de base mutuamente ortogonales, denotados como </a:t>
            </a:r>
            <a:r>
              <a:rPr i="1" lang="es-419"/>
              <a:t>x</a:t>
            </a:r>
            <a:r>
              <a:rPr baseline="-25000" i="1" lang="es-419"/>
              <a:t>i</a:t>
            </a:r>
            <a:r>
              <a:rPr lang="es-419"/>
              <a:t>, </a:t>
            </a:r>
            <a:r>
              <a:rPr i="1" lang="es-419"/>
              <a:t>y</a:t>
            </a:r>
            <a:r>
              <a:rPr baseline="-25000" i="1" lang="es-419"/>
              <a:t>i</a:t>
            </a:r>
            <a:r>
              <a:rPr lang="es-419"/>
              <a:t>, </a:t>
            </a:r>
            <a:r>
              <a:rPr i="1" lang="es-419"/>
              <a:t>z</a:t>
            </a:r>
            <a:r>
              <a:rPr baseline="-25000" i="1" lang="es-419"/>
              <a:t>i</a:t>
            </a:r>
            <a:r>
              <a:rPr lang="es-419"/>
              <a:t>, que están todos fijos dentro de un cuerpo particular.</a:t>
            </a:r>
            <a:endParaRPr/>
          </a:p>
        </p:txBody>
      </p:sp>
      <p:sp>
        <p:nvSpPr>
          <p:cNvPr id="318" name="Google Shape;318;p1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Siciliano, B., Khatib, O., &amp; Kröger, T. (Eds.). (2008). Springer handbook of robotics (Vol. 200). Berlin: springer</a:t>
            </a:r>
            <a:endParaRPr sz="800">
              <a:solidFill>
                <a:srgbClr val="94B6BD"/>
              </a:solidFill>
            </a:endParaRPr>
          </a:p>
        </p:txBody>
      </p:sp>
      <p:sp>
        <p:nvSpPr>
          <p:cNvPr id="319" name="Google Shape;319;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Pose</a:t>
            </a:r>
            <a:endParaRPr sz="2400">
              <a:solidFill>
                <a:schemeClr val="accent2"/>
              </a:solidFill>
            </a:endParaRPr>
          </a:p>
        </p:txBody>
      </p:sp>
      <p:sp>
        <p:nvSpPr>
          <p:cNvPr id="325" name="Google Shape;325;p19"/>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a:t>
            </a:r>
            <a:r>
              <a:rPr b="1" lang="es-419">
                <a:solidFill>
                  <a:schemeClr val="accent1"/>
                </a:solidFill>
              </a:rPr>
              <a:t>pose</a:t>
            </a:r>
            <a:r>
              <a:rPr lang="es-419"/>
              <a:t> de un cuerpo debe expresarse en relación con algún otro cuerpo, por lo que puede expresarse como la pose de un marco de coordenadas en relación con otro. </a:t>
            </a:r>
            <a:endParaRPr/>
          </a:p>
          <a:p>
            <a:pPr indent="0" lvl="0" marL="0" rtl="0" algn="l">
              <a:spcBef>
                <a:spcPts val="1200"/>
              </a:spcBef>
              <a:spcAft>
                <a:spcPts val="0"/>
              </a:spcAft>
              <a:buNone/>
            </a:pPr>
            <a:r>
              <a:rPr lang="es-419"/>
              <a:t>De manera similar, los desplazamientos de un cuerpo rígido se pueden expresar como los desplazamientos entre dos marcos de coordenadas, uno de los cuales puede denominarse móvil (</a:t>
            </a:r>
            <a:r>
              <a:rPr i="1" lang="es-419"/>
              <a:t>moving</a:t>
            </a:r>
            <a:r>
              <a:rPr lang="es-419"/>
              <a:t>), mientras que el otro puede denominarse fijo (</a:t>
            </a:r>
            <a:r>
              <a:rPr i="1" lang="es-419"/>
              <a:t>fixed</a:t>
            </a:r>
            <a:r>
              <a:rPr lang="es-419"/>
              <a:t>). </a:t>
            </a:r>
            <a:endParaRPr/>
          </a:p>
          <a:p>
            <a:pPr indent="0" lvl="0" marL="0" rtl="0" algn="l">
              <a:spcBef>
                <a:spcPts val="1200"/>
              </a:spcBef>
              <a:spcAft>
                <a:spcPts val="1200"/>
              </a:spcAft>
              <a:buNone/>
            </a:pPr>
            <a:r>
              <a:rPr lang="es-419"/>
              <a:t>Esto indica que el observador está ubicado en una posición estacionaria dentro del marco de referencia fijo.</a:t>
            </a:r>
            <a:endParaRPr/>
          </a:p>
        </p:txBody>
      </p:sp>
      <p:sp>
        <p:nvSpPr>
          <p:cNvPr id="326" name="Google Shape;326;p1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Siciliano, B., Khatib, O., &amp; Kröger, T. (Eds.). (2008). Springer handbook of robotics (Vol. 200). Berlin: springer</a:t>
            </a:r>
            <a:endParaRPr sz="800">
              <a:solidFill>
                <a:srgbClr val="94B6BD"/>
              </a:solidFill>
            </a:endParaRPr>
          </a:p>
        </p:txBody>
      </p:sp>
      <p:sp>
        <p:nvSpPr>
          <p:cNvPr id="327" name="Google Shape;327;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Posición y desplazamiento</a:t>
            </a:r>
            <a:endParaRPr sz="2400">
              <a:solidFill>
                <a:schemeClr val="accent2"/>
              </a:solidFill>
            </a:endParaRPr>
          </a:p>
        </p:txBody>
      </p:sp>
      <p:sp>
        <p:nvSpPr>
          <p:cNvPr id="333" name="Google Shape;333;p20"/>
          <p:cNvSpPr txBox="1"/>
          <p:nvPr>
            <p:ph idx="1" type="body"/>
          </p:nvPr>
        </p:nvSpPr>
        <p:spPr>
          <a:xfrm>
            <a:off x="1269875" y="1761450"/>
            <a:ext cx="4431600" cy="303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400"/>
              <a:t>La </a:t>
            </a:r>
            <a:r>
              <a:rPr b="1" lang="es-419" sz="1400"/>
              <a:t>posición</a:t>
            </a:r>
            <a:r>
              <a:rPr lang="es-419" sz="1400"/>
              <a:t> del origen del marco de coordenadas </a:t>
            </a:r>
            <a:r>
              <a:rPr i="1" lang="es-419" sz="1400"/>
              <a:t>{i}</a:t>
            </a:r>
            <a:r>
              <a:rPr lang="es-419" sz="1400"/>
              <a:t> en relación con el marco de coordenadas </a:t>
            </a:r>
            <a:r>
              <a:rPr i="1" lang="es-419" sz="1400"/>
              <a:t>{j}</a:t>
            </a:r>
            <a:r>
              <a:rPr lang="es-419" sz="1400"/>
              <a:t> se puede indicar mediante un vector de 3×1.</a:t>
            </a:r>
            <a:endParaRPr sz="1400"/>
          </a:p>
          <a:p>
            <a:pPr indent="0" lvl="0" marL="0" rtl="0" algn="l">
              <a:spcBef>
                <a:spcPts val="1200"/>
              </a:spcBef>
              <a:spcAft>
                <a:spcPts val="0"/>
              </a:spcAft>
              <a:buNone/>
            </a:pPr>
            <a:r>
              <a:t/>
            </a:r>
            <a:endParaRPr sz="1400"/>
          </a:p>
          <a:p>
            <a:pPr indent="0" lvl="0" marL="0" rtl="0" algn="l">
              <a:spcBef>
                <a:spcPts val="1200"/>
              </a:spcBef>
              <a:spcAft>
                <a:spcPts val="0"/>
              </a:spcAft>
              <a:buNone/>
            </a:pPr>
            <a:r>
              <a:t/>
            </a:r>
            <a:endParaRPr sz="1400"/>
          </a:p>
          <a:p>
            <a:pPr indent="0" lvl="0" marL="0" rtl="0" algn="l">
              <a:spcBef>
                <a:spcPts val="1200"/>
              </a:spcBef>
              <a:spcAft>
                <a:spcPts val="1200"/>
              </a:spcAft>
              <a:buNone/>
            </a:pPr>
            <a:r>
              <a:rPr lang="es-419" sz="1400"/>
              <a:t>Los componentes de este vector son las coordenadas cartesianas de </a:t>
            </a:r>
            <a:r>
              <a:rPr i="1" lang="es-419" sz="1400"/>
              <a:t>O</a:t>
            </a:r>
            <a:r>
              <a:rPr baseline="-25000" i="1" lang="es-419" sz="1400"/>
              <a:t>i</a:t>
            </a:r>
            <a:r>
              <a:rPr lang="es-419" sz="1400"/>
              <a:t> en el marco </a:t>
            </a:r>
            <a:r>
              <a:rPr i="1" lang="es-419" sz="1400"/>
              <a:t>{j}</a:t>
            </a:r>
            <a:r>
              <a:rPr lang="es-419" sz="1400"/>
              <a:t>, que son las proyecciones del vector </a:t>
            </a:r>
            <a:r>
              <a:rPr baseline="30000" lang="es-419" sz="1400"/>
              <a:t>j</a:t>
            </a:r>
            <a:r>
              <a:rPr lang="es-419" sz="1400"/>
              <a:t>p</a:t>
            </a:r>
            <a:r>
              <a:rPr baseline="-25000" lang="es-419" sz="1400"/>
              <a:t>i</a:t>
            </a:r>
            <a:r>
              <a:rPr lang="es-419" sz="1400"/>
              <a:t> sobre los ejes correspondientes. </a:t>
            </a:r>
            <a:endParaRPr sz="1400"/>
          </a:p>
        </p:txBody>
      </p:sp>
      <p:sp>
        <p:nvSpPr>
          <p:cNvPr id="334" name="Google Shape;334;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35" name="Google Shape;335;p20"/>
          <p:cNvPicPr preferRelativeResize="0"/>
          <p:nvPr/>
        </p:nvPicPr>
        <p:blipFill>
          <a:blip r:embed="rId3">
            <a:alphaModFix/>
          </a:blip>
          <a:stretch>
            <a:fillRect/>
          </a:stretch>
        </p:blipFill>
        <p:spPr>
          <a:xfrm>
            <a:off x="5829273" y="2107025"/>
            <a:ext cx="2505025" cy="2064225"/>
          </a:xfrm>
          <a:prstGeom prst="rect">
            <a:avLst/>
          </a:prstGeom>
          <a:noFill/>
          <a:ln>
            <a:noFill/>
          </a:ln>
        </p:spPr>
      </p:pic>
      <p:pic>
        <p:nvPicPr>
          <p:cNvPr id="336" name="Google Shape;336;p20"/>
          <p:cNvPicPr preferRelativeResize="0"/>
          <p:nvPr/>
        </p:nvPicPr>
        <p:blipFill rotWithShape="1">
          <a:blip r:embed="rId4">
            <a:alphaModFix/>
          </a:blip>
          <a:srcRect b="11219" l="0" r="0" t="9377"/>
          <a:stretch/>
        </p:blipFill>
        <p:spPr>
          <a:xfrm>
            <a:off x="2755400" y="2764025"/>
            <a:ext cx="1155750" cy="750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Posición y desplazamiento</a:t>
            </a:r>
            <a:endParaRPr sz="2400">
              <a:solidFill>
                <a:schemeClr val="accent2"/>
              </a:solidFill>
            </a:endParaRPr>
          </a:p>
        </p:txBody>
      </p:sp>
      <p:sp>
        <p:nvSpPr>
          <p:cNvPr id="342" name="Google Shape;342;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43" name="Google Shape;343;p21"/>
          <p:cNvPicPr preferRelativeResize="0"/>
          <p:nvPr/>
        </p:nvPicPr>
        <p:blipFill>
          <a:blip r:embed="rId3">
            <a:alphaModFix/>
          </a:blip>
          <a:stretch>
            <a:fillRect/>
          </a:stretch>
        </p:blipFill>
        <p:spPr>
          <a:xfrm>
            <a:off x="5371790" y="1997700"/>
            <a:ext cx="2962509" cy="1943275"/>
          </a:xfrm>
          <a:prstGeom prst="rect">
            <a:avLst/>
          </a:prstGeom>
          <a:noFill/>
          <a:ln>
            <a:noFill/>
          </a:ln>
        </p:spPr>
      </p:pic>
      <p:sp>
        <p:nvSpPr>
          <p:cNvPr id="344" name="Google Shape;344;p21"/>
          <p:cNvSpPr txBox="1"/>
          <p:nvPr>
            <p:ph idx="1" type="body"/>
          </p:nvPr>
        </p:nvSpPr>
        <p:spPr>
          <a:xfrm>
            <a:off x="1269875" y="1761450"/>
            <a:ext cx="3659400" cy="303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Una traslación es un desplazamiento en el que ningún punto del cuerpo rígido permanece en su posición inicial y todas las líneas rectas del cuerpo rígido permanecen paralelas a sus orientaciones iniciales. </a:t>
            </a:r>
            <a:endParaRPr/>
          </a:p>
          <a:p>
            <a:pPr indent="0" lvl="0" marL="0" rtl="0" algn="l">
              <a:spcBef>
                <a:spcPts val="1200"/>
              </a:spcBef>
              <a:spcAft>
                <a:spcPts val="1200"/>
              </a:spcAft>
              <a:buNone/>
            </a:pPr>
            <a:r>
              <a:rPr lang="es-419"/>
              <a:t>Así, cualquier representación de posición puede usarse para crear una representación de desplazamiento, y viceversa.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Orientación y rotación</a:t>
            </a:r>
            <a:endParaRPr sz="2400">
              <a:solidFill>
                <a:schemeClr val="dk1"/>
              </a:solidFill>
            </a:endParaRPr>
          </a:p>
        </p:txBody>
      </p:sp>
      <p:sp>
        <p:nvSpPr>
          <p:cNvPr id="350" name="Google Shape;350;p2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Hay una amplitud mayor en la representación de la </a:t>
            </a:r>
            <a:r>
              <a:rPr b="1" lang="es-419">
                <a:solidFill>
                  <a:srgbClr val="000000"/>
                </a:solidFill>
              </a:rPr>
              <a:t>orientación</a:t>
            </a:r>
            <a:r>
              <a:rPr lang="es-419"/>
              <a:t> respecto a la </a:t>
            </a:r>
            <a:r>
              <a:rPr b="1" lang="es-419">
                <a:solidFill>
                  <a:schemeClr val="accent5"/>
                </a:solidFill>
              </a:rPr>
              <a:t>posición</a:t>
            </a:r>
            <a:r>
              <a:rPr lang="es-419"/>
              <a:t>, como matrices de rotación, ángulos de Euler, o cuaterniones.</a:t>
            </a:r>
            <a:endParaRPr/>
          </a:p>
          <a:p>
            <a:pPr indent="0" lvl="0" marL="0" rtl="0" algn="l">
              <a:spcBef>
                <a:spcPts val="1200"/>
              </a:spcBef>
              <a:spcAft>
                <a:spcPts val="1200"/>
              </a:spcAft>
              <a:buNone/>
            </a:pPr>
            <a:r>
              <a:rPr lang="es-419"/>
              <a:t>Una rotación es un desplazamiento en el que al menos un punto del cuerpo rígido permanece en su posición inicial y no necesariamente todas las líneas del cuerpo permanecen paralelas a sus </a:t>
            </a:r>
            <a:r>
              <a:rPr b="1" lang="es-419">
                <a:solidFill>
                  <a:schemeClr val="accent5"/>
                </a:solidFill>
              </a:rPr>
              <a:t>orientaciones</a:t>
            </a:r>
            <a:r>
              <a:rPr lang="es-419"/>
              <a:t> iniciales.</a:t>
            </a:r>
            <a:endParaRPr/>
          </a:p>
        </p:txBody>
      </p:sp>
      <p:sp>
        <p:nvSpPr>
          <p:cNvPr id="351" name="Google Shape;351;p22"/>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Siciliano, B., Khatib, O., &amp; Kröger, T. (Eds.). (2008). Springer handbook of robotics (Vol. 200). Berlin: springer</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
        <p:nvSpPr>
          <p:cNvPr id="352" name="Google Shape;352;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Orientación y rotación</a:t>
            </a:r>
            <a:endParaRPr sz="2400">
              <a:solidFill>
                <a:schemeClr val="dk1"/>
              </a:solidFill>
            </a:endParaRPr>
          </a:p>
        </p:txBody>
      </p:sp>
      <p:sp>
        <p:nvSpPr>
          <p:cNvPr id="358" name="Google Shape;358;p23"/>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orientación del marco de coordenadas </a:t>
            </a:r>
            <a:r>
              <a:rPr i="1" lang="es-419"/>
              <a:t>{i}</a:t>
            </a:r>
            <a:r>
              <a:rPr lang="es-419"/>
              <a:t> en relación con el marco de coordenadas </a:t>
            </a:r>
            <a:r>
              <a:rPr i="1" lang="es-419"/>
              <a:t>{j}</a:t>
            </a:r>
            <a:r>
              <a:rPr lang="es-419"/>
              <a:t> se puede denotar expresando los vectores base </a:t>
            </a:r>
            <a:r>
              <a:rPr i="1" lang="es-419"/>
              <a:t>x</a:t>
            </a:r>
            <a:r>
              <a:rPr baseline="-25000" i="1" lang="es-419"/>
              <a:t>i</a:t>
            </a:r>
            <a:r>
              <a:rPr lang="es-419"/>
              <a:t>, </a:t>
            </a:r>
            <a:r>
              <a:rPr i="1" lang="es-419"/>
              <a:t>y</a:t>
            </a:r>
            <a:r>
              <a:rPr baseline="-25000" i="1" lang="es-419"/>
              <a:t>i</a:t>
            </a:r>
            <a:r>
              <a:rPr lang="es-419"/>
              <a:t>, </a:t>
            </a:r>
            <a:r>
              <a:rPr i="1" lang="es-419"/>
              <a:t>z</a:t>
            </a:r>
            <a:r>
              <a:rPr baseline="-25000" i="1" lang="es-419"/>
              <a:t>i</a:t>
            </a:r>
            <a:r>
              <a:rPr lang="es-419"/>
              <a:t> en términos de los vectores base </a:t>
            </a:r>
            <a:r>
              <a:rPr i="1" lang="es-419"/>
              <a:t>x</a:t>
            </a:r>
            <a:r>
              <a:rPr baseline="-25000" i="1" lang="es-419"/>
              <a:t>j</a:t>
            </a:r>
            <a:r>
              <a:rPr lang="es-419"/>
              <a:t>, </a:t>
            </a:r>
            <a:r>
              <a:rPr i="1" lang="es-419"/>
              <a:t>y</a:t>
            </a:r>
            <a:r>
              <a:rPr baseline="-25000" i="1" lang="es-419"/>
              <a:t>j</a:t>
            </a:r>
            <a:r>
              <a:rPr lang="es-419"/>
              <a:t>, </a:t>
            </a:r>
            <a:r>
              <a:rPr i="1" lang="es-419"/>
              <a:t>z</a:t>
            </a:r>
            <a:r>
              <a:rPr baseline="-25000" i="1" lang="es-419"/>
              <a:t>j</a:t>
            </a:r>
            <a:r>
              <a:rPr lang="es-419"/>
              <a:t>. </a:t>
            </a:r>
            <a:endParaRPr/>
          </a:p>
          <a:p>
            <a:pPr indent="0" lvl="0" marL="0" rtl="0" algn="l">
              <a:spcBef>
                <a:spcPts val="1200"/>
              </a:spcBef>
              <a:spcAft>
                <a:spcPts val="1200"/>
              </a:spcAft>
              <a:buNone/>
            </a:pPr>
            <a:r>
              <a:rPr lang="es-419"/>
              <a:t>Esto produce </a:t>
            </a:r>
            <a:r>
              <a:rPr baseline="30000" i="1" lang="es-419"/>
              <a:t>j</a:t>
            </a:r>
            <a:r>
              <a:rPr i="1" lang="es-419"/>
              <a:t>x</a:t>
            </a:r>
            <a:r>
              <a:rPr baseline="-25000" i="1" lang="es-419"/>
              <a:t>i</a:t>
            </a:r>
            <a:r>
              <a:rPr lang="es-419"/>
              <a:t>, </a:t>
            </a:r>
            <a:r>
              <a:rPr baseline="30000" i="1" lang="es-419"/>
              <a:t>j</a:t>
            </a:r>
            <a:r>
              <a:rPr i="1" lang="es-419"/>
              <a:t>y</a:t>
            </a:r>
            <a:r>
              <a:rPr baseline="-25000" i="1" lang="es-419"/>
              <a:t>i</a:t>
            </a:r>
            <a:r>
              <a:rPr lang="es-419"/>
              <a:t>, </a:t>
            </a:r>
            <a:r>
              <a:rPr baseline="30000" i="1" lang="es-419"/>
              <a:t>j</a:t>
            </a:r>
            <a:r>
              <a:rPr i="1" lang="es-419"/>
              <a:t>z</a:t>
            </a:r>
            <a:r>
              <a:rPr baseline="-25000" i="1" lang="es-419"/>
              <a:t>i</a:t>
            </a:r>
            <a:r>
              <a:rPr lang="es-419"/>
              <a:t>, que se puede escribir como una matriz de 3×3 conocida como </a:t>
            </a:r>
            <a:r>
              <a:rPr b="1" lang="es-419"/>
              <a:t>matriz de rotación</a:t>
            </a:r>
            <a:r>
              <a:rPr lang="es-419"/>
              <a:t>. Los componentes de </a:t>
            </a:r>
            <a:r>
              <a:rPr baseline="30000" i="1" lang="es-419"/>
              <a:t>j</a:t>
            </a:r>
            <a:r>
              <a:rPr i="1" lang="es-419"/>
              <a:t>Rot</a:t>
            </a:r>
            <a:r>
              <a:rPr baseline="-25000" i="1" lang="es-419"/>
              <a:t>i</a:t>
            </a:r>
            <a:r>
              <a:rPr lang="es-419"/>
              <a:t> son los productos punto de los vectores base de los dos marcos de coordenadas.</a:t>
            </a:r>
            <a:endParaRPr/>
          </a:p>
        </p:txBody>
      </p:sp>
      <p:sp>
        <p:nvSpPr>
          <p:cNvPr id="359" name="Google Shape;359;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60" name="Google Shape;360;p23"/>
          <p:cNvPicPr preferRelativeResize="0"/>
          <p:nvPr/>
        </p:nvPicPr>
        <p:blipFill>
          <a:blip r:embed="rId3">
            <a:alphaModFix/>
          </a:blip>
          <a:stretch>
            <a:fillRect/>
          </a:stretch>
        </p:blipFill>
        <p:spPr>
          <a:xfrm>
            <a:off x="3412975" y="3569700"/>
            <a:ext cx="2318050" cy="838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Orientación y rotación</a:t>
            </a:r>
            <a:endParaRPr sz="2400">
              <a:solidFill>
                <a:schemeClr val="dk1"/>
              </a:solidFill>
            </a:endParaRPr>
          </a:p>
        </p:txBody>
      </p:sp>
      <p:sp>
        <p:nvSpPr>
          <p:cNvPr id="366" name="Google Shape;366;p2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Debido a que los vectores base son vectores unitarios y el producto escalar de dos vectores unitarios cualquiera es el coseno del ángulo entre ellos, los componentes se conocen comúnmente como cosenos directores (</a:t>
            </a:r>
            <a:r>
              <a:rPr i="1" lang="es-419"/>
              <a:t>direction cosine</a:t>
            </a:r>
            <a:r>
              <a:rPr lang="es-419"/>
              <a:t>). </a:t>
            </a:r>
            <a:endParaRPr/>
          </a:p>
          <a:p>
            <a:pPr indent="0" lvl="0" marL="0" rtl="0" algn="l">
              <a:spcBef>
                <a:spcPts val="1200"/>
              </a:spcBef>
              <a:spcAft>
                <a:spcPts val="1200"/>
              </a:spcAft>
              <a:buNone/>
            </a:pPr>
            <a:r>
              <a:rPr lang="es-419"/>
              <a:t>Una rotación elemental del marco </a:t>
            </a:r>
            <a:r>
              <a:rPr i="1" lang="es-419"/>
              <a:t>{i}</a:t>
            </a:r>
            <a:r>
              <a:rPr lang="es-419"/>
              <a:t> alrededor del eje </a:t>
            </a:r>
            <a:r>
              <a:rPr i="1" lang="es-419"/>
              <a:t>x</a:t>
            </a:r>
            <a:r>
              <a:rPr baseline="-25000" i="1" lang="es-419"/>
              <a:t>j</a:t>
            </a:r>
            <a:r>
              <a:rPr lang="es-419"/>
              <a:t> a través de un ángulo θ se expresa como</a:t>
            </a:r>
            <a:endParaRPr/>
          </a:p>
        </p:txBody>
      </p:sp>
      <p:sp>
        <p:nvSpPr>
          <p:cNvPr id="367" name="Google Shape;367;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68" name="Google Shape;368;p24"/>
          <p:cNvPicPr preferRelativeResize="0"/>
          <p:nvPr/>
        </p:nvPicPr>
        <p:blipFill>
          <a:blip r:embed="rId3">
            <a:alphaModFix/>
          </a:blip>
          <a:stretch>
            <a:fillRect/>
          </a:stretch>
        </p:blipFill>
        <p:spPr>
          <a:xfrm>
            <a:off x="3648750" y="3249375"/>
            <a:ext cx="1846501" cy="868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Orientación y rotación</a:t>
            </a:r>
            <a:endParaRPr sz="2400">
              <a:solidFill>
                <a:schemeClr val="dk1"/>
              </a:solidFill>
            </a:endParaRPr>
          </a:p>
        </p:txBody>
      </p:sp>
      <p:sp>
        <p:nvSpPr>
          <p:cNvPr id="374" name="Google Shape;374;p25"/>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De la ecuación anterior, </a:t>
            </a:r>
            <a:r>
              <a:rPr i="1" lang="es-419"/>
              <a:t>c</a:t>
            </a:r>
            <a:r>
              <a:rPr baseline="-25000" i="1" lang="es-419"/>
              <a:t>θ</a:t>
            </a:r>
            <a:r>
              <a:rPr lang="es-419"/>
              <a:t> y </a:t>
            </a:r>
            <a:r>
              <a:rPr i="1" lang="es-419"/>
              <a:t>s</a:t>
            </a:r>
            <a:r>
              <a:rPr baseline="-25000" i="1" lang="es-419"/>
              <a:t>θ</a:t>
            </a:r>
            <a:r>
              <a:rPr lang="es-419"/>
              <a:t> son el coseno y el seno del ángulo θ, respectivamente; mientras que la misma rotación sobre el eje </a:t>
            </a:r>
            <a:r>
              <a:rPr i="1" lang="es-419"/>
              <a:t>y</a:t>
            </a:r>
            <a:r>
              <a:rPr baseline="30000" i="1" lang="es-419"/>
              <a:t>j</a:t>
            </a:r>
            <a:r>
              <a:rPr lang="es-419"/>
              <a:t> se expresa por</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419"/>
              <a:t>y sobre el eje </a:t>
            </a:r>
            <a:r>
              <a:rPr i="1" lang="es-419"/>
              <a:t>z</a:t>
            </a:r>
            <a:r>
              <a:rPr baseline="-25000" i="1" lang="es-419"/>
              <a:t>j</a:t>
            </a:r>
            <a:r>
              <a:rPr lang="es-419"/>
              <a:t> se expresa por</a:t>
            </a:r>
            <a:endParaRPr/>
          </a:p>
        </p:txBody>
      </p:sp>
      <p:sp>
        <p:nvSpPr>
          <p:cNvPr id="375" name="Google Shape;375;p2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76" name="Google Shape;376;p25"/>
          <p:cNvPicPr preferRelativeResize="0"/>
          <p:nvPr/>
        </p:nvPicPr>
        <p:blipFill>
          <a:blip r:embed="rId3">
            <a:alphaModFix/>
          </a:blip>
          <a:stretch>
            <a:fillRect/>
          </a:stretch>
        </p:blipFill>
        <p:spPr>
          <a:xfrm>
            <a:off x="3639575" y="2483450"/>
            <a:ext cx="1864851" cy="787200"/>
          </a:xfrm>
          <a:prstGeom prst="rect">
            <a:avLst/>
          </a:prstGeom>
          <a:noFill/>
          <a:ln>
            <a:noFill/>
          </a:ln>
        </p:spPr>
      </p:pic>
      <p:pic>
        <p:nvPicPr>
          <p:cNvPr id="377" name="Google Shape;377;p25"/>
          <p:cNvPicPr preferRelativeResize="0"/>
          <p:nvPr/>
        </p:nvPicPr>
        <p:blipFill>
          <a:blip r:embed="rId4">
            <a:alphaModFix/>
          </a:blip>
          <a:stretch>
            <a:fillRect/>
          </a:stretch>
        </p:blipFill>
        <p:spPr>
          <a:xfrm>
            <a:off x="3593841" y="3597675"/>
            <a:ext cx="1956309" cy="787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Orientación y rotación</a:t>
            </a:r>
            <a:endParaRPr sz="2400">
              <a:solidFill>
                <a:schemeClr val="dk1"/>
              </a:solidFill>
            </a:endParaRPr>
          </a:p>
        </p:txBody>
      </p:sp>
      <p:sp>
        <p:nvSpPr>
          <p:cNvPr id="383" name="Google Shape;383;p2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Debido a que los vectores base del marco de coordenadas </a:t>
            </a:r>
            <a:r>
              <a:rPr i="1" lang="es-419"/>
              <a:t>{i}</a:t>
            </a:r>
            <a:r>
              <a:rPr lang="es-419"/>
              <a:t> son mutuamente ortonormales, al igual que los vectores base del marco de coordenadas </a:t>
            </a:r>
            <a:r>
              <a:rPr i="1" lang="es-419"/>
              <a:t>{j}</a:t>
            </a:r>
            <a:r>
              <a:rPr lang="es-419"/>
              <a:t>, las columnas de </a:t>
            </a:r>
            <a:r>
              <a:rPr baseline="30000" i="1" lang="es-419"/>
              <a:t>j</a:t>
            </a:r>
            <a:r>
              <a:rPr i="1" lang="es-419"/>
              <a:t>Rot</a:t>
            </a:r>
            <a:r>
              <a:rPr baseline="-25000" i="1" lang="es-419"/>
              <a:t>i</a:t>
            </a:r>
            <a:r>
              <a:rPr lang="es-419"/>
              <a:t> formadas a partir del producto escalar de estos vectores también son mutuamente ortonormales. </a:t>
            </a:r>
            <a:endParaRPr/>
          </a:p>
          <a:p>
            <a:pPr indent="0" lvl="0" marL="0" rtl="0" algn="l">
              <a:spcBef>
                <a:spcPts val="1200"/>
              </a:spcBef>
              <a:spcAft>
                <a:spcPts val="1200"/>
              </a:spcAft>
              <a:buNone/>
            </a:pPr>
            <a:r>
              <a:rPr lang="es-419"/>
              <a:t>La orientación del marco de coordenadas </a:t>
            </a:r>
            <a:r>
              <a:rPr i="1" lang="es-419"/>
              <a:t>{j}</a:t>
            </a:r>
            <a:r>
              <a:rPr lang="es-419"/>
              <a:t> relativo al marco de coordenadas </a:t>
            </a:r>
            <a:r>
              <a:rPr i="1" lang="es-419"/>
              <a:t>{i}</a:t>
            </a:r>
            <a:r>
              <a:rPr lang="es-419"/>
              <a:t> es la matriz de rotación </a:t>
            </a:r>
            <a:r>
              <a:rPr baseline="30000" i="1" lang="es-419"/>
              <a:t>i</a:t>
            </a:r>
            <a:r>
              <a:rPr i="1" lang="es-419"/>
              <a:t>Rot</a:t>
            </a:r>
            <a:r>
              <a:rPr baseline="-25000" i="1" lang="es-419"/>
              <a:t>j</a:t>
            </a:r>
            <a:r>
              <a:rPr lang="es-419"/>
              <a:t> cuyas filas son las columnas de la matriz </a:t>
            </a:r>
            <a:r>
              <a:rPr baseline="30000" i="1" lang="es-419"/>
              <a:t>j</a:t>
            </a:r>
            <a:r>
              <a:rPr i="1" lang="es-419"/>
              <a:t>Rot</a:t>
            </a:r>
            <a:r>
              <a:rPr baseline="-25000" i="1" lang="es-419"/>
              <a:t>i</a:t>
            </a:r>
            <a:r>
              <a:rPr lang="es-419"/>
              <a:t>.</a:t>
            </a:r>
            <a:endParaRPr/>
          </a:p>
        </p:txBody>
      </p:sp>
      <p:sp>
        <p:nvSpPr>
          <p:cNvPr id="384" name="Google Shape;384;p2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85" name="Google Shape;385;p26"/>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Grood, E. S., &amp; Suntay, W. J. (1983). A joint coordinate system for the clinical description of three-dimensional motions: application to the knee. </a:t>
            </a:r>
            <a:br>
              <a:rPr lang="es-419" sz="800">
                <a:solidFill>
                  <a:srgbClr val="94B6BD"/>
                </a:solidFill>
              </a:rPr>
            </a:br>
            <a:r>
              <a:rPr lang="es-419" sz="800">
                <a:solidFill>
                  <a:srgbClr val="94B6BD"/>
                </a:solidFill>
              </a:rPr>
              <a:t>Journal of biomechanical engineering, 105(2), 136-144</a:t>
            </a:r>
            <a:endParaRPr sz="800">
              <a:solidFill>
                <a:srgbClr val="94B6BD"/>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Orientación y rotación</a:t>
            </a:r>
            <a:endParaRPr sz="2400">
              <a:solidFill>
                <a:schemeClr val="dk1"/>
              </a:solidFill>
            </a:endParaRPr>
          </a:p>
        </p:txBody>
      </p:sp>
      <p:sp>
        <p:nvSpPr>
          <p:cNvPr id="391" name="Google Shape;391;p2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Una matriz de rotación general se puede pensar en una secuencia de tres rotaciones, una alrededor de cada eje. </a:t>
            </a:r>
            <a:endParaRPr/>
          </a:p>
          <a:p>
            <a:pPr indent="0" lvl="0" marL="0" rtl="0" algn="l">
              <a:spcBef>
                <a:spcPts val="1200"/>
              </a:spcBef>
              <a:spcAft>
                <a:spcPts val="1200"/>
              </a:spcAft>
              <a:buNone/>
            </a:pPr>
            <a:r>
              <a:rPr lang="es-419"/>
              <a:t>Tal secuencia de rotaciones se puede representar como el producto de matrices</a:t>
            </a:r>
            <a:endParaRPr/>
          </a:p>
        </p:txBody>
      </p:sp>
      <p:sp>
        <p:nvSpPr>
          <p:cNvPr id="392" name="Google Shape;392;p2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93" name="Google Shape;393;p2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Slabaugh, G. G. (1999). Computing Euler angles from a rotation matrix. Retrieved on August, 6(2000), 39-63</a:t>
            </a:r>
            <a:endParaRPr sz="800">
              <a:solidFill>
                <a:srgbClr val="94B6BD"/>
              </a:solidFill>
            </a:endParaRPr>
          </a:p>
        </p:txBody>
      </p:sp>
      <p:pic>
        <p:nvPicPr>
          <p:cNvPr id="394" name="Google Shape;394;p27"/>
          <p:cNvPicPr preferRelativeResize="0"/>
          <p:nvPr/>
        </p:nvPicPr>
        <p:blipFill>
          <a:blip r:embed="rId3">
            <a:alphaModFix/>
          </a:blip>
          <a:stretch>
            <a:fillRect/>
          </a:stretch>
        </p:blipFill>
        <p:spPr>
          <a:xfrm>
            <a:off x="1860225" y="2916526"/>
            <a:ext cx="5423552" cy="999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Orientación y rotación</a:t>
            </a:r>
            <a:endParaRPr sz="2400">
              <a:solidFill>
                <a:schemeClr val="dk1"/>
              </a:solidFill>
            </a:endParaRPr>
          </a:p>
        </p:txBody>
      </p:sp>
      <p:sp>
        <p:nvSpPr>
          <p:cNvPr id="400" name="Google Shape;400;p2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Para una representación mínima, la orientación del marco de coordenadas </a:t>
            </a:r>
            <a:r>
              <a:rPr i="1" lang="es-419"/>
              <a:t>{i}</a:t>
            </a:r>
            <a:r>
              <a:rPr lang="es-419"/>
              <a:t> con respecto al marco de coordenadas </a:t>
            </a:r>
            <a:r>
              <a:rPr i="1" lang="es-419"/>
              <a:t>{j}</a:t>
            </a:r>
            <a:r>
              <a:rPr lang="es-419"/>
              <a:t> se puede representar como un vector de tres ángulos (γ, φ, ψ)</a:t>
            </a:r>
            <a:r>
              <a:rPr baseline="30000" lang="es-419"/>
              <a:t>T</a:t>
            </a:r>
            <a:r>
              <a:rPr lang="es-419"/>
              <a:t>. Estos ángulos se conocen como </a:t>
            </a:r>
            <a:r>
              <a:rPr b="1" lang="es-419"/>
              <a:t>ángulos de Euler </a:t>
            </a:r>
            <a:r>
              <a:rPr lang="es-419"/>
              <a:t>y cada uno representa una rotación alrededor de un eje de un marco de coordenadas en movimiento. </a:t>
            </a:r>
            <a:endParaRPr/>
          </a:p>
          <a:p>
            <a:pPr indent="0" lvl="0" marL="0" rtl="0" algn="l">
              <a:spcBef>
                <a:spcPts val="1200"/>
              </a:spcBef>
              <a:spcAft>
                <a:spcPts val="1200"/>
              </a:spcAft>
              <a:buNone/>
            </a:pPr>
            <a:r>
              <a:rPr lang="es-419"/>
              <a:t>Tomando el marco móvil </a:t>
            </a:r>
            <a:r>
              <a:rPr i="1" lang="es-419"/>
              <a:t>{i}</a:t>
            </a:r>
            <a:r>
              <a:rPr lang="es-419"/>
              <a:t> y el marco fijo </a:t>
            </a:r>
            <a:r>
              <a:rPr i="1" lang="es-419"/>
              <a:t>{j}</a:t>
            </a:r>
            <a:r>
              <a:rPr lang="es-419"/>
              <a:t>, γ es la rotación sobre el eje z del marco </a:t>
            </a:r>
            <a:r>
              <a:rPr i="1" lang="es-419"/>
              <a:t>{i}</a:t>
            </a:r>
            <a:r>
              <a:rPr lang="es-419"/>
              <a:t>, φ es la rotación sobre el eje y girado del marco </a:t>
            </a:r>
            <a:r>
              <a:rPr i="1" lang="es-419"/>
              <a:t>{i}</a:t>
            </a:r>
            <a:r>
              <a:rPr lang="es-419"/>
              <a:t>, y ψ es la rotación sobre el eje x rotado dos veces del marco </a:t>
            </a:r>
            <a:r>
              <a:rPr i="1" lang="es-419"/>
              <a:t>{i}</a:t>
            </a:r>
            <a:r>
              <a:rPr lang="es-419"/>
              <a:t>, para indicar los ángulos Euler ZYX. </a:t>
            </a:r>
            <a:endParaRPr/>
          </a:p>
        </p:txBody>
      </p:sp>
      <p:sp>
        <p:nvSpPr>
          <p:cNvPr id="401" name="Google Shape;401;p2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Orientación y rotación</a:t>
            </a:r>
            <a:endParaRPr sz="2400">
              <a:solidFill>
                <a:schemeClr val="dk1"/>
              </a:solidFill>
            </a:endParaRPr>
          </a:p>
        </p:txBody>
      </p:sp>
      <p:sp>
        <p:nvSpPr>
          <p:cNvPr id="407" name="Google Shape;407;p29"/>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a:t>
            </a:r>
            <a:r>
              <a:rPr b="1" lang="es-419"/>
              <a:t>orientación</a:t>
            </a:r>
            <a:r>
              <a:rPr lang="es-419"/>
              <a:t> se puede describir mediante matrices de rotación y ángulos de Euler. En el primer caso se necesitan 9 parámetros, mientras que en el último caso solo 3. </a:t>
            </a:r>
            <a:endParaRPr/>
          </a:p>
          <a:p>
            <a:pPr indent="0" lvl="0" marL="0" rtl="0" algn="l">
              <a:spcBef>
                <a:spcPts val="1200"/>
              </a:spcBef>
              <a:spcAft>
                <a:spcPts val="0"/>
              </a:spcAft>
              <a:buNone/>
            </a:pPr>
            <a:r>
              <a:rPr lang="es-419"/>
              <a:t>Las matrices, contrariamente a los ángulos de Euler, son convenientes para los cálculos, sin embargo, no brindan una imagen rápida y clara de la orientación.</a:t>
            </a:r>
            <a:endParaRPr/>
          </a:p>
          <a:p>
            <a:pPr indent="0" lvl="0" marL="0" rtl="0" algn="l">
              <a:spcBef>
                <a:spcPts val="1200"/>
              </a:spcBef>
              <a:spcAft>
                <a:spcPts val="1200"/>
              </a:spcAft>
              <a:buNone/>
            </a:pPr>
            <a:r>
              <a:rPr lang="es-419"/>
              <a:t>Por otro lado, una representación de la orientación con ángulos de Euler siempre exhibe una singularidad cuando la primera y la última rotación ocurren alrededor del mismo eje.</a:t>
            </a:r>
            <a:endParaRPr/>
          </a:p>
        </p:txBody>
      </p:sp>
      <p:sp>
        <p:nvSpPr>
          <p:cNvPr id="408" name="Google Shape;408;p2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09" name="Google Shape;409;p29"/>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Orsag, M., Korpela, C., Oh, P., &amp; Bogdan, S. (2018). Coordinate Systems and Transformations. In Aerial Manipulation (pp. 19-31). Springer, Cham.</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Orientación y rotación</a:t>
            </a:r>
            <a:endParaRPr sz="2400">
              <a:solidFill>
                <a:schemeClr val="dk1"/>
              </a:solidFill>
            </a:endParaRPr>
          </a:p>
        </p:txBody>
      </p:sp>
      <p:sp>
        <p:nvSpPr>
          <p:cNvPr id="415" name="Google Shape;415;p30"/>
          <p:cNvSpPr txBox="1"/>
          <p:nvPr>
            <p:ph idx="1" type="body"/>
          </p:nvPr>
        </p:nvSpPr>
        <p:spPr>
          <a:xfrm>
            <a:off x="1303800" y="1761450"/>
            <a:ext cx="70773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a:t>
            </a:r>
            <a:r>
              <a:rPr b="1" lang="es-419"/>
              <a:t>cuaterniones</a:t>
            </a:r>
            <a:r>
              <a:rPr lang="es-419"/>
              <a:t> están representados por cuatro números reales que amplían los números complejos, con operaciones de suma y multiplicación definidas por reglas especiales. </a:t>
            </a:r>
            <a:endParaRPr/>
          </a:p>
          <a:p>
            <a:pPr indent="0" lvl="0" marL="0" rtl="0" algn="l">
              <a:spcBef>
                <a:spcPts val="1200"/>
              </a:spcBef>
              <a:spcAft>
                <a:spcPts val="0"/>
              </a:spcAft>
              <a:buNone/>
            </a:pPr>
            <a:r>
              <a:rPr lang="es-419"/>
              <a:t>Un cuaternión </a:t>
            </a:r>
            <a:r>
              <a:rPr i="1" lang="es-419"/>
              <a:t>qˆ </a:t>
            </a:r>
            <a:r>
              <a:rPr lang="es-419"/>
              <a:t>se define como la suma de los cuatro componentes </a:t>
            </a:r>
            <a:r>
              <a:rPr i="1" lang="es-419"/>
              <a:t>qˆ=q</a:t>
            </a:r>
            <a:r>
              <a:rPr baseline="-25000" i="1" lang="es-419"/>
              <a:t>0</a:t>
            </a:r>
            <a:r>
              <a:rPr i="1" lang="es-419"/>
              <a:t>+q</a:t>
            </a:r>
            <a:r>
              <a:rPr baseline="-25000" i="1" lang="es-419"/>
              <a:t>1</a:t>
            </a:r>
            <a:r>
              <a:rPr i="1" lang="es-419"/>
              <a:t>+ q</a:t>
            </a:r>
            <a:r>
              <a:rPr baseline="-25000" i="1" lang="es-419"/>
              <a:t>2</a:t>
            </a:r>
            <a:r>
              <a:rPr i="1" lang="es-419"/>
              <a:t>+q</a:t>
            </a:r>
            <a:r>
              <a:rPr baseline="-25000" i="1" lang="es-419"/>
              <a:t>3</a:t>
            </a:r>
            <a:r>
              <a:rPr i="1" lang="es-419"/>
              <a:t>.</a:t>
            </a:r>
            <a:r>
              <a:rPr lang="es-419"/>
              <a:t> La parte vectorial, q</a:t>
            </a:r>
            <a:r>
              <a:rPr baseline="-25000" lang="es-419"/>
              <a:t>1</a:t>
            </a:r>
            <a:r>
              <a:rPr lang="es-419"/>
              <a:t>, q</a:t>
            </a:r>
            <a:r>
              <a:rPr baseline="-25000" lang="es-419"/>
              <a:t>2</a:t>
            </a:r>
            <a:r>
              <a:rPr lang="es-419"/>
              <a:t>, q</a:t>
            </a:r>
            <a:r>
              <a:rPr baseline="-25000" lang="es-419"/>
              <a:t>3</a:t>
            </a:r>
            <a:r>
              <a:rPr lang="es-419"/>
              <a:t>, representa el eje de rotación, y la parte escalar, q</a:t>
            </a:r>
            <a:r>
              <a:rPr baseline="-25000" lang="es-419"/>
              <a:t>0</a:t>
            </a:r>
            <a:r>
              <a:rPr lang="es-419"/>
              <a:t>, corresponde al ángulo de rotación. </a:t>
            </a:r>
            <a:endParaRPr/>
          </a:p>
          <a:p>
            <a:pPr indent="0" lvl="0" marL="0" rtl="0" algn="l">
              <a:spcBef>
                <a:spcPts val="1200"/>
              </a:spcBef>
              <a:spcAft>
                <a:spcPts val="1200"/>
              </a:spcAft>
              <a:buNone/>
            </a:pPr>
            <a:r>
              <a:rPr lang="es-419"/>
              <a:t>Los cuaterniones no sufren singularidades como los ángulos de Euler.</a:t>
            </a:r>
            <a:endParaRPr/>
          </a:p>
        </p:txBody>
      </p:sp>
      <p:sp>
        <p:nvSpPr>
          <p:cNvPr id="416" name="Google Shape;416;p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17" name="Google Shape;417;p30"/>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Kuipers, J. B. (1999). Quaternions and rotation sequences: a primer with applications to orbits, aerospace, and virtual reality. Princeton university press</a:t>
            </a:r>
            <a:endParaRPr sz="800">
              <a:solidFill>
                <a:srgbClr val="94B6BD"/>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Euler angles</a:t>
            </a:r>
            <a:endParaRPr/>
          </a:p>
        </p:txBody>
      </p:sp>
      <p:sp>
        <p:nvSpPr>
          <p:cNvPr id="423" name="Google Shape;423;p3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24" name="Google Shape;424;p31"/>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https://www.chenshiyu.top/blog/2020/05/31/The-Relationship-Between-Rotation-Matrix-Euler-Angles-and-Quaternion/</a:t>
            </a:r>
            <a:endParaRPr sz="800">
              <a:solidFill>
                <a:srgbClr val="94B6BD"/>
              </a:solidFill>
            </a:endParaRPr>
          </a:p>
        </p:txBody>
      </p:sp>
      <p:pic>
        <p:nvPicPr>
          <p:cNvPr id="425" name="Google Shape;425;p31"/>
          <p:cNvPicPr preferRelativeResize="0"/>
          <p:nvPr/>
        </p:nvPicPr>
        <p:blipFill>
          <a:blip r:embed="rId3">
            <a:alphaModFix/>
          </a:blip>
          <a:stretch>
            <a:fillRect/>
          </a:stretch>
        </p:blipFill>
        <p:spPr>
          <a:xfrm>
            <a:off x="7092388" y="1630750"/>
            <a:ext cx="1080000" cy="1080000"/>
          </a:xfrm>
          <a:prstGeom prst="rect">
            <a:avLst/>
          </a:prstGeom>
          <a:noFill/>
          <a:ln>
            <a:noFill/>
          </a:ln>
        </p:spPr>
      </p:pic>
      <p:pic>
        <p:nvPicPr>
          <p:cNvPr id="426" name="Google Shape;426;p31"/>
          <p:cNvPicPr preferRelativeResize="0"/>
          <p:nvPr/>
        </p:nvPicPr>
        <p:blipFill>
          <a:blip r:embed="rId4">
            <a:alphaModFix/>
          </a:blip>
          <a:stretch>
            <a:fillRect/>
          </a:stretch>
        </p:blipFill>
        <p:spPr>
          <a:xfrm>
            <a:off x="5044763" y="1630750"/>
            <a:ext cx="1350760" cy="1080000"/>
          </a:xfrm>
          <a:prstGeom prst="rect">
            <a:avLst/>
          </a:prstGeom>
          <a:noFill/>
          <a:ln>
            <a:noFill/>
          </a:ln>
        </p:spPr>
      </p:pic>
      <p:pic>
        <p:nvPicPr>
          <p:cNvPr id="427" name="Google Shape;427;p31"/>
          <p:cNvPicPr preferRelativeResize="0"/>
          <p:nvPr/>
        </p:nvPicPr>
        <p:blipFill>
          <a:blip r:embed="rId5">
            <a:alphaModFix/>
          </a:blip>
          <a:stretch>
            <a:fillRect/>
          </a:stretch>
        </p:blipFill>
        <p:spPr>
          <a:xfrm>
            <a:off x="3006212" y="1630750"/>
            <a:ext cx="1341665" cy="1080000"/>
          </a:xfrm>
          <a:prstGeom prst="rect">
            <a:avLst/>
          </a:prstGeom>
          <a:noFill/>
          <a:ln>
            <a:noFill/>
          </a:ln>
        </p:spPr>
      </p:pic>
      <p:pic>
        <p:nvPicPr>
          <p:cNvPr id="428" name="Google Shape;428;p31"/>
          <p:cNvPicPr preferRelativeResize="0"/>
          <p:nvPr/>
        </p:nvPicPr>
        <p:blipFill>
          <a:blip r:embed="rId6">
            <a:alphaModFix/>
          </a:blip>
          <a:stretch>
            <a:fillRect/>
          </a:stretch>
        </p:blipFill>
        <p:spPr>
          <a:xfrm>
            <a:off x="971613" y="1630750"/>
            <a:ext cx="1337716" cy="1080000"/>
          </a:xfrm>
          <a:prstGeom prst="rect">
            <a:avLst/>
          </a:prstGeom>
          <a:noFill/>
          <a:ln>
            <a:noFill/>
          </a:ln>
        </p:spPr>
      </p:pic>
      <p:sp>
        <p:nvSpPr>
          <p:cNvPr id="429" name="Google Shape;429;p31"/>
          <p:cNvSpPr txBox="1"/>
          <p:nvPr/>
        </p:nvSpPr>
        <p:spPr>
          <a:xfrm>
            <a:off x="1100475" y="2710750"/>
            <a:ext cx="108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000">
                <a:latin typeface="Nunito"/>
                <a:ea typeface="Nunito"/>
                <a:cs typeface="Nunito"/>
                <a:sym typeface="Nunito"/>
              </a:rPr>
              <a:t>Roll</a:t>
            </a:r>
            <a:endParaRPr sz="1000">
              <a:latin typeface="Nunito"/>
              <a:ea typeface="Nunito"/>
              <a:cs typeface="Nunito"/>
              <a:sym typeface="Nunito"/>
            </a:endParaRPr>
          </a:p>
        </p:txBody>
      </p:sp>
      <p:sp>
        <p:nvSpPr>
          <p:cNvPr id="430" name="Google Shape;430;p31"/>
          <p:cNvSpPr txBox="1"/>
          <p:nvPr/>
        </p:nvSpPr>
        <p:spPr>
          <a:xfrm>
            <a:off x="3137050" y="2710750"/>
            <a:ext cx="108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000">
                <a:latin typeface="Nunito"/>
                <a:ea typeface="Nunito"/>
                <a:cs typeface="Nunito"/>
                <a:sym typeface="Nunito"/>
              </a:rPr>
              <a:t>Pitch</a:t>
            </a:r>
            <a:endParaRPr sz="1000">
              <a:latin typeface="Nunito"/>
              <a:ea typeface="Nunito"/>
              <a:cs typeface="Nunito"/>
              <a:sym typeface="Nunito"/>
            </a:endParaRPr>
          </a:p>
        </p:txBody>
      </p:sp>
      <p:sp>
        <p:nvSpPr>
          <p:cNvPr id="431" name="Google Shape;431;p31"/>
          <p:cNvSpPr txBox="1"/>
          <p:nvPr/>
        </p:nvSpPr>
        <p:spPr>
          <a:xfrm>
            <a:off x="5180138" y="2710750"/>
            <a:ext cx="108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000">
                <a:latin typeface="Nunito"/>
                <a:ea typeface="Nunito"/>
                <a:cs typeface="Nunito"/>
                <a:sym typeface="Nunito"/>
              </a:rPr>
              <a:t>Yaw</a:t>
            </a:r>
            <a:endParaRPr sz="1000">
              <a:latin typeface="Nunito"/>
              <a:ea typeface="Nunito"/>
              <a:cs typeface="Nunito"/>
              <a:sym typeface="Nunito"/>
            </a:endParaRPr>
          </a:p>
        </p:txBody>
      </p:sp>
      <p:sp>
        <p:nvSpPr>
          <p:cNvPr id="432" name="Google Shape;432;p31"/>
          <p:cNvSpPr txBox="1"/>
          <p:nvPr/>
        </p:nvSpPr>
        <p:spPr>
          <a:xfrm>
            <a:off x="7092400" y="2710750"/>
            <a:ext cx="108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000">
                <a:latin typeface="Nunito"/>
                <a:ea typeface="Nunito"/>
                <a:cs typeface="Nunito"/>
                <a:sym typeface="Nunito"/>
              </a:rPr>
              <a:t>Gimbal lock</a:t>
            </a:r>
            <a:endParaRPr sz="1000">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Mediciones de los sensores inerciales</a:t>
            </a:r>
            <a:endParaRPr/>
          </a:p>
        </p:txBody>
      </p:sp>
      <p:sp>
        <p:nvSpPr>
          <p:cNvPr id="438" name="Google Shape;438;p3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Cada uno de los sensores inerciales, y magnéticos, proporciona un tipo diferente de señal de acuerdo con el fenómeno físico medido.</a:t>
            </a:r>
            <a:endParaRPr/>
          </a:p>
        </p:txBody>
      </p:sp>
      <p:sp>
        <p:nvSpPr>
          <p:cNvPr id="439" name="Google Shape;439;p3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40" name="Google Shape;440;p32"/>
          <p:cNvPicPr preferRelativeResize="0"/>
          <p:nvPr/>
        </p:nvPicPr>
        <p:blipFill>
          <a:blip r:embed="rId3">
            <a:alphaModFix/>
          </a:blip>
          <a:stretch>
            <a:fillRect/>
          </a:stretch>
        </p:blipFill>
        <p:spPr>
          <a:xfrm>
            <a:off x="2459819" y="2755227"/>
            <a:ext cx="4224351" cy="154781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Acelerómetro</a:t>
            </a:r>
            <a:endParaRPr sz="2400">
              <a:solidFill>
                <a:schemeClr val="dk1"/>
              </a:solidFill>
            </a:endParaRPr>
          </a:p>
        </p:txBody>
      </p:sp>
      <p:sp>
        <p:nvSpPr>
          <p:cNvPr id="446" name="Google Shape;446;p33"/>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a:t>
            </a:r>
            <a:r>
              <a:rPr lang="es-419"/>
              <a:t>ide la aceleración estática y dinámica en el marco del cuerpo. El vector de aceleración medido, </a:t>
            </a:r>
            <a:r>
              <a:rPr i="1" lang="es-419"/>
              <a:t>A</a:t>
            </a:r>
            <a:r>
              <a:rPr baseline="30000" i="1" lang="es-419"/>
              <a:t>→</a:t>
            </a:r>
            <a:r>
              <a:rPr lang="es-419"/>
              <a:t>, se compone de: </a:t>
            </a:r>
            <a:r>
              <a:rPr i="1" lang="es-419"/>
              <a:t>a</a:t>
            </a:r>
            <a:r>
              <a:rPr baseline="30000" i="1" lang="es-419"/>
              <a:t>→</a:t>
            </a:r>
            <a:r>
              <a:rPr lang="es-419"/>
              <a:t>, la aceleración dinámica; </a:t>
            </a:r>
            <a:r>
              <a:rPr i="1" lang="es-419"/>
              <a:t>g</a:t>
            </a:r>
            <a:r>
              <a:rPr baseline="30000" i="1" lang="es-419"/>
              <a:t>→</a:t>
            </a:r>
            <a:r>
              <a:rPr lang="es-419"/>
              <a:t>, la aceleración estática dada la gravedad; </a:t>
            </a:r>
            <a:r>
              <a:rPr baseline="30000" i="1" lang="es-419"/>
              <a:t>a</a:t>
            </a:r>
            <a:r>
              <a:rPr i="1" lang="es-419"/>
              <a:t>O</a:t>
            </a:r>
            <a:r>
              <a:rPr baseline="30000" i="1" lang="es-419"/>
              <a:t>→</a:t>
            </a:r>
            <a:r>
              <a:rPr lang="es-419"/>
              <a:t>, el desplazamiento (</a:t>
            </a:r>
            <a:r>
              <a:rPr i="1" lang="es-419"/>
              <a:t>offset</a:t>
            </a:r>
            <a:r>
              <a:rPr lang="es-419"/>
              <a:t>) del acelerómetro; y </a:t>
            </a:r>
            <a:r>
              <a:rPr baseline="30000" i="1" lang="es-419"/>
              <a:t>a</a:t>
            </a:r>
            <a:r>
              <a:rPr i="1" lang="es-419"/>
              <a:t>v</a:t>
            </a:r>
            <a:r>
              <a:rPr baseline="30000" i="1" lang="es-419"/>
              <a:t>→</a:t>
            </a:r>
            <a:r>
              <a:rPr lang="es-419"/>
              <a:t>, un componente de ruido de medición. </a:t>
            </a:r>
            <a:endParaRPr/>
          </a:p>
          <a:p>
            <a:pPr indent="0" lvl="0" marL="0" rtl="0" algn="l">
              <a:spcBef>
                <a:spcPts val="1200"/>
              </a:spcBef>
              <a:spcAft>
                <a:spcPts val="1200"/>
              </a:spcAft>
              <a:buNone/>
            </a:pPr>
            <a:r>
              <a:rPr lang="es-419"/>
              <a:t>El vector </a:t>
            </a:r>
            <a:r>
              <a:rPr i="1" lang="es-419"/>
              <a:t>a</a:t>
            </a:r>
            <a:r>
              <a:rPr baseline="30000" i="1" lang="es-419"/>
              <a:t>→</a:t>
            </a:r>
            <a:r>
              <a:rPr lang="es-419"/>
              <a:t> se puede expresar en unidades métricas (m/s</a:t>
            </a:r>
            <a:r>
              <a:rPr baseline="30000" lang="es-419"/>
              <a:t>2</a:t>
            </a:r>
            <a:r>
              <a:rPr lang="es-419"/>
              <a:t>) o en gravitaciones </a:t>
            </a:r>
            <a:r>
              <a:rPr i="1" lang="es-419"/>
              <a:t>g</a:t>
            </a:r>
            <a:r>
              <a:rPr lang="es-419"/>
              <a:t>, donde 1</a:t>
            </a:r>
            <a:r>
              <a:rPr i="1" lang="es-419"/>
              <a:t>g</a:t>
            </a:r>
            <a:r>
              <a:rPr lang="es-419"/>
              <a:t> = 9,81 m/s</a:t>
            </a:r>
            <a:r>
              <a:rPr baseline="30000" lang="es-419"/>
              <a:t>2</a:t>
            </a:r>
            <a:r>
              <a:rPr lang="es-419"/>
              <a:t>. Una matriz llamada </a:t>
            </a:r>
            <a:r>
              <a:rPr baseline="30000" lang="es-419"/>
              <a:t>a</a:t>
            </a:r>
            <a:r>
              <a:rPr lang="es-419"/>
              <a:t>S</a:t>
            </a:r>
            <a:r>
              <a:rPr lang="es-419"/>
              <a:t> proporciona una normalización de los diferentes factores de escala asociados a cada eje detectado</a:t>
            </a:r>
            <a:endParaRPr/>
          </a:p>
        </p:txBody>
      </p:sp>
      <p:sp>
        <p:nvSpPr>
          <p:cNvPr id="447" name="Google Shape;447;p3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48" name="Google Shape;448;p33"/>
          <p:cNvSpPr txBox="1"/>
          <p:nvPr/>
        </p:nvSpPr>
        <p:spPr>
          <a:xfrm>
            <a:off x="800450" y="45478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Veltink, P. H., Bussmann, H. J., De Vries, W., Martens, W. J., &amp; Van Lummel, R. C. (1996). Detection of static and dynamic activities using uniaxial accelerometers. IEEE Transactions on Rehabilitation Engineering, 4(4), 375-385</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pic>
        <p:nvPicPr>
          <p:cNvPr id="449" name="Google Shape;449;p33"/>
          <p:cNvPicPr preferRelativeResize="0"/>
          <p:nvPr/>
        </p:nvPicPr>
        <p:blipFill>
          <a:blip r:embed="rId3">
            <a:alphaModFix/>
          </a:blip>
          <a:stretch>
            <a:fillRect/>
          </a:stretch>
        </p:blipFill>
        <p:spPr>
          <a:xfrm>
            <a:off x="3722551" y="3772825"/>
            <a:ext cx="2192987" cy="4311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Magnetómetro</a:t>
            </a:r>
            <a:endParaRPr sz="2400">
              <a:solidFill>
                <a:schemeClr val="dk1"/>
              </a:solidFill>
            </a:endParaRPr>
          </a:p>
        </p:txBody>
      </p:sp>
      <p:sp>
        <p:nvSpPr>
          <p:cNvPr id="455" name="Google Shape;455;p3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Mide</a:t>
            </a:r>
            <a:r>
              <a:rPr lang="es-419"/>
              <a:t> el campo magnético en el marco del cuerpo. El vector magnético medido </a:t>
            </a:r>
            <a:r>
              <a:rPr i="1" lang="es-419"/>
              <a:t>M</a:t>
            </a:r>
            <a:r>
              <a:rPr baseline="30000" i="1" lang="es-419"/>
              <a:t>→</a:t>
            </a:r>
            <a:r>
              <a:rPr lang="es-419"/>
              <a:t>, se compone de: </a:t>
            </a:r>
            <a:r>
              <a:rPr i="1" lang="es-419"/>
              <a:t>m</a:t>
            </a:r>
            <a:r>
              <a:rPr baseline="30000" i="1" lang="es-419"/>
              <a:t>→</a:t>
            </a:r>
            <a:r>
              <a:rPr lang="es-419"/>
              <a:t>, el campo magnético; </a:t>
            </a:r>
            <a:r>
              <a:rPr baseline="30000" i="1" lang="es-419"/>
              <a:t>m</a:t>
            </a:r>
            <a:r>
              <a:rPr i="1" lang="es-419"/>
              <a:t>O</a:t>
            </a:r>
            <a:r>
              <a:rPr baseline="30000" i="1" lang="es-419"/>
              <a:t>→</a:t>
            </a:r>
            <a:r>
              <a:rPr lang="es-419"/>
              <a:t>, la compensación (</a:t>
            </a:r>
            <a:r>
              <a:rPr i="1" lang="es-419"/>
              <a:t>offset</a:t>
            </a:r>
            <a:r>
              <a:rPr lang="es-419"/>
              <a:t>) del magnetómetro; y </a:t>
            </a:r>
            <a:r>
              <a:rPr baseline="30000" i="1" lang="es-419"/>
              <a:t>m</a:t>
            </a:r>
            <a:r>
              <a:rPr i="1" lang="es-419"/>
              <a:t>v</a:t>
            </a:r>
            <a:r>
              <a:rPr baseline="30000" i="1" lang="es-419"/>
              <a:t>→</a:t>
            </a:r>
            <a:r>
              <a:rPr lang="es-419"/>
              <a:t>, un componente de ruido de medición.</a:t>
            </a:r>
            <a:endParaRPr/>
          </a:p>
          <a:p>
            <a:pPr indent="0" lvl="0" marL="0" rtl="0" algn="l">
              <a:spcBef>
                <a:spcPts val="1200"/>
              </a:spcBef>
              <a:spcAft>
                <a:spcPts val="1200"/>
              </a:spcAft>
              <a:buNone/>
            </a:pPr>
            <a:r>
              <a:rPr lang="es-419"/>
              <a:t>El vector m</a:t>
            </a:r>
            <a:r>
              <a:rPr baseline="30000" i="1" lang="es-419"/>
              <a:t>→ </a:t>
            </a:r>
            <a:r>
              <a:rPr lang="es-419"/>
              <a:t>se puede expresar en Gauss (G) o Microteslas (μT), donde 1G = 100μT. Al igual que con los acelerómetros, una matriz </a:t>
            </a:r>
            <a:r>
              <a:rPr baseline="30000" i="1" lang="es-419"/>
              <a:t>m</a:t>
            </a:r>
            <a:r>
              <a:rPr i="1" lang="es-419"/>
              <a:t>S</a:t>
            </a:r>
            <a:r>
              <a:rPr lang="es-419"/>
              <a:t> proporciona un factor de escala para la normalización</a:t>
            </a:r>
            <a:endParaRPr/>
          </a:p>
        </p:txBody>
      </p:sp>
      <p:sp>
        <p:nvSpPr>
          <p:cNvPr id="456" name="Google Shape;456;p3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57" name="Google Shape;457;p34"/>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Fourati, H., &amp; Belkhiat, D. E. C. (2016). Multisensor attitude estimation: fundamental concepts and applications. CRC Press</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pic>
        <p:nvPicPr>
          <p:cNvPr id="458" name="Google Shape;458;p34"/>
          <p:cNvPicPr preferRelativeResize="0"/>
          <p:nvPr/>
        </p:nvPicPr>
        <p:blipFill>
          <a:blip r:embed="rId3">
            <a:alphaModFix/>
          </a:blip>
          <a:stretch>
            <a:fillRect/>
          </a:stretch>
        </p:blipFill>
        <p:spPr>
          <a:xfrm>
            <a:off x="3892063" y="3640000"/>
            <a:ext cx="1853962" cy="46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Giroscopio</a:t>
            </a:r>
            <a:endParaRPr sz="2400">
              <a:solidFill>
                <a:schemeClr val="dk1"/>
              </a:solidFill>
            </a:endParaRPr>
          </a:p>
        </p:txBody>
      </p:sp>
      <p:sp>
        <p:nvSpPr>
          <p:cNvPr id="464" name="Google Shape;464;p35"/>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Mide</a:t>
            </a:r>
            <a:r>
              <a:rPr lang="es-419"/>
              <a:t> la tasa de rotación en el marco del cuerpo. El vector de giroscopio medido, </a:t>
            </a:r>
            <a:r>
              <a:rPr i="1" lang="es-419"/>
              <a:t>G</a:t>
            </a:r>
            <a:r>
              <a:rPr baseline="30000" i="1" lang="es-419"/>
              <a:t>→</a:t>
            </a:r>
            <a:r>
              <a:rPr lang="es-419"/>
              <a:t>, se compone de: </a:t>
            </a:r>
            <a:r>
              <a:rPr i="1" lang="es-419"/>
              <a:t>ω</a:t>
            </a:r>
            <a:r>
              <a:rPr baseline="30000" i="1" lang="es-419"/>
              <a:t>→</a:t>
            </a:r>
            <a:r>
              <a:rPr lang="es-419"/>
              <a:t>, la tasa de rotación; </a:t>
            </a:r>
            <a:r>
              <a:rPr baseline="30000" i="1" lang="es-419"/>
              <a:t>g</a:t>
            </a:r>
            <a:r>
              <a:rPr i="1" lang="es-419"/>
              <a:t>O</a:t>
            </a:r>
            <a:r>
              <a:rPr baseline="30000" i="1" lang="es-419"/>
              <a:t>→</a:t>
            </a:r>
            <a:r>
              <a:rPr lang="es-419"/>
              <a:t>, la compensación (</a:t>
            </a:r>
            <a:r>
              <a:rPr i="1" lang="es-419"/>
              <a:t>offset</a:t>
            </a:r>
            <a:r>
              <a:rPr lang="es-419"/>
              <a:t>) de sesgo del giroscopio; y </a:t>
            </a:r>
            <a:r>
              <a:rPr baseline="30000" i="1" lang="es-419"/>
              <a:t>g</a:t>
            </a:r>
            <a:r>
              <a:rPr i="1" lang="es-419"/>
              <a:t>v</a:t>
            </a:r>
            <a:r>
              <a:rPr baseline="30000" i="1" lang="es-419"/>
              <a:t>→</a:t>
            </a:r>
            <a:r>
              <a:rPr lang="es-419"/>
              <a:t>, un componente de ruido de medición. </a:t>
            </a:r>
            <a:endParaRPr/>
          </a:p>
          <a:p>
            <a:pPr indent="0" lvl="0" marL="0" rtl="0" algn="l">
              <a:spcBef>
                <a:spcPts val="1200"/>
              </a:spcBef>
              <a:spcAft>
                <a:spcPts val="1200"/>
              </a:spcAft>
              <a:buNone/>
            </a:pPr>
            <a:r>
              <a:rPr lang="es-419"/>
              <a:t>El vector </a:t>
            </a:r>
            <a:r>
              <a:rPr i="1" lang="es-419"/>
              <a:t>ω</a:t>
            </a:r>
            <a:r>
              <a:rPr baseline="30000" i="1" lang="es-419"/>
              <a:t>→</a:t>
            </a:r>
            <a:r>
              <a:rPr lang="es-419"/>
              <a:t> se puede expresar en grados por segundo (◦/s) o radianes por segundo (rad/s), donde 360º = 2πrad. Una matriz </a:t>
            </a:r>
            <a:r>
              <a:rPr baseline="30000" lang="es-419"/>
              <a:t>g</a:t>
            </a:r>
            <a:r>
              <a:rPr lang="es-419"/>
              <a:t>S proporciona un factor de escala para la normalización.</a:t>
            </a:r>
            <a:endParaRPr/>
          </a:p>
        </p:txBody>
      </p:sp>
      <p:sp>
        <p:nvSpPr>
          <p:cNvPr id="465" name="Google Shape;465;p3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66" name="Google Shape;466;p35"/>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Titterton, D., Weston, J. L., &amp; Weston, J. (2004). Strapdown inertial navigation technology (Vol. 17). IET.</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pic>
        <p:nvPicPr>
          <p:cNvPr id="467" name="Google Shape;467;p35"/>
          <p:cNvPicPr preferRelativeResize="0"/>
          <p:nvPr/>
        </p:nvPicPr>
        <p:blipFill>
          <a:blip r:embed="rId3">
            <a:alphaModFix/>
          </a:blip>
          <a:stretch>
            <a:fillRect/>
          </a:stretch>
        </p:blipFill>
        <p:spPr>
          <a:xfrm>
            <a:off x="3911823" y="3610400"/>
            <a:ext cx="1814465" cy="393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73" name="Google Shape;473;p36"/>
          <p:cNvPicPr preferRelativeResize="0"/>
          <p:nvPr/>
        </p:nvPicPr>
        <p:blipFill>
          <a:blip r:embed="rId3">
            <a:alphaModFix/>
          </a:blip>
          <a:stretch>
            <a:fillRect/>
          </a:stretch>
        </p:blipFill>
        <p:spPr>
          <a:xfrm>
            <a:off x="1767755" y="0"/>
            <a:ext cx="5608489"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3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Algoritmos de estimación de orientación</a:t>
            </a:r>
            <a:endParaRPr/>
          </a:p>
        </p:txBody>
      </p:sp>
      <p:sp>
        <p:nvSpPr>
          <p:cNvPr id="479" name="Google Shape;479;p3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80" name="Google Shape;480;p37"/>
          <p:cNvSpPr txBox="1"/>
          <p:nvPr>
            <p:ph idx="1" type="body"/>
          </p:nvPr>
        </p:nvSpPr>
        <p:spPr>
          <a:xfrm>
            <a:off x="1303800" y="18376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principales algoritmos utilizados para estimar la orientación de un cuerpo, basados en lecturas de sensores inerciales y magnéticos, se dividen en cuatro familias: </a:t>
            </a:r>
            <a:endParaRPr/>
          </a:p>
          <a:p>
            <a:pPr indent="-317500" lvl="0" marL="457200" rtl="0" algn="l">
              <a:spcBef>
                <a:spcPts val="1200"/>
              </a:spcBef>
              <a:spcAft>
                <a:spcPts val="0"/>
              </a:spcAft>
              <a:buSzPts val="1400"/>
              <a:buAutoNum type="arabicPeriod"/>
            </a:pPr>
            <a:r>
              <a:rPr lang="es-419"/>
              <a:t>Integración, </a:t>
            </a:r>
            <a:endParaRPr/>
          </a:p>
          <a:p>
            <a:pPr indent="-317500" lvl="0" marL="457200" rtl="0" algn="l">
              <a:spcBef>
                <a:spcPts val="0"/>
              </a:spcBef>
              <a:spcAft>
                <a:spcPts val="0"/>
              </a:spcAft>
              <a:buSzPts val="1400"/>
              <a:buAutoNum type="arabicPeriod"/>
            </a:pPr>
            <a:r>
              <a:rPr lang="es-419"/>
              <a:t>Vectores de observación, </a:t>
            </a:r>
            <a:endParaRPr/>
          </a:p>
          <a:p>
            <a:pPr indent="-317500" lvl="0" marL="457200" rtl="0" algn="l">
              <a:spcBef>
                <a:spcPts val="0"/>
              </a:spcBef>
              <a:spcAft>
                <a:spcPts val="0"/>
              </a:spcAft>
              <a:buSzPts val="1400"/>
              <a:buAutoNum type="arabicPeriod"/>
            </a:pPr>
            <a:r>
              <a:rPr lang="es-419"/>
              <a:t>Filtros de Kalman, y </a:t>
            </a:r>
            <a:endParaRPr/>
          </a:p>
          <a:p>
            <a:pPr indent="-317500" lvl="0" marL="457200" rtl="0" algn="l">
              <a:spcBef>
                <a:spcPts val="0"/>
              </a:spcBef>
              <a:spcAft>
                <a:spcPts val="0"/>
              </a:spcAft>
              <a:buSzPts val="1400"/>
              <a:buAutoNum type="arabicPeriod"/>
            </a:pPr>
            <a:r>
              <a:rPr lang="es-419"/>
              <a:t>Filtros complementarios.</a:t>
            </a:r>
            <a:endParaRPr/>
          </a:p>
        </p:txBody>
      </p:sp>
      <p:pic>
        <p:nvPicPr>
          <p:cNvPr id="481" name="Google Shape;481;p37"/>
          <p:cNvPicPr preferRelativeResize="0"/>
          <p:nvPr/>
        </p:nvPicPr>
        <p:blipFill>
          <a:blip r:embed="rId3">
            <a:alphaModFix/>
          </a:blip>
          <a:stretch>
            <a:fillRect/>
          </a:stretch>
        </p:blipFill>
        <p:spPr>
          <a:xfrm>
            <a:off x="5532350" y="3004725"/>
            <a:ext cx="2113650" cy="15993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Integración del giroscopio</a:t>
            </a:r>
            <a:endParaRPr sz="2400">
              <a:solidFill>
                <a:schemeClr val="dk1"/>
              </a:solidFill>
            </a:endParaRPr>
          </a:p>
        </p:txBody>
      </p:sp>
      <p:sp>
        <p:nvSpPr>
          <p:cNvPr id="487" name="Google Shape;487;p3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t>
            </a:r>
            <a:r>
              <a:rPr lang="es-419"/>
              <a:t>roporciona una estimación de la rotación relativa a partir de una rotación inicial conocida:</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419"/>
              <a:t>donde </a:t>
            </a:r>
            <a:r>
              <a:rPr i="1" lang="es-419"/>
              <a:t>q</a:t>
            </a:r>
            <a:r>
              <a:rPr baseline="-25000" i="1" lang="es-419"/>
              <a:t>t</a:t>
            </a:r>
            <a:r>
              <a:rPr i="1" lang="es-419"/>
              <a:t>ˆ</a:t>
            </a:r>
            <a:r>
              <a:rPr lang="es-419"/>
              <a:t> es la orientación estimada, en representación de cuaterniones basada en el cuaternión de 4×1 </a:t>
            </a:r>
            <a:r>
              <a:rPr i="1" lang="es-419"/>
              <a:t>q</a:t>
            </a:r>
            <a:r>
              <a:rPr baseline="-25000" i="1" lang="es-419"/>
              <a:t>t</a:t>
            </a:r>
            <a:r>
              <a:rPr i="1" lang="es-419"/>
              <a:t>ˆ</a:t>
            </a:r>
            <a:r>
              <a:rPr lang="es-419"/>
              <a:t> = [</a:t>
            </a:r>
            <a:r>
              <a:rPr i="1" lang="es-419"/>
              <a:t>q ,eˆ</a:t>
            </a:r>
            <a:r>
              <a:rPr baseline="30000" i="1" lang="es-419"/>
              <a:t>T</a:t>
            </a:r>
            <a:r>
              <a:rPr lang="es-419"/>
              <a:t>]</a:t>
            </a:r>
            <a:r>
              <a:rPr baseline="30000" i="1" lang="es-419"/>
              <a:t>T</a:t>
            </a:r>
            <a:r>
              <a:rPr lang="es-419"/>
              <a:t>, donde </a:t>
            </a:r>
            <a:r>
              <a:rPr i="1" lang="es-419"/>
              <a:t>q</a:t>
            </a:r>
            <a:r>
              <a:rPr lang="es-419"/>
              <a:t> es la parte escalar, y </a:t>
            </a:r>
            <a:r>
              <a:rPr i="1" lang="es-419"/>
              <a:t>eˆ</a:t>
            </a:r>
            <a:r>
              <a:rPr lang="es-419"/>
              <a:t>= [</a:t>
            </a:r>
            <a:r>
              <a:rPr i="1" lang="es-419"/>
              <a:t>q</a:t>
            </a:r>
            <a:r>
              <a:rPr baseline="-25000" i="1" lang="es-419"/>
              <a:t>1</a:t>
            </a:r>
            <a:r>
              <a:rPr i="1" lang="es-419"/>
              <a:t>, q</a:t>
            </a:r>
            <a:r>
              <a:rPr baseline="-25000" i="1" lang="es-419"/>
              <a:t>2</a:t>
            </a:r>
            <a:r>
              <a:rPr i="1" lang="es-419"/>
              <a:t>, q</a:t>
            </a:r>
            <a:r>
              <a:rPr baseline="-25000" i="1" lang="es-419"/>
              <a:t>3</a:t>
            </a:r>
            <a:r>
              <a:rPr lang="es-419"/>
              <a:t>]</a:t>
            </a:r>
            <a:r>
              <a:rPr baseline="30000" i="1" lang="es-419"/>
              <a:t>T</a:t>
            </a:r>
            <a:r>
              <a:rPr lang="es-419"/>
              <a:t> es la parte vectorial; </a:t>
            </a:r>
            <a:r>
              <a:rPr i="1" lang="es-419"/>
              <a:t>∆</a:t>
            </a:r>
            <a:r>
              <a:rPr baseline="-25000" i="1" lang="es-419"/>
              <a:t>t</a:t>
            </a:r>
            <a:r>
              <a:rPr lang="es-419"/>
              <a:t> es el período de muestreo; w</a:t>
            </a:r>
            <a:r>
              <a:rPr baseline="30000" i="1" lang="es-419"/>
              <a:t>→</a:t>
            </a:r>
            <a:r>
              <a:rPr lang="es-419"/>
              <a:t> es el vector de velocidad angular en radianes por segundo; y ⊗ es el operador de multiplicación de cuaterniones.</a:t>
            </a:r>
            <a:endParaRPr/>
          </a:p>
        </p:txBody>
      </p:sp>
      <p:sp>
        <p:nvSpPr>
          <p:cNvPr id="488" name="Google Shape;488;p3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89" name="Google Shape;489;p38"/>
          <p:cNvPicPr preferRelativeResize="0"/>
          <p:nvPr/>
        </p:nvPicPr>
        <p:blipFill>
          <a:blip r:embed="rId3">
            <a:alphaModFix/>
          </a:blip>
          <a:stretch>
            <a:fillRect/>
          </a:stretch>
        </p:blipFill>
        <p:spPr>
          <a:xfrm>
            <a:off x="3682562" y="2417800"/>
            <a:ext cx="2272983" cy="393600"/>
          </a:xfrm>
          <a:prstGeom prst="rect">
            <a:avLst/>
          </a:prstGeom>
          <a:noFill/>
          <a:ln>
            <a:noFill/>
          </a:ln>
        </p:spPr>
      </p:pic>
      <p:sp>
        <p:nvSpPr>
          <p:cNvPr id="490" name="Google Shape;490;p38"/>
          <p:cNvSpPr txBox="1"/>
          <p:nvPr/>
        </p:nvSpPr>
        <p:spPr>
          <a:xfrm>
            <a:off x="800450" y="45478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Sabatini, A. M. (2005). Quaternion-based strap-down integration method for applications of inertial sensing to gait analysis. </a:t>
            </a:r>
            <a:br>
              <a:rPr lang="es-419" sz="800">
                <a:solidFill>
                  <a:srgbClr val="94B6BD"/>
                </a:solidFill>
              </a:rPr>
            </a:br>
            <a:r>
              <a:rPr lang="es-419" sz="800">
                <a:solidFill>
                  <a:srgbClr val="94B6BD"/>
                </a:solidFill>
              </a:rPr>
              <a:t>Medical and Biological Engineering and Computing, 43(1), 94-101</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96" name="Google Shape;496;p39"/>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200"/>
              <a:t>Estructura de integración del giroscopio</a:t>
            </a:r>
            <a:endParaRPr sz="1200"/>
          </a:p>
        </p:txBody>
      </p:sp>
      <p:pic>
        <p:nvPicPr>
          <p:cNvPr id="497" name="Google Shape;497;p39"/>
          <p:cNvPicPr preferRelativeResize="0"/>
          <p:nvPr/>
        </p:nvPicPr>
        <p:blipFill>
          <a:blip r:embed="rId3">
            <a:alphaModFix/>
          </a:blip>
          <a:stretch>
            <a:fillRect/>
          </a:stretch>
        </p:blipFill>
        <p:spPr>
          <a:xfrm>
            <a:off x="2503950" y="1991025"/>
            <a:ext cx="4136101" cy="1161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s-419" sz="2400">
                <a:solidFill>
                  <a:schemeClr val="dk1"/>
                </a:solidFill>
              </a:rPr>
              <a:t>Integración del giroscopio</a:t>
            </a:r>
            <a:endParaRPr/>
          </a:p>
        </p:txBody>
      </p:sp>
      <p:sp>
        <p:nvSpPr>
          <p:cNvPr id="503" name="Google Shape;503;p4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Como la velocidad angular medida por los giroscopios se integra directamente, este método proporciona estimaciones uniformes incluso durante movimientos rápidos. </a:t>
            </a:r>
            <a:endParaRPr/>
          </a:p>
          <a:p>
            <a:pPr indent="0" lvl="0" marL="0" rtl="0" algn="l">
              <a:spcBef>
                <a:spcPts val="1200"/>
              </a:spcBef>
              <a:spcAft>
                <a:spcPts val="0"/>
              </a:spcAft>
              <a:buNone/>
            </a:pPr>
            <a:r>
              <a:rPr lang="es-419"/>
              <a:t>Sin embargo, el proceso de integración tiene dos desventajas significativas:</a:t>
            </a:r>
            <a:endParaRPr/>
          </a:p>
          <a:p>
            <a:pPr indent="-317500" lvl="0" marL="457200" rtl="0" algn="l">
              <a:spcBef>
                <a:spcPts val="1200"/>
              </a:spcBef>
              <a:spcAft>
                <a:spcPts val="0"/>
              </a:spcAft>
              <a:buSzPts val="1400"/>
              <a:buChar char="●"/>
            </a:pPr>
            <a:r>
              <a:rPr lang="es-419"/>
              <a:t>Cualquier sesgo en el vector de velocidad angular dará como resultado un error acumulativo creciente en la orientación estimada. </a:t>
            </a:r>
            <a:endParaRPr/>
          </a:p>
          <a:p>
            <a:pPr indent="-317500" lvl="0" marL="457200" rtl="0" algn="l">
              <a:spcBef>
                <a:spcPts val="0"/>
              </a:spcBef>
              <a:spcAft>
                <a:spcPts val="0"/>
              </a:spcAft>
              <a:buSzPts val="1400"/>
              <a:buChar char="●"/>
            </a:pPr>
            <a:r>
              <a:rPr lang="es-419"/>
              <a:t>Se debe conocer de antemano la orientación inicial del dispositivo. </a:t>
            </a:r>
            <a:endParaRPr/>
          </a:p>
          <a:p>
            <a:pPr indent="0" lvl="0" marL="0" rtl="0" algn="l">
              <a:spcBef>
                <a:spcPts val="1200"/>
              </a:spcBef>
              <a:spcAft>
                <a:spcPts val="1200"/>
              </a:spcAft>
              <a:buNone/>
            </a:pPr>
            <a:r>
              <a:rPr lang="es-419"/>
              <a:t>En la práctica, una estimación integrada presentará un error de deriva en cada paso debido al ruido, sesgo, y errores de integración numérica.</a:t>
            </a:r>
            <a:endParaRPr/>
          </a:p>
        </p:txBody>
      </p:sp>
      <p:sp>
        <p:nvSpPr>
          <p:cNvPr id="504" name="Google Shape;504;p4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05" name="Google Shape;505;p40"/>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Young, A. D., Ling, M. J., &amp; Arvind, D. K. (2011, April). IMUSim: A simulation environment for inertial sensing algorithm design and evaluation. </a:t>
            </a:r>
            <a:br>
              <a:rPr lang="es-419" sz="800">
                <a:solidFill>
                  <a:srgbClr val="94B6BD"/>
                </a:solidFill>
              </a:rPr>
            </a:br>
            <a:r>
              <a:rPr lang="es-419" sz="800">
                <a:solidFill>
                  <a:srgbClr val="94B6BD"/>
                </a:solidFill>
              </a:rPr>
              <a:t>In Proceedings of the 10th ACM/IEEE International Conference on Information Processing in Sensor Networks (pp. 199-210). IEEE</a:t>
            </a:r>
            <a:endParaRPr sz="800">
              <a:solidFill>
                <a:srgbClr val="94B6BD"/>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Vector de observación</a:t>
            </a:r>
            <a:endParaRPr sz="2400">
              <a:solidFill>
                <a:schemeClr val="dk1"/>
              </a:solidFill>
            </a:endParaRPr>
          </a:p>
        </p:txBody>
      </p:sp>
      <p:sp>
        <p:nvSpPr>
          <p:cNvPr id="511" name="Google Shape;511;p41"/>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t>
            </a:r>
            <a:r>
              <a:rPr lang="es-419"/>
              <a:t>roporcionan una estimación de la orientación relativa a un marco de coordenadas mundial fijo. Al medir la posición de dos o más vectores en el marco de coordenadas </a:t>
            </a:r>
            <a:r>
              <a:rPr b="1" lang="es-419"/>
              <a:t>local</a:t>
            </a:r>
            <a:r>
              <a:rPr lang="es-419"/>
              <a:t> de un dispositivo y compararlos con la posición conocida de los vectores en un marco de coordenadas </a:t>
            </a:r>
            <a:r>
              <a:rPr b="1" lang="es-419"/>
              <a:t>fijo</a:t>
            </a:r>
            <a:r>
              <a:rPr lang="es-419"/>
              <a:t>, se puede calcular la rotación entre los dos marcos. </a:t>
            </a:r>
            <a:endParaRPr/>
          </a:p>
          <a:p>
            <a:pPr indent="0" lvl="0" marL="0" rtl="0" algn="l">
              <a:spcBef>
                <a:spcPts val="1200"/>
              </a:spcBef>
              <a:spcAft>
                <a:spcPts val="1200"/>
              </a:spcAft>
              <a:buNone/>
            </a:pPr>
            <a:r>
              <a:rPr lang="es-419"/>
              <a:t>Para realizar el seguimiento de la orientación, los vectores de referencia utilizados son la dirección de la aceleración dada la </a:t>
            </a:r>
            <a:r>
              <a:rPr b="1" lang="es-419">
                <a:solidFill>
                  <a:schemeClr val="accent5"/>
                </a:solidFill>
              </a:rPr>
              <a:t>gravedad</a:t>
            </a:r>
            <a:r>
              <a:rPr lang="es-419"/>
              <a:t>, y la dirección del vector del campo magnético terrestre proyectado en el </a:t>
            </a:r>
            <a:r>
              <a:rPr b="1" lang="es-419">
                <a:solidFill>
                  <a:schemeClr val="accent5"/>
                </a:solidFill>
              </a:rPr>
              <a:t>plano horizontal</a:t>
            </a:r>
            <a:r>
              <a:rPr lang="es-419">
                <a:solidFill>
                  <a:schemeClr val="accent5"/>
                </a:solidFill>
              </a:rPr>
              <a:t> terrestre</a:t>
            </a:r>
            <a:r>
              <a:rPr lang="es-419"/>
              <a:t>.</a:t>
            </a:r>
            <a:endParaRPr/>
          </a:p>
        </p:txBody>
      </p:sp>
      <p:sp>
        <p:nvSpPr>
          <p:cNvPr id="512" name="Google Shape;512;p4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13" name="Google Shape;513;p41"/>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Ref.</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4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19" name="Google Shape;519;p42"/>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200"/>
              <a:t>Estructura de vector de observación</a:t>
            </a:r>
            <a:endParaRPr sz="1200"/>
          </a:p>
        </p:txBody>
      </p:sp>
      <p:pic>
        <p:nvPicPr>
          <p:cNvPr id="520" name="Google Shape;520;p42"/>
          <p:cNvPicPr preferRelativeResize="0"/>
          <p:nvPr/>
        </p:nvPicPr>
        <p:blipFill>
          <a:blip r:embed="rId3">
            <a:alphaModFix/>
          </a:blip>
          <a:stretch>
            <a:fillRect/>
          </a:stretch>
        </p:blipFill>
        <p:spPr>
          <a:xfrm>
            <a:off x="1966675" y="1614225"/>
            <a:ext cx="5210651" cy="19150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4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Vector de observación</a:t>
            </a:r>
            <a:endParaRPr sz="2400">
              <a:solidFill>
                <a:schemeClr val="dk1"/>
              </a:solidFill>
            </a:endParaRPr>
          </a:p>
        </p:txBody>
      </p:sp>
      <p:sp>
        <p:nvSpPr>
          <p:cNvPr id="526" name="Google Shape;526;p43"/>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Estos algoritmos no sufren el error de deriva del giroscopio, pero dependen de mediciones confiables del magnetómetro y el acelerómetro, y dado que no hay pasos de corrección, este enfoque </a:t>
            </a:r>
            <a:r>
              <a:rPr lang="es-419"/>
              <a:t>sólo</a:t>
            </a:r>
            <a:r>
              <a:rPr lang="es-419"/>
              <a:t> es preciso para rastrear objetos que se mueven lentamente.</a:t>
            </a:r>
            <a:endParaRPr/>
          </a:p>
          <a:p>
            <a:pPr indent="0" lvl="0" marL="0" rtl="0" algn="l">
              <a:spcBef>
                <a:spcPts val="1200"/>
              </a:spcBef>
              <a:spcAft>
                <a:spcPts val="1200"/>
              </a:spcAft>
              <a:buNone/>
            </a:pPr>
            <a:r>
              <a:rPr lang="es-419"/>
              <a:t>Para proporcionar estimaciones precisas, que preservan la respuesta de alta frecuencia de la integración del giroscopio de velocidad y la estimación absoluta proporcionada por la observación del vector, se utilizan algoritmos de fusión de datos, e.g., filtros de Kalman.</a:t>
            </a:r>
            <a:endParaRPr/>
          </a:p>
        </p:txBody>
      </p:sp>
      <p:sp>
        <p:nvSpPr>
          <p:cNvPr id="527" name="Google Shape;527;p4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28" name="Google Shape;528;p43"/>
          <p:cNvSpPr txBox="1"/>
          <p:nvPr/>
        </p:nvSpPr>
        <p:spPr>
          <a:xfrm>
            <a:off x="800450" y="4319275"/>
            <a:ext cx="7537200" cy="677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Brückner, H. P., Spindeldreier, C., Blume, H., Schoonderwaldt, E., &amp; Altenmüller, E. (2012, May). </a:t>
            </a:r>
            <a:br>
              <a:rPr lang="es-419" sz="800">
                <a:solidFill>
                  <a:srgbClr val="94B6BD"/>
                </a:solidFill>
              </a:rPr>
            </a:br>
            <a:r>
              <a:rPr lang="es-419" sz="800">
                <a:solidFill>
                  <a:srgbClr val="94B6BD"/>
                </a:solidFill>
              </a:rPr>
              <a:t>Evaluation of inertial sensor fusion algorithms in grasping tasks using real input data: Comparison of computational costs and root mean square error. </a:t>
            </a:r>
            <a:br>
              <a:rPr lang="es-419" sz="800">
                <a:solidFill>
                  <a:srgbClr val="94B6BD"/>
                </a:solidFill>
              </a:rPr>
            </a:br>
            <a:r>
              <a:rPr lang="es-419" sz="800">
                <a:solidFill>
                  <a:srgbClr val="94B6BD"/>
                </a:solidFill>
              </a:rPr>
              <a:t>In Wearable and Implantable Body Sensor Networks, International Workshop on (pp. 189-194). IEEE Computer Society</a:t>
            </a:r>
            <a:r>
              <a:rPr lang="es-419" sz="800">
                <a:solidFill>
                  <a:srgbClr val="94B6BD"/>
                </a:solidFill>
              </a:rPr>
              <a:t>.</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Filtro de Kalman</a:t>
            </a:r>
            <a:endParaRPr sz="2400">
              <a:solidFill>
                <a:schemeClr val="dk1"/>
              </a:solidFill>
            </a:endParaRPr>
          </a:p>
        </p:txBody>
      </p:sp>
      <p:sp>
        <p:nvSpPr>
          <p:cNvPr id="534" name="Google Shape;534;p4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algoritmos basados ​​en el filtro de Kalman utilizan el conocimiento de la dinámica esperada de un sistema para predecir los estados futuros del sistema dado tanto el estado actual como un conjunto de entradas de control.</a:t>
            </a:r>
            <a:endParaRPr/>
          </a:p>
          <a:p>
            <a:pPr indent="0" lvl="0" marL="0" rtl="0" algn="l">
              <a:spcBef>
                <a:spcPts val="1200"/>
              </a:spcBef>
              <a:spcAft>
                <a:spcPts val="1200"/>
              </a:spcAft>
              <a:buNone/>
            </a:pPr>
            <a:r>
              <a:rPr lang="es-419"/>
              <a:t>Esta familia de algoritmos comprende estimadores óptimos con respecto a la minimización de la covarianza del error. Uno de estos algoritmos se basa en dos pasos principales que están conectados en una relación de retroalimentación: un paso de cálculo de medición con un esquema de selección de vectores y la aplicación de un paso de filtro de Kalman (KF). </a:t>
            </a:r>
            <a:endParaRPr/>
          </a:p>
        </p:txBody>
      </p:sp>
      <p:sp>
        <p:nvSpPr>
          <p:cNvPr id="535" name="Google Shape;535;p4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36" name="Google Shape;536;p44"/>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Simon, D. (2001). Kalman filtering. Embedded systems programming, 14(6), 72-79.</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4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42" name="Google Shape;542;p4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200"/>
              <a:t>Estructura de un Filtro de Kalman</a:t>
            </a:r>
            <a:endParaRPr sz="1200"/>
          </a:p>
        </p:txBody>
      </p:sp>
      <p:pic>
        <p:nvPicPr>
          <p:cNvPr id="543" name="Google Shape;543;p45"/>
          <p:cNvPicPr preferRelativeResize="0"/>
          <p:nvPr/>
        </p:nvPicPr>
        <p:blipFill rotWithShape="1">
          <a:blip r:embed="rId3">
            <a:alphaModFix/>
          </a:blip>
          <a:srcRect b="23792" l="0" r="0" t="0"/>
          <a:stretch/>
        </p:blipFill>
        <p:spPr>
          <a:xfrm>
            <a:off x="1513800" y="1535663"/>
            <a:ext cx="6195049" cy="20721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4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Filtro de Kalman</a:t>
            </a:r>
            <a:endParaRPr sz="2400">
              <a:solidFill>
                <a:schemeClr val="dk1"/>
              </a:solidFill>
            </a:endParaRPr>
          </a:p>
        </p:txBody>
      </p:sp>
      <p:sp>
        <p:nvSpPr>
          <p:cNvPr id="549" name="Google Shape;549;p4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Una vez que se realiza la actualización de tiempo en el KF, la medida aproximada </a:t>
            </a:r>
            <a:r>
              <a:rPr i="1" lang="es-419"/>
              <a:t>m</a:t>
            </a:r>
            <a:r>
              <a:rPr baseline="-25000" i="1" lang="es-419"/>
              <a:t>ap</a:t>
            </a:r>
            <a:r>
              <a:rPr lang="es-419"/>
              <a:t> se envía al paso de cálculo de medida utilizando el algoritmo Optimal Two-Observation Quaternion (O2OQ). </a:t>
            </a:r>
            <a:endParaRPr/>
          </a:p>
          <a:p>
            <a:pPr indent="0" lvl="0" marL="0" rtl="0" algn="l">
              <a:spcBef>
                <a:spcPts val="1200"/>
              </a:spcBef>
              <a:spcAft>
                <a:spcPts val="1200"/>
              </a:spcAft>
              <a:buNone/>
            </a:pPr>
            <a:r>
              <a:rPr lang="es-419"/>
              <a:t>Usando la medición aproximada </a:t>
            </a:r>
            <a:r>
              <a:rPr i="1" lang="es-419"/>
              <a:t>m</a:t>
            </a:r>
            <a:r>
              <a:rPr baseline="-25000" i="1" lang="es-419"/>
              <a:t>ap</a:t>
            </a:r>
            <a:r>
              <a:rPr lang="es-419"/>
              <a:t> y las lecturas del acelerómetro y el magnetómetro, el </a:t>
            </a:r>
            <a:r>
              <a:rPr b="1" lang="es-419">
                <a:solidFill>
                  <a:schemeClr val="accent5"/>
                </a:solidFill>
              </a:rPr>
              <a:t>paso de cálculo</a:t>
            </a:r>
            <a:r>
              <a:rPr lang="es-419"/>
              <a:t> de medición calcula la medición </a:t>
            </a:r>
            <a:r>
              <a:rPr i="1" lang="es-419"/>
              <a:t>m</a:t>
            </a:r>
            <a:r>
              <a:rPr baseline="-25000" i="1" lang="es-419"/>
              <a:t>se</a:t>
            </a:r>
            <a:r>
              <a:rPr lang="es-419"/>
              <a:t>, el cual se envía de vuelta al </a:t>
            </a:r>
            <a:r>
              <a:rPr b="1" lang="es-419">
                <a:solidFill>
                  <a:schemeClr val="accent5"/>
                </a:solidFill>
              </a:rPr>
              <a:t>paso de actualización </a:t>
            </a:r>
            <a:r>
              <a:rPr lang="es-419"/>
              <a:t>de medición en el KF y se utiliza como su medición de entrada.</a:t>
            </a:r>
            <a:endParaRPr/>
          </a:p>
        </p:txBody>
      </p:sp>
      <p:sp>
        <p:nvSpPr>
          <p:cNvPr id="550" name="Google Shape;550;p4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51" name="Google Shape;551;p46"/>
          <p:cNvSpPr txBox="1"/>
          <p:nvPr/>
        </p:nvSpPr>
        <p:spPr>
          <a:xfrm>
            <a:off x="800450" y="45478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Lee, J. K., &amp; Park, E. J. (2009, May). A minimum-order kalman filter for ambulatory real-time human body orientation tracking. </a:t>
            </a:r>
            <a:br>
              <a:rPr lang="es-419" sz="800">
                <a:solidFill>
                  <a:srgbClr val="94B6BD"/>
                </a:solidFill>
              </a:rPr>
            </a:br>
            <a:r>
              <a:rPr lang="es-419" sz="800">
                <a:solidFill>
                  <a:srgbClr val="94B6BD"/>
                </a:solidFill>
              </a:rPr>
              <a:t>In 2009 IEEE International Conference on Robotics and Automation (pp. 3565-3570). IEEE</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Filtro de Kalman</a:t>
            </a:r>
            <a:endParaRPr sz="2400">
              <a:solidFill>
                <a:schemeClr val="dk1"/>
              </a:solidFill>
            </a:endParaRPr>
          </a:p>
        </p:txBody>
      </p:sp>
      <p:sp>
        <p:nvSpPr>
          <p:cNvPr id="557" name="Google Shape;557;p4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 el paso de </a:t>
            </a:r>
            <a:r>
              <a:rPr b="1" lang="es-419"/>
              <a:t>medición </a:t>
            </a:r>
            <a:r>
              <a:rPr lang="es-419"/>
              <a:t>de cuaterniones, se usa un selector para elegir el vector de medición apropiado de acuerdo con las mediciones de los vectores de gravedad y campo magnético local. Además, el cuaternión se calcula utilizando el algoritmo O2OQ. El cuaternión </a:t>
            </a:r>
            <a:r>
              <a:rPr i="1" lang="es-419"/>
              <a:t>q</a:t>
            </a:r>
            <a:r>
              <a:rPr baseline="-25000" i="1" lang="es-419"/>
              <a:t>measured</a:t>
            </a:r>
            <a:r>
              <a:rPr lang="es-419"/>
              <a:t> se envía luego al siguiente paso y se trata como una medición de entrada de KF.</a:t>
            </a:r>
            <a:endParaRPr/>
          </a:p>
          <a:p>
            <a:pPr indent="0" lvl="0" marL="0" rtl="0" algn="l">
              <a:spcBef>
                <a:spcPts val="1200"/>
              </a:spcBef>
              <a:spcAft>
                <a:spcPts val="1200"/>
              </a:spcAft>
              <a:buNone/>
            </a:pPr>
            <a:r>
              <a:rPr lang="es-419"/>
              <a:t>Durante la </a:t>
            </a:r>
            <a:r>
              <a:rPr b="1" lang="es-419"/>
              <a:t>actualización</a:t>
            </a:r>
            <a:r>
              <a:rPr lang="es-419"/>
              <a:t> de la medición del KF, se calculan la ganancia de Kalman, la estimación del estado </a:t>
            </a:r>
            <a:r>
              <a:rPr i="1" lang="es-419"/>
              <a:t>a posteriori</a:t>
            </a:r>
            <a:r>
              <a:rPr lang="es-419"/>
              <a:t>, y la matriz de covarianza del error </a:t>
            </a:r>
            <a:r>
              <a:rPr i="1" lang="es-419"/>
              <a:t>a posteriori</a:t>
            </a:r>
            <a:r>
              <a:rPr lang="es-419"/>
              <a:t>.</a:t>
            </a:r>
            <a:endParaRPr/>
          </a:p>
        </p:txBody>
      </p:sp>
      <p:sp>
        <p:nvSpPr>
          <p:cNvPr id="558" name="Google Shape;558;p4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Filtro complementario</a:t>
            </a:r>
            <a:endParaRPr sz="2400">
              <a:solidFill>
                <a:schemeClr val="dk1"/>
              </a:solidFill>
            </a:endParaRPr>
          </a:p>
        </p:txBody>
      </p:sp>
      <p:sp>
        <p:nvSpPr>
          <p:cNvPr id="564" name="Google Shape;564;p4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algoritmos de filtrado complementarios fusionan la información de los sensores magnéticos e inerciales para estimar la orientación local de los cuerpos. </a:t>
            </a:r>
            <a:endParaRPr/>
          </a:p>
          <a:p>
            <a:pPr indent="0" lvl="0" marL="0" rtl="0" algn="l">
              <a:spcBef>
                <a:spcPts val="1200"/>
              </a:spcBef>
              <a:spcAft>
                <a:spcPts val="1200"/>
              </a:spcAft>
              <a:buNone/>
            </a:pPr>
            <a:r>
              <a:rPr lang="es-419"/>
              <a:t>Los filtros complementarios se pueden utilizar para combinar dos medidas diferentes de una señal común con diferentes propiedades de ruido para producir una única salida. Estos algoritmos toman en consideración las características espectrales complementarias de las señales ruidosas para calcular una estimación final. </a:t>
            </a:r>
            <a:endParaRPr/>
          </a:p>
        </p:txBody>
      </p:sp>
      <p:sp>
        <p:nvSpPr>
          <p:cNvPr id="565" name="Google Shape;565;p4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66" name="Google Shape;566;p48"/>
          <p:cNvSpPr txBox="1"/>
          <p:nvPr/>
        </p:nvSpPr>
        <p:spPr>
          <a:xfrm>
            <a:off x="800450" y="45478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Young, A. D. (2009, June). Comparison of orientation filter algorithms for realtime wireless inertial posture tracking. </a:t>
            </a:r>
            <a:br>
              <a:rPr lang="es-419" sz="800">
                <a:solidFill>
                  <a:srgbClr val="94B6BD"/>
                </a:solidFill>
              </a:rPr>
            </a:br>
            <a:r>
              <a:rPr lang="es-419" sz="800">
                <a:solidFill>
                  <a:srgbClr val="94B6BD"/>
                </a:solidFill>
              </a:rPr>
              <a:t>In 2009 Sixth International Workshop on Wearable and Implantable Body Sensor Networks (pp. 59-64). IEEE</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72" name="Google Shape;572;p49"/>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200"/>
              <a:t>Estructura de un Filtro complementario</a:t>
            </a:r>
            <a:endParaRPr sz="1200"/>
          </a:p>
        </p:txBody>
      </p:sp>
      <p:pic>
        <p:nvPicPr>
          <p:cNvPr id="573" name="Google Shape;573;p49"/>
          <p:cNvPicPr preferRelativeResize="0"/>
          <p:nvPr/>
        </p:nvPicPr>
        <p:blipFill>
          <a:blip r:embed="rId3">
            <a:alphaModFix/>
          </a:blip>
          <a:stretch>
            <a:fillRect/>
          </a:stretch>
        </p:blipFill>
        <p:spPr>
          <a:xfrm>
            <a:off x="1831737" y="1527637"/>
            <a:ext cx="5480524" cy="208822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Filtro complementario</a:t>
            </a:r>
            <a:endParaRPr sz="2400">
              <a:solidFill>
                <a:schemeClr val="dk1"/>
              </a:solidFill>
            </a:endParaRPr>
          </a:p>
        </p:txBody>
      </p:sp>
      <p:sp>
        <p:nvSpPr>
          <p:cNvPr id="579" name="Google Shape;579;p5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Estos algoritmos</a:t>
            </a:r>
            <a:r>
              <a:rPr lang="es-419"/>
              <a:t> aprovechan la naturaleza complementaria de la información que ofrecen los datos del sensor de velocidad angular de alta frecuencia por un lado, y los acelerómetros y magnetómetros de baja frecuencia por el otro. </a:t>
            </a:r>
            <a:endParaRPr/>
          </a:p>
          <a:p>
            <a:pPr indent="0" lvl="0" marL="0" rtl="0" algn="l">
              <a:spcBef>
                <a:spcPts val="1200"/>
              </a:spcBef>
              <a:spcAft>
                <a:spcPts val="1200"/>
              </a:spcAft>
              <a:buNone/>
            </a:pPr>
            <a:r>
              <a:rPr lang="es-419"/>
              <a:t>Utilizan una sola ganancia que se puede ajustar de forma adaptativa para lograr un rendimiento satisfactorio al rastrear dos o más tipos de movimiento diferentes. Combina la información estática proporcionada por el acelerómetro y el magnetómetro, indicada como </a:t>
            </a:r>
            <a:r>
              <a:rPr i="1" lang="es-419"/>
              <a:t>m</a:t>
            </a:r>
            <a:r>
              <a:rPr baseline="-25000" i="1" lang="es-419"/>
              <a:t>st</a:t>
            </a:r>
            <a:r>
              <a:rPr lang="es-419"/>
              <a:t>, y la información dinámica proporcionada por el giroscopio, indicada como </a:t>
            </a:r>
            <a:r>
              <a:rPr i="1" lang="es-419"/>
              <a:t>m</a:t>
            </a:r>
            <a:r>
              <a:rPr baseline="-25000" i="1" lang="es-419"/>
              <a:t>dy</a:t>
            </a:r>
            <a:r>
              <a:rPr lang="es-419"/>
              <a:t>.</a:t>
            </a:r>
            <a:endParaRPr/>
          </a:p>
        </p:txBody>
      </p:sp>
      <p:sp>
        <p:nvSpPr>
          <p:cNvPr id="580" name="Google Shape;580;p5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81" name="Google Shape;581;p50"/>
          <p:cNvSpPr txBox="1"/>
          <p:nvPr/>
        </p:nvSpPr>
        <p:spPr>
          <a:xfrm>
            <a:off x="800450" y="45478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Calusdian, J., Yun, X., &amp; Bachmann, E. (2011, May). Adaptive-gain complementary filter of inertial and magnetic data for orientation estimation. </a:t>
            </a:r>
            <a:br>
              <a:rPr lang="es-419" sz="800">
                <a:solidFill>
                  <a:srgbClr val="94B6BD"/>
                </a:solidFill>
              </a:rPr>
            </a:br>
            <a:r>
              <a:rPr lang="es-419" sz="800">
                <a:solidFill>
                  <a:srgbClr val="94B6BD"/>
                </a:solidFill>
              </a:rPr>
              <a:t>In 2011 IEEE International Conference on Robotics and Automation (pp. 1916-1922). IEEE</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p>
          <a:p>
            <a:pPr indent="0" lvl="0" marL="0" rtl="0" algn="l">
              <a:spcBef>
                <a:spcPts val="0"/>
              </a:spcBef>
              <a:spcAft>
                <a:spcPts val="0"/>
              </a:spcAft>
              <a:buNone/>
            </a:pPr>
            <a:r>
              <a:rPr lang="es-419" sz="2400">
                <a:solidFill>
                  <a:schemeClr val="dk1"/>
                </a:solidFill>
              </a:rPr>
              <a:t>Filtro complementario</a:t>
            </a:r>
            <a:endParaRPr sz="2400">
              <a:solidFill>
                <a:schemeClr val="dk1"/>
              </a:solidFill>
            </a:endParaRPr>
          </a:p>
        </p:txBody>
      </p:sp>
      <p:sp>
        <p:nvSpPr>
          <p:cNvPr id="587" name="Google Shape;587;p51"/>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Por lo tanto, a frecuencias más bajas, la salida del filtro se basa más en el cuaternión estático </a:t>
            </a:r>
            <a:r>
              <a:rPr i="1" lang="es-419"/>
              <a:t>q</a:t>
            </a:r>
            <a:r>
              <a:rPr baseline="-25000" i="1" lang="es-419"/>
              <a:t>s</a:t>
            </a:r>
            <a:r>
              <a:rPr lang="es-419"/>
              <a:t> calculado por el algoritmo FQA utilizando las aceleraciones y las mediciones del campo magnético local. A frecuencias más altas, la salida del filtro se basa más en la información dinámica de las mediciones de velocidad angular.</a:t>
            </a:r>
            <a:endParaRPr/>
          </a:p>
          <a:p>
            <a:pPr indent="0" lvl="0" marL="0" rtl="0" algn="l">
              <a:spcBef>
                <a:spcPts val="1200"/>
              </a:spcBef>
              <a:spcAft>
                <a:spcPts val="1200"/>
              </a:spcAft>
              <a:buNone/>
            </a:pPr>
            <a:r>
              <a:rPr lang="es-419"/>
              <a:t>Finalmente, el valor óptimo para la ganancia del filtro depende de la aplicación o los movimientos a los que se someten los sensores. En general, si el sensor está sujeto a movimientos relativamente lentos, se prefiere una mayor ganancia de filtro. Por el contrario, si se necesita el sensor para rastrear movimientos relativamente rápidos, se elige una ganancia de filtro más pequeña.</a:t>
            </a:r>
            <a:endParaRPr/>
          </a:p>
        </p:txBody>
      </p:sp>
      <p:sp>
        <p:nvSpPr>
          <p:cNvPr id="588" name="Google Shape;588;p5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89" name="Google Shape;589;p51"/>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Ref.</a:t>
            </a:r>
            <a:endParaRPr sz="800">
              <a:solidFill>
                <a:srgbClr val="94B6BD"/>
              </a:solidFill>
            </a:endParaRPr>
          </a:p>
          <a:p>
            <a:pPr indent="0" lvl="0" marL="0" rtl="0" algn="r">
              <a:spcBef>
                <a:spcPts val="0"/>
              </a:spcBef>
              <a:spcAft>
                <a:spcPts val="0"/>
              </a:spcAft>
              <a:buNone/>
            </a:pPr>
            <a:r>
              <a:t/>
            </a:r>
            <a:endParaRPr sz="800">
              <a:solidFill>
                <a:srgbClr val="94B6BD"/>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95" name="Google Shape;595;p52"/>
          <p:cNvPicPr preferRelativeResize="0"/>
          <p:nvPr/>
        </p:nvPicPr>
        <p:blipFill>
          <a:blip r:embed="rId3">
            <a:alphaModFix/>
          </a:blip>
          <a:stretch>
            <a:fillRect/>
          </a:stretch>
        </p:blipFill>
        <p:spPr>
          <a:xfrm>
            <a:off x="1692000" y="699750"/>
            <a:ext cx="5760000" cy="3744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53"/>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Orientación local de un IMU</a:t>
            </a:r>
            <a:endParaRPr/>
          </a:p>
        </p:txBody>
      </p:sp>
      <p:sp>
        <p:nvSpPr>
          <p:cNvPr id="601" name="Google Shape;601;p5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02" name="Google Shape;602;p53" title="20170914lpmsb2orientationdemo (Original).mp4">
            <a:hlinkClick r:id="rId3"/>
          </p:cNvPr>
          <p:cNvPicPr preferRelativeResize="0"/>
          <p:nvPr/>
        </p:nvPicPr>
        <p:blipFill>
          <a:blip r:embed="rId4">
            <a:alphaModFix/>
          </a:blip>
          <a:stretch>
            <a:fillRect/>
          </a:stretch>
        </p:blipFill>
        <p:spPr>
          <a:xfrm>
            <a:off x="1373100" y="386575"/>
            <a:ext cx="6397782" cy="360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1000"/>
                                        <p:tgtEl>
                                          <p:spTgt spid="6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54"/>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Orientación local de dos IMUs sujetos a segmentos anatómicos</a:t>
            </a:r>
            <a:endParaRPr/>
          </a:p>
        </p:txBody>
      </p:sp>
      <p:sp>
        <p:nvSpPr>
          <p:cNvPr id="608" name="Google Shape;608;p5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09" name="Google Shape;609;p54" title="20170321lpmsb2boxingdemo (Original).mp4">
            <a:hlinkClick r:id="rId3"/>
          </p:cNvPr>
          <p:cNvPicPr preferRelativeResize="0"/>
          <p:nvPr/>
        </p:nvPicPr>
        <p:blipFill>
          <a:blip r:embed="rId4">
            <a:alphaModFix/>
          </a:blip>
          <a:stretch>
            <a:fillRect/>
          </a:stretch>
        </p:blipFill>
        <p:spPr>
          <a:xfrm>
            <a:off x="1368002" y="386575"/>
            <a:ext cx="6408000" cy="35999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1000"/>
                                        <p:tgtEl>
                                          <p:spTgt spid="6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5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15" name="Google Shape;615;p55"/>
          <p:cNvPicPr preferRelativeResize="0"/>
          <p:nvPr/>
        </p:nvPicPr>
        <p:blipFill>
          <a:blip r:embed="rId3">
            <a:alphaModFix amt="90000"/>
          </a:blip>
          <a:stretch>
            <a:fillRect/>
          </a:stretch>
        </p:blipFill>
        <p:spPr>
          <a:xfrm>
            <a:off x="5186850" y="597475"/>
            <a:ext cx="2645857" cy="2871725"/>
          </a:xfrm>
          <a:prstGeom prst="rect">
            <a:avLst/>
          </a:prstGeom>
          <a:noFill/>
          <a:ln>
            <a:noFill/>
          </a:ln>
        </p:spPr>
      </p:pic>
      <p:sp>
        <p:nvSpPr>
          <p:cNvPr id="616" name="Google Shape;616;p55"/>
          <p:cNvSpPr txBox="1"/>
          <p:nvPr>
            <p:ph type="title"/>
          </p:nvPr>
        </p:nvSpPr>
        <p:spPr>
          <a:xfrm>
            <a:off x="1303800" y="598575"/>
            <a:ext cx="3430500" cy="199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419" sz="3220"/>
              <a:t>¿Cuándo es suficiente usar datos crudos (raw)?</a:t>
            </a:r>
            <a:endParaRPr sz="3220"/>
          </a:p>
          <a:p>
            <a:pPr indent="0" lvl="0" marL="0" rtl="0" algn="l">
              <a:spcBef>
                <a:spcPts val="0"/>
              </a:spcBef>
              <a:spcAft>
                <a:spcPts val="0"/>
              </a:spcAft>
              <a:buSzPts val="990"/>
              <a:buNone/>
            </a:pPr>
            <a:r>
              <a:t/>
            </a:r>
            <a:endParaRPr sz="3220"/>
          </a:p>
        </p:txBody>
      </p:sp>
      <p:sp>
        <p:nvSpPr>
          <p:cNvPr id="617" name="Google Shape;617;p55"/>
          <p:cNvSpPr txBox="1"/>
          <p:nvPr>
            <p:ph idx="1" type="subTitle"/>
          </p:nvPr>
        </p:nvSpPr>
        <p:spPr>
          <a:xfrm>
            <a:off x="1303800" y="2743203"/>
            <a:ext cx="3430500" cy="72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¿Y cuándo usar datos de alto nivel?</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56"/>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200"/>
              <a:t>Combinación de sensores en modelo cinemático (Datos de muy alto nivel)</a:t>
            </a:r>
            <a:endParaRPr sz="1200"/>
          </a:p>
        </p:txBody>
      </p:sp>
      <p:sp>
        <p:nvSpPr>
          <p:cNvPr id="623" name="Google Shape;623;p5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24" name="Google Shape;624;p56"/>
          <p:cNvPicPr preferRelativeResize="0"/>
          <p:nvPr/>
        </p:nvPicPr>
        <p:blipFill>
          <a:blip r:embed="rId3">
            <a:alphaModFix/>
          </a:blip>
          <a:stretch>
            <a:fillRect/>
          </a:stretch>
        </p:blipFill>
        <p:spPr>
          <a:xfrm>
            <a:off x="2199987" y="1286475"/>
            <a:ext cx="4744026" cy="211072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5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Señales de aceleración para detección del ciclo de la marcha</a:t>
            </a:r>
            <a:endParaRPr/>
          </a:p>
        </p:txBody>
      </p:sp>
      <p:sp>
        <p:nvSpPr>
          <p:cNvPr id="630" name="Google Shape;630;p5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31" name="Google Shape;631;p57"/>
          <p:cNvPicPr preferRelativeResize="0"/>
          <p:nvPr/>
        </p:nvPicPr>
        <p:blipFill>
          <a:blip r:embed="rId3">
            <a:alphaModFix/>
          </a:blip>
          <a:stretch>
            <a:fillRect/>
          </a:stretch>
        </p:blipFill>
        <p:spPr>
          <a:xfrm>
            <a:off x="1288476" y="1088573"/>
            <a:ext cx="6567050" cy="268070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58"/>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Señales de aceleración para detección del ciclo de la marcha</a:t>
            </a:r>
            <a:endParaRPr/>
          </a:p>
        </p:txBody>
      </p:sp>
      <p:sp>
        <p:nvSpPr>
          <p:cNvPr id="637" name="Google Shape;637;p5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38" name="Google Shape;638;p58"/>
          <p:cNvPicPr preferRelativeResize="0"/>
          <p:nvPr/>
        </p:nvPicPr>
        <p:blipFill>
          <a:blip r:embed="rId3">
            <a:alphaModFix/>
          </a:blip>
          <a:stretch>
            <a:fillRect/>
          </a:stretch>
        </p:blipFill>
        <p:spPr>
          <a:xfrm>
            <a:off x="1968376" y="502225"/>
            <a:ext cx="5207250" cy="34843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9"/>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Detección de pasos en señales de aceleración</a:t>
            </a:r>
            <a:endParaRPr/>
          </a:p>
        </p:txBody>
      </p:sp>
      <p:sp>
        <p:nvSpPr>
          <p:cNvPr id="644" name="Google Shape;644;p5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45" name="Google Shape;645;p59"/>
          <p:cNvPicPr preferRelativeResize="0"/>
          <p:nvPr/>
        </p:nvPicPr>
        <p:blipFill>
          <a:blip r:embed="rId3">
            <a:alphaModFix/>
          </a:blip>
          <a:stretch>
            <a:fillRect/>
          </a:stretch>
        </p:blipFill>
        <p:spPr>
          <a:xfrm>
            <a:off x="1766575" y="543775"/>
            <a:ext cx="5610850" cy="35190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6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Medición de variabilidad a partir de señales de aceleración</a:t>
            </a:r>
            <a:endParaRPr/>
          </a:p>
        </p:txBody>
      </p:sp>
      <p:sp>
        <p:nvSpPr>
          <p:cNvPr id="651" name="Google Shape;651;p6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52" name="Google Shape;652;p60"/>
          <p:cNvPicPr preferRelativeResize="0"/>
          <p:nvPr/>
        </p:nvPicPr>
        <p:blipFill>
          <a:blip r:embed="rId3">
            <a:alphaModFix/>
          </a:blip>
          <a:stretch>
            <a:fillRect/>
          </a:stretch>
        </p:blipFill>
        <p:spPr>
          <a:xfrm>
            <a:off x="661988" y="1695450"/>
            <a:ext cx="7820025" cy="17526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6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Medición de variabilidad a partir de señales de aceleración</a:t>
            </a:r>
            <a:endParaRPr/>
          </a:p>
        </p:txBody>
      </p:sp>
      <p:sp>
        <p:nvSpPr>
          <p:cNvPr id="658" name="Google Shape;658;p6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59" name="Google Shape;659;p61"/>
          <p:cNvPicPr preferRelativeResize="0"/>
          <p:nvPr/>
        </p:nvPicPr>
        <p:blipFill>
          <a:blip r:embed="rId3">
            <a:alphaModFix/>
          </a:blip>
          <a:stretch>
            <a:fillRect/>
          </a:stretch>
        </p:blipFill>
        <p:spPr>
          <a:xfrm>
            <a:off x="554198" y="1076400"/>
            <a:ext cx="3866675" cy="2442601"/>
          </a:xfrm>
          <a:prstGeom prst="rect">
            <a:avLst/>
          </a:prstGeom>
          <a:noFill/>
          <a:ln>
            <a:noFill/>
          </a:ln>
        </p:spPr>
      </p:pic>
      <p:pic>
        <p:nvPicPr>
          <p:cNvPr id="660" name="Google Shape;660;p61"/>
          <p:cNvPicPr preferRelativeResize="0"/>
          <p:nvPr/>
        </p:nvPicPr>
        <p:blipFill>
          <a:blip r:embed="rId4">
            <a:alphaModFix/>
          </a:blip>
          <a:stretch>
            <a:fillRect/>
          </a:stretch>
        </p:blipFill>
        <p:spPr>
          <a:xfrm>
            <a:off x="4833023" y="1069350"/>
            <a:ext cx="3881476" cy="245669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62"/>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Reconocimiento de actividades con señales de acelerómetro y giroscopio</a:t>
            </a:r>
            <a:endParaRPr/>
          </a:p>
        </p:txBody>
      </p:sp>
      <p:sp>
        <p:nvSpPr>
          <p:cNvPr id="666" name="Google Shape;666;p6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67" name="Google Shape;667;p62"/>
          <p:cNvPicPr preferRelativeResize="0"/>
          <p:nvPr/>
        </p:nvPicPr>
        <p:blipFill>
          <a:blip r:embed="rId3">
            <a:alphaModFix/>
          </a:blip>
          <a:stretch>
            <a:fillRect/>
          </a:stretch>
        </p:blipFill>
        <p:spPr>
          <a:xfrm>
            <a:off x="655813" y="1565250"/>
            <a:ext cx="3797833" cy="2029714"/>
          </a:xfrm>
          <a:prstGeom prst="rect">
            <a:avLst/>
          </a:prstGeom>
          <a:noFill/>
          <a:ln>
            <a:noFill/>
          </a:ln>
        </p:spPr>
      </p:pic>
      <p:pic>
        <p:nvPicPr>
          <p:cNvPr id="668" name="Google Shape;668;p62"/>
          <p:cNvPicPr preferRelativeResize="0"/>
          <p:nvPr/>
        </p:nvPicPr>
        <p:blipFill>
          <a:blip r:embed="rId4">
            <a:alphaModFix/>
          </a:blip>
          <a:stretch>
            <a:fillRect/>
          </a:stretch>
        </p:blipFill>
        <p:spPr>
          <a:xfrm>
            <a:off x="4626208" y="1605812"/>
            <a:ext cx="3861978" cy="208296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3"/>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t>¿Preguntas?</a:t>
            </a:r>
            <a:endParaRPr sz="6000"/>
          </a:p>
        </p:txBody>
      </p:sp>
      <p:sp>
        <p:nvSpPr>
          <p:cNvPr id="674" name="Google Shape;674;p63"/>
          <p:cNvSpPr txBox="1"/>
          <p:nvPr>
            <p:ph idx="1" type="body"/>
          </p:nvPr>
        </p:nvSpPr>
        <p:spPr>
          <a:xfrm>
            <a:off x="1388625" y="24837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s-419" sz="1600">
                <a:solidFill>
                  <a:schemeClr val="dk1"/>
                </a:solidFill>
              </a:rPr>
              <a:t>hussein@cicese.mx</a:t>
            </a:r>
            <a:endParaRPr b="1" sz="1600">
              <a:solidFill>
                <a:schemeClr val="dk1"/>
              </a:solidFill>
            </a:endParaRPr>
          </a:p>
          <a:p>
            <a:pPr indent="0" lvl="0" marL="0" rtl="0" algn="ctr">
              <a:spcBef>
                <a:spcPts val="1200"/>
              </a:spcBef>
              <a:spcAft>
                <a:spcPts val="1200"/>
              </a:spcAft>
              <a:buNone/>
            </a:pPr>
            <a:r>
              <a:t/>
            </a:r>
            <a:endParaRPr b="1" sz="1600">
              <a:solidFill>
                <a:schemeClr val="dk1"/>
              </a:solidFill>
            </a:endParaRPr>
          </a:p>
        </p:txBody>
      </p:sp>
      <p:sp>
        <p:nvSpPr>
          <p:cNvPr id="675" name="Google Shape;675;p6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76" name="Google Shape;676;p63"/>
          <p:cNvPicPr preferRelativeResize="0"/>
          <p:nvPr/>
        </p:nvPicPr>
        <p:blipFill>
          <a:blip r:embed="rId3">
            <a:alphaModFix/>
          </a:blip>
          <a:stretch>
            <a:fillRect/>
          </a:stretch>
        </p:blipFill>
        <p:spPr>
          <a:xfrm>
            <a:off x="7771986" y="3437649"/>
            <a:ext cx="1372013" cy="1705850"/>
          </a:xfrm>
          <a:prstGeom prst="rect">
            <a:avLst/>
          </a:prstGeom>
          <a:noFill/>
          <a:ln>
            <a:noFill/>
          </a:ln>
        </p:spPr>
      </p:pic>
      <p:pic>
        <p:nvPicPr>
          <p:cNvPr id="677" name="Google Shape;677;p63"/>
          <p:cNvPicPr preferRelativeResize="0"/>
          <p:nvPr/>
        </p:nvPicPr>
        <p:blipFill>
          <a:blip r:embed="rId4">
            <a:alphaModFix/>
          </a:blip>
          <a:stretch>
            <a:fillRect/>
          </a:stretch>
        </p:blipFill>
        <p:spPr>
          <a:xfrm>
            <a:off x="0" y="3437650"/>
            <a:ext cx="2273117" cy="170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mpulso CDSI">
  <a:themeElements>
    <a:clrScheme name="Momentum">
      <a:dk1>
        <a:srgbClr val="94B6BD"/>
      </a:dk1>
      <a:lt1>
        <a:srgbClr val="FFFFFF"/>
      </a:lt1>
      <a:dk2>
        <a:srgbClr val="073763"/>
      </a:dk2>
      <a:lt2>
        <a:srgbClr val="BBBBBB"/>
      </a:lt2>
      <a:accent1>
        <a:srgbClr val="3A4664"/>
      </a:accent1>
      <a:accent2>
        <a:srgbClr val="94B6BD"/>
      </a:accent2>
      <a:accent3>
        <a:srgbClr val="EEEEEE"/>
      </a:accent3>
      <a:accent4>
        <a:srgbClr val="BBBBBB"/>
      </a:accent4>
      <a:accent5>
        <a:srgbClr val="0B5394"/>
      </a:accent5>
      <a:accent6>
        <a:srgbClr val="D9D2E9"/>
      </a:accent6>
      <a:hlink>
        <a:srgbClr val="DD7E6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