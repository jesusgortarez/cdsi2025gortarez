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Nunito"/>
      <p:regular r:id="rId53"/>
      <p:bold r:id="rId54"/>
      <p:italic r:id="rId55"/>
      <p:boldItalic r:id="rId56"/>
    </p:embeddedFont>
    <p:embeddedFont>
      <p:font typeface="Maven Pro"/>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Nunito-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Nunito-italic.fntdata"/><Relationship Id="rId10" Type="http://schemas.openxmlformats.org/officeDocument/2006/relationships/slide" Target="slides/slide5.xml"/><Relationship Id="rId54" Type="http://schemas.openxmlformats.org/officeDocument/2006/relationships/font" Target="fonts/Nunito-bold.fntdata"/><Relationship Id="rId13" Type="http://schemas.openxmlformats.org/officeDocument/2006/relationships/slide" Target="slides/slide8.xml"/><Relationship Id="rId57" Type="http://schemas.openxmlformats.org/officeDocument/2006/relationships/font" Target="fonts/MavenPro-regular.fntdata"/><Relationship Id="rId12" Type="http://schemas.openxmlformats.org/officeDocument/2006/relationships/slide" Target="slides/slide7.xml"/><Relationship Id="rId56" Type="http://schemas.openxmlformats.org/officeDocument/2006/relationships/font" Target="fonts/Nunito-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MavenPr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b8e2f809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b8e2f809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0e9d2e886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0e9d2e886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ee37397aa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ee37397a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0e9d2e88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0e9d2e88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baa4ca26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baa4ca26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0ee37397a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0ee37397a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0ee37397a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0ee37397a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ee37397a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ee37397a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0ee37397a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0ee37397a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ee37397a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ee37397a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ee37397a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ee37397a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ee37397a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ee37397a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32 ms a 16KHz = 512 muestras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0ee37397aa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0ee37397aa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32 ms a 16KHz = 512 muestras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0e9d2e886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0e9d2e886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0e9d2e886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0e9d2e886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0e9d2e886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0e9d2e886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0e9d2e886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0e9d2e886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0e9d2e886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0e9d2e886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0e9d2e8861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0e9d2e8861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0e9d2e886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0e9d2e886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0e9d2e8861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0e9d2e886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0e9d2e886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0e9d2e886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0e9d2e886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0e9d2e886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0e9d2e8861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0e9d2e886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0e9d2e886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0e9d2e8861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0ee37397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0ee37397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0ee37397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0ee37397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0e9d2e88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0e9d2e88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0ee37397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0ee37397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0ee37397a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0ee37397a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0e9d2e886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0e9d2e886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0ee37397a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0ee37397a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0e9d2e886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0e9d2e886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0ee37397a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0ee37397a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0ee37397a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0ee37397a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0ee37397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0ee37397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0ee37397a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0ee37397a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0ee37397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0ee37397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0ee37397aa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0ee37397aa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0e9d2e886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0e9d2e88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0ee37397aa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0ee37397aa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0ee37397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0ee37397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b1cc041908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b1cc041908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b207692bc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b207692bc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b1cc0419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b1cc0419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24.png"/></Relationships>
</file>

<file path=ppt/slides/_rels/slide45.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29.png"/><Relationship Id="rId13" Type="http://schemas.openxmlformats.org/officeDocument/2006/relationships/image" Target="../media/image21.png"/><Relationship Id="rId12" Type="http://schemas.openxmlformats.org/officeDocument/2006/relationships/hyperlink" Target="https://pytorch.org/audio/stable/tutorials/effector_tutorial.html" TargetMode="External"/><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hyperlink" Target="https://librosa.org/doc/latest/advanced.html#advanced" TargetMode="External"/><Relationship Id="rId9" Type="http://schemas.openxmlformats.org/officeDocument/2006/relationships/hyperlink" Target="https://people.csail.mit.edu/hubert/pyaudio/" TargetMode="External"/><Relationship Id="rId5" Type="http://schemas.openxmlformats.org/officeDocument/2006/relationships/image" Target="../media/image31.png"/><Relationship Id="rId6" Type="http://schemas.openxmlformats.org/officeDocument/2006/relationships/hyperlink" Target="https://github.com/husseinlopez/cdsi2024" TargetMode="External"/><Relationship Id="rId7" Type="http://schemas.openxmlformats.org/officeDocument/2006/relationships/image" Target="../media/image18.png"/><Relationship Id="rId8"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7.xml"/><Relationship Id="rId3" Type="http://schemas.openxmlformats.org/officeDocument/2006/relationships/image" Target="../media/image25.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2</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de audio y voz</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2</a:t>
            </a:r>
            <a:r>
              <a:rPr lang="es-419"/>
              <a:t>.3 Procesamiento de señales de audio</a:t>
            </a:r>
            <a:endParaRPr/>
          </a:p>
        </p:txBody>
      </p:sp>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Introducción</a:t>
            </a:r>
            <a:endParaRPr/>
          </a:p>
        </p:txBody>
      </p:sp>
      <p:sp>
        <p:nvSpPr>
          <p:cNvPr id="300" name="Google Shape;300;p1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sistemas de comunicación modernos han cambiado la perspectiva de la industria del audio. Además, ha cambiado la forma en que las personas se comunican, interactúan y se relacionan entre sí. </a:t>
            </a:r>
            <a:endParaRPr/>
          </a:p>
          <a:p>
            <a:pPr indent="0" lvl="0" marL="0" rtl="0" algn="l">
              <a:spcBef>
                <a:spcPts val="1200"/>
              </a:spcBef>
              <a:spcAft>
                <a:spcPts val="0"/>
              </a:spcAft>
              <a:buNone/>
            </a:pPr>
            <a:r>
              <a:rPr lang="es-419"/>
              <a:t>Con la creciente adopción de la tecnología de audio digital inteligente, las personas buscan tener experiencias de audio en el hogar automatizadas y conectadas. </a:t>
            </a:r>
            <a:endParaRPr/>
          </a:p>
          <a:p>
            <a:pPr indent="0" lvl="0" marL="0" rtl="0" algn="l">
              <a:spcBef>
                <a:spcPts val="1200"/>
              </a:spcBef>
              <a:spcAft>
                <a:spcPts val="1200"/>
              </a:spcAft>
              <a:buNone/>
            </a:pPr>
            <a:r>
              <a:rPr lang="es-419"/>
              <a:t>El reconocimiento de voz, el audio de 360 grados y el audio inalámbrico están a la vanguardia de la industria del audio. Incluso, el concepto de audio inmersivo ha hecho que las comunicaciones sean más naturales y surrealistas para los oyentes. </a:t>
            </a:r>
            <a:endParaRPr/>
          </a:p>
        </p:txBody>
      </p:sp>
      <p:pic>
        <p:nvPicPr>
          <p:cNvPr id="301" name="Google Shape;301;p16"/>
          <p:cNvPicPr preferRelativeResize="0"/>
          <p:nvPr/>
        </p:nvPicPr>
        <p:blipFill>
          <a:blip r:embed="rId3">
            <a:alphaModFix/>
          </a:blip>
          <a:stretch>
            <a:fillRect/>
          </a:stretch>
        </p:blipFill>
        <p:spPr>
          <a:xfrm>
            <a:off x="6295900" y="418671"/>
            <a:ext cx="1770200" cy="1179200"/>
          </a:xfrm>
          <a:prstGeom prst="rect">
            <a:avLst/>
          </a:prstGeom>
          <a:noFill/>
          <a:ln>
            <a:noFill/>
          </a:ln>
        </p:spPr>
      </p:pic>
      <p:sp>
        <p:nvSpPr>
          <p:cNvPr id="302" name="Google Shape;302;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Escenario actual</a:t>
            </a:r>
            <a:endParaRPr/>
          </a:p>
        </p:txBody>
      </p:sp>
      <p:sp>
        <p:nvSpPr>
          <p:cNvPr id="308" name="Google Shape;308;p1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comunicación remota, como las videoconferencias, se está convirtiendo en el método de comunicación preferido frente a las reuniones presenciales. </a:t>
            </a:r>
            <a:endParaRPr/>
          </a:p>
          <a:p>
            <a:pPr indent="0" lvl="0" marL="0" rtl="0" algn="l">
              <a:spcBef>
                <a:spcPts val="1200"/>
              </a:spcBef>
              <a:spcAft>
                <a:spcPts val="0"/>
              </a:spcAft>
              <a:buNone/>
            </a:pPr>
            <a:r>
              <a:rPr lang="es-419"/>
              <a:t>Pero el ruido acústico, la distorsión y el eco son inevitables en cualquier proceso de comunicación. </a:t>
            </a:r>
            <a:endParaRPr/>
          </a:p>
          <a:p>
            <a:pPr indent="0" lvl="0" marL="0" rtl="0" algn="l">
              <a:spcBef>
                <a:spcPts val="1200"/>
              </a:spcBef>
              <a:spcAft>
                <a:spcPts val="0"/>
              </a:spcAft>
              <a:buNone/>
            </a:pPr>
            <a:r>
              <a:rPr lang="es-419"/>
              <a:t>Supongamos que una persona está hablando por teléfono o caminando por las calles. Su discurso se vería obstaculizado por el ruido del tráfico, el ruido causado por las personas a su alrededor, el sonido del viento, etc. </a:t>
            </a:r>
            <a:endParaRPr/>
          </a:p>
          <a:p>
            <a:pPr indent="0" lvl="0" marL="0" rtl="0" algn="l">
              <a:spcBef>
                <a:spcPts val="1200"/>
              </a:spcBef>
              <a:spcAft>
                <a:spcPts val="1200"/>
              </a:spcAft>
              <a:buNone/>
            </a:pPr>
            <a:r>
              <a:rPr lang="es-419"/>
              <a:t>Se vuelve imperativo eliminar dicha distorsión para tener una calidad de sonido suave e impecable.</a:t>
            </a:r>
            <a:endParaRPr/>
          </a:p>
        </p:txBody>
      </p:sp>
      <p:sp>
        <p:nvSpPr>
          <p:cNvPr id="309" name="Google Shape;309;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señales de audio</a:t>
            </a:r>
            <a:endParaRPr/>
          </a:p>
        </p:txBody>
      </p:sp>
      <p:sp>
        <p:nvSpPr>
          <p:cNvPr id="315" name="Google Shape;315;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procesamiento de señales de audio es un </a:t>
            </a:r>
            <a:r>
              <a:rPr b="1" lang="es-419"/>
              <a:t>método </a:t>
            </a:r>
            <a:r>
              <a:rPr lang="es-419"/>
              <a:t>en el que se aplican técnicas o algoritmos a las señales de audio. </a:t>
            </a:r>
            <a:endParaRPr/>
          </a:p>
          <a:p>
            <a:pPr indent="0" lvl="0" marL="0" rtl="0" algn="l">
              <a:spcBef>
                <a:spcPts val="1200"/>
              </a:spcBef>
              <a:spcAft>
                <a:spcPts val="0"/>
              </a:spcAft>
              <a:buNone/>
            </a:pPr>
            <a:r>
              <a:rPr lang="es-419"/>
              <a:t>Las señales de audio son la representación del sonido, que se presenta en forma de señales digitales y analógicas. </a:t>
            </a:r>
            <a:endParaRPr/>
          </a:p>
          <a:p>
            <a:pPr indent="0" lvl="0" marL="0" rtl="0" algn="l">
              <a:spcBef>
                <a:spcPts val="1200"/>
              </a:spcBef>
              <a:spcAft>
                <a:spcPts val="0"/>
              </a:spcAft>
              <a:buNone/>
            </a:pPr>
            <a:r>
              <a:rPr lang="es-419"/>
              <a:t>Sus frecuencias oscilan entre los 20 y los 20,000 Hz, y este es el límite inferior y superior de nuestros oídos. </a:t>
            </a:r>
            <a:endParaRPr/>
          </a:p>
          <a:p>
            <a:pPr indent="0" lvl="0" marL="0" rtl="0" algn="l">
              <a:spcBef>
                <a:spcPts val="1200"/>
              </a:spcBef>
              <a:spcAft>
                <a:spcPts val="1200"/>
              </a:spcAft>
              <a:buNone/>
            </a:pPr>
            <a:r>
              <a:rPr lang="es-419"/>
              <a:t>Las señales analógicas ocurren en señales eléctricas, mientras que las señales digitales ocurren en representaciones binarias.</a:t>
            </a:r>
            <a:endParaRPr/>
          </a:p>
        </p:txBody>
      </p:sp>
      <p:sp>
        <p:nvSpPr>
          <p:cNvPr id="316" name="Google Shape;316;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señales de audio</a:t>
            </a:r>
            <a:endParaRPr/>
          </a:p>
        </p:txBody>
      </p:sp>
      <p:sp>
        <p:nvSpPr>
          <p:cNvPr id="322" name="Google Shape;322;p19"/>
          <p:cNvSpPr txBox="1"/>
          <p:nvPr>
            <p:ph idx="1" type="body"/>
          </p:nvPr>
        </p:nvSpPr>
        <p:spPr>
          <a:xfrm>
            <a:off x="1303800" y="17614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Este proceso abarca la eliminación de ruido no deseado y el equilibrio de los rangos de tiempo y frecuencia mediante la conversión de señales digitales y analógicas. </a:t>
            </a:r>
            <a:endParaRPr/>
          </a:p>
          <a:p>
            <a:pPr indent="0" lvl="0" marL="0" rtl="0" algn="l">
              <a:spcBef>
                <a:spcPts val="1200"/>
              </a:spcBef>
              <a:spcAft>
                <a:spcPts val="0"/>
              </a:spcAft>
              <a:buNone/>
            </a:pPr>
            <a:r>
              <a:rPr lang="es-419"/>
              <a:t>Se enfoca en métodos computacionales para alterar los sonidos. </a:t>
            </a:r>
            <a:endParaRPr/>
          </a:p>
          <a:p>
            <a:pPr indent="0" lvl="0" marL="0" rtl="0" algn="l">
              <a:spcBef>
                <a:spcPts val="1200"/>
              </a:spcBef>
              <a:spcAft>
                <a:spcPts val="1200"/>
              </a:spcAft>
              <a:buNone/>
            </a:pPr>
            <a:r>
              <a:rPr lang="es-419"/>
              <a:t>Elimina o minimiza la sobremodulación, el eco y el ruido no deseado al aplicarle diversas técnicas.</a:t>
            </a:r>
            <a:endParaRPr/>
          </a:p>
        </p:txBody>
      </p:sp>
      <p:sp>
        <p:nvSpPr>
          <p:cNvPr id="323" name="Google Shape;323;p19"/>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Kalkbrenner, C., Brucher, R., Kesztyüs, T., Eichenlaub, M., Rottbauer, W., &amp; Scharnbeck, D. (2019). Automated sleep stage classification based on tracheal body sound and actigraphy. GMS German Medical Science, 17.</a:t>
            </a:r>
            <a:endParaRPr sz="800">
              <a:solidFill>
                <a:srgbClr val="94B6BD"/>
              </a:solidFill>
            </a:endParaRPr>
          </a:p>
        </p:txBody>
      </p:sp>
      <p:pic>
        <p:nvPicPr>
          <p:cNvPr id="324" name="Google Shape;324;p19"/>
          <p:cNvPicPr preferRelativeResize="0"/>
          <p:nvPr/>
        </p:nvPicPr>
        <p:blipFill>
          <a:blip r:embed="rId3">
            <a:alphaModFix/>
          </a:blip>
          <a:stretch>
            <a:fillRect/>
          </a:stretch>
        </p:blipFill>
        <p:spPr>
          <a:xfrm>
            <a:off x="5836050" y="1750275"/>
            <a:ext cx="2498243" cy="2645199"/>
          </a:xfrm>
          <a:prstGeom prst="rect">
            <a:avLst/>
          </a:prstGeom>
          <a:noFill/>
          <a:ln>
            <a:noFill/>
          </a:ln>
        </p:spPr>
      </p:pic>
      <p:sp>
        <p:nvSpPr>
          <p:cNvPr id="325" name="Google Shape;325;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a:t>
            </a:r>
            <a:r>
              <a:rPr lang="es-419"/>
              <a:t>eñales de audio</a:t>
            </a:r>
            <a:endParaRPr/>
          </a:p>
        </p:txBody>
      </p:sp>
      <p:sp>
        <p:nvSpPr>
          <p:cNvPr id="331" name="Google Shape;331;p20"/>
          <p:cNvSpPr txBox="1"/>
          <p:nvPr>
            <p:ph idx="1" type="body"/>
          </p:nvPr>
        </p:nvSpPr>
        <p:spPr>
          <a:xfrm>
            <a:off x="1303800" y="1761450"/>
            <a:ext cx="71043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En una señal de audio encontramos tres aspectos fundamentales: </a:t>
            </a:r>
            <a:r>
              <a:rPr b="1" lang="es-419"/>
              <a:t>Frecuencia, amplitud y fase. </a:t>
            </a:r>
            <a:endParaRPr b="1"/>
          </a:p>
          <a:p>
            <a:pPr indent="0" lvl="0" marL="0" rtl="0" algn="l">
              <a:spcBef>
                <a:spcPts val="1200"/>
              </a:spcBef>
              <a:spcAft>
                <a:spcPts val="0"/>
              </a:spcAft>
              <a:buNone/>
            </a:pPr>
            <a:r>
              <a:rPr lang="es-419"/>
              <a:t>Una señal de audio está compuesta normalmente por una frecuencia fundamental y sus armónicos. Estos últimos son normalmente múltiplos y submúltiplos de una frecuencia fundamental. Se le llama el “timbre”, y es lo que diferencia a dos fuentes de audio con la misma frecuencia fundamental. </a:t>
            </a:r>
            <a:endParaRPr/>
          </a:p>
          <a:p>
            <a:pPr indent="0" lvl="0" marL="0" rtl="0" algn="l">
              <a:spcBef>
                <a:spcPts val="1200"/>
              </a:spcBef>
              <a:spcAft>
                <a:spcPts val="1200"/>
              </a:spcAft>
              <a:buNone/>
            </a:pPr>
            <a:r>
              <a:rPr lang="es-419"/>
              <a:t>Acumular las frecuencias fundamentales, más la suma y diferencia de sus armónicos, la suma y diferencia de frecuencias que existen por la interacción entre los propios armónicos, crea una forma de onda totalmente compleja con respecto al tiempo y la amplitud.</a:t>
            </a:r>
            <a:endParaRPr/>
          </a:p>
        </p:txBody>
      </p:sp>
      <p:sp>
        <p:nvSpPr>
          <p:cNvPr id="332" name="Google Shape;332;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de audio</a:t>
            </a:r>
            <a:endParaRPr/>
          </a:p>
        </p:txBody>
      </p:sp>
      <p:sp>
        <p:nvSpPr>
          <p:cNvPr id="338" name="Google Shape;338;p2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Notar</a:t>
            </a:r>
            <a:r>
              <a:rPr lang="es-419"/>
              <a:t> que en el espacio de tiempo representado, existen </a:t>
            </a:r>
            <a:r>
              <a:rPr b="1" lang="es-419"/>
              <a:t>múltiples variaciones</a:t>
            </a:r>
            <a:r>
              <a:rPr lang="es-419"/>
              <a:t> de nivel. </a:t>
            </a:r>
            <a:endParaRPr/>
          </a:p>
          <a:p>
            <a:pPr indent="0" lvl="0" marL="0" rtl="0" algn="l">
              <a:spcBef>
                <a:spcPts val="1200"/>
              </a:spcBef>
              <a:spcAft>
                <a:spcPts val="0"/>
              </a:spcAft>
              <a:buNone/>
            </a:pPr>
            <a:r>
              <a:rPr lang="es-419"/>
              <a:t>Desde el punto de vista auditivo, existe un promedio llamado RMS (Root Mean Square) que es el valor medio (eficaz) de una señal alterna. En otras palabras, es la forma matemática para expresar la energía que contiene una señal de audio. </a:t>
            </a:r>
            <a:endParaRPr/>
          </a:p>
          <a:p>
            <a:pPr indent="0" lvl="0" marL="0" rtl="0" algn="l">
              <a:spcBef>
                <a:spcPts val="1200"/>
              </a:spcBef>
              <a:spcAft>
                <a:spcPts val="1200"/>
              </a:spcAft>
              <a:buNone/>
            </a:pPr>
            <a:r>
              <a:rPr lang="es-419"/>
              <a:t>Considerando una onda sinusoidal, el valor RMS es 0,707 veces su valor de pico. Sin embargo, con una onda cuadrada, ambos valores, pico y RMS son iguales; i.e., puede haber dos señales con el mismo valor de RMS, pero distinto valor de pico, o a la inversa.</a:t>
            </a:r>
            <a:endParaRPr/>
          </a:p>
        </p:txBody>
      </p:sp>
      <p:sp>
        <p:nvSpPr>
          <p:cNvPr id="339" name="Google Shape;339;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de audio</a:t>
            </a:r>
            <a:endParaRPr/>
          </a:p>
        </p:txBody>
      </p:sp>
      <p:sp>
        <p:nvSpPr>
          <p:cNvPr id="345" name="Google Shape;345;p2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Otro de los valores que encontramos en la amplitud de la señal es el valor de </a:t>
            </a:r>
            <a:r>
              <a:rPr b="1" lang="es-419"/>
              <a:t>pico a pico</a:t>
            </a:r>
            <a:r>
              <a:rPr lang="es-419"/>
              <a:t>. Esta es la desviación máxima absoluta de la señal.</a:t>
            </a:r>
            <a:endParaRPr/>
          </a:p>
          <a:p>
            <a:pPr indent="0" lvl="0" marL="0" rtl="0" algn="l">
              <a:spcBef>
                <a:spcPts val="1200"/>
              </a:spcBef>
              <a:spcAft>
                <a:spcPts val="0"/>
              </a:spcAft>
              <a:buNone/>
            </a:pPr>
            <a:r>
              <a:rPr lang="es-419"/>
              <a:t>Con respecto a la fase, se define como la posición en la que se encuentra una onda desde que se empieza a contar el tiempo. Se mide en radianes o grados (360º= 2πrad). Al calcular el coseno da un valor entre +1 y -1. </a:t>
            </a:r>
            <a:endParaRPr/>
          </a:p>
          <a:p>
            <a:pPr indent="0" lvl="0" marL="0" rtl="0" algn="l">
              <a:spcBef>
                <a:spcPts val="1200"/>
              </a:spcBef>
              <a:spcAft>
                <a:spcPts val="1200"/>
              </a:spcAft>
              <a:buNone/>
            </a:pPr>
            <a:r>
              <a:rPr lang="es-419"/>
              <a:t>El análisis de la fase en una señal estéreo es fundamental. Dos frecuencias con la misma amplitud, pero con distinta fase (180º entre ellas), se anularían. Darse cuenta de ello es más complicado. Si se suman desaparecen, pero de tratarse como una señal estéreo y cada una de ellas se reproducen en altavoces separados. En un dispositivo mono, ésta desaparecería.</a:t>
            </a:r>
            <a:endParaRPr/>
          </a:p>
        </p:txBody>
      </p:sp>
      <p:sp>
        <p:nvSpPr>
          <p:cNvPr id="346" name="Google Shape;346;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Unidades de medición</a:t>
            </a:r>
            <a:endParaRPr/>
          </a:p>
        </p:txBody>
      </p:sp>
      <p:sp>
        <p:nvSpPr>
          <p:cNvPr id="352" name="Google Shape;352;p2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Así como el oído no puede captar variaciones de presión infinitas, tampoco puede percibir infinitos niveles de presión sonora. Además, por su propia característica no percibe por igual una misma frecuencia a distintos niveles de presión. </a:t>
            </a:r>
            <a:endParaRPr/>
          </a:p>
          <a:p>
            <a:pPr indent="0" lvl="0" marL="0" rtl="0" algn="l">
              <a:spcBef>
                <a:spcPts val="1200"/>
              </a:spcBef>
              <a:spcAft>
                <a:spcPts val="0"/>
              </a:spcAft>
              <a:buNone/>
            </a:pPr>
            <a:r>
              <a:rPr lang="es-419"/>
              <a:t>Tampoco las variaciones de presión las percibe de forma lineal, sino logarítmica, lo que la utilización del Belio, y su submúltiplo, el </a:t>
            </a:r>
            <a:r>
              <a:rPr b="1" lang="es-419"/>
              <a:t>decibelio</a:t>
            </a:r>
            <a:r>
              <a:rPr lang="es-419"/>
              <a:t>, como magnitud proporcional a la percepción auditiva permite medirla. </a:t>
            </a:r>
            <a:endParaRPr/>
          </a:p>
          <a:p>
            <a:pPr indent="0" lvl="0" marL="0" rtl="0" algn="l">
              <a:spcBef>
                <a:spcPts val="1200"/>
              </a:spcBef>
              <a:spcAft>
                <a:spcPts val="1200"/>
              </a:spcAft>
              <a:buNone/>
            </a:pPr>
            <a:r>
              <a:rPr lang="es-419"/>
              <a:t>Se utilizan como unidad de referencia para medir la potencia de una señal o la intensidad de un sonido. Permite saber la ganancia de un sistema comparando su nivel de entrada y de salida.</a:t>
            </a:r>
            <a:endParaRPr/>
          </a:p>
        </p:txBody>
      </p:sp>
      <p:sp>
        <p:nvSpPr>
          <p:cNvPr id="353" name="Google Shape;353;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Unidades de medición</a:t>
            </a:r>
            <a:endParaRPr/>
          </a:p>
        </p:txBody>
      </p:sp>
      <p:sp>
        <p:nvSpPr>
          <p:cNvPr id="359" name="Google Shape;359;p2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Al utilizar el concepto de </a:t>
            </a:r>
            <a:r>
              <a:rPr b="1" lang="es-419"/>
              <a:t>octava</a:t>
            </a:r>
            <a:r>
              <a:rPr lang="es-419"/>
              <a:t> se describe la capacidad logarítmica del oído con respecto a la frecuencia. Es dividir el espectro en varias secciones. </a:t>
            </a:r>
            <a:endParaRPr/>
          </a:p>
          <a:p>
            <a:pPr indent="0" lvl="0" marL="0" rtl="0" algn="l">
              <a:spcBef>
                <a:spcPts val="1200"/>
              </a:spcBef>
              <a:spcAft>
                <a:spcPts val="0"/>
              </a:spcAft>
              <a:buNone/>
            </a:pPr>
            <a:r>
              <a:rPr lang="es-419"/>
              <a:t>Se comienza en una frecuencia específica cada octava más alta es el doble de la frecuencia; i,e., si una octava comienza en 31,5 Hz, la siguiente octava comenzará en 63 Hz, la siguiente a 125 Hz, la siguiente a 250 Hz, y así sucesivamente, pero la distancia entre octavas en su representación gráfica es la misma. </a:t>
            </a:r>
            <a:endParaRPr/>
          </a:p>
          <a:p>
            <a:pPr indent="0" lvl="0" marL="0" rtl="0" algn="l">
              <a:spcBef>
                <a:spcPts val="1200"/>
              </a:spcBef>
              <a:spcAft>
                <a:spcPts val="1200"/>
              </a:spcAft>
              <a:buNone/>
            </a:pPr>
            <a:r>
              <a:rPr lang="es-419"/>
              <a:t>Al analizar espectralmente una señal de audio se tiene representado lo que los oídos reciben. Otra cosa es lo que realmente oímos.</a:t>
            </a:r>
            <a:endParaRPr/>
          </a:p>
        </p:txBody>
      </p:sp>
      <p:sp>
        <p:nvSpPr>
          <p:cNvPr id="360" name="Google Shape;360;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Dominios de representación</a:t>
            </a:r>
            <a:endParaRPr/>
          </a:p>
        </p:txBody>
      </p:sp>
      <p:sp>
        <p:nvSpPr>
          <p:cNvPr id="366" name="Google Shape;366;p2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señales de audio se pueden representar tanto en el dominio del </a:t>
            </a:r>
            <a:r>
              <a:rPr b="1" lang="es-419"/>
              <a:t>tiempo</a:t>
            </a:r>
            <a:r>
              <a:rPr lang="es-419"/>
              <a:t> como en el de la </a:t>
            </a:r>
            <a:r>
              <a:rPr b="1" lang="es-419"/>
              <a:t>frecuencia</a:t>
            </a:r>
            <a:r>
              <a:rPr lang="es-419"/>
              <a:t>. </a:t>
            </a:r>
            <a:endParaRPr/>
          </a:p>
          <a:p>
            <a:pPr indent="0" lvl="0" marL="0" rtl="0" algn="l">
              <a:spcBef>
                <a:spcPts val="1200"/>
              </a:spcBef>
              <a:spcAft>
                <a:spcPts val="0"/>
              </a:spcAft>
              <a:buNone/>
            </a:pPr>
            <a:r>
              <a:rPr lang="es-419"/>
              <a:t>En términos generales, las señales de audio no son estacionarias, pero dentro de un período corto, e.g., 5 – 50 milisegundos, la señal es relativamente estacionaria. </a:t>
            </a:r>
            <a:endParaRPr/>
          </a:p>
          <a:p>
            <a:pPr indent="0" lvl="0" marL="0" rtl="0" algn="l">
              <a:spcBef>
                <a:spcPts val="1200"/>
              </a:spcBef>
              <a:spcAft>
                <a:spcPts val="1200"/>
              </a:spcAft>
              <a:buNone/>
            </a:pPr>
            <a:r>
              <a:rPr lang="es-419"/>
              <a:t>En este breve segmento de audio (</a:t>
            </a:r>
            <a:r>
              <a:rPr i="1" lang="es-419"/>
              <a:t>frame</a:t>
            </a:r>
            <a:r>
              <a:rPr lang="es-419"/>
              <a:t>), se puede analizar su espectro. El espectro se define como la amplitud de la transformada de Fourier del </a:t>
            </a:r>
            <a:r>
              <a:rPr i="1" lang="es-419"/>
              <a:t>frame</a:t>
            </a:r>
            <a:r>
              <a:rPr lang="es-419"/>
              <a:t> de audio. </a:t>
            </a:r>
            <a:endParaRPr/>
          </a:p>
        </p:txBody>
      </p:sp>
      <p:sp>
        <p:nvSpPr>
          <p:cNvPr id="367" name="Google Shape;367;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Audio signal representation</a:t>
            </a:r>
            <a:endParaRPr/>
          </a:p>
        </p:txBody>
      </p:sp>
      <p:sp>
        <p:nvSpPr>
          <p:cNvPr id="373" name="Google Shape;373;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74" name="Google Shape;374;p26"/>
          <p:cNvPicPr preferRelativeResize="0"/>
          <p:nvPr/>
        </p:nvPicPr>
        <p:blipFill>
          <a:blip r:embed="rId3">
            <a:alphaModFix/>
          </a:blip>
          <a:stretch>
            <a:fillRect/>
          </a:stretch>
        </p:blipFill>
        <p:spPr>
          <a:xfrm>
            <a:off x="3055825" y="1149248"/>
            <a:ext cx="3032350" cy="24183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Comparativa de diferentes fuentes de audio</a:t>
            </a:r>
            <a:endParaRPr/>
          </a:p>
        </p:txBody>
      </p:sp>
      <p:sp>
        <p:nvSpPr>
          <p:cNvPr id="380" name="Google Shape;380;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81" name="Google Shape;381;p27"/>
          <p:cNvPicPr preferRelativeResize="0"/>
          <p:nvPr/>
        </p:nvPicPr>
        <p:blipFill>
          <a:blip r:embed="rId3">
            <a:alphaModFix/>
          </a:blip>
          <a:stretch>
            <a:fillRect/>
          </a:stretch>
        </p:blipFill>
        <p:spPr>
          <a:xfrm>
            <a:off x="988875" y="1376993"/>
            <a:ext cx="3524224" cy="1729145"/>
          </a:xfrm>
          <a:prstGeom prst="rect">
            <a:avLst/>
          </a:prstGeom>
          <a:noFill/>
          <a:ln>
            <a:noFill/>
          </a:ln>
        </p:spPr>
      </p:pic>
      <p:sp>
        <p:nvSpPr>
          <p:cNvPr id="382" name="Google Shape;382;p2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Knees, P., &amp; Schedl, M. (2016). Basic methods of audio signal processing. In Music similarity and retrieval (pp. 33-50). Springer, Berlin, Heidelberg.</a:t>
            </a:r>
            <a:endParaRPr sz="800">
              <a:solidFill>
                <a:srgbClr val="94B6BD"/>
              </a:solidFill>
            </a:endParaRPr>
          </a:p>
        </p:txBody>
      </p:sp>
      <p:pic>
        <p:nvPicPr>
          <p:cNvPr id="383" name="Google Shape;383;p27"/>
          <p:cNvPicPr preferRelativeResize="0"/>
          <p:nvPr/>
        </p:nvPicPr>
        <p:blipFill>
          <a:blip r:embed="rId4">
            <a:alphaModFix/>
          </a:blip>
          <a:stretch>
            <a:fillRect/>
          </a:stretch>
        </p:blipFill>
        <p:spPr>
          <a:xfrm>
            <a:off x="4833475" y="1406687"/>
            <a:ext cx="3451302" cy="1669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a:t>
            </a:r>
            <a:r>
              <a:rPr lang="es-419"/>
              <a:t>écnicas para mejora de la calidad del audio</a:t>
            </a:r>
            <a:endParaRPr/>
          </a:p>
        </p:txBody>
      </p:sp>
      <p:sp>
        <p:nvSpPr>
          <p:cNvPr id="389" name="Google Shape;389;p2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Convertidor analógico a digital (ADC)</a:t>
            </a:r>
            <a:endParaRPr/>
          </a:p>
          <a:p>
            <a:pPr indent="-317500" lvl="0" marL="457200" rtl="0" algn="l">
              <a:spcBef>
                <a:spcPts val="0"/>
              </a:spcBef>
              <a:spcAft>
                <a:spcPts val="0"/>
              </a:spcAft>
              <a:buSzPts val="1400"/>
              <a:buChar char="●"/>
            </a:pPr>
            <a:r>
              <a:rPr lang="es-419"/>
              <a:t>Efectos de audio</a:t>
            </a:r>
            <a:endParaRPr/>
          </a:p>
          <a:p>
            <a:pPr indent="-304800" lvl="1" marL="914400" rtl="0" algn="l">
              <a:spcBef>
                <a:spcPts val="0"/>
              </a:spcBef>
              <a:spcAft>
                <a:spcPts val="0"/>
              </a:spcAft>
              <a:buSzPts val="1200"/>
              <a:buChar char="○"/>
            </a:pPr>
            <a:r>
              <a:rPr lang="es-419"/>
              <a:t>Compresión/descompresión </a:t>
            </a:r>
            <a:endParaRPr/>
          </a:p>
          <a:p>
            <a:pPr indent="-304800" lvl="1" marL="914400" rtl="0" algn="l">
              <a:spcBef>
                <a:spcPts val="0"/>
              </a:spcBef>
              <a:spcAft>
                <a:spcPts val="0"/>
              </a:spcAft>
              <a:buSzPts val="1200"/>
              <a:buChar char="○"/>
            </a:pPr>
            <a:r>
              <a:rPr lang="es-419"/>
              <a:t>Control de ganancia automática</a:t>
            </a:r>
            <a:endParaRPr/>
          </a:p>
          <a:p>
            <a:pPr indent="-304800" lvl="1" marL="914400" rtl="0" algn="l">
              <a:spcBef>
                <a:spcPts val="0"/>
              </a:spcBef>
              <a:spcAft>
                <a:spcPts val="0"/>
              </a:spcAft>
              <a:buSzPts val="1200"/>
              <a:buChar char="○"/>
            </a:pPr>
            <a:r>
              <a:rPr lang="es-419"/>
              <a:t>Cancelación de eco acústico</a:t>
            </a:r>
            <a:endParaRPr/>
          </a:p>
          <a:p>
            <a:pPr indent="-304800" lvl="1" marL="914400" rtl="0" algn="l">
              <a:spcBef>
                <a:spcPts val="0"/>
              </a:spcBef>
              <a:spcAft>
                <a:spcPts val="0"/>
              </a:spcAft>
              <a:buSzPts val="1200"/>
              <a:buChar char="○"/>
            </a:pPr>
            <a:r>
              <a:rPr lang="es-419"/>
              <a:t>Filtrado/Remuestreo</a:t>
            </a:r>
            <a:endParaRPr/>
          </a:p>
          <a:p>
            <a:pPr indent="-304800" lvl="1" marL="914400" rtl="0" algn="l">
              <a:spcBef>
                <a:spcPts val="0"/>
              </a:spcBef>
              <a:spcAft>
                <a:spcPts val="0"/>
              </a:spcAft>
              <a:buSzPts val="1200"/>
              <a:buChar char="○"/>
            </a:pPr>
            <a:r>
              <a:rPr lang="es-419"/>
              <a:t>Ecualización</a:t>
            </a:r>
            <a:endParaRPr/>
          </a:p>
          <a:p>
            <a:pPr indent="-304800" lvl="1" marL="914400" rtl="0" algn="l">
              <a:spcBef>
                <a:spcPts val="0"/>
              </a:spcBef>
              <a:spcAft>
                <a:spcPts val="0"/>
              </a:spcAft>
              <a:buSzPts val="1200"/>
              <a:buChar char="○"/>
            </a:pPr>
            <a:r>
              <a:rPr i="1" lang="es-419"/>
              <a:t>Beamforming</a:t>
            </a:r>
            <a:endParaRPr i="1"/>
          </a:p>
          <a:p>
            <a:pPr indent="-317500" lvl="0" marL="457200" rtl="0" algn="l">
              <a:spcBef>
                <a:spcPts val="0"/>
              </a:spcBef>
              <a:spcAft>
                <a:spcPts val="0"/>
              </a:spcAft>
              <a:buSzPts val="1400"/>
              <a:buChar char="●"/>
            </a:pPr>
            <a:r>
              <a:rPr lang="es-419"/>
              <a:t>Convertidor digital a analógico (DAC)</a:t>
            </a:r>
            <a:endParaRPr/>
          </a:p>
        </p:txBody>
      </p:sp>
      <p:sp>
        <p:nvSpPr>
          <p:cNvPr id="390" name="Google Shape;390;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Convertidor analógico digital (ADC)</a:t>
            </a:r>
            <a:endParaRPr sz="2000">
              <a:solidFill>
                <a:schemeClr val="accent2"/>
              </a:solidFill>
            </a:endParaRPr>
          </a:p>
        </p:txBody>
      </p:sp>
      <p:sp>
        <p:nvSpPr>
          <p:cNvPr id="396" name="Google Shape;396;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Es muy probable que las señales de audio </a:t>
            </a:r>
            <a:r>
              <a:rPr b="1" lang="es-419"/>
              <a:t>analógicas</a:t>
            </a:r>
            <a:r>
              <a:rPr lang="es-419"/>
              <a:t> se vean influenciadas por el ruido y la distorsión. </a:t>
            </a:r>
            <a:endParaRPr/>
          </a:p>
          <a:p>
            <a:pPr indent="0" lvl="0" marL="0" rtl="0" algn="l">
              <a:spcBef>
                <a:spcPts val="1200"/>
              </a:spcBef>
              <a:spcAft>
                <a:spcPts val="0"/>
              </a:spcAft>
              <a:buNone/>
            </a:pPr>
            <a:r>
              <a:rPr lang="es-419"/>
              <a:t>Convertirlos en señales </a:t>
            </a:r>
            <a:r>
              <a:rPr b="1" lang="es-419"/>
              <a:t>digitales</a:t>
            </a:r>
            <a:r>
              <a:rPr lang="es-419"/>
              <a:t> permite una manipulación, almacenamiento y transmisión sin degradación de la calidad. </a:t>
            </a:r>
            <a:endParaRPr/>
          </a:p>
          <a:p>
            <a:pPr indent="0" lvl="0" marL="0" rtl="0" algn="l">
              <a:spcBef>
                <a:spcPts val="1200"/>
              </a:spcBef>
              <a:spcAft>
                <a:spcPts val="0"/>
              </a:spcAft>
              <a:buNone/>
            </a:pPr>
            <a:r>
              <a:rPr lang="es-419"/>
              <a:t>Utiliza una tasa de muestreo específica y convierte las señales eléctricas en la resolución de bits binarios. </a:t>
            </a:r>
            <a:endParaRPr/>
          </a:p>
          <a:p>
            <a:pPr indent="0" lvl="0" marL="0" rtl="0" algn="l">
              <a:spcBef>
                <a:spcPts val="1200"/>
              </a:spcBef>
              <a:spcAft>
                <a:spcPts val="1200"/>
              </a:spcAft>
              <a:buNone/>
            </a:pPr>
            <a:r>
              <a:rPr lang="es-419"/>
              <a:t>Cuanto mayor sea la frecuencia de muestreo y las mediciones más precisas, mayor será la calidad.</a:t>
            </a:r>
            <a:endParaRPr/>
          </a:p>
        </p:txBody>
      </p:sp>
      <p:sp>
        <p:nvSpPr>
          <p:cNvPr id="397" name="Google Shape;397;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técnicas de pre/post procesamiento</a:t>
            </a:r>
            <a:endParaRPr sz="2000">
              <a:solidFill>
                <a:schemeClr val="accent2"/>
              </a:solidFill>
            </a:endParaRPr>
          </a:p>
        </p:txBody>
      </p:sp>
      <p:sp>
        <p:nvSpPr>
          <p:cNvPr id="403" name="Google Shape;403;p30"/>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utilizan para suprimir el ruido y cualquier artefacto creado en la primera etapa del procesamiento. </a:t>
            </a:r>
            <a:endParaRPr/>
          </a:p>
          <a:p>
            <a:pPr indent="0" lvl="0" marL="0" rtl="0" algn="l">
              <a:spcBef>
                <a:spcPts val="1200"/>
              </a:spcBef>
              <a:spcAft>
                <a:spcPts val="0"/>
              </a:spcAft>
              <a:buNone/>
            </a:pPr>
            <a:r>
              <a:rPr lang="es-419"/>
              <a:t>Se centra en el eco, la eliminación de distorsiones, y la mejora del habla. </a:t>
            </a:r>
            <a:endParaRPr/>
          </a:p>
          <a:p>
            <a:pPr indent="0" lvl="0" marL="0" rtl="0" algn="l">
              <a:spcBef>
                <a:spcPts val="1200"/>
              </a:spcBef>
              <a:spcAft>
                <a:spcPts val="1200"/>
              </a:spcAft>
              <a:buNone/>
            </a:pPr>
            <a:r>
              <a:rPr lang="es-419"/>
              <a:t>La ecualización y el filtrado son técnicas populares de post-procesamiento para agregar reverberación y control de ruido.</a:t>
            </a:r>
            <a:endParaRPr/>
          </a:p>
        </p:txBody>
      </p:sp>
      <p:pic>
        <p:nvPicPr>
          <p:cNvPr id="404" name="Google Shape;404;p30"/>
          <p:cNvPicPr preferRelativeResize="0"/>
          <p:nvPr/>
        </p:nvPicPr>
        <p:blipFill>
          <a:blip r:embed="rId3">
            <a:alphaModFix/>
          </a:blip>
          <a:stretch>
            <a:fillRect/>
          </a:stretch>
        </p:blipFill>
        <p:spPr>
          <a:xfrm>
            <a:off x="4936426" y="2571755"/>
            <a:ext cx="3397876" cy="939475"/>
          </a:xfrm>
          <a:prstGeom prst="rect">
            <a:avLst/>
          </a:prstGeom>
          <a:noFill/>
          <a:ln>
            <a:noFill/>
          </a:ln>
        </p:spPr>
      </p:pic>
      <p:sp>
        <p:nvSpPr>
          <p:cNvPr id="405" name="Google Shape;405;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Compresión/descompresión</a:t>
            </a:r>
            <a:endParaRPr sz="2000">
              <a:solidFill>
                <a:schemeClr val="accent2"/>
              </a:solidFill>
            </a:endParaRPr>
          </a:p>
        </p:txBody>
      </p:sp>
      <p:sp>
        <p:nvSpPr>
          <p:cNvPr id="411" name="Google Shape;411;p3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compresión es una de las herramientas de mezcla más poderosas para reducir el </a:t>
            </a:r>
            <a:r>
              <a:rPr b="1" lang="es-419"/>
              <a:t>rango dinámico</a:t>
            </a:r>
            <a:r>
              <a:rPr lang="es-419"/>
              <a:t> de las señales de audio. El rango dinámico es la diferencia entre el rango más alto y el más bajo de una señal de audio.</a:t>
            </a:r>
            <a:endParaRPr/>
          </a:p>
          <a:p>
            <a:pPr indent="0" lvl="0" marL="0" rtl="0" algn="l">
              <a:spcBef>
                <a:spcPts val="1200"/>
              </a:spcBef>
              <a:spcAft>
                <a:spcPts val="0"/>
              </a:spcAft>
              <a:buNone/>
            </a:pPr>
            <a:r>
              <a:rPr lang="es-419"/>
              <a:t>Por ejemplo, al gritar o susurrar los tonos son demasiado alto o demasiado bajo, y al grabar sin compresión, entonces el sonido resultante estará distorsionado. El compresor soluciona este problema atenuando el sonido más fuerte y potenciando el sonido más débil. </a:t>
            </a:r>
            <a:endParaRPr/>
          </a:p>
          <a:p>
            <a:pPr indent="0" lvl="0" marL="0" rtl="0" algn="l">
              <a:spcBef>
                <a:spcPts val="1200"/>
              </a:spcBef>
              <a:spcAft>
                <a:spcPts val="1200"/>
              </a:spcAft>
              <a:buNone/>
            </a:pPr>
            <a:r>
              <a:rPr lang="es-419"/>
              <a:t>Ayuda a encontrar el equilibrio perfecto del audio y brinda un sonido más natural sin distorsión. También reduce el ancho de banda de las transmisiones y el tamaño de almacenamiento del archivo.</a:t>
            </a:r>
            <a:endParaRPr/>
          </a:p>
        </p:txBody>
      </p:sp>
      <p:sp>
        <p:nvSpPr>
          <p:cNvPr id="412" name="Google Shape;412;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Compresión/descompresión</a:t>
            </a:r>
            <a:endParaRPr sz="2000">
              <a:solidFill>
                <a:schemeClr val="accent2"/>
              </a:solidFill>
            </a:endParaRPr>
          </a:p>
        </p:txBody>
      </p:sp>
      <p:pic>
        <p:nvPicPr>
          <p:cNvPr id="418" name="Google Shape;418;p32"/>
          <p:cNvPicPr preferRelativeResize="0"/>
          <p:nvPr/>
        </p:nvPicPr>
        <p:blipFill rotWithShape="1">
          <a:blip r:embed="rId3">
            <a:alphaModFix/>
          </a:blip>
          <a:srcRect b="4668" l="4281" r="3646" t="6228"/>
          <a:stretch/>
        </p:blipFill>
        <p:spPr>
          <a:xfrm>
            <a:off x="5462600" y="2126525"/>
            <a:ext cx="2871700" cy="1769424"/>
          </a:xfrm>
          <a:prstGeom prst="rect">
            <a:avLst/>
          </a:prstGeom>
          <a:noFill/>
          <a:ln>
            <a:noFill/>
          </a:ln>
        </p:spPr>
      </p:pic>
      <p:sp>
        <p:nvSpPr>
          <p:cNvPr id="419" name="Google Shape;419;p32"/>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Existen 2 tipos de compresión de audio: compresión sin pérdida y con pérdida. </a:t>
            </a:r>
            <a:endParaRPr/>
          </a:p>
          <a:p>
            <a:pPr indent="0" lvl="0" marL="0" rtl="0" algn="l">
              <a:spcBef>
                <a:spcPts val="1200"/>
              </a:spcBef>
              <a:spcAft>
                <a:spcPts val="0"/>
              </a:spcAft>
              <a:buNone/>
            </a:pPr>
            <a:r>
              <a:rPr lang="es-419"/>
              <a:t>Las compresiones de audio más utilizadas son los métodos con pérdida debido a sus relaciones de compresión mucho mayores que sus datos originales. </a:t>
            </a:r>
            <a:endParaRPr/>
          </a:p>
          <a:p>
            <a:pPr indent="0" lvl="0" marL="0" rtl="0" algn="l">
              <a:spcBef>
                <a:spcPts val="1200"/>
              </a:spcBef>
              <a:spcAft>
                <a:spcPts val="1200"/>
              </a:spcAft>
              <a:buNone/>
            </a:pPr>
            <a:r>
              <a:rPr lang="es-419"/>
              <a:t>Las compresiones de audio más populares son MP3 y AAC.</a:t>
            </a:r>
            <a:endParaRPr/>
          </a:p>
        </p:txBody>
      </p:sp>
      <p:sp>
        <p:nvSpPr>
          <p:cNvPr id="420" name="Google Shape;420;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Control de ganancia automática</a:t>
            </a:r>
            <a:endParaRPr sz="2000">
              <a:solidFill>
                <a:schemeClr val="accent2"/>
              </a:solidFill>
            </a:endParaRPr>
          </a:p>
        </p:txBody>
      </p:sp>
      <p:sp>
        <p:nvSpPr>
          <p:cNvPr id="426" name="Google Shape;426;p3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También conocido como control de volumen/sonoridad (</a:t>
            </a:r>
            <a:r>
              <a:rPr i="1" lang="es-419"/>
              <a:t>loudness</a:t>
            </a:r>
            <a:r>
              <a:rPr lang="es-419"/>
              <a:t>), y da una </a:t>
            </a:r>
            <a:r>
              <a:rPr b="1" lang="es-419"/>
              <a:t>salida constante</a:t>
            </a:r>
            <a:r>
              <a:rPr lang="es-419"/>
              <a:t> a pesar de tener varias señales de entrada. </a:t>
            </a:r>
            <a:endParaRPr/>
          </a:p>
          <a:p>
            <a:pPr indent="0" lvl="0" marL="0" rtl="0" algn="l">
              <a:spcBef>
                <a:spcPts val="1200"/>
              </a:spcBef>
              <a:spcAft>
                <a:spcPts val="0"/>
              </a:spcAft>
              <a:buNone/>
            </a:pPr>
            <a:r>
              <a:rPr lang="es-419"/>
              <a:t>Muestra la cantidad de ganancia o atenuación aplicada a las señales de entrada para obtener la señal destino. Si la señal de entrada es más alta que la objetivo, entonces AGC resta la ganancia, y si es más baja que el nivel del objetivo, AGC la suma. </a:t>
            </a:r>
            <a:endParaRPr/>
          </a:p>
          <a:p>
            <a:pPr indent="0" lvl="0" marL="0" rtl="0" algn="l">
              <a:spcBef>
                <a:spcPts val="1200"/>
              </a:spcBef>
              <a:spcAft>
                <a:spcPts val="1200"/>
              </a:spcAft>
              <a:buNone/>
            </a:pPr>
            <a:r>
              <a:rPr lang="es-419"/>
              <a:t>La ganancia muestra el volumen de la entrada del canal, que controla el tono.</a:t>
            </a:r>
            <a:endParaRPr/>
          </a:p>
        </p:txBody>
      </p:sp>
      <p:sp>
        <p:nvSpPr>
          <p:cNvPr id="427" name="Google Shape;427;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Cancelación de eco acústico</a:t>
            </a:r>
            <a:endParaRPr sz="2000">
              <a:solidFill>
                <a:schemeClr val="accent2"/>
              </a:solidFill>
            </a:endParaRPr>
          </a:p>
        </p:txBody>
      </p:sp>
      <p:sp>
        <p:nvSpPr>
          <p:cNvPr id="433" name="Google Shape;433;p3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Elimina el eco, la reverberación y el ruido no deseado causado por el </a:t>
            </a:r>
            <a:r>
              <a:rPr b="1" lang="es-419"/>
              <a:t>acoplamiento acústico</a:t>
            </a:r>
            <a:r>
              <a:rPr lang="es-419"/>
              <a:t> entre el micrófono y el altavoz. Los micrófonos capturan el habla del otro extremo debido al acoplamiento acústico.</a:t>
            </a:r>
            <a:endParaRPr/>
          </a:p>
          <a:p>
            <a:pPr indent="0" lvl="0" marL="0" rtl="0" algn="l">
              <a:spcBef>
                <a:spcPts val="1200"/>
              </a:spcBef>
              <a:spcAft>
                <a:spcPts val="1200"/>
              </a:spcAft>
              <a:buNone/>
            </a:pPr>
            <a:r>
              <a:rPr lang="es-419"/>
              <a:t>En una llamada de voz, el discurso de la otra persona con la que está hablando se denomina </a:t>
            </a:r>
            <a:r>
              <a:rPr b="1" lang="es-419">
                <a:solidFill>
                  <a:schemeClr val="accent5"/>
                </a:solidFill>
              </a:rPr>
              <a:t>discurso de extremo lejano</a:t>
            </a:r>
            <a:r>
              <a:rPr lang="es-419"/>
              <a:t>, que se reproducirá a través del altavoz, y su voz se denomina </a:t>
            </a:r>
            <a:r>
              <a:rPr b="1" lang="es-419">
                <a:solidFill>
                  <a:schemeClr val="accent5"/>
                </a:solidFill>
              </a:rPr>
              <a:t>discurso de extremo cercano</a:t>
            </a:r>
            <a:r>
              <a:rPr lang="es-419"/>
              <a:t> que se capturará con el micrófono. Si el habla del otro extremo se transmite al otro lado de la llamada, la otra persona escuchará la voz después de un retraso (red + retraso de procesamiento). </a:t>
            </a:r>
            <a:endParaRPr/>
          </a:p>
        </p:txBody>
      </p:sp>
      <p:sp>
        <p:nvSpPr>
          <p:cNvPr id="434" name="Google Shape;434;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a:t>
            </a:r>
            <a:r>
              <a:rPr lang="es-419" sz="2000">
                <a:solidFill>
                  <a:schemeClr val="accent2"/>
                </a:solidFill>
              </a:rPr>
              <a:t>Filtrado</a:t>
            </a:r>
            <a:endParaRPr sz="2000">
              <a:solidFill>
                <a:schemeClr val="accent2"/>
              </a:solidFill>
            </a:endParaRPr>
          </a:p>
        </p:txBody>
      </p:sp>
      <p:sp>
        <p:nvSpPr>
          <p:cNvPr id="440" name="Google Shape;440;p3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filtros se consideran el circuito más </a:t>
            </a:r>
            <a:r>
              <a:rPr b="1" lang="es-419"/>
              <a:t>básico</a:t>
            </a:r>
            <a:r>
              <a:rPr lang="es-419"/>
              <a:t> en cualquier procesamiento de señales, y es utilizado en casi todos los ámbitos. </a:t>
            </a:r>
            <a:endParaRPr/>
          </a:p>
          <a:p>
            <a:pPr indent="0" lvl="0" marL="0" rtl="0" algn="l">
              <a:spcBef>
                <a:spcPts val="1200"/>
              </a:spcBef>
              <a:spcAft>
                <a:spcPts val="0"/>
              </a:spcAft>
              <a:buNone/>
            </a:pPr>
            <a:r>
              <a:rPr lang="es-419"/>
              <a:t>Elimina el ruido no deseado, el eco, la distorsión y permite que los datos filtrados pasen a través de él. </a:t>
            </a:r>
            <a:endParaRPr/>
          </a:p>
          <a:p>
            <a:pPr indent="0" lvl="0" marL="0" rtl="0" algn="l">
              <a:spcBef>
                <a:spcPts val="1200"/>
              </a:spcBef>
              <a:spcAft>
                <a:spcPts val="1200"/>
              </a:spcAft>
              <a:buNone/>
            </a:pPr>
            <a:r>
              <a:rPr lang="es-419"/>
              <a:t>Los filtros de paso (</a:t>
            </a:r>
            <a:r>
              <a:rPr i="1" lang="es-419"/>
              <a:t>pass filters</a:t>
            </a:r>
            <a:r>
              <a:rPr lang="es-419"/>
              <a:t>) permiten solo frecuencias específicas mientras rechazan otras.</a:t>
            </a:r>
            <a:endParaRPr/>
          </a:p>
        </p:txBody>
      </p:sp>
      <p:sp>
        <p:nvSpPr>
          <p:cNvPr id="441" name="Google Shape;441;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Filtrado</a:t>
            </a:r>
            <a:endParaRPr sz="2000">
              <a:solidFill>
                <a:schemeClr val="accent2"/>
              </a:solidFill>
            </a:endParaRPr>
          </a:p>
        </p:txBody>
      </p:sp>
      <p:sp>
        <p:nvSpPr>
          <p:cNvPr id="447" name="Google Shape;447;p3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i="1" lang="es-419"/>
              <a:t>Low-pass filter</a:t>
            </a:r>
            <a:endParaRPr i="1"/>
          </a:p>
          <a:p>
            <a:pPr indent="0" lvl="0" marL="0" rtl="0" algn="l">
              <a:spcBef>
                <a:spcPts val="1200"/>
              </a:spcBef>
              <a:spcAft>
                <a:spcPts val="0"/>
              </a:spcAft>
              <a:buNone/>
            </a:pPr>
            <a:r>
              <a:rPr lang="es-419"/>
              <a:t>Los filtros de paso bajo permiten las frecuencias por debajo del nivel de frecuencia de corte seleccionado y cortan las frecuencias por encima del rango de corte.</a:t>
            </a:r>
            <a:endParaRPr/>
          </a:p>
          <a:p>
            <a:pPr indent="-317500" lvl="0" marL="457200" rtl="0" algn="l">
              <a:spcBef>
                <a:spcPts val="1200"/>
              </a:spcBef>
              <a:spcAft>
                <a:spcPts val="0"/>
              </a:spcAft>
              <a:buSzPts val="1400"/>
              <a:buChar char="●"/>
            </a:pPr>
            <a:r>
              <a:rPr i="1" lang="es-419"/>
              <a:t>High-pass filter</a:t>
            </a:r>
            <a:endParaRPr i="1"/>
          </a:p>
          <a:p>
            <a:pPr indent="0" lvl="0" marL="0" rtl="0" algn="l">
              <a:spcBef>
                <a:spcPts val="1200"/>
              </a:spcBef>
              <a:spcAft>
                <a:spcPts val="1200"/>
              </a:spcAft>
              <a:buNone/>
            </a:pPr>
            <a:r>
              <a:rPr lang="es-419"/>
              <a:t>Un filtro de paso alto es lo opuesto a un filtro de paso bajo. Filtra y pasa la frecuencia, que es más alta que el rango de frecuencia de corte y atenúa la frecuencia más baja que el rango de corte.</a:t>
            </a:r>
            <a:endParaRPr/>
          </a:p>
        </p:txBody>
      </p:sp>
      <p:sp>
        <p:nvSpPr>
          <p:cNvPr id="448" name="Google Shape;448;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Filtrado</a:t>
            </a:r>
            <a:endParaRPr sz="2000">
              <a:solidFill>
                <a:schemeClr val="accent2"/>
              </a:solidFill>
            </a:endParaRPr>
          </a:p>
        </p:txBody>
      </p:sp>
      <p:sp>
        <p:nvSpPr>
          <p:cNvPr id="454" name="Google Shape;454;p3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Char char="●"/>
            </a:pPr>
            <a:r>
              <a:rPr i="1" lang="es-419"/>
              <a:t>Bandpass Filter</a:t>
            </a:r>
            <a:endParaRPr i="1"/>
          </a:p>
          <a:p>
            <a:pPr indent="0" lvl="0" marL="0" rtl="0" algn="l">
              <a:spcBef>
                <a:spcPts val="1200"/>
              </a:spcBef>
              <a:spcAft>
                <a:spcPts val="0"/>
              </a:spcAft>
              <a:buNone/>
            </a:pPr>
            <a:r>
              <a:rPr lang="es-419"/>
              <a:t>Después de volver a muestrear las señales, se aplica un filtro de paso de banda para eliminar el ruido adicional y se considera el filtro más ideal en el procesamiento de señales. Atenúa las frecuencias que son más altas o más bajas que el rango de frecuencias de corte y solo pasa las frecuencias que caen dentro del rango de corte.</a:t>
            </a:r>
            <a:endParaRPr/>
          </a:p>
          <a:p>
            <a:pPr indent="-317500" lvl="0" marL="457200" rtl="0" algn="l">
              <a:spcBef>
                <a:spcPts val="1200"/>
              </a:spcBef>
              <a:spcAft>
                <a:spcPts val="0"/>
              </a:spcAft>
              <a:buSzPts val="1400"/>
              <a:buChar char="●"/>
            </a:pPr>
            <a:r>
              <a:rPr i="1" lang="es-419"/>
              <a:t>Band-rejection/stop filter</a:t>
            </a:r>
            <a:endParaRPr i="1"/>
          </a:p>
          <a:p>
            <a:pPr indent="0" lvl="0" marL="0" rtl="0" algn="l">
              <a:spcBef>
                <a:spcPts val="1200"/>
              </a:spcBef>
              <a:spcAft>
                <a:spcPts val="1200"/>
              </a:spcAft>
              <a:buNone/>
            </a:pPr>
            <a:r>
              <a:rPr lang="es-419"/>
              <a:t>También se conoce como filtro de muesca (</a:t>
            </a:r>
            <a:r>
              <a:rPr i="1" lang="es-419"/>
              <a:t>notch</a:t>
            </a:r>
            <a:r>
              <a:rPr lang="es-419"/>
              <a:t>) y opuesto al filtro de paso de banda. Deja la mayoría de las frecuencias inalteradas y atenúa aquellas dentro de un rango específico a niveles muy bajos.</a:t>
            </a:r>
            <a:endParaRPr/>
          </a:p>
        </p:txBody>
      </p:sp>
      <p:sp>
        <p:nvSpPr>
          <p:cNvPr id="455" name="Google Shape;455;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Remuestreo</a:t>
            </a:r>
            <a:endParaRPr sz="2000">
              <a:solidFill>
                <a:schemeClr val="accent2"/>
              </a:solidFill>
            </a:endParaRPr>
          </a:p>
        </p:txBody>
      </p:sp>
      <p:sp>
        <p:nvSpPr>
          <p:cNvPr id="461" name="Google Shape;461;p3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El remuestreo se define como el </a:t>
            </a:r>
            <a:r>
              <a:rPr b="1" lang="es-419"/>
              <a:t>número total de muestras</a:t>
            </a:r>
            <a:r>
              <a:rPr lang="es-419"/>
              <a:t> generadas por segundo.</a:t>
            </a:r>
            <a:endParaRPr/>
          </a:p>
          <a:p>
            <a:pPr indent="0" lvl="0" marL="0" rtl="0" algn="l">
              <a:spcBef>
                <a:spcPts val="1200"/>
              </a:spcBef>
              <a:spcAft>
                <a:spcPts val="0"/>
              </a:spcAft>
              <a:buNone/>
            </a:pPr>
            <a:r>
              <a:rPr lang="es-419"/>
              <a:t>Estas muestras se miden en kilohercios (kHz), donde una unidad equivale a 1000 veces por segundo. Cada sistema de audio usa una frecuencia de muestreo diferente. </a:t>
            </a:r>
            <a:endParaRPr/>
          </a:p>
          <a:p>
            <a:pPr indent="0" lvl="0" marL="0" rtl="0" algn="l">
              <a:spcBef>
                <a:spcPts val="1200"/>
              </a:spcBef>
              <a:spcAft>
                <a:spcPts val="0"/>
              </a:spcAft>
              <a:buNone/>
            </a:pPr>
            <a:r>
              <a:rPr lang="es-419"/>
              <a:t>El remuestreo mide la frecuencia de las señales de audio. Funciona según el principio de sobremuestreo y transcodificación, lo que da como resultado menos ruido y distorsión. </a:t>
            </a:r>
            <a:endParaRPr/>
          </a:p>
          <a:p>
            <a:pPr indent="0" lvl="0" marL="0" rtl="0" algn="l">
              <a:spcBef>
                <a:spcPts val="1200"/>
              </a:spcBef>
              <a:spcAft>
                <a:spcPts val="1200"/>
              </a:spcAft>
              <a:buNone/>
            </a:pPr>
            <a:r>
              <a:rPr lang="es-419"/>
              <a:t>La frecuencia de muestreo más alta tiene más ventajas, ya que brinda detalles precisos sobre el aumento y la disminución de las señales, lo que mejora la calidad del sonido.</a:t>
            </a:r>
            <a:endParaRPr/>
          </a:p>
        </p:txBody>
      </p:sp>
      <p:sp>
        <p:nvSpPr>
          <p:cNvPr id="462" name="Google Shape;462;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a:t>
            </a:r>
            <a:r>
              <a:rPr lang="es-419" sz="2000">
                <a:solidFill>
                  <a:schemeClr val="accent2"/>
                </a:solidFill>
              </a:rPr>
              <a:t>Ecualización</a:t>
            </a:r>
            <a:endParaRPr sz="2000">
              <a:solidFill>
                <a:schemeClr val="accent2"/>
              </a:solidFill>
            </a:endParaRPr>
          </a:p>
        </p:txBody>
      </p:sp>
      <p:sp>
        <p:nvSpPr>
          <p:cNvPr id="468" name="Google Shape;468;p3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ecualizadores se utilizan para </a:t>
            </a:r>
            <a:r>
              <a:rPr b="1" lang="es-419"/>
              <a:t>alterar o ajustar</a:t>
            </a:r>
            <a:r>
              <a:rPr lang="es-419"/>
              <a:t> la frecuencia de modo que la frecuencia del espectro de sonido en el transmisor coincida con la frecuencia del espectro de sonido en el receptor. </a:t>
            </a:r>
            <a:endParaRPr/>
          </a:p>
          <a:p>
            <a:pPr indent="0" lvl="0" marL="0" rtl="0" algn="l">
              <a:spcBef>
                <a:spcPts val="1200"/>
              </a:spcBef>
              <a:spcAft>
                <a:spcPts val="0"/>
              </a:spcAft>
              <a:buNone/>
            </a:pPr>
            <a:r>
              <a:rPr lang="es-419"/>
              <a:t>Los rangos de frecuencia se ajustan a alto o bajo usando filtro de paso bajo, filtro de paso alto, filtro de paso de banda. </a:t>
            </a:r>
            <a:endParaRPr/>
          </a:p>
          <a:p>
            <a:pPr indent="0" lvl="0" marL="0" rtl="0" algn="l">
              <a:spcBef>
                <a:spcPts val="1200"/>
              </a:spcBef>
              <a:spcAft>
                <a:spcPts val="1200"/>
              </a:spcAft>
              <a:buNone/>
            </a:pPr>
            <a:r>
              <a:rPr lang="es-419"/>
              <a:t>Elimina el retraso entre los diferentes componentes de frecuencia y obtiene la salida deseada.</a:t>
            </a:r>
            <a:endParaRPr/>
          </a:p>
        </p:txBody>
      </p:sp>
      <p:sp>
        <p:nvSpPr>
          <p:cNvPr id="469" name="Google Shape;469;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Efectos de audio: Beamforming</a:t>
            </a:r>
            <a:endParaRPr sz="2000">
              <a:solidFill>
                <a:schemeClr val="accent2"/>
              </a:solidFill>
            </a:endParaRPr>
          </a:p>
        </p:txBody>
      </p:sp>
      <p:sp>
        <p:nvSpPr>
          <p:cNvPr id="475" name="Google Shape;475;p4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a:t>
            </a:r>
            <a:r>
              <a:rPr lang="es-419"/>
              <a:t>ambién conocido como </a:t>
            </a:r>
            <a:r>
              <a:rPr i="1" lang="es-419"/>
              <a:t>spatial filtering</a:t>
            </a:r>
            <a:r>
              <a:rPr lang="es-419"/>
              <a:t>, es una técnica de procesamiento de señales utilizada en el procesamiento de</a:t>
            </a:r>
            <a:r>
              <a:rPr b="1" lang="es-419"/>
              <a:t> arreglos de micrófonos</a:t>
            </a:r>
            <a:r>
              <a:rPr lang="es-419"/>
              <a:t>. </a:t>
            </a:r>
            <a:endParaRPr/>
          </a:p>
          <a:p>
            <a:pPr indent="0" lvl="0" marL="0" rtl="0" algn="l">
              <a:spcBef>
                <a:spcPts val="1200"/>
              </a:spcBef>
              <a:spcAft>
                <a:spcPts val="0"/>
              </a:spcAft>
              <a:buNone/>
            </a:pPr>
            <a:r>
              <a:rPr lang="es-419"/>
              <a:t>Explota la diversidad espacial </a:t>
            </a:r>
            <a:r>
              <a:rPr lang="es-419"/>
              <a:t>en el conjunto </a:t>
            </a:r>
            <a:r>
              <a:rPr lang="es-419"/>
              <a:t>de micrófonos para detectar y extraer las señales de origen deseadas y suprimir las interferencias no deseadas. </a:t>
            </a:r>
            <a:endParaRPr/>
          </a:p>
          <a:p>
            <a:pPr indent="0" lvl="0" marL="0" rtl="0" algn="l">
              <a:spcBef>
                <a:spcPts val="1200"/>
              </a:spcBef>
              <a:spcAft>
                <a:spcPts val="1200"/>
              </a:spcAft>
              <a:buNone/>
            </a:pPr>
            <a:r>
              <a:rPr lang="es-419"/>
              <a:t>La formación de haces se utiliza para dirigir y orientar el haz de directividad de los micrófonos compuestos en una dirección determinada en función de la dirección de la fuente de la señal. </a:t>
            </a:r>
            <a:endParaRPr/>
          </a:p>
        </p:txBody>
      </p:sp>
      <p:sp>
        <p:nvSpPr>
          <p:cNvPr id="476" name="Google Shape;476;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Convertidor digital a analógico (DAC)</a:t>
            </a:r>
            <a:endParaRPr sz="2000">
              <a:solidFill>
                <a:schemeClr val="accent2"/>
              </a:solidFill>
            </a:endParaRPr>
          </a:p>
        </p:txBody>
      </p:sp>
      <p:sp>
        <p:nvSpPr>
          <p:cNvPr id="482" name="Google Shape;482;p4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señales de audio modernas se encuentran principalmente en formato digital como MP3 pero, si desea escucharlo a través del altavoz, se debe convertir en formato analógico. </a:t>
            </a:r>
            <a:endParaRPr/>
          </a:p>
          <a:p>
            <a:pPr indent="0" lvl="0" marL="0" rtl="0" algn="l">
              <a:spcBef>
                <a:spcPts val="1200"/>
              </a:spcBef>
              <a:spcAft>
                <a:spcPts val="0"/>
              </a:spcAft>
              <a:buNone/>
            </a:pPr>
            <a:r>
              <a:rPr lang="es-419"/>
              <a:t>Transforma flujos de datos digitales en señales de audio analógicas, y luego las señales analógicas convertidas se envían al amplificador. Luego es utilizado por los dispositivos de salida como parlantes, reproductores de música, etc. </a:t>
            </a:r>
            <a:endParaRPr/>
          </a:p>
          <a:p>
            <a:pPr indent="0" lvl="0" marL="0" rtl="0" algn="l">
              <a:spcBef>
                <a:spcPts val="1200"/>
              </a:spcBef>
              <a:spcAft>
                <a:spcPts val="1200"/>
              </a:spcAft>
              <a:buNone/>
            </a:pPr>
            <a:r>
              <a:rPr lang="es-419"/>
              <a:t>Este proceso mejora la calidad general del sonido y mejora la experiencia auditiva.</a:t>
            </a:r>
            <a:endParaRPr/>
          </a:p>
        </p:txBody>
      </p:sp>
      <p:sp>
        <p:nvSpPr>
          <p:cNvPr id="483" name="Google Shape;483;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señales musicales</a:t>
            </a:r>
            <a:endParaRPr/>
          </a:p>
        </p:txBody>
      </p:sp>
      <p:sp>
        <p:nvSpPr>
          <p:cNvPr id="489" name="Google Shape;489;p4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señales musicales poseen características acústicas y estructurales específicas que no comparten el lenguaje hablado o las señales de audio de otros dominios. </a:t>
            </a:r>
            <a:endParaRPr/>
          </a:p>
          <a:p>
            <a:pPr indent="0" lvl="0" marL="0" rtl="0" algn="l">
              <a:spcBef>
                <a:spcPts val="1200"/>
              </a:spcBef>
              <a:spcAft>
                <a:spcPts val="0"/>
              </a:spcAft>
              <a:buNone/>
            </a:pPr>
            <a:r>
              <a:rPr lang="es-419"/>
              <a:t>De hecho, muchas tareas de análisis musical solo se vuelven factibles mediante la explotación de suposiciones adecuadas específicas de la música. </a:t>
            </a:r>
            <a:endParaRPr/>
          </a:p>
          <a:p>
            <a:pPr indent="0" lvl="0" marL="0" rtl="0" algn="l">
              <a:spcBef>
                <a:spcPts val="1200"/>
              </a:spcBef>
              <a:spcAft>
                <a:spcPts val="1200"/>
              </a:spcAft>
              <a:buNone/>
            </a:pPr>
            <a:r>
              <a:rPr lang="es-419"/>
              <a:t>Existen representaciones de características musicalmente expresivas que se refieren a dimensiones musicales como la armonía, el ritmo, el timbre o la melodía. </a:t>
            </a:r>
            <a:endParaRPr/>
          </a:p>
        </p:txBody>
      </p:sp>
      <p:sp>
        <p:nvSpPr>
          <p:cNvPr id="490" name="Google Shape;490;p4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Müller, M., &amp; Klapuri, A. (2014). Music signal processing. In Academic Press Library in Signal Processing (Vol. 4, pp. 713-756). Elsevier</a:t>
            </a:r>
            <a:endParaRPr sz="800">
              <a:solidFill>
                <a:srgbClr val="94B6BD"/>
              </a:solidFill>
            </a:endParaRPr>
          </a:p>
        </p:txBody>
      </p:sp>
      <p:sp>
        <p:nvSpPr>
          <p:cNvPr id="491" name="Google Shape;491;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señales musicales</a:t>
            </a:r>
            <a:endParaRPr/>
          </a:p>
        </p:txBody>
      </p:sp>
      <p:sp>
        <p:nvSpPr>
          <p:cNvPr id="497" name="Google Shape;497;p4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https://source-separation.github.io/tutorial/approaches/deep/introduction.html</a:t>
            </a:r>
            <a:endParaRPr sz="800">
              <a:solidFill>
                <a:srgbClr val="94B6BD"/>
              </a:solidFill>
            </a:endParaRPr>
          </a:p>
        </p:txBody>
      </p:sp>
      <p:pic>
        <p:nvPicPr>
          <p:cNvPr id="498" name="Google Shape;498;p43"/>
          <p:cNvPicPr preferRelativeResize="0"/>
          <p:nvPr/>
        </p:nvPicPr>
        <p:blipFill>
          <a:blip r:embed="rId3">
            <a:alphaModFix/>
          </a:blip>
          <a:stretch>
            <a:fillRect/>
          </a:stretch>
        </p:blipFill>
        <p:spPr>
          <a:xfrm>
            <a:off x="2123036" y="1886375"/>
            <a:ext cx="4897926" cy="2063451"/>
          </a:xfrm>
          <a:prstGeom prst="rect">
            <a:avLst/>
          </a:prstGeom>
          <a:noFill/>
          <a:ln>
            <a:noFill/>
          </a:ln>
        </p:spPr>
      </p:pic>
      <p:sp>
        <p:nvSpPr>
          <p:cNvPr id="499" name="Google Shape;499;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voz cantada</a:t>
            </a:r>
            <a:endParaRPr/>
          </a:p>
        </p:txBody>
      </p:sp>
      <p:sp>
        <p:nvSpPr>
          <p:cNvPr id="505" name="Google Shape;505;p4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Los seres humanos han ideado una amplia gama de instrumentos musicales, pero el instrumento más frecuente sigue siendo la voz humana, la cual además, puede transmitir un significado semántico. </a:t>
            </a:r>
            <a:endParaRPr/>
          </a:p>
          <a:p>
            <a:pPr indent="0" lvl="0" marL="0" rtl="0" algn="l">
              <a:spcBef>
                <a:spcPts val="1200"/>
              </a:spcBef>
              <a:spcAft>
                <a:spcPts val="0"/>
              </a:spcAft>
              <a:buNone/>
            </a:pPr>
            <a:r>
              <a:rPr lang="es-419"/>
              <a:t>El procesamiento del canto se puede representar como un sistema cíclico en el que una señal de audio se transforma en descriptores de alto nivel. Esta información simbólica puede transformarse, mediante síntesis, en señales de audio de canto.</a:t>
            </a:r>
            <a:endParaRPr/>
          </a:p>
          <a:p>
            <a:pPr indent="0" lvl="0" marL="0" rtl="0" algn="l">
              <a:spcBef>
                <a:spcPts val="1200"/>
              </a:spcBef>
              <a:spcAft>
                <a:spcPts val="1200"/>
              </a:spcAft>
              <a:buNone/>
            </a:pPr>
            <a:r>
              <a:rPr lang="es-419"/>
              <a:t>Un efecto vocal popular, es el de corrección de tono ("autotune"), en el que se analiza una señal de audio vocal, el tono estimado a lo largo del tiempo se cuantifica en una tecla determinada y la señal de voz se vuelve a sintetizar.</a:t>
            </a:r>
            <a:endParaRPr/>
          </a:p>
        </p:txBody>
      </p:sp>
      <p:sp>
        <p:nvSpPr>
          <p:cNvPr id="506" name="Google Shape;506;p4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Humphrey, E. J., Reddy, S., Seetharaman, P., Kumar, A., Bittner, R. M., Demetriou, A., ... &amp; Yang, L. (2018). An introduction to signal processing for singing-voice analysis: High notes in the effort to automate the understanding of vocals in music. IEEE Signal Processing Magazine, 36(1), 82-94.</a:t>
            </a:r>
            <a:endParaRPr sz="800">
              <a:solidFill>
                <a:srgbClr val="94B6BD"/>
              </a:solidFill>
            </a:endParaRPr>
          </a:p>
        </p:txBody>
      </p:sp>
      <p:sp>
        <p:nvSpPr>
          <p:cNvPr id="507" name="Google Shape;507;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voz cantada</a:t>
            </a:r>
            <a:endParaRPr/>
          </a:p>
        </p:txBody>
      </p:sp>
      <p:sp>
        <p:nvSpPr>
          <p:cNvPr id="513" name="Google Shape;513;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4" name="Google Shape;514;p4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Humphrey, E. J., Reddy, S., Seetharaman, P., Kumar, A., Bittner, R. M., Demetriou, A., ... &amp; Yang, L. (2018). An introduction to signal processing for singing-voice analysis: High notes in the effort to automate the understanding of vocals in music. IEEE Signal Processing Magazine, 36(1), 82-94.</a:t>
            </a:r>
            <a:endParaRPr sz="800">
              <a:solidFill>
                <a:srgbClr val="94B6BD"/>
              </a:solidFill>
            </a:endParaRPr>
          </a:p>
        </p:txBody>
      </p:sp>
      <p:pic>
        <p:nvPicPr>
          <p:cNvPr id="515" name="Google Shape;515;p45"/>
          <p:cNvPicPr preferRelativeResize="0"/>
          <p:nvPr/>
        </p:nvPicPr>
        <p:blipFill>
          <a:blip r:embed="rId3">
            <a:alphaModFix/>
          </a:blip>
          <a:stretch>
            <a:fillRect/>
          </a:stretch>
        </p:blipFill>
        <p:spPr>
          <a:xfrm>
            <a:off x="2024026" y="1691550"/>
            <a:ext cx="5095950" cy="2262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voz </a:t>
            </a:r>
            <a:endParaRPr/>
          </a:p>
        </p:txBody>
      </p:sp>
      <p:sp>
        <p:nvSpPr>
          <p:cNvPr id="521" name="Google Shape;521;p4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propósito fundamental del habla es la </a:t>
            </a:r>
            <a:r>
              <a:rPr b="1" lang="es-419"/>
              <a:t>comunicación</a:t>
            </a:r>
            <a:r>
              <a:rPr lang="es-419"/>
              <a:t>, i.e., la transmisión de mensajes. </a:t>
            </a:r>
            <a:endParaRPr/>
          </a:p>
          <a:p>
            <a:pPr indent="0" lvl="0" marL="0" rtl="0" algn="l">
              <a:spcBef>
                <a:spcPts val="1200"/>
              </a:spcBef>
              <a:spcAft>
                <a:spcPts val="0"/>
              </a:spcAft>
              <a:buNone/>
            </a:pPr>
            <a:r>
              <a:rPr lang="es-419"/>
              <a:t>Un mensaje representado como una secuencia de símbolos discretos puede cuantificarse por su contenido de información en bits, y la tasa de transmisión de información se mide en bits/segundo (bps). </a:t>
            </a:r>
            <a:endParaRPr/>
          </a:p>
          <a:p>
            <a:pPr indent="0" lvl="0" marL="0" rtl="0" algn="l">
              <a:spcBef>
                <a:spcPts val="1200"/>
              </a:spcBef>
              <a:spcAft>
                <a:spcPts val="1200"/>
              </a:spcAft>
              <a:buNone/>
            </a:pPr>
            <a:r>
              <a:rPr lang="es-419"/>
              <a:t>En la </a:t>
            </a:r>
            <a:r>
              <a:rPr b="1" lang="es-419"/>
              <a:t>producción</a:t>
            </a:r>
            <a:r>
              <a:rPr lang="es-419"/>
              <a:t> del habla, la información que se transmite se codifica en forma de una forma de onda (analógica) que varía continuamente y que un oyente humano puede transmitir, grabar, manipular y, en última instancia, decodificar. </a:t>
            </a:r>
            <a:endParaRPr/>
          </a:p>
        </p:txBody>
      </p:sp>
      <p:sp>
        <p:nvSpPr>
          <p:cNvPr id="522" name="Google Shape;522;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23" name="Google Shape;523;p4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Shannon, C. E., &amp; Wiener, W. (1963). The mathematical theory of Communication University. Urbana: Illinois Press.</a:t>
            </a:r>
            <a:endParaRPr sz="800">
              <a:solidFill>
                <a:srgbClr val="94B6BD"/>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voz </a:t>
            </a:r>
            <a:endParaRPr/>
          </a:p>
        </p:txBody>
      </p:sp>
      <p:sp>
        <p:nvSpPr>
          <p:cNvPr id="529" name="Google Shape;529;p4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el caso del habla, la forma analógica fundamental del mensaje es una forma de onda acústica, a la que llamamos señal del habla (</a:t>
            </a:r>
            <a:r>
              <a:rPr i="1" lang="es-419"/>
              <a:t>speech signal</a:t>
            </a:r>
            <a:r>
              <a:rPr lang="es-419"/>
              <a:t>). </a:t>
            </a:r>
            <a:endParaRPr/>
          </a:p>
          <a:p>
            <a:pPr indent="0" lvl="0" marL="0" rtl="0" algn="l">
              <a:spcBef>
                <a:spcPts val="1200"/>
              </a:spcBef>
              <a:spcAft>
                <a:spcPts val="1200"/>
              </a:spcAft>
              <a:buNone/>
            </a:pPr>
            <a:r>
              <a:rPr lang="es-419"/>
              <a:t>Las señales de voz, se pueden convertir en una forma de onda eléctrica mediante un micrófono, manipularse aún más mediante el procesamiento de señales tanto analógicas como digitales, y luego volver a convertirse en forma acústica mediante un altavoz, un auricular de teléfono o un auricular, según se desee. </a:t>
            </a:r>
            <a:endParaRPr/>
          </a:p>
        </p:txBody>
      </p:sp>
      <p:sp>
        <p:nvSpPr>
          <p:cNvPr id="530" name="Google Shape;530;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31" name="Google Shape;531;p4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Rabiner, L. R., &amp; Schafer, R. W. (2007). Introduction to digital speech processing (Vol. 1). Now Publishers Inc.</a:t>
            </a:r>
            <a:endParaRPr sz="800">
              <a:solidFill>
                <a:srgbClr val="94B6BD"/>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8"/>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Procesamiento de voz </a:t>
            </a:r>
            <a:endParaRPr/>
          </a:p>
        </p:txBody>
      </p:sp>
      <p:sp>
        <p:nvSpPr>
          <p:cNvPr id="537" name="Google Shape;537;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38" name="Google Shape;538;p48"/>
          <p:cNvPicPr preferRelativeResize="0"/>
          <p:nvPr/>
        </p:nvPicPr>
        <p:blipFill>
          <a:blip r:embed="rId3">
            <a:alphaModFix/>
          </a:blip>
          <a:stretch>
            <a:fillRect/>
          </a:stretch>
        </p:blipFill>
        <p:spPr>
          <a:xfrm>
            <a:off x="2553895" y="779700"/>
            <a:ext cx="4036203" cy="3153824"/>
          </a:xfrm>
          <a:prstGeom prst="rect">
            <a:avLst/>
          </a:prstGeom>
          <a:noFill/>
          <a:ln>
            <a:noFill/>
          </a:ln>
        </p:spPr>
      </p:pic>
      <p:sp>
        <p:nvSpPr>
          <p:cNvPr id="539" name="Google Shape;539;p4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Rabiner, L. R., &amp; Schafer, R. W. (2007). Introduction to digital speech processing (Vol. 1). Now Publishers Inc.</a:t>
            </a:r>
            <a:endParaRPr sz="800">
              <a:solidFill>
                <a:srgbClr val="94B6B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419"/>
              <a:t>The speech chain</a:t>
            </a:r>
            <a:endParaRPr i="1"/>
          </a:p>
        </p:txBody>
      </p:sp>
      <p:sp>
        <p:nvSpPr>
          <p:cNvPr id="545" name="Google Shape;545;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46" name="Google Shape;546;p4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Rabiner, L. R., &amp; Schafer, R. W. (2007). Introduction to digital speech processing (Vol. 1). Now Publishers Inc.</a:t>
            </a:r>
            <a:endParaRPr sz="800">
              <a:solidFill>
                <a:srgbClr val="94B6BD"/>
              </a:solidFill>
            </a:endParaRPr>
          </a:p>
        </p:txBody>
      </p:sp>
      <p:pic>
        <p:nvPicPr>
          <p:cNvPr id="547" name="Google Shape;547;p49"/>
          <p:cNvPicPr preferRelativeResize="0"/>
          <p:nvPr/>
        </p:nvPicPr>
        <p:blipFill>
          <a:blip r:embed="rId3">
            <a:alphaModFix/>
          </a:blip>
          <a:stretch>
            <a:fillRect/>
          </a:stretch>
        </p:blipFill>
        <p:spPr>
          <a:xfrm>
            <a:off x="2333611" y="608700"/>
            <a:ext cx="4476776" cy="3275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Reconocimiento del habla </a:t>
            </a:r>
            <a:endParaRPr/>
          </a:p>
        </p:txBody>
      </p:sp>
      <p:sp>
        <p:nvSpPr>
          <p:cNvPr id="553" name="Google Shape;553;p50"/>
          <p:cNvSpPr txBox="1"/>
          <p:nvPr>
            <p:ph idx="1" type="body"/>
          </p:nvPr>
        </p:nvSpPr>
        <p:spPr>
          <a:xfrm>
            <a:off x="1303800" y="1761450"/>
            <a:ext cx="70956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Es un subcampo interdisciplinario de la computación y la lingüística computacional que desarrolla metodologías y tecnologías que permiten el </a:t>
            </a:r>
            <a:r>
              <a:rPr b="1" lang="es-419"/>
              <a:t>reconocimiento y la traducción </a:t>
            </a:r>
            <a:r>
              <a:rPr lang="es-419"/>
              <a:t>del lenguaje hablado a texto. </a:t>
            </a:r>
            <a:endParaRPr/>
          </a:p>
          <a:p>
            <a:pPr indent="0" lvl="0" marL="0" rtl="0" algn="l">
              <a:spcBef>
                <a:spcPts val="1200"/>
              </a:spcBef>
              <a:spcAft>
                <a:spcPts val="0"/>
              </a:spcAft>
              <a:buNone/>
            </a:pPr>
            <a:r>
              <a:rPr lang="es-419"/>
              <a:t>También se conoce como reconocimiento automático de voz (ASR), o voz a texto (STT, </a:t>
            </a:r>
            <a:r>
              <a:rPr i="1" lang="es-419"/>
              <a:t>speech-to-text</a:t>
            </a:r>
            <a:r>
              <a:rPr lang="es-419"/>
              <a:t>). El proceso inverso es la síntesis de voz.</a:t>
            </a:r>
            <a:endParaRPr/>
          </a:p>
          <a:p>
            <a:pPr indent="0" lvl="0" marL="0" rtl="0" algn="l">
              <a:spcBef>
                <a:spcPts val="1200"/>
              </a:spcBef>
              <a:spcAft>
                <a:spcPts val="1200"/>
              </a:spcAft>
              <a:buNone/>
            </a:pPr>
            <a:r>
              <a:rPr lang="es-419"/>
              <a:t>Si bien comúnmente se confunde con el reconocimiento de voz (voice), el reconocimiento del habla (</a:t>
            </a:r>
            <a:r>
              <a:rPr i="1" lang="es-419"/>
              <a:t>speech</a:t>
            </a:r>
            <a:r>
              <a:rPr lang="es-419"/>
              <a:t>) se enfoca en la traducción del habla de un formato verbal a uno de texto, mientras que el reconocimiento de voz solo busca identificar la voz de un usuario individual.</a:t>
            </a:r>
            <a:endParaRPr/>
          </a:p>
        </p:txBody>
      </p:sp>
      <p:sp>
        <p:nvSpPr>
          <p:cNvPr id="554" name="Google Shape;554;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Diagrama de un sistema de reconocimiento automático de voz.</a:t>
            </a:r>
            <a:endParaRPr/>
          </a:p>
        </p:txBody>
      </p:sp>
      <p:sp>
        <p:nvSpPr>
          <p:cNvPr id="560" name="Google Shape;560;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61" name="Google Shape;561;p5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p:txBody>
      </p:sp>
      <p:pic>
        <p:nvPicPr>
          <p:cNvPr id="562" name="Google Shape;562;p51"/>
          <p:cNvPicPr preferRelativeResize="0"/>
          <p:nvPr/>
        </p:nvPicPr>
        <p:blipFill rotWithShape="1">
          <a:blip r:embed="rId3">
            <a:alphaModFix/>
          </a:blip>
          <a:srcRect b="0" l="14601" r="14792" t="3642"/>
          <a:stretch/>
        </p:blipFill>
        <p:spPr>
          <a:xfrm>
            <a:off x="2251437" y="1376800"/>
            <a:ext cx="4641125" cy="1870375"/>
          </a:xfrm>
          <a:prstGeom prst="rect">
            <a:avLst/>
          </a:prstGeom>
          <a:noFill/>
          <a:ln>
            <a:noFill/>
          </a:ln>
        </p:spPr>
      </p:pic>
      <p:sp>
        <p:nvSpPr>
          <p:cNvPr id="563" name="Google Shape;563;p51"/>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Li, K., &amp; Príncipe, J. C. (2018). Biologically-Inspired Spike-Based Automatic Speech Recognition of Isolated Digits Over a Reproducing Kernel Hilbert Space. Frontiers in neuroscience, 12, 194.</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Síntesis de voz </a:t>
            </a:r>
            <a:endParaRPr/>
          </a:p>
        </p:txBody>
      </p:sp>
      <p:sp>
        <p:nvSpPr>
          <p:cNvPr id="569" name="Google Shape;569;p5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síntesis del habla es la producción artificial del habla humana. </a:t>
            </a:r>
            <a:endParaRPr/>
          </a:p>
          <a:p>
            <a:pPr indent="0" lvl="0" marL="0" rtl="0" algn="l">
              <a:spcBef>
                <a:spcPts val="1200"/>
              </a:spcBef>
              <a:spcAft>
                <a:spcPts val="0"/>
              </a:spcAft>
              <a:buNone/>
            </a:pPr>
            <a:r>
              <a:rPr lang="es-419"/>
              <a:t>Un sistema utilizado para este propósito se denomina sintetizador de voz, y puede implementarse vía software o hardware. </a:t>
            </a:r>
            <a:endParaRPr/>
          </a:p>
          <a:p>
            <a:pPr indent="0" lvl="0" marL="0" rtl="0" algn="l">
              <a:spcBef>
                <a:spcPts val="1200"/>
              </a:spcBef>
              <a:spcAft>
                <a:spcPts val="0"/>
              </a:spcAft>
              <a:buNone/>
            </a:pPr>
            <a:r>
              <a:rPr lang="es-419"/>
              <a:t>Un sistema de texto a voz (TTS, </a:t>
            </a:r>
            <a:r>
              <a:rPr i="1" lang="es-419"/>
              <a:t>text-to-speech</a:t>
            </a:r>
            <a:r>
              <a:rPr lang="es-419"/>
              <a:t>) convierte el texto del idioma normal en voz. Otros sistemas traducen representaciones lingüísticas simbólicas como transcripciones fonéticas en habla.</a:t>
            </a:r>
            <a:endParaRPr/>
          </a:p>
          <a:p>
            <a:pPr indent="0" lvl="0" marL="0" rtl="0" algn="l">
              <a:spcBef>
                <a:spcPts val="1200"/>
              </a:spcBef>
              <a:spcAft>
                <a:spcPts val="1200"/>
              </a:spcAft>
              <a:buNone/>
            </a:pPr>
            <a:r>
              <a:rPr lang="es-419"/>
              <a:t>El proceso inverso es el reconocimiento del habla (</a:t>
            </a:r>
            <a:r>
              <a:rPr i="1" lang="es-419"/>
              <a:t>speech</a:t>
            </a:r>
            <a:r>
              <a:rPr lang="es-419"/>
              <a:t>).</a:t>
            </a:r>
            <a:endParaRPr/>
          </a:p>
        </p:txBody>
      </p:sp>
      <p:sp>
        <p:nvSpPr>
          <p:cNvPr id="570" name="Google Shape;570;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71" name="Google Shape;571;p5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Allen, J., Hunnicutt, M. S., Klatt, D. H., Armstrong, R. C., &amp; Pisoni, D. B. (1987). From text to speech: The MITalk system. Cambridge University Press.</a:t>
            </a:r>
            <a:endParaRPr sz="800">
              <a:solidFill>
                <a:srgbClr val="94B6BD"/>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Descripción general de un sistema TTS tradicional</a:t>
            </a:r>
            <a:endParaRPr/>
          </a:p>
        </p:txBody>
      </p:sp>
      <p:sp>
        <p:nvSpPr>
          <p:cNvPr id="577" name="Google Shape;577;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78" name="Google Shape;578;p53"/>
          <p:cNvPicPr preferRelativeResize="0"/>
          <p:nvPr/>
        </p:nvPicPr>
        <p:blipFill>
          <a:blip r:embed="rId3">
            <a:alphaModFix/>
          </a:blip>
          <a:stretch>
            <a:fillRect/>
          </a:stretch>
        </p:blipFill>
        <p:spPr>
          <a:xfrm>
            <a:off x="1626175" y="1460978"/>
            <a:ext cx="5891650" cy="1767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Procesamiento de audio para COVID-19</a:t>
            </a:r>
            <a:endParaRPr sz="2000">
              <a:solidFill>
                <a:schemeClr val="accent2"/>
              </a:solidFill>
            </a:endParaRPr>
          </a:p>
        </p:txBody>
      </p:sp>
      <p:pic>
        <p:nvPicPr>
          <p:cNvPr id="584" name="Google Shape;584;p54"/>
          <p:cNvPicPr preferRelativeResize="0"/>
          <p:nvPr/>
        </p:nvPicPr>
        <p:blipFill>
          <a:blip r:embed="rId3">
            <a:alphaModFix/>
          </a:blip>
          <a:stretch>
            <a:fillRect/>
          </a:stretch>
        </p:blipFill>
        <p:spPr>
          <a:xfrm>
            <a:off x="3019601" y="1681450"/>
            <a:ext cx="3104801" cy="2388749"/>
          </a:xfrm>
          <a:prstGeom prst="rect">
            <a:avLst/>
          </a:prstGeom>
          <a:noFill/>
          <a:ln>
            <a:noFill/>
          </a:ln>
        </p:spPr>
      </p:pic>
      <p:sp>
        <p:nvSpPr>
          <p:cNvPr id="585" name="Google Shape;585;p54"/>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Deshpande, G., &amp; Schuller, B. (2020). An overview on audio, signal, speech, &amp; language processing for covid-19. arXiv preprint arXiv:2005.08579.</a:t>
            </a:r>
            <a:endParaRPr sz="800">
              <a:solidFill>
                <a:srgbClr val="94B6BD"/>
              </a:solidFill>
            </a:endParaRPr>
          </a:p>
        </p:txBody>
      </p:sp>
      <p:sp>
        <p:nvSpPr>
          <p:cNvPr id="586" name="Google Shape;586;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Niveles de abstracción</a:t>
            </a:r>
            <a:endParaRPr/>
          </a:p>
        </p:txBody>
      </p:sp>
      <p:sp>
        <p:nvSpPr>
          <p:cNvPr id="592" name="Google Shape;592;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93" name="Google Shape;593;p5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Knees, P., &amp; Schedl, M. (2016). Basic methods of audio signal processing. In Music similarity and retrieval (pp. 33-50). Springer, Berlin, Heidelberg</a:t>
            </a:r>
            <a:endParaRPr sz="800">
              <a:solidFill>
                <a:srgbClr val="94B6BD"/>
              </a:solidFill>
            </a:endParaRPr>
          </a:p>
        </p:txBody>
      </p:sp>
      <p:pic>
        <p:nvPicPr>
          <p:cNvPr id="594" name="Google Shape;594;p55"/>
          <p:cNvPicPr preferRelativeResize="0"/>
          <p:nvPr/>
        </p:nvPicPr>
        <p:blipFill>
          <a:blip r:embed="rId3">
            <a:alphaModFix/>
          </a:blip>
          <a:stretch>
            <a:fillRect/>
          </a:stretch>
        </p:blipFill>
        <p:spPr>
          <a:xfrm>
            <a:off x="2563101" y="1512475"/>
            <a:ext cx="4017801" cy="2834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Audio Processing Libraries in Python</a:t>
            </a:r>
            <a:endParaRPr/>
          </a:p>
        </p:txBody>
      </p:sp>
      <p:sp>
        <p:nvSpPr>
          <p:cNvPr id="600" name="Google Shape;600;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01" name="Google Shape;601;p5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Librosa</a:t>
            </a:r>
            <a:endParaRPr/>
          </a:p>
          <a:p>
            <a:pPr indent="-317500" lvl="0" marL="457200" rtl="0" algn="l">
              <a:spcBef>
                <a:spcPts val="0"/>
              </a:spcBef>
              <a:spcAft>
                <a:spcPts val="0"/>
              </a:spcAft>
              <a:buSzPts val="1400"/>
              <a:buChar char="●"/>
            </a:pPr>
            <a:r>
              <a:rPr lang="es-419"/>
              <a:t>TorchAudio</a:t>
            </a:r>
            <a:endParaRPr/>
          </a:p>
          <a:p>
            <a:pPr indent="-317500" lvl="0" marL="457200" rtl="0" algn="l">
              <a:spcBef>
                <a:spcPts val="0"/>
              </a:spcBef>
              <a:spcAft>
                <a:spcPts val="0"/>
              </a:spcAft>
              <a:buSzPts val="1400"/>
              <a:buChar char="●"/>
            </a:pPr>
            <a:r>
              <a:rPr lang="es-419"/>
              <a:t>PyAudio</a:t>
            </a:r>
            <a:endParaRPr/>
          </a:p>
          <a:p>
            <a:pPr indent="-317500" lvl="0" marL="457200" rtl="0" algn="l">
              <a:spcBef>
                <a:spcPts val="0"/>
              </a:spcBef>
              <a:spcAft>
                <a:spcPts val="0"/>
              </a:spcAft>
              <a:buSzPts val="1400"/>
              <a:buChar char="●"/>
            </a:pPr>
            <a:r>
              <a:rPr lang="es-419"/>
              <a:t>SoundFile</a:t>
            </a:r>
            <a:endParaRPr/>
          </a:p>
          <a:p>
            <a:pPr indent="-317500" lvl="0" marL="457200" rtl="0" algn="l">
              <a:spcBef>
                <a:spcPts val="0"/>
              </a:spcBef>
              <a:spcAft>
                <a:spcPts val="0"/>
              </a:spcAft>
              <a:buSzPts val="1400"/>
              <a:buChar char="●"/>
            </a:pPr>
            <a:r>
              <a:rPr lang="es-419"/>
              <a:t>Essentia</a:t>
            </a:r>
            <a:endParaRPr/>
          </a:p>
          <a:p>
            <a:pPr indent="-317500" lvl="0" marL="457200" rtl="0" algn="l">
              <a:spcBef>
                <a:spcPts val="0"/>
              </a:spcBef>
              <a:spcAft>
                <a:spcPts val="0"/>
              </a:spcAft>
              <a:buSzPts val="1400"/>
              <a:buChar char="●"/>
            </a:pPr>
            <a:r>
              <a:rPr lang="es-419"/>
              <a:t>pyAudioAnalysis</a:t>
            </a:r>
            <a:endParaRPr/>
          </a:p>
          <a:p>
            <a:pPr indent="-317500" lvl="0" marL="457200" rtl="0" algn="l">
              <a:spcBef>
                <a:spcPts val="0"/>
              </a:spcBef>
              <a:spcAft>
                <a:spcPts val="0"/>
              </a:spcAft>
              <a:buSzPts val="1400"/>
              <a:buChar char="●"/>
            </a:pPr>
            <a:r>
              <a:rPr lang="es-419"/>
              <a:t>pydub</a:t>
            </a:r>
            <a:endParaRPr/>
          </a:p>
          <a:p>
            <a:pPr indent="-317500" lvl="0" marL="457200" rtl="0" algn="l">
              <a:spcBef>
                <a:spcPts val="0"/>
              </a:spcBef>
              <a:spcAft>
                <a:spcPts val="0"/>
              </a:spcAft>
              <a:buSzPts val="1400"/>
              <a:buChar char="●"/>
            </a:pPr>
            <a:r>
              <a:rPr lang="es-419"/>
              <a:t>pyo</a:t>
            </a:r>
            <a:endParaRPr/>
          </a:p>
        </p:txBody>
      </p:sp>
      <p:sp>
        <p:nvSpPr>
          <p:cNvPr id="602" name="Google Shape;602;p5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https://prabhakar-rangarao.medium.com/audio-processing-libraries-in-python-b7ee0e5690d9</a:t>
            </a:r>
            <a:endParaRPr sz="800">
              <a:solidFill>
                <a:srgbClr val="94B6BD"/>
              </a:solidFill>
            </a:endParaRPr>
          </a:p>
        </p:txBody>
      </p:sp>
      <p:pic>
        <p:nvPicPr>
          <p:cNvPr id="603" name="Google Shape;603;p56"/>
          <p:cNvPicPr preferRelativeResize="0"/>
          <p:nvPr/>
        </p:nvPicPr>
        <p:blipFill>
          <a:blip r:embed="rId3">
            <a:alphaModFix/>
          </a:blip>
          <a:stretch>
            <a:fillRect/>
          </a:stretch>
        </p:blipFill>
        <p:spPr>
          <a:xfrm>
            <a:off x="4766725" y="1761450"/>
            <a:ext cx="1068200" cy="437675"/>
          </a:xfrm>
          <a:prstGeom prst="rect">
            <a:avLst/>
          </a:prstGeom>
          <a:noFill/>
          <a:ln>
            <a:noFill/>
          </a:ln>
        </p:spPr>
      </p:pic>
      <p:pic>
        <p:nvPicPr>
          <p:cNvPr id="604" name="Google Shape;604;p56"/>
          <p:cNvPicPr preferRelativeResize="0"/>
          <p:nvPr/>
        </p:nvPicPr>
        <p:blipFill>
          <a:blip r:embed="rId4">
            <a:alphaModFix/>
          </a:blip>
          <a:stretch>
            <a:fillRect/>
          </a:stretch>
        </p:blipFill>
        <p:spPr>
          <a:xfrm>
            <a:off x="6921500" y="1955715"/>
            <a:ext cx="714375" cy="357200"/>
          </a:xfrm>
          <a:prstGeom prst="rect">
            <a:avLst/>
          </a:prstGeom>
          <a:noFill/>
          <a:ln>
            <a:noFill/>
          </a:ln>
        </p:spPr>
      </p:pic>
      <p:pic>
        <p:nvPicPr>
          <p:cNvPr id="605" name="Google Shape;605;p56"/>
          <p:cNvPicPr preferRelativeResize="0"/>
          <p:nvPr/>
        </p:nvPicPr>
        <p:blipFill>
          <a:blip r:embed="rId5">
            <a:alphaModFix/>
          </a:blip>
          <a:stretch>
            <a:fillRect/>
          </a:stretch>
        </p:blipFill>
        <p:spPr>
          <a:xfrm>
            <a:off x="5531216" y="2404625"/>
            <a:ext cx="903425" cy="482600"/>
          </a:xfrm>
          <a:prstGeom prst="rect">
            <a:avLst/>
          </a:prstGeom>
          <a:noFill/>
          <a:ln>
            <a:noFill/>
          </a:ln>
        </p:spPr>
      </p:pic>
      <p:pic>
        <p:nvPicPr>
          <p:cNvPr id="606" name="Google Shape;606;p56"/>
          <p:cNvPicPr preferRelativeResize="0"/>
          <p:nvPr/>
        </p:nvPicPr>
        <p:blipFill>
          <a:blip r:embed="rId6">
            <a:alphaModFix/>
          </a:blip>
          <a:stretch>
            <a:fillRect/>
          </a:stretch>
        </p:blipFill>
        <p:spPr>
          <a:xfrm>
            <a:off x="6656013" y="2887213"/>
            <a:ext cx="2009775" cy="714375"/>
          </a:xfrm>
          <a:prstGeom prst="rect">
            <a:avLst/>
          </a:prstGeom>
          <a:noFill/>
          <a:ln>
            <a:noFill/>
          </a:ln>
        </p:spPr>
      </p:pic>
      <p:pic>
        <p:nvPicPr>
          <p:cNvPr id="607" name="Google Shape;607;p56"/>
          <p:cNvPicPr preferRelativeResize="0"/>
          <p:nvPr/>
        </p:nvPicPr>
        <p:blipFill>
          <a:blip r:embed="rId7">
            <a:alphaModFix/>
          </a:blip>
          <a:stretch>
            <a:fillRect/>
          </a:stretch>
        </p:blipFill>
        <p:spPr>
          <a:xfrm>
            <a:off x="5469516" y="3389204"/>
            <a:ext cx="656675" cy="6566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13" name="Google Shape;613;p57"/>
          <p:cNvPicPr preferRelativeResize="0"/>
          <p:nvPr/>
        </p:nvPicPr>
        <p:blipFill>
          <a:blip r:embed="rId3">
            <a:alphaModFix/>
          </a:blip>
          <a:stretch>
            <a:fillRect/>
          </a:stretch>
        </p:blipFill>
        <p:spPr>
          <a:xfrm>
            <a:off x="2539325" y="2777098"/>
            <a:ext cx="1675025" cy="686300"/>
          </a:xfrm>
          <a:prstGeom prst="rect">
            <a:avLst/>
          </a:prstGeom>
          <a:noFill/>
          <a:ln>
            <a:noFill/>
          </a:ln>
        </p:spPr>
      </p:pic>
      <p:pic>
        <p:nvPicPr>
          <p:cNvPr id="614" name="Google Shape;614;p57">
            <a:hlinkClick r:id="rId4"/>
          </p:cNvPr>
          <p:cNvPicPr preferRelativeResize="0"/>
          <p:nvPr/>
        </p:nvPicPr>
        <p:blipFill>
          <a:blip r:embed="rId5">
            <a:alphaModFix/>
          </a:blip>
          <a:stretch>
            <a:fillRect/>
          </a:stretch>
        </p:blipFill>
        <p:spPr>
          <a:xfrm>
            <a:off x="5085100" y="2028850"/>
            <a:ext cx="4058898" cy="3114656"/>
          </a:xfrm>
          <a:prstGeom prst="rect">
            <a:avLst/>
          </a:prstGeom>
          <a:noFill/>
          <a:ln>
            <a:noFill/>
          </a:ln>
        </p:spPr>
      </p:pic>
      <p:pic>
        <p:nvPicPr>
          <p:cNvPr id="615" name="Google Shape;615;p57">
            <a:hlinkClick r:id="rId6"/>
          </p:cNvPr>
          <p:cNvPicPr preferRelativeResize="0"/>
          <p:nvPr/>
        </p:nvPicPr>
        <p:blipFill>
          <a:blip r:embed="rId7">
            <a:alphaModFix/>
          </a:blip>
          <a:stretch>
            <a:fillRect/>
          </a:stretch>
        </p:blipFill>
        <p:spPr>
          <a:xfrm>
            <a:off x="1281875" y="4062413"/>
            <a:ext cx="2363200" cy="884625"/>
          </a:xfrm>
          <a:prstGeom prst="rect">
            <a:avLst/>
          </a:prstGeom>
          <a:noFill/>
          <a:ln>
            <a:noFill/>
          </a:ln>
        </p:spPr>
      </p:pic>
      <p:pic>
        <p:nvPicPr>
          <p:cNvPr id="616" name="Google Shape;616;p57"/>
          <p:cNvPicPr preferRelativeResize="0"/>
          <p:nvPr/>
        </p:nvPicPr>
        <p:blipFill>
          <a:blip r:embed="rId8">
            <a:alphaModFix/>
          </a:blip>
          <a:stretch>
            <a:fillRect/>
          </a:stretch>
        </p:blipFill>
        <p:spPr>
          <a:xfrm>
            <a:off x="1281876" y="1329012"/>
            <a:ext cx="1839658" cy="982675"/>
          </a:xfrm>
          <a:prstGeom prst="rect">
            <a:avLst/>
          </a:prstGeom>
          <a:noFill/>
          <a:ln>
            <a:noFill/>
          </a:ln>
        </p:spPr>
      </p:pic>
      <p:pic>
        <p:nvPicPr>
          <p:cNvPr id="617" name="Google Shape;617;p57">
            <a:hlinkClick r:id="rId9"/>
          </p:cNvPr>
          <p:cNvPicPr preferRelativeResize="0"/>
          <p:nvPr/>
        </p:nvPicPr>
        <p:blipFill>
          <a:blip r:embed="rId10">
            <a:alphaModFix/>
          </a:blip>
          <a:stretch>
            <a:fillRect/>
          </a:stretch>
        </p:blipFill>
        <p:spPr>
          <a:xfrm>
            <a:off x="5085100" y="383861"/>
            <a:ext cx="4058901" cy="1266064"/>
          </a:xfrm>
          <a:prstGeom prst="rect">
            <a:avLst/>
          </a:prstGeom>
          <a:noFill/>
          <a:ln>
            <a:noFill/>
          </a:ln>
        </p:spPr>
      </p:pic>
      <p:pic>
        <p:nvPicPr>
          <p:cNvPr id="618" name="Google Shape;618;p57"/>
          <p:cNvPicPr preferRelativeResize="0"/>
          <p:nvPr/>
        </p:nvPicPr>
        <p:blipFill>
          <a:blip r:embed="rId11">
            <a:alphaModFix/>
          </a:blip>
          <a:stretch>
            <a:fillRect/>
          </a:stretch>
        </p:blipFill>
        <p:spPr>
          <a:xfrm>
            <a:off x="224000" y="298650"/>
            <a:ext cx="3645075" cy="564919"/>
          </a:xfrm>
          <a:prstGeom prst="rect">
            <a:avLst/>
          </a:prstGeom>
          <a:noFill/>
          <a:ln>
            <a:noFill/>
          </a:ln>
        </p:spPr>
      </p:pic>
      <p:pic>
        <p:nvPicPr>
          <p:cNvPr id="619" name="Google Shape;619;p57">
            <a:hlinkClick r:id="rId12"/>
          </p:cNvPr>
          <p:cNvPicPr preferRelativeResize="0"/>
          <p:nvPr/>
        </p:nvPicPr>
        <p:blipFill>
          <a:blip r:embed="rId13">
            <a:alphaModFix/>
          </a:blip>
          <a:stretch>
            <a:fillRect/>
          </a:stretch>
        </p:blipFill>
        <p:spPr>
          <a:xfrm>
            <a:off x="8595300" y="4906458"/>
            <a:ext cx="548700" cy="22411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25" name="Google Shape;625;p58"/>
          <p:cNvPicPr preferRelativeResize="0"/>
          <p:nvPr/>
        </p:nvPicPr>
        <p:blipFill>
          <a:blip r:embed="rId3">
            <a:alphaModFix/>
          </a:blip>
          <a:stretch>
            <a:fillRect/>
          </a:stretch>
        </p:blipFill>
        <p:spPr>
          <a:xfrm>
            <a:off x="1063425" y="1481250"/>
            <a:ext cx="7017150" cy="2181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9"/>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31" name="Google Shape;631;p59"/>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32" name="Google Shape;632;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33" name="Google Shape;633;p59"/>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34" name="Google Shape;634;p59"/>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