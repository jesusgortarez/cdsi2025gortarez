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Roboto Thin"/>
      <p:regular r:id="rId41"/>
      <p:bold r:id="rId42"/>
      <p:italic r:id="rId43"/>
      <p:boldItalic r:id="rId44"/>
    </p:embeddedFont>
    <p:embeddedFont>
      <p:font typeface="Roboto"/>
      <p:regular r:id="rId45"/>
      <p:bold r:id="rId46"/>
      <p:italic r:id="rId47"/>
      <p:boldItalic r:id="rId48"/>
    </p:embeddedFont>
    <p:embeddedFont>
      <p:font typeface="Roboto Medium"/>
      <p:regular r:id="rId49"/>
      <p:bold r:id="rId50"/>
      <p:italic r:id="rId51"/>
      <p:boldItalic r:id="rId52"/>
    </p:embeddedFont>
    <p:embeddedFont>
      <p:font typeface="Nunito"/>
      <p:regular r:id="rId53"/>
      <p:bold r:id="rId54"/>
      <p:italic r:id="rId55"/>
      <p:boldItalic r:id="rId56"/>
    </p:embeddedFont>
    <p:embeddedFont>
      <p:font typeface="Maven Pro"/>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Thin-bold.fntdata"/><Relationship Id="rId41" Type="http://schemas.openxmlformats.org/officeDocument/2006/relationships/font" Target="fonts/RobotoThin-regular.fntdata"/><Relationship Id="rId44" Type="http://schemas.openxmlformats.org/officeDocument/2006/relationships/font" Target="fonts/RobotoThin-boldItalic.fntdata"/><Relationship Id="rId43" Type="http://schemas.openxmlformats.org/officeDocument/2006/relationships/font" Target="fonts/RobotoThin-italic.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RobotoMediu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edium-italic.fntdata"/><Relationship Id="rId50" Type="http://schemas.openxmlformats.org/officeDocument/2006/relationships/font" Target="fonts/RobotoMedium-bold.fntdata"/><Relationship Id="rId53" Type="http://schemas.openxmlformats.org/officeDocument/2006/relationships/font" Target="fonts/Nunito-regular.fntdata"/><Relationship Id="rId52" Type="http://schemas.openxmlformats.org/officeDocument/2006/relationships/font" Target="fonts/RobotoMedium-boldItalic.fntdata"/><Relationship Id="rId11" Type="http://schemas.openxmlformats.org/officeDocument/2006/relationships/slide" Target="slides/slide6.xml"/><Relationship Id="rId55" Type="http://schemas.openxmlformats.org/officeDocument/2006/relationships/font" Target="fonts/Nunito-italic.fntdata"/><Relationship Id="rId10" Type="http://schemas.openxmlformats.org/officeDocument/2006/relationships/slide" Target="slides/slide5.xml"/><Relationship Id="rId54" Type="http://schemas.openxmlformats.org/officeDocument/2006/relationships/font" Target="fonts/Nunito-bold.fntdata"/><Relationship Id="rId13" Type="http://schemas.openxmlformats.org/officeDocument/2006/relationships/slide" Target="slides/slide8.xml"/><Relationship Id="rId57" Type="http://schemas.openxmlformats.org/officeDocument/2006/relationships/font" Target="fonts/MavenPro-regular.fntdata"/><Relationship Id="rId12" Type="http://schemas.openxmlformats.org/officeDocument/2006/relationships/slide" Target="slides/slide7.xml"/><Relationship Id="rId56" Type="http://schemas.openxmlformats.org/officeDocument/2006/relationships/font" Target="fonts/Nunito-boldItalic.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MavenPr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ESSENTIA tool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b1cad761e0_0_2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b1cad761e0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b1cad761e0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b1cad761e0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0b8e2f809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0b8e2f809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0f7d661d36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0f7d661d36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0f7d661d36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0f7d661d36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0f7d661d36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0f7d661d36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0f7d661d36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0f7d661d3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f7d661d36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0f7d661d36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0f7d661d36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0f7d661d36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f7d661d36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f7d661d36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0f7d661d36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0f7d661d36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0f7d661d36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0f7d661d36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0f7d661d36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0f7d661d36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0f7d661d36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0f7d661d36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0f7d661d36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0f7d661d36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0f7d661d36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0f7d661d36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0f7d661d36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0f7d661d36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0f7d661d36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0f7d661d36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0f7d661d36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0f7d661d36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0f7d661d36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0f7d661d36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0f7d661d36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0f7d661d36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0f7d661d36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0f7d661d36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0f7d661d36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0f7d661d36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0f7d661d36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0f7d661d36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0f7d661d36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0f7d661d36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0f7d661d36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0f7d661d36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0f7d661d36_1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0f7d661d36_1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0e9d2e88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10e9d2e88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0dbdd0f0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0dbdd0f0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https://www.kaggle.com/code/vidhuran07/speech-emotion-recognition-ipynb/notebook</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0f7d661d36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0f7d661d36_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b1cad761e0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b1cad761e0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b1cad761e0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b1cad761e0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b1cad761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b1cad761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publish.illinois.edu/augmentedlistening/data-and-demos/" TargetMode="External"/><Relationship Id="rId4" Type="http://schemas.openxmlformats.org/officeDocument/2006/relationships/hyperlink" Target="https://research.atspotify.com/datasets/" TargetMode="External"/><Relationship Id="rId9" Type="http://schemas.openxmlformats.org/officeDocument/2006/relationships/hyperlink" Target="https://www.kaggle.com/uwrfkaggler/ravdess-emotional-speech-audio" TargetMode="External"/><Relationship Id="rId5" Type="http://schemas.openxmlformats.org/officeDocument/2006/relationships/hyperlink" Target="https://www.kaggle.com/mmoreaux/audio-cats-and-dogs" TargetMode="External"/><Relationship Id="rId6" Type="http://schemas.openxmlformats.org/officeDocument/2006/relationships/hyperlink" Target="https://www.kaggle.com/vbookshelf/respiratory-sound-database" TargetMode="External"/><Relationship Id="rId7" Type="http://schemas.openxmlformats.org/officeDocument/2006/relationships/hyperlink" Target="https://www.kaggle.com/andrewmvd/covid19-cough-audio-classification" TargetMode="External"/><Relationship Id="rId8" Type="http://schemas.openxmlformats.org/officeDocument/2006/relationships/hyperlink" Target="https://www.kaggle.com/kinguistics/heartbeat-sound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2</a:t>
            </a:r>
            <a:endParaRPr sz="6000">
              <a:solidFill>
                <a:schemeClr val="dk1"/>
              </a:solidFill>
            </a:endParaRPr>
          </a:p>
        </p:txBody>
      </p:sp>
      <p:sp>
        <p:nvSpPr>
          <p:cNvPr id="287" name="Google Shape;287;p1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Sensado de </a:t>
            </a:r>
            <a:r>
              <a:rPr lang="es-419" sz="3200"/>
              <a:t>audio y voz</a:t>
            </a:r>
            <a:endParaRPr sz="3200"/>
          </a:p>
        </p:txBody>
      </p:sp>
      <p:sp>
        <p:nvSpPr>
          <p:cNvPr id="288" name="Google Shape;288;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400"/>
              <a:t>LECTURA</a:t>
            </a:r>
            <a:endParaRPr sz="2400"/>
          </a:p>
        </p:txBody>
      </p:sp>
      <p:sp>
        <p:nvSpPr>
          <p:cNvPr id="294" name="Google Shape;294;p15"/>
          <p:cNvSpPr txBox="1"/>
          <p:nvPr>
            <p:ph idx="1" type="body"/>
          </p:nvPr>
        </p:nvSpPr>
        <p:spPr>
          <a:xfrm>
            <a:off x="922800" y="2081075"/>
            <a:ext cx="3312000" cy="222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600"/>
              <a:t>Schuller, B. W. (2018). </a:t>
            </a:r>
            <a:r>
              <a:rPr b="1" lang="es-419" sz="1600"/>
              <a:t>Speech emotion recognition: Two decades in a nutshell, benchmarks, and ongoing trends</a:t>
            </a:r>
            <a:r>
              <a:rPr lang="es-419" sz="1600"/>
              <a:t>. Communications of the ACM, 61(5), 90-99.</a:t>
            </a:r>
            <a:endParaRPr sz="1600"/>
          </a:p>
        </p:txBody>
      </p:sp>
      <p:pic>
        <p:nvPicPr>
          <p:cNvPr id="295" name="Google Shape;295;p15"/>
          <p:cNvPicPr preferRelativeResize="0"/>
          <p:nvPr/>
        </p:nvPicPr>
        <p:blipFill rotWithShape="1">
          <a:blip r:embed="rId3">
            <a:alphaModFix/>
          </a:blip>
          <a:srcRect b="0" l="32845" r="0" t="0"/>
          <a:stretch/>
        </p:blipFill>
        <p:spPr>
          <a:xfrm>
            <a:off x="4612500" y="0"/>
            <a:ext cx="4531499" cy="5064469"/>
          </a:xfrm>
          <a:prstGeom prst="rect">
            <a:avLst/>
          </a:prstGeom>
          <a:noFill/>
          <a:ln>
            <a:noFill/>
          </a:ln>
        </p:spPr>
      </p:pic>
      <p:sp>
        <p:nvSpPr>
          <p:cNvPr id="296" name="Google Shape;296;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297" name="Google Shape;297;p15"/>
          <p:cNvPicPr preferRelativeResize="0"/>
          <p:nvPr/>
        </p:nvPicPr>
        <p:blipFill rotWithShape="1">
          <a:blip r:embed="rId4">
            <a:alphaModFix/>
          </a:blip>
          <a:srcRect b="0" l="35668" r="5570" t="0"/>
          <a:stretch/>
        </p:blipFill>
        <p:spPr>
          <a:xfrm>
            <a:off x="4612500" y="0"/>
            <a:ext cx="4531502" cy="5143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Conclusions from the paper (https://typeset.io/)</a:t>
            </a:r>
            <a:endParaRPr/>
          </a:p>
        </p:txBody>
      </p:sp>
      <p:sp>
        <p:nvSpPr>
          <p:cNvPr id="303" name="Google Shape;303;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04" name="Google Shape;304;p16"/>
          <p:cNvSpPr txBox="1"/>
          <p:nvPr/>
        </p:nvSpPr>
        <p:spPr>
          <a:xfrm>
            <a:off x="721850" y="1008600"/>
            <a:ext cx="8277900" cy="3126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700"/>
              </a:spcBef>
              <a:spcAft>
                <a:spcPts val="0"/>
              </a:spcAft>
              <a:buSzPts val="1400"/>
              <a:buFont typeface="Roboto"/>
              <a:buChar char="●"/>
            </a:pPr>
            <a:r>
              <a:rPr lang="es-419">
                <a:highlight>
                  <a:srgbClr val="EBF5FA"/>
                </a:highlight>
                <a:latin typeface="Roboto"/>
                <a:ea typeface="Roboto"/>
                <a:cs typeface="Roboto"/>
                <a:sym typeface="Roboto"/>
              </a:rPr>
              <a:t>The field of Speech Emotion Recognition (SER) has evolved over the years, starting from early studies on the acoustics of human emotion to the development of end-to-end learning systems.</a:t>
            </a:r>
            <a:endParaRPr>
              <a:highlight>
                <a:srgbClr val="EBF5FA"/>
              </a:highlight>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lang="es-419">
                <a:highlight>
                  <a:srgbClr val="EBF5FA"/>
                </a:highlight>
                <a:latin typeface="Roboto"/>
                <a:ea typeface="Roboto"/>
                <a:cs typeface="Roboto"/>
                <a:sym typeface="Roboto"/>
              </a:rPr>
              <a:t>The lack of rich amounts of spontaneous data and coping with speaker variation are current challenges in the field. However, advancements in data learned features, synthesized training material, holistic architectures, and autonomous learning are expected to overcome these challenges and lead to the rise of emotionally intelligent speech interfaces in various domains.</a:t>
            </a:r>
            <a:endParaRPr b="1">
              <a:highlight>
                <a:srgbClr val="EBF5FA"/>
              </a:highlight>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lang="es-419">
                <a:highlight>
                  <a:srgbClr val="EBF5FA"/>
                </a:highlight>
                <a:latin typeface="Roboto"/>
                <a:ea typeface="Roboto"/>
                <a:cs typeface="Roboto"/>
                <a:sym typeface="Roboto"/>
              </a:rPr>
              <a:t>The paper emphasizes the importance of appropriate emotion representation models and the learning of features from data for optimal recognition of emotion from speech. Soft clustering, word embedding approaches, convolutional neural networks, and recurrent neural networks are some of the popular methods for learning feature representations.</a:t>
            </a:r>
            <a:endParaRPr>
              <a:highlight>
                <a:srgbClr val="EBF5FA"/>
              </a:highlight>
              <a:latin typeface="Roboto"/>
              <a:ea typeface="Roboto"/>
              <a:cs typeface="Roboto"/>
              <a:sym typeface="Roboto"/>
            </a:endParaRPr>
          </a:p>
          <a:p>
            <a:pPr indent="-317500" lvl="0" marL="457200" rtl="0" algn="l">
              <a:lnSpc>
                <a:spcPct val="115000"/>
              </a:lnSpc>
              <a:spcBef>
                <a:spcPts val="0"/>
              </a:spcBef>
              <a:spcAft>
                <a:spcPts val="0"/>
              </a:spcAft>
              <a:buSzPts val="1400"/>
              <a:buFont typeface="Roboto"/>
              <a:buChar char="●"/>
            </a:pPr>
            <a:r>
              <a:rPr lang="es-419">
                <a:highlight>
                  <a:srgbClr val="EBF5FA"/>
                </a:highlight>
                <a:latin typeface="Roboto"/>
                <a:ea typeface="Roboto"/>
                <a:cs typeface="Roboto"/>
                <a:sym typeface="Roboto"/>
              </a:rPr>
              <a:t>The paper also mentions the relationship between sentiment analysis and emotion recognition from text, highlighting the traditional focus on written passages of text in sentiment analysis.</a:t>
            </a:r>
            <a:endParaRPr b="1">
              <a:highlight>
                <a:srgbClr val="EBF5FA"/>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7"/>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2</a:t>
            </a:r>
            <a:r>
              <a:rPr lang="es-419"/>
              <a:t>.4 Extracción de </a:t>
            </a:r>
            <a:r>
              <a:rPr i="1" lang="es-419"/>
              <a:t>features</a:t>
            </a:r>
            <a:r>
              <a:rPr lang="es-419"/>
              <a:t> de audio</a:t>
            </a:r>
            <a:endParaRPr/>
          </a:p>
        </p:txBody>
      </p:sp>
      <p:sp>
        <p:nvSpPr>
          <p:cNvPr id="310" name="Google Shape;310;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Introducción</a:t>
            </a:r>
            <a:endParaRPr/>
          </a:p>
        </p:txBody>
      </p:sp>
      <p:sp>
        <p:nvSpPr>
          <p:cNvPr id="316" name="Google Shape;316;p1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aplicaciones de IA y </a:t>
            </a:r>
            <a:r>
              <a:rPr i="1" lang="es-419"/>
              <a:t>deep learning</a:t>
            </a:r>
            <a:r>
              <a:rPr lang="es-419"/>
              <a:t>, en el subdominio del </a:t>
            </a:r>
            <a:r>
              <a:rPr b="1" lang="es-419"/>
              <a:t>análisis de audio</a:t>
            </a:r>
            <a:r>
              <a:rPr lang="es-419"/>
              <a:t> está creciendo rápidamente. </a:t>
            </a:r>
            <a:endParaRPr/>
          </a:p>
          <a:p>
            <a:pPr indent="0" lvl="0" marL="0" rtl="0" algn="l">
              <a:spcBef>
                <a:spcPts val="1200"/>
              </a:spcBef>
              <a:spcAft>
                <a:spcPts val="0"/>
              </a:spcAft>
              <a:buNone/>
            </a:pPr>
            <a:r>
              <a:rPr lang="es-419"/>
              <a:t>Algunos ejemplos incluyen reconocimiento de voz automático; procesamiento de señales digitales;</a:t>
            </a:r>
            <a:r>
              <a:rPr lang="es-419"/>
              <a:t> clasificación</a:t>
            </a:r>
            <a:r>
              <a:rPr lang="es-419"/>
              <a:t>, etiquetado, y generación de audio. </a:t>
            </a:r>
            <a:endParaRPr/>
          </a:p>
          <a:p>
            <a:pPr indent="0" lvl="0" marL="0" rtl="0" algn="l">
              <a:spcBef>
                <a:spcPts val="1200"/>
              </a:spcBef>
              <a:spcAft>
                <a:spcPts val="1200"/>
              </a:spcAft>
              <a:buNone/>
            </a:pPr>
            <a:r>
              <a:rPr lang="es-419"/>
              <a:t>Los asistentes virtuales como Alexa, Siri y Google Home se construyen en gran medida sobre </a:t>
            </a:r>
            <a:r>
              <a:rPr b="1" lang="es-419">
                <a:solidFill>
                  <a:schemeClr val="accent5"/>
                </a:solidFill>
              </a:rPr>
              <a:t>modelos</a:t>
            </a:r>
            <a:r>
              <a:rPr lang="es-419"/>
              <a:t> que pueden realizar cognición artificial a partir de datos de audio.</a:t>
            </a:r>
            <a:endParaRPr/>
          </a:p>
        </p:txBody>
      </p:sp>
      <p:sp>
        <p:nvSpPr>
          <p:cNvPr id="317" name="Google Shape;317;p1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Devopedia. 2021. "Audio Feature Extraction." Version 8, https://devopedia.org/audio-feature-extraction</a:t>
            </a:r>
            <a:endParaRPr sz="800">
              <a:solidFill>
                <a:srgbClr val="94B6BD"/>
              </a:solidFill>
            </a:endParaRPr>
          </a:p>
        </p:txBody>
      </p:sp>
      <p:sp>
        <p:nvSpPr>
          <p:cNvPr id="318" name="Google Shape;318;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Introducción</a:t>
            </a:r>
            <a:endParaRPr/>
          </a:p>
        </p:txBody>
      </p:sp>
      <p:sp>
        <p:nvSpPr>
          <p:cNvPr id="324" name="Google Shape;324;p1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entrenar cualquier </a:t>
            </a:r>
            <a:r>
              <a:rPr b="1" lang="es-419"/>
              <a:t>modelo</a:t>
            </a:r>
            <a:r>
              <a:rPr lang="es-419"/>
              <a:t> estadístico o de aprendizaje, primero deben extraerse características (</a:t>
            </a:r>
            <a:r>
              <a:rPr i="1" lang="es-419"/>
              <a:t>features</a:t>
            </a:r>
            <a:r>
              <a:rPr lang="es-419"/>
              <a:t>) útiles de una señal de audio. </a:t>
            </a:r>
            <a:endParaRPr/>
          </a:p>
          <a:p>
            <a:pPr indent="0" lvl="0" marL="0" rtl="0" algn="l">
              <a:spcBef>
                <a:spcPts val="1200"/>
              </a:spcBef>
              <a:spcAft>
                <a:spcPts val="0"/>
              </a:spcAft>
              <a:buNone/>
            </a:pPr>
            <a:r>
              <a:rPr lang="es-419"/>
              <a:t>La extracción de características de audio es un paso necesario en el procesamiento de señales de audio, que es un subcampo del procesamiento de señales.</a:t>
            </a:r>
            <a:r>
              <a:rPr lang="es-419"/>
              <a:t> </a:t>
            </a:r>
            <a:endParaRPr/>
          </a:p>
          <a:p>
            <a:pPr indent="0" lvl="0" marL="0" rtl="0" algn="l">
              <a:spcBef>
                <a:spcPts val="1200"/>
              </a:spcBef>
              <a:spcAft>
                <a:spcPts val="0"/>
              </a:spcAft>
              <a:buNone/>
            </a:pPr>
            <a:r>
              <a:rPr lang="es-419"/>
              <a:t>Elimina el ruido no deseado y equilibra los rangos de tiempo y frecuencia mediante la conversión de señales digitales y analógicas. </a:t>
            </a:r>
            <a:endParaRPr/>
          </a:p>
          <a:p>
            <a:pPr indent="0" lvl="0" marL="0" rtl="0" algn="l">
              <a:spcBef>
                <a:spcPts val="1200"/>
              </a:spcBef>
              <a:spcAft>
                <a:spcPts val="1200"/>
              </a:spcAft>
              <a:buNone/>
            </a:pPr>
            <a:r>
              <a:rPr lang="es-419"/>
              <a:t>Se enfoca en métodos computacionales para alterar los sonidos.</a:t>
            </a:r>
            <a:endParaRPr/>
          </a:p>
        </p:txBody>
      </p:sp>
      <p:sp>
        <p:nvSpPr>
          <p:cNvPr id="325" name="Google Shape;325;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¿Qué es una señal de audio?</a:t>
            </a:r>
            <a:endParaRPr/>
          </a:p>
        </p:txBody>
      </p:sp>
      <p:sp>
        <p:nvSpPr>
          <p:cNvPr id="331" name="Google Shape;331;p2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a:t>
            </a:r>
            <a:r>
              <a:rPr lang="es-419"/>
              <a:t>s una representación del sonido. Codifica toda la información necesaria para reproducir el sonido. Las señales de audio vienen en dos tipos básicos: analógicas y digitales.</a:t>
            </a:r>
            <a:endParaRPr/>
          </a:p>
          <a:p>
            <a:pPr indent="-317500" lvl="0" marL="457200" rtl="0" algn="l">
              <a:spcBef>
                <a:spcPts val="1200"/>
              </a:spcBef>
              <a:spcAft>
                <a:spcPts val="0"/>
              </a:spcAft>
              <a:buSzPts val="1400"/>
              <a:buChar char="●"/>
            </a:pPr>
            <a:r>
              <a:rPr b="1" lang="es-419"/>
              <a:t>Analógico</a:t>
            </a:r>
            <a:r>
              <a:rPr lang="es-419"/>
              <a:t> se refiere al audio grabado usando métodos que replican las ondas sonoras originales. Los ejemplos incluyen discos de vinilo y cintas de casete. </a:t>
            </a:r>
            <a:endParaRPr/>
          </a:p>
          <a:p>
            <a:pPr indent="-317500" lvl="0" marL="457200" rtl="0" algn="l">
              <a:spcBef>
                <a:spcPts val="0"/>
              </a:spcBef>
              <a:spcAft>
                <a:spcPts val="0"/>
              </a:spcAft>
              <a:buSzPts val="1400"/>
              <a:buChar char="●"/>
            </a:pPr>
            <a:r>
              <a:rPr lang="es-419"/>
              <a:t>El audio </a:t>
            </a:r>
            <a:r>
              <a:rPr b="1" lang="es-419"/>
              <a:t>digital</a:t>
            </a:r>
            <a:r>
              <a:rPr lang="es-419"/>
              <a:t> se graba tomando muestras de la onda de sonido original a una frecuencia específica, denominada frecuencia de muestreo, e.g. CD y MP3.</a:t>
            </a:r>
            <a:endParaRPr/>
          </a:p>
          <a:p>
            <a:pPr indent="0" lvl="0" marL="0" rtl="0" algn="l">
              <a:spcBef>
                <a:spcPts val="1200"/>
              </a:spcBef>
              <a:spcAft>
                <a:spcPts val="1200"/>
              </a:spcAft>
              <a:buNone/>
            </a:pPr>
            <a:r>
              <a:rPr lang="es-419"/>
              <a:t>En el mundo real, las conversiones entre formas de onda digitales y analógicas son comunes y necesarias. </a:t>
            </a:r>
            <a:endParaRPr/>
          </a:p>
        </p:txBody>
      </p:sp>
      <p:sp>
        <p:nvSpPr>
          <p:cNvPr id="332" name="Google Shape;332;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21"/>
          <p:cNvPicPr preferRelativeResize="0"/>
          <p:nvPr/>
        </p:nvPicPr>
        <p:blipFill>
          <a:blip r:embed="rId3">
            <a:alphaModFix/>
          </a:blip>
          <a:stretch>
            <a:fillRect/>
          </a:stretch>
        </p:blipFill>
        <p:spPr>
          <a:xfrm>
            <a:off x="2684316" y="925087"/>
            <a:ext cx="3775376" cy="3293325"/>
          </a:xfrm>
          <a:prstGeom prst="rect">
            <a:avLst/>
          </a:prstGeom>
          <a:noFill/>
          <a:ln>
            <a:noFill/>
          </a:ln>
        </p:spPr>
      </p:pic>
      <p:sp>
        <p:nvSpPr>
          <p:cNvPr id="338" name="Google Shape;338;p2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Buur, Michael Hansen. 2016. "Is the quality of a DAC related to software implementation?" Sound Design, StackExchange, September 14</a:t>
            </a:r>
            <a:endParaRPr sz="800">
              <a:solidFill>
                <a:srgbClr val="94B6BD"/>
              </a:solidFill>
            </a:endParaRPr>
          </a:p>
        </p:txBody>
      </p:sp>
      <p:sp>
        <p:nvSpPr>
          <p:cNvPr id="339" name="Google Shape;339;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s-419"/>
              <a:t>F</a:t>
            </a:r>
            <a:r>
              <a:rPr i="1" lang="es-419"/>
              <a:t>eatures</a:t>
            </a:r>
            <a:r>
              <a:rPr lang="es-419"/>
              <a:t> de audio más comunes</a:t>
            </a:r>
            <a:endParaRPr/>
          </a:p>
        </p:txBody>
      </p:sp>
      <p:sp>
        <p:nvSpPr>
          <p:cNvPr id="345" name="Google Shape;345;p22"/>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a:t>
            </a:r>
            <a:r>
              <a:rPr lang="es-419"/>
              <a:t>as características de audio pueden clasificarse de acuerdo a los siguientes aspectos:</a:t>
            </a:r>
            <a:endParaRPr/>
          </a:p>
          <a:p>
            <a:pPr indent="-317500" lvl="0" marL="457200" rtl="0" algn="l">
              <a:spcBef>
                <a:spcPts val="1200"/>
              </a:spcBef>
              <a:spcAft>
                <a:spcPts val="0"/>
              </a:spcAft>
              <a:buSzPts val="1400"/>
              <a:buChar char="●"/>
            </a:pPr>
            <a:r>
              <a:rPr b="1" lang="es-419"/>
              <a:t>Nivel de abstracción</a:t>
            </a:r>
            <a:r>
              <a:rPr lang="es-419"/>
              <a:t>: características de alto, medio y bajo nivel de las señales.</a:t>
            </a:r>
            <a:endParaRPr/>
          </a:p>
          <a:p>
            <a:pPr indent="-317500" lvl="0" marL="457200" rtl="0" algn="l">
              <a:spcBef>
                <a:spcPts val="0"/>
              </a:spcBef>
              <a:spcAft>
                <a:spcPts val="0"/>
              </a:spcAft>
              <a:buSzPts val="1400"/>
              <a:buChar char="●"/>
            </a:pPr>
            <a:r>
              <a:rPr b="1" lang="es-419"/>
              <a:t>Segmentación</a:t>
            </a:r>
            <a:r>
              <a:rPr lang="es-419"/>
              <a:t>: características en el dominio del tiempo que pueden ser instantáneas, a nivel de segmento y globales.</a:t>
            </a:r>
            <a:endParaRPr/>
          </a:p>
          <a:p>
            <a:pPr indent="-317500" lvl="0" marL="457200" rtl="0" algn="l">
              <a:spcBef>
                <a:spcPts val="0"/>
              </a:spcBef>
              <a:spcAft>
                <a:spcPts val="0"/>
              </a:spcAft>
              <a:buSzPts val="1400"/>
              <a:buChar char="●"/>
            </a:pPr>
            <a:r>
              <a:rPr b="1" lang="es-419"/>
              <a:t>Dominio musical</a:t>
            </a:r>
            <a:r>
              <a:rPr lang="es-419"/>
              <a:t>: propiedades acústicas que incluyen compás, ritmo, timbre (color del sonido), tono, armonía, melodía, etc.</a:t>
            </a:r>
            <a:endParaRPr/>
          </a:p>
          <a:p>
            <a:pPr indent="-317500" lvl="0" marL="457200" rtl="0" algn="l">
              <a:spcBef>
                <a:spcPts val="0"/>
              </a:spcBef>
              <a:spcAft>
                <a:spcPts val="0"/>
              </a:spcAft>
              <a:buSzPts val="1400"/>
              <a:buChar char="●"/>
            </a:pPr>
            <a:r>
              <a:rPr b="1" lang="es-419"/>
              <a:t>Dominio de la señal</a:t>
            </a:r>
            <a:r>
              <a:rPr lang="es-419"/>
              <a:t>: características en el dominio del tiempo, el dominio de la frecuencia o ambos.</a:t>
            </a:r>
            <a:endParaRPr/>
          </a:p>
          <a:p>
            <a:pPr indent="-317500" lvl="0" marL="457200" rtl="0" algn="l">
              <a:spcBef>
                <a:spcPts val="0"/>
              </a:spcBef>
              <a:spcAft>
                <a:spcPts val="0"/>
              </a:spcAft>
              <a:buSzPts val="1400"/>
              <a:buChar char="●"/>
            </a:pPr>
            <a:r>
              <a:rPr b="1" lang="es-419"/>
              <a:t>Enfoque de ML</a:t>
            </a:r>
            <a:r>
              <a:rPr lang="es-419"/>
              <a:t>: características seleccionadas </a:t>
            </a:r>
            <a:r>
              <a:rPr b="1" lang="es-419">
                <a:solidFill>
                  <a:schemeClr val="accent5"/>
                </a:solidFill>
              </a:rPr>
              <a:t>manualmente</a:t>
            </a:r>
            <a:r>
              <a:rPr lang="es-419"/>
              <a:t> para el modelado ML tradicional, o extracción </a:t>
            </a:r>
            <a:r>
              <a:rPr b="1" lang="es-419">
                <a:solidFill>
                  <a:schemeClr val="accent5"/>
                </a:solidFill>
              </a:rPr>
              <a:t>automática</a:t>
            </a:r>
            <a:r>
              <a:rPr lang="es-419"/>
              <a:t> para aprendizaje profundo.</a:t>
            </a:r>
            <a:endParaRPr/>
          </a:p>
        </p:txBody>
      </p:sp>
      <p:sp>
        <p:nvSpPr>
          <p:cNvPr id="346" name="Google Shape;346;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i="1" lang="es-419" sz="2400">
                <a:solidFill>
                  <a:schemeClr val="accent2"/>
                </a:solidFill>
              </a:rPr>
              <a:t>Features</a:t>
            </a:r>
            <a:r>
              <a:rPr lang="es-419" sz="2400">
                <a:solidFill>
                  <a:schemeClr val="accent2"/>
                </a:solidFill>
              </a:rPr>
              <a:t> por nivel de abstracción</a:t>
            </a:r>
            <a:endParaRPr sz="2400">
              <a:solidFill>
                <a:schemeClr val="accent2"/>
              </a:solidFill>
            </a:endParaRPr>
          </a:p>
        </p:txBody>
      </p:sp>
      <p:sp>
        <p:nvSpPr>
          <p:cNvPr id="352" name="Google Shape;352;p23"/>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es-419"/>
              <a:t>Alto nivel</a:t>
            </a:r>
            <a:r>
              <a:rPr lang="es-419"/>
              <a:t>: Son características abstractas que los humanos entienden y disfrutan. Estos incluyen instrumentación, clave, acordes, melodía, armonía, ritmo, género, estado de ánimo, etc.</a:t>
            </a:r>
            <a:endParaRPr/>
          </a:p>
          <a:p>
            <a:pPr indent="-317500" lvl="0" marL="457200" rtl="0" algn="l">
              <a:spcBef>
                <a:spcPts val="0"/>
              </a:spcBef>
              <a:spcAft>
                <a:spcPts val="0"/>
              </a:spcAft>
              <a:buSzPts val="1400"/>
              <a:buChar char="●"/>
            </a:pPr>
            <a:r>
              <a:rPr b="1" lang="es-419"/>
              <a:t>Nivel medio</a:t>
            </a:r>
            <a:r>
              <a:rPr lang="es-419"/>
              <a:t>: Son características que pueden percibirse. Incluyen tono, descriptores relacionados con el tiempo, inicios de notas, patrones de fluctuación, MFCC, etc. </a:t>
            </a:r>
            <a:endParaRPr/>
          </a:p>
          <a:p>
            <a:pPr indent="-317500" lvl="0" marL="457200" rtl="0" algn="l">
              <a:spcBef>
                <a:spcPts val="0"/>
              </a:spcBef>
              <a:spcAft>
                <a:spcPts val="0"/>
              </a:spcAft>
              <a:buSzPts val="1400"/>
              <a:buChar char="●"/>
            </a:pPr>
            <a:r>
              <a:rPr b="1" lang="es-419"/>
              <a:t>Bajo nivel</a:t>
            </a:r>
            <a:r>
              <a:rPr lang="es-419"/>
              <a:t>: Son características estadísticas que se extraen del audio. Estos tienen sentido para la máquina, pero no para los humanos. Incluyen energía, centroide espectral, flujo espectral, tasa de cruce por cero, etc.</a:t>
            </a:r>
            <a:endParaRPr/>
          </a:p>
        </p:txBody>
      </p:sp>
      <p:sp>
        <p:nvSpPr>
          <p:cNvPr id="353" name="Google Shape;353;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i="1" lang="es-419" sz="2400">
                <a:solidFill>
                  <a:schemeClr val="accent2"/>
                </a:solidFill>
              </a:rPr>
              <a:t>Features</a:t>
            </a:r>
            <a:r>
              <a:rPr lang="es-419" sz="2400">
                <a:solidFill>
                  <a:schemeClr val="accent2"/>
                </a:solidFill>
              </a:rPr>
              <a:t> por segmentación</a:t>
            </a:r>
            <a:endParaRPr sz="2400">
              <a:solidFill>
                <a:schemeClr val="accent2"/>
              </a:solidFill>
            </a:endParaRPr>
          </a:p>
        </p:txBody>
      </p:sp>
      <p:sp>
        <p:nvSpPr>
          <p:cNvPr id="359" name="Google Shape;359;p24"/>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es-419"/>
              <a:t>Instantáneo</a:t>
            </a:r>
            <a:r>
              <a:rPr lang="es-419"/>
              <a:t>: Son características que brindan información instantánea sobre la señal de audio. Consideran pequeños fragmentos de la señal de audio, en el rango de milisegundos. Notar que la resolución temporal mínima que los humanos somos capaces de apreciar ronda los 10ms.</a:t>
            </a:r>
            <a:endParaRPr/>
          </a:p>
          <a:p>
            <a:pPr indent="-317500" lvl="0" marL="457200" rtl="0" algn="l">
              <a:spcBef>
                <a:spcPts val="0"/>
              </a:spcBef>
              <a:spcAft>
                <a:spcPts val="0"/>
              </a:spcAft>
              <a:buSzPts val="1400"/>
              <a:buChar char="●"/>
            </a:pPr>
            <a:r>
              <a:rPr b="1" lang="es-419"/>
              <a:t>Nivel de segmento</a:t>
            </a:r>
            <a:r>
              <a:rPr lang="es-419"/>
              <a:t>: Son características que se pueden calcular a partir de segmentos de la señal de audio en el rango de segundos.</a:t>
            </a:r>
            <a:endParaRPr/>
          </a:p>
          <a:p>
            <a:pPr indent="-317500" lvl="0" marL="457200" rtl="0" algn="l">
              <a:spcBef>
                <a:spcPts val="0"/>
              </a:spcBef>
              <a:spcAft>
                <a:spcPts val="0"/>
              </a:spcAft>
              <a:buSzPts val="1400"/>
              <a:buChar char="●"/>
            </a:pPr>
            <a:r>
              <a:rPr b="1" lang="es-419"/>
              <a:t>Global</a:t>
            </a:r>
            <a:r>
              <a:rPr lang="es-419"/>
              <a:t>: Son características agregadas que brindan información y describen el sonido completo.</a:t>
            </a:r>
            <a:endParaRPr/>
          </a:p>
        </p:txBody>
      </p:sp>
      <p:sp>
        <p:nvSpPr>
          <p:cNvPr id="360" name="Google Shape;360;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i="1" lang="es-419" sz="2400">
                <a:solidFill>
                  <a:schemeClr val="accent2"/>
                </a:solidFill>
              </a:rPr>
              <a:t>Features</a:t>
            </a:r>
            <a:r>
              <a:rPr lang="es-419" sz="2400">
                <a:solidFill>
                  <a:schemeClr val="accent2"/>
                </a:solidFill>
              </a:rPr>
              <a:t> por dominio de la señal</a:t>
            </a:r>
            <a:endParaRPr sz="2400">
              <a:solidFill>
                <a:schemeClr val="accent2"/>
              </a:solidFill>
            </a:endParaRPr>
          </a:p>
        </p:txBody>
      </p:sp>
      <p:sp>
        <p:nvSpPr>
          <p:cNvPr id="366" name="Google Shape;366;p25"/>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es-419"/>
              <a:t>Dominio del tiempo</a:t>
            </a:r>
            <a:r>
              <a:rPr lang="es-419"/>
              <a:t>: Se extraen de las formas de onda del audio sin procesar. La tasa de cruce por cero, la envolvente de amplitud y la energía RMS son ejemplos.</a:t>
            </a:r>
            <a:endParaRPr/>
          </a:p>
          <a:p>
            <a:pPr indent="-317500" lvl="0" marL="457200" rtl="0" algn="l">
              <a:spcBef>
                <a:spcPts val="0"/>
              </a:spcBef>
              <a:spcAft>
                <a:spcPts val="0"/>
              </a:spcAft>
              <a:buSzPts val="1400"/>
              <a:buChar char="●"/>
            </a:pPr>
            <a:r>
              <a:rPr b="1" lang="es-419"/>
              <a:t>Dominio de la frecuencia</a:t>
            </a:r>
            <a:r>
              <a:rPr lang="es-419"/>
              <a:t>: Se centran en los componentes de frecuencia de la señal de audio. Las señales generalmente se convierten del dominio del tiempo al dominio de la frecuencia utilizando la </a:t>
            </a:r>
            <a:r>
              <a:rPr b="1" lang="es-419">
                <a:solidFill>
                  <a:schemeClr val="accent5"/>
                </a:solidFill>
              </a:rPr>
              <a:t>Transformada de Fourier</a:t>
            </a:r>
            <a:r>
              <a:rPr lang="es-419"/>
              <a:t>. La relación de energía de banda, el centroide espectral, y el flujo espectral son ejemplos.</a:t>
            </a:r>
            <a:endParaRPr/>
          </a:p>
        </p:txBody>
      </p:sp>
      <p:sp>
        <p:nvSpPr>
          <p:cNvPr id="367" name="Google Shape;367;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i="1" lang="es-419" sz="2400">
                <a:solidFill>
                  <a:schemeClr val="accent2"/>
                </a:solidFill>
              </a:rPr>
              <a:t>Features</a:t>
            </a:r>
            <a:r>
              <a:rPr lang="es-419" sz="2400">
                <a:solidFill>
                  <a:schemeClr val="accent2"/>
                </a:solidFill>
              </a:rPr>
              <a:t> por dominio de la señal</a:t>
            </a:r>
            <a:endParaRPr sz="2400">
              <a:solidFill>
                <a:schemeClr val="accent2"/>
              </a:solidFill>
            </a:endParaRPr>
          </a:p>
        </p:txBody>
      </p:sp>
      <p:sp>
        <p:nvSpPr>
          <p:cNvPr id="373" name="Google Shape;373;p26"/>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es-419"/>
              <a:t>Representación</a:t>
            </a:r>
            <a:r>
              <a:rPr b="1" lang="es-419"/>
              <a:t> de tiempo-frecuencia</a:t>
            </a:r>
            <a:r>
              <a:rPr lang="es-419"/>
              <a:t>: Combinan los componentes de tiempo y frecuencia de la señal de audio. La representación de tiempo-frecuencia se obtiene aplicando la transformada de Fourier de tiempo corto (STFT) en la forma de onda del dominio del tiempo. El espectrograma, el espectrograma de mel, y la transformada de Q-constante, son ejemplos.</a:t>
            </a:r>
            <a:endParaRPr/>
          </a:p>
        </p:txBody>
      </p:sp>
      <p:sp>
        <p:nvSpPr>
          <p:cNvPr id="374" name="Google Shape;374;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i="1" lang="es-419" sz="2400">
                <a:solidFill>
                  <a:schemeClr val="accent2"/>
                </a:solidFill>
              </a:rPr>
              <a:t>Features</a:t>
            </a:r>
            <a:r>
              <a:rPr lang="es-419" sz="2400">
                <a:solidFill>
                  <a:schemeClr val="accent2"/>
                </a:solidFill>
              </a:rPr>
              <a:t> por enfoque de ML</a:t>
            </a:r>
            <a:endParaRPr sz="2400">
              <a:solidFill>
                <a:schemeClr val="accent2"/>
              </a:solidFill>
            </a:endParaRPr>
          </a:p>
        </p:txBody>
      </p:sp>
      <p:sp>
        <p:nvSpPr>
          <p:cNvPr id="380" name="Google Shape;380;p27"/>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Char char="●"/>
            </a:pPr>
            <a:r>
              <a:rPr lang="es-419"/>
              <a:t>El enfoque </a:t>
            </a:r>
            <a:r>
              <a:rPr b="1" lang="es-419"/>
              <a:t>tradicional de ML</a:t>
            </a:r>
            <a:r>
              <a:rPr lang="es-419"/>
              <a:t> considera todas o la mayoría de las características tanto del dominio del tiempo como de la frecuencia como entradas en el modelo. Algunas características utilizadas incluyen envolvente de amplitud, tasa de cruce por cero (ZCR), energía cuadrática media (RMS), centroide espectral, relación de energía de banda, y ancho de banda espectra</a:t>
            </a:r>
            <a:r>
              <a:rPr lang="es-419"/>
              <a:t>l.</a:t>
            </a:r>
            <a:endParaRPr/>
          </a:p>
          <a:p>
            <a:pPr indent="-317500" lvl="0" marL="457200" rtl="0" algn="l">
              <a:spcBef>
                <a:spcPts val="0"/>
              </a:spcBef>
              <a:spcAft>
                <a:spcPts val="0"/>
              </a:spcAft>
              <a:buSzPts val="1400"/>
              <a:buChar char="●"/>
            </a:pPr>
            <a:r>
              <a:rPr lang="es-419"/>
              <a:t>El enfoque de </a:t>
            </a:r>
            <a:r>
              <a:rPr b="1" lang="es-419"/>
              <a:t>aprendizaje profundo</a:t>
            </a:r>
            <a:r>
              <a:rPr lang="es-419"/>
              <a:t> considera representaciones de audio no estructuradas, como el espectrograma o los MFCC. Se extraen los patrones automáticamente. También está respaldado por la abundancia de datos y el poder de cómputo. Algunas características o representaciones usadas como entradas en las redes neuronales son espectrogramas, espectrogramas de mel, y los coeficientes cepstrales de frecuencia de mel (MFCC).</a:t>
            </a:r>
            <a:endParaRPr/>
          </a:p>
        </p:txBody>
      </p:sp>
      <p:sp>
        <p:nvSpPr>
          <p:cNvPr id="381" name="Google Shape;381;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8"/>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s-419"/>
              <a:t>Features</a:t>
            </a:r>
            <a:r>
              <a:rPr lang="es-419"/>
              <a:t> de audio en el dominio de tiempo</a:t>
            </a:r>
            <a:endParaRPr/>
          </a:p>
        </p:txBody>
      </p:sp>
      <p:sp>
        <p:nvSpPr>
          <p:cNvPr id="387" name="Google Shape;387;p28"/>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SzPts val="1400"/>
              <a:buChar char="●"/>
            </a:pPr>
            <a:r>
              <a:rPr lang="es-419"/>
              <a:t>La </a:t>
            </a:r>
            <a:r>
              <a:rPr b="1" lang="es-419"/>
              <a:t>envolvente de amplitud</a:t>
            </a:r>
            <a:r>
              <a:rPr lang="es-419"/>
              <a:t> de una señal consiste en el valor máximo de amplitud entre todas las muestras en cada cuadro. Esta característica da una idea aproximada de la sonoridad. Sin embargo, es sensible a los valores atípicos. Esta característica se ha utilizado ampliamente para la detección de inicios y la clasificación de géneros musicales.</a:t>
            </a:r>
            <a:endParaRPr/>
          </a:p>
          <a:p>
            <a:pPr indent="-317500" lvl="0" marL="457200" rtl="0" algn="l">
              <a:spcBef>
                <a:spcPts val="0"/>
              </a:spcBef>
              <a:spcAft>
                <a:spcPts val="0"/>
              </a:spcAft>
              <a:buSzPts val="1400"/>
              <a:buChar char="●"/>
            </a:pPr>
            <a:r>
              <a:rPr b="1" lang="es-419"/>
              <a:t>Root Mean Square Energy</a:t>
            </a:r>
            <a:r>
              <a:rPr lang="es-419"/>
              <a:t> se basa en todas las muestras en un </a:t>
            </a:r>
            <a:r>
              <a:rPr i="1" lang="es-419"/>
              <a:t>frame</a:t>
            </a:r>
            <a:r>
              <a:rPr lang="es-419"/>
              <a:t>. Actúa como un indicador de volumen, ya que a mayor energía, mayor volumen del sonido. Sin embargo, es menos sensible a los valores atípicos en comparación con la envolvente de amplitud. Esta característica ha sido útil en tareas de segmentación de audio y clasificación de géneros musicales.</a:t>
            </a:r>
            <a:endParaRPr/>
          </a:p>
        </p:txBody>
      </p:sp>
      <p:sp>
        <p:nvSpPr>
          <p:cNvPr id="388" name="Google Shape;388;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9"/>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s-419"/>
              <a:t>Features</a:t>
            </a:r>
            <a:r>
              <a:rPr lang="es-419"/>
              <a:t> de audio en el dominio de tiempo</a:t>
            </a:r>
            <a:endParaRPr/>
          </a:p>
        </p:txBody>
      </p:sp>
      <p:sp>
        <p:nvSpPr>
          <p:cNvPr id="394" name="Google Shape;394;p29"/>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La </a:t>
            </a:r>
            <a:r>
              <a:rPr b="1" lang="es-419"/>
              <a:t>tasa de cruce por cero</a:t>
            </a:r>
            <a:r>
              <a:rPr lang="es-419"/>
              <a:t> (ZCR) es simplemente el número de veces que una forma de onda cruza el eje de tiempo horizontal. Esta </a:t>
            </a:r>
            <a:r>
              <a:rPr lang="es-419"/>
              <a:t>característica</a:t>
            </a:r>
            <a:r>
              <a:rPr lang="es-419"/>
              <a:t> se ha utilizado principalmente en el reconocimiento de sonidos de percusión vs. sonidos con tonos, estimación de tono monofónico, etc.</a:t>
            </a:r>
            <a:endParaRPr/>
          </a:p>
        </p:txBody>
      </p:sp>
      <p:sp>
        <p:nvSpPr>
          <p:cNvPr id="395" name="Google Shape;395;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accent2"/>
                </a:solidFill>
              </a:rPr>
              <a:t>Espectrogramas</a:t>
            </a:r>
            <a:endParaRPr sz="2400">
              <a:solidFill>
                <a:schemeClr val="accent2"/>
              </a:solidFill>
            </a:endParaRPr>
          </a:p>
        </p:txBody>
      </p:sp>
      <p:sp>
        <p:nvSpPr>
          <p:cNvPr id="401" name="Google Shape;401;p30"/>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 </a:t>
            </a:r>
            <a:r>
              <a:rPr b="1" lang="es-419"/>
              <a:t>espectrograma</a:t>
            </a:r>
            <a:r>
              <a:rPr lang="es-419"/>
              <a:t> es una representación visual del espectro de frecuencias de una señal de audio a medida que varía con el tiempo. Por lo tanto, incluye aspectos de tiempo y frecuencia de la señal. </a:t>
            </a:r>
            <a:endParaRPr/>
          </a:p>
          <a:p>
            <a:pPr indent="0" lvl="0" marL="0" rtl="0" algn="l">
              <a:spcBef>
                <a:spcPts val="1200"/>
              </a:spcBef>
              <a:spcAft>
                <a:spcPts val="1200"/>
              </a:spcAft>
              <a:buNone/>
            </a:pPr>
            <a:r>
              <a:rPr lang="es-419"/>
              <a:t>Se obtiene aplicando la transformada de Fourier de tiempo corto (STFT) a la señal. </a:t>
            </a:r>
            <a:br>
              <a:rPr lang="es-419"/>
            </a:br>
            <a:r>
              <a:rPr lang="es-419"/>
              <a:t>En términos más simples, la STFT de una señal se calcula aplicando la transformada rápida de Fourier (FFT) localmente en pequeños segmentos de tiempo de la señal.</a:t>
            </a:r>
            <a:endParaRPr/>
          </a:p>
        </p:txBody>
      </p:sp>
      <p:sp>
        <p:nvSpPr>
          <p:cNvPr id="402" name="Google Shape;402;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Espectrograma de una voz masculina diciendo 'nineteenth century'</a:t>
            </a:r>
            <a:endParaRPr/>
          </a:p>
        </p:txBody>
      </p:sp>
      <p:sp>
        <p:nvSpPr>
          <p:cNvPr id="408" name="Google Shape;408;p3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Aquegg. 2008. "File:Spectrogram-19thC.png." Wikimedia Commons</a:t>
            </a:r>
            <a:endParaRPr sz="800">
              <a:solidFill>
                <a:srgbClr val="94B6BD"/>
              </a:solidFill>
            </a:endParaRPr>
          </a:p>
        </p:txBody>
      </p:sp>
      <p:pic>
        <p:nvPicPr>
          <p:cNvPr id="409" name="Google Shape;409;p31"/>
          <p:cNvPicPr preferRelativeResize="0"/>
          <p:nvPr/>
        </p:nvPicPr>
        <p:blipFill>
          <a:blip r:embed="rId3">
            <a:alphaModFix/>
          </a:blip>
          <a:stretch>
            <a:fillRect/>
          </a:stretch>
        </p:blipFill>
        <p:spPr>
          <a:xfrm>
            <a:off x="2267225" y="1144225"/>
            <a:ext cx="4609551" cy="2397825"/>
          </a:xfrm>
          <a:prstGeom prst="rect">
            <a:avLst/>
          </a:prstGeom>
          <a:noFill/>
          <a:ln>
            <a:noFill/>
          </a:ln>
        </p:spPr>
      </p:pic>
      <p:sp>
        <p:nvSpPr>
          <p:cNvPr id="410" name="Google Shape;410;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accent2"/>
                </a:solidFill>
              </a:rPr>
              <a:t>Espectrogramas de mel</a:t>
            </a:r>
            <a:endParaRPr sz="2400">
              <a:solidFill>
                <a:schemeClr val="accent2"/>
              </a:solidFill>
            </a:endParaRPr>
          </a:p>
        </p:txBody>
      </p:sp>
      <p:sp>
        <p:nvSpPr>
          <p:cNvPr id="416" name="Google Shape;416;p32"/>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t>
            </a:r>
            <a:r>
              <a:rPr lang="es-419"/>
              <a:t>os humanos percibimos el sonido de forma logarítmica. Somos mejores detectando diferencias en frecuencias más bajas que en frecuencias más altas, e.g., podemos distinguir la diferencia entre 500 y 1000 Hz, pero difícilmente podremos distinguir entre 10,000 y 10,500 Hz, aunque la distancia entre los dos pares sea la misma. </a:t>
            </a:r>
            <a:endParaRPr/>
          </a:p>
          <a:p>
            <a:pPr indent="0" lvl="0" marL="0" rtl="0" algn="l">
              <a:spcBef>
                <a:spcPts val="1200"/>
              </a:spcBef>
              <a:spcAft>
                <a:spcPts val="0"/>
              </a:spcAft>
              <a:buNone/>
            </a:pPr>
            <a:r>
              <a:rPr lang="es-419"/>
              <a:t>Para ello, se introdujo la </a:t>
            </a:r>
            <a:r>
              <a:rPr b="1" lang="es-419"/>
              <a:t>escala de mel</a:t>
            </a:r>
            <a:r>
              <a:rPr lang="es-419"/>
              <a:t>: una escala logarítmica basada en el principio de que distancias iguales en la escala tienen la misma distancia perceptiva.</a:t>
            </a:r>
            <a:endParaRPr/>
          </a:p>
          <a:p>
            <a:pPr indent="0" lvl="0" marL="0" rtl="0" algn="l">
              <a:spcBef>
                <a:spcPts val="1200"/>
              </a:spcBef>
              <a:spcAft>
                <a:spcPts val="1200"/>
              </a:spcAft>
              <a:buNone/>
            </a:pPr>
            <a:r>
              <a:rPr lang="es-419"/>
              <a:t>Un espectrograma de mel es, por lo tanto, un espectrograma en el que las frecuencias se convierten a la escala de mel.</a:t>
            </a:r>
            <a:endParaRPr/>
          </a:p>
        </p:txBody>
      </p:sp>
      <p:sp>
        <p:nvSpPr>
          <p:cNvPr id="417" name="Google Shape;417;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Ejemplo de espectrograma de Mel</a:t>
            </a:r>
            <a:endParaRPr/>
          </a:p>
        </p:txBody>
      </p:sp>
      <p:sp>
        <p:nvSpPr>
          <p:cNvPr id="423" name="Google Shape;423;p33"/>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Roberts, Leland. 2020. "Understanding the Mel Spectrogram." Analytics Vidhya</a:t>
            </a:r>
            <a:endParaRPr sz="800">
              <a:solidFill>
                <a:srgbClr val="94B6BD"/>
              </a:solidFill>
            </a:endParaRPr>
          </a:p>
        </p:txBody>
      </p:sp>
      <p:pic>
        <p:nvPicPr>
          <p:cNvPr id="424" name="Google Shape;424;p33"/>
          <p:cNvPicPr preferRelativeResize="0"/>
          <p:nvPr/>
        </p:nvPicPr>
        <p:blipFill>
          <a:blip r:embed="rId3">
            <a:alphaModFix/>
          </a:blip>
          <a:stretch>
            <a:fillRect/>
          </a:stretch>
        </p:blipFill>
        <p:spPr>
          <a:xfrm>
            <a:off x="2577950" y="1013787"/>
            <a:ext cx="3988100" cy="2658725"/>
          </a:xfrm>
          <a:prstGeom prst="rect">
            <a:avLst/>
          </a:prstGeom>
          <a:noFill/>
          <a:ln>
            <a:noFill/>
          </a:ln>
        </p:spPr>
      </p:pic>
      <p:sp>
        <p:nvSpPr>
          <p:cNvPr id="425" name="Google Shape;425;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accent2"/>
                </a:solidFill>
              </a:rPr>
              <a:t>MFCCs</a:t>
            </a:r>
            <a:endParaRPr sz="2400">
              <a:solidFill>
                <a:schemeClr val="accent2"/>
              </a:solidFill>
            </a:endParaRPr>
          </a:p>
        </p:txBody>
      </p:sp>
      <p:sp>
        <p:nvSpPr>
          <p:cNvPr id="431" name="Google Shape;431;p34"/>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 información de la tasa de cambio en las bandas espectrales de una señal viene dada por su </a:t>
            </a:r>
            <a:r>
              <a:rPr b="1" i="1" lang="es-419"/>
              <a:t>cepstrum</a:t>
            </a:r>
            <a:r>
              <a:rPr lang="es-419"/>
              <a:t>. Un </a:t>
            </a:r>
            <a:r>
              <a:rPr i="1" lang="es-419"/>
              <a:t>cepstrum</a:t>
            </a:r>
            <a:r>
              <a:rPr lang="es-419"/>
              <a:t> es básicamente un espectro del logaritmo del espectro de la señal de tiempo. </a:t>
            </a:r>
            <a:endParaRPr/>
          </a:p>
          <a:p>
            <a:pPr indent="0" lvl="0" marL="0" rtl="0" algn="l">
              <a:spcBef>
                <a:spcPts val="1200"/>
              </a:spcBef>
              <a:spcAft>
                <a:spcPts val="0"/>
              </a:spcAft>
              <a:buNone/>
            </a:pPr>
            <a:r>
              <a:rPr lang="es-419"/>
              <a:t>El espectro resultante no está ni en el dominio de la frecuencia ni en el dominio del tiempo y, por lo tanto, se denominó dominio de </a:t>
            </a:r>
            <a:r>
              <a:rPr i="1" lang="es-419"/>
              <a:t>quefrency</a:t>
            </a:r>
            <a:r>
              <a:rPr lang="es-419"/>
              <a:t> (un anagrama de la palabra frecuencia). Los coeficientes cepstrales de frecuencia Mel (MFCC) no son más que los coeficientes que componen el </a:t>
            </a:r>
            <a:r>
              <a:rPr i="1" lang="es-419"/>
              <a:t>cepstrum</a:t>
            </a:r>
            <a:r>
              <a:rPr lang="es-419"/>
              <a:t> de frecuencia Mel</a:t>
            </a:r>
            <a:r>
              <a:rPr lang="es-419"/>
              <a:t>.</a:t>
            </a:r>
            <a:endParaRPr/>
          </a:p>
          <a:p>
            <a:pPr indent="0" lvl="0" marL="0" rtl="0" algn="l">
              <a:spcBef>
                <a:spcPts val="1200"/>
              </a:spcBef>
              <a:spcAft>
                <a:spcPts val="1200"/>
              </a:spcAft>
              <a:buNone/>
            </a:pPr>
            <a:r>
              <a:rPr lang="es-419"/>
              <a:t>El cepstrum transmite los diferentes valores que construyen los formantes (un componente característico de la calidad de un sonido del habla) y el timbre de un sonido. Por lo tanto, los MFCC son útiles en modelos de aprendizaje profundo.</a:t>
            </a:r>
            <a:endParaRPr/>
          </a:p>
        </p:txBody>
      </p:sp>
      <p:sp>
        <p:nvSpPr>
          <p:cNvPr id="432" name="Google Shape;432;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Pasos para extraer MFCC de una señal de audio</a:t>
            </a:r>
            <a:endParaRPr/>
          </a:p>
        </p:txBody>
      </p:sp>
      <p:sp>
        <p:nvSpPr>
          <p:cNvPr id="438" name="Google Shape;438;p35"/>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Mahanta, S. K., Khilji, A. F. U. R., &amp; Pakray, P. (2021). Deep Neural Network for Musical Instrument Recognition Using MFCCs</a:t>
            </a:r>
            <a:endParaRPr sz="800">
              <a:solidFill>
                <a:srgbClr val="94B6BD"/>
              </a:solidFill>
            </a:endParaRPr>
          </a:p>
        </p:txBody>
      </p:sp>
      <p:pic>
        <p:nvPicPr>
          <p:cNvPr id="439" name="Google Shape;439;p35"/>
          <p:cNvPicPr preferRelativeResize="0"/>
          <p:nvPr/>
        </p:nvPicPr>
        <p:blipFill>
          <a:blip r:embed="rId3">
            <a:alphaModFix/>
          </a:blip>
          <a:stretch>
            <a:fillRect/>
          </a:stretch>
        </p:blipFill>
        <p:spPr>
          <a:xfrm>
            <a:off x="1018125" y="1473202"/>
            <a:ext cx="7107775" cy="1587500"/>
          </a:xfrm>
          <a:prstGeom prst="rect">
            <a:avLst/>
          </a:prstGeom>
          <a:noFill/>
          <a:ln>
            <a:noFill/>
          </a:ln>
        </p:spPr>
      </p:pic>
      <p:sp>
        <p:nvSpPr>
          <p:cNvPr id="440" name="Google Shape;440;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i="1" lang="es-419" sz="2400">
                <a:solidFill>
                  <a:schemeClr val="accent2"/>
                </a:solidFill>
              </a:rPr>
              <a:t>Band energy ratio</a:t>
            </a:r>
            <a:endParaRPr i="1" sz="2400">
              <a:solidFill>
                <a:schemeClr val="accent2"/>
              </a:solidFill>
            </a:endParaRPr>
          </a:p>
        </p:txBody>
      </p:sp>
      <p:sp>
        <p:nvSpPr>
          <p:cNvPr id="446" name="Google Shape;446;p36"/>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relación de energía de banda (BER) proporciona la relación entre las bandas de frecuencia más baja y más alta. </a:t>
            </a:r>
            <a:endParaRPr/>
          </a:p>
          <a:p>
            <a:pPr indent="0" lvl="0" marL="0" rtl="0" algn="l">
              <a:spcBef>
                <a:spcPts val="1200"/>
              </a:spcBef>
              <a:spcAft>
                <a:spcPts val="1200"/>
              </a:spcAft>
              <a:buNone/>
            </a:pPr>
            <a:r>
              <a:rPr lang="es-419"/>
              <a:t>Se puede considerar como la medida de cuán dominantes son las bajas frecuencias. Esta característica se ha utilizado ampliamente en discriminación de música/habla, clasificación de música, etc.</a:t>
            </a:r>
            <a:endParaRPr/>
          </a:p>
        </p:txBody>
      </p:sp>
      <p:sp>
        <p:nvSpPr>
          <p:cNvPr id="447" name="Google Shape;447;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regiones de baja y alta frecuencia en un espectrograma</a:t>
            </a:r>
            <a:endParaRPr/>
          </a:p>
        </p:txBody>
      </p:sp>
      <p:sp>
        <p:nvSpPr>
          <p:cNvPr id="453" name="Google Shape;453;p3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Velardo, Valerio. 2020c. "Frequency-Domain Audio Features." The Sound of A</a:t>
            </a:r>
            <a:r>
              <a:rPr lang="es-419" sz="800">
                <a:solidFill>
                  <a:srgbClr val="94B6BD"/>
                </a:solidFill>
              </a:rPr>
              <a:t>I</a:t>
            </a:r>
            <a:endParaRPr sz="800">
              <a:solidFill>
                <a:srgbClr val="94B6BD"/>
              </a:solidFill>
            </a:endParaRPr>
          </a:p>
        </p:txBody>
      </p:sp>
      <p:pic>
        <p:nvPicPr>
          <p:cNvPr id="454" name="Google Shape;454;p37"/>
          <p:cNvPicPr preferRelativeResize="0"/>
          <p:nvPr/>
        </p:nvPicPr>
        <p:blipFill>
          <a:blip r:embed="rId3">
            <a:alphaModFix/>
          </a:blip>
          <a:stretch>
            <a:fillRect/>
          </a:stretch>
        </p:blipFill>
        <p:spPr>
          <a:xfrm>
            <a:off x="2078121" y="1157800"/>
            <a:ext cx="4987751" cy="2370699"/>
          </a:xfrm>
          <a:prstGeom prst="rect">
            <a:avLst/>
          </a:prstGeom>
          <a:noFill/>
          <a:ln>
            <a:noFill/>
          </a:ln>
        </p:spPr>
      </p:pic>
      <p:sp>
        <p:nvSpPr>
          <p:cNvPr id="455" name="Google Shape;455;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i="1" lang="es-419" sz="2400">
                <a:solidFill>
                  <a:schemeClr val="accent2"/>
                </a:solidFill>
              </a:rPr>
              <a:t>Spectral Centroid </a:t>
            </a:r>
            <a:endParaRPr i="1" sz="2400">
              <a:solidFill>
                <a:schemeClr val="accent2"/>
              </a:solidFill>
            </a:endParaRPr>
          </a:p>
        </p:txBody>
      </p:sp>
      <p:sp>
        <p:nvSpPr>
          <p:cNvPr id="461" name="Google Shape;461;p38"/>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a:t>
            </a:r>
            <a:r>
              <a:rPr b="1" lang="es-419"/>
              <a:t>centroide espectral</a:t>
            </a:r>
            <a:r>
              <a:rPr lang="es-419"/>
              <a:t> proporciona el centro de gravedad del espectro de magnitud. En otras palabras, da la banda de frecuencia donde se concentra la mayor parte de la energía. </a:t>
            </a:r>
            <a:endParaRPr/>
          </a:p>
          <a:p>
            <a:pPr indent="0" lvl="0" marL="0" rtl="0" algn="l">
              <a:spcBef>
                <a:spcPts val="1200"/>
              </a:spcBef>
              <a:spcAft>
                <a:spcPts val="1200"/>
              </a:spcAft>
              <a:buNone/>
            </a:pPr>
            <a:r>
              <a:rPr lang="es-419"/>
              <a:t>Se mapea en una característica tímbrica muy prominente llamada "brillo del sonido" (enérgico, abierto, sordo). Matemáticamente, el centroide espectral es la media ponderada de los intervalos de frecuencia.</a:t>
            </a:r>
            <a:endParaRPr/>
          </a:p>
        </p:txBody>
      </p:sp>
      <p:sp>
        <p:nvSpPr>
          <p:cNvPr id="462" name="Google Shape;462;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Gráfico de un c</a:t>
            </a:r>
            <a:r>
              <a:rPr lang="es-419"/>
              <a:t>entroide espectral </a:t>
            </a:r>
            <a:endParaRPr/>
          </a:p>
        </p:txBody>
      </p:sp>
      <p:sp>
        <p:nvSpPr>
          <p:cNvPr id="468" name="Google Shape;468;p3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Librosa Docs. 2020. "librosa.feature.spectral_centroid". Librosa Docs</a:t>
            </a:r>
            <a:endParaRPr sz="800">
              <a:solidFill>
                <a:srgbClr val="94B6BD"/>
              </a:solidFill>
            </a:endParaRPr>
          </a:p>
        </p:txBody>
      </p:sp>
      <p:pic>
        <p:nvPicPr>
          <p:cNvPr id="469" name="Google Shape;469;p39"/>
          <p:cNvPicPr preferRelativeResize="0"/>
          <p:nvPr/>
        </p:nvPicPr>
        <p:blipFill>
          <a:blip r:embed="rId3">
            <a:alphaModFix/>
          </a:blip>
          <a:stretch>
            <a:fillRect/>
          </a:stretch>
        </p:blipFill>
        <p:spPr>
          <a:xfrm>
            <a:off x="3055037" y="1205425"/>
            <a:ext cx="3033925" cy="2275450"/>
          </a:xfrm>
          <a:prstGeom prst="rect">
            <a:avLst/>
          </a:prstGeom>
          <a:noFill/>
          <a:ln>
            <a:noFill/>
          </a:ln>
        </p:spPr>
      </p:pic>
      <p:sp>
        <p:nvSpPr>
          <p:cNvPr id="470" name="Google Shape;470;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i="1" lang="es-419" sz="2400">
                <a:solidFill>
                  <a:schemeClr val="accent2"/>
                </a:solidFill>
              </a:rPr>
              <a:t>Spectral Bandwidth</a:t>
            </a:r>
            <a:endParaRPr i="1" sz="2400">
              <a:solidFill>
                <a:schemeClr val="accent2"/>
              </a:solidFill>
            </a:endParaRPr>
          </a:p>
        </p:txBody>
      </p:sp>
      <p:sp>
        <p:nvSpPr>
          <p:cNvPr id="476" name="Google Shape;476;p40"/>
          <p:cNvSpPr txBox="1"/>
          <p:nvPr>
            <p:ph idx="1" type="body"/>
          </p:nvPr>
        </p:nvSpPr>
        <p:spPr>
          <a:xfrm>
            <a:off x="1303800" y="1761450"/>
            <a:ext cx="7030500" cy="257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a:t>
            </a:r>
            <a:r>
              <a:rPr b="1" lang="es-419"/>
              <a:t>ancho de banda espectral</a:t>
            </a:r>
            <a:r>
              <a:rPr lang="es-419"/>
              <a:t> o dispersión espectral se deriva del centroide espectral. Es el rango espectral de interés alrededor del centroide, es decir, la varianza del centroide espectral. Tiene una correlación directa con el timbre percibido. </a:t>
            </a:r>
            <a:endParaRPr/>
          </a:p>
          <a:p>
            <a:pPr indent="0" lvl="0" marL="0" rtl="0" algn="l">
              <a:spcBef>
                <a:spcPts val="1200"/>
              </a:spcBef>
              <a:spcAft>
                <a:spcPts val="1200"/>
              </a:spcAft>
              <a:buNone/>
            </a:pPr>
            <a:r>
              <a:rPr lang="es-419"/>
              <a:t>El ancho de banda es directamente proporcional a la energía distribuida a través de las bandas de frecuencia. Matemáticamente, es la media ponderada de las distancias de las bandas de frecuencia desde el centroide espectral.</a:t>
            </a:r>
            <a:endParaRPr/>
          </a:p>
        </p:txBody>
      </p:sp>
      <p:sp>
        <p:nvSpPr>
          <p:cNvPr id="477" name="Google Shape;477;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Gráfico de un centroide espectral </a:t>
            </a:r>
            <a:endParaRPr/>
          </a:p>
        </p:txBody>
      </p:sp>
      <p:sp>
        <p:nvSpPr>
          <p:cNvPr id="483" name="Google Shape;483;p4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Librosa Docs. 2020. "</a:t>
            </a:r>
            <a:r>
              <a:rPr lang="es-419" sz="800">
                <a:solidFill>
                  <a:srgbClr val="94B6BD"/>
                </a:solidFill>
              </a:rPr>
              <a:t>librosa.feature.spectral_bandwidth</a:t>
            </a:r>
            <a:r>
              <a:rPr lang="es-419" sz="800">
                <a:solidFill>
                  <a:srgbClr val="94B6BD"/>
                </a:solidFill>
              </a:rPr>
              <a:t>". Librosa Docs</a:t>
            </a:r>
            <a:endParaRPr sz="800">
              <a:solidFill>
                <a:srgbClr val="94B6BD"/>
              </a:solidFill>
            </a:endParaRPr>
          </a:p>
        </p:txBody>
      </p:sp>
      <p:pic>
        <p:nvPicPr>
          <p:cNvPr id="484" name="Google Shape;484;p41"/>
          <p:cNvPicPr preferRelativeResize="0"/>
          <p:nvPr/>
        </p:nvPicPr>
        <p:blipFill>
          <a:blip r:embed="rId3">
            <a:alphaModFix/>
          </a:blip>
          <a:stretch>
            <a:fillRect/>
          </a:stretch>
        </p:blipFill>
        <p:spPr>
          <a:xfrm>
            <a:off x="2760950" y="984863"/>
            <a:ext cx="3622101" cy="2716576"/>
          </a:xfrm>
          <a:prstGeom prst="rect">
            <a:avLst/>
          </a:prstGeom>
          <a:noFill/>
          <a:ln>
            <a:noFill/>
          </a:ln>
        </p:spPr>
      </p:pic>
      <p:sp>
        <p:nvSpPr>
          <p:cNvPr id="485" name="Google Shape;485;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2"/>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3</a:t>
            </a:r>
            <a:r>
              <a:rPr lang="es-419"/>
              <a:t>.5 Ejemplo</a:t>
            </a:r>
            <a:endParaRPr/>
          </a:p>
        </p:txBody>
      </p:sp>
      <p:sp>
        <p:nvSpPr>
          <p:cNvPr id="491" name="Google Shape;491;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Notebook - Github</a:t>
            </a:r>
            <a:endParaRPr/>
          </a:p>
        </p:txBody>
      </p:sp>
      <p:sp>
        <p:nvSpPr>
          <p:cNvPr id="497" name="Google Shape;497;p43"/>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sz="1800"/>
              <a:t>https://github.com/husseinlopez/cdsi2025/blob/main/U2_example-speech.ipynb</a:t>
            </a:r>
            <a:endParaRPr sz="1800"/>
          </a:p>
          <a:p>
            <a:pPr indent="0" lvl="0" marL="0" rtl="0" algn="ctr">
              <a:spcBef>
                <a:spcPts val="1200"/>
              </a:spcBef>
              <a:spcAft>
                <a:spcPts val="0"/>
              </a:spcAft>
              <a:buNone/>
            </a:pPr>
            <a:r>
              <a:t/>
            </a:r>
            <a:endParaRPr sz="1800"/>
          </a:p>
          <a:p>
            <a:pPr indent="0" lvl="0" marL="0" rtl="0" algn="ctr">
              <a:spcBef>
                <a:spcPts val="1200"/>
              </a:spcBef>
              <a:spcAft>
                <a:spcPts val="0"/>
              </a:spcAft>
              <a:buNone/>
            </a:pPr>
            <a:r>
              <a:rPr lang="es-419" sz="1800"/>
              <a:t>Dataset:</a:t>
            </a:r>
            <a:endParaRPr sz="1800"/>
          </a:p>
          <a:p>
            <a:pPr indent="0" lvl="0" marL="0" rtl="0" algn="ctr">
              <a:spcBef>
                <a:spcPts val="1200"/>
              </a:spcBef>
              <a:spcAft>
                <a:spcPts val="1200"/>
              </a:spcAft>
              <a:buNone/>
            </a:pPr>
            <a:r>
              <a:rPr lang="es-419" sz="1800"/>
              <a:t>https://zenodo.org/records/1188976/files/Audio_Speech_Actors_01-24.zip?download=1</a:t>
            </a:r>
            <a:endParaRPr sz="1800"/>
          </a:p>
        </p:txBody>
      </p:sp>
      <p:sp>
        <p:nvSpPr>
          <p:cNvPr id="498" name="Google Shape;498;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Algunos datasets</a:t>
            </a:r>
            <a:endParaRPr/>
          </a:p>
        </p:txBody>
      </p:sp>
      <p:sp>
        <p:nvSpPr>
          <p:cNvPr id="504" name="Google Shape;504;p4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u="sng">
                <a:solidFill>
                  <a:schemeClr val="hlink"/>
                </a:solidFill>
                <a:hlinkClick r:id="rId3"/>
              </a:rPr>
              <a:t>https://publish.illinois.edu/augmentedlistening/data-and-demos/</a:t>
            </a:r>
            <a:endParaRPr/>
          </a:p>
          <a:p>
            <a:pPr indent="0" lvl="0" marL="0" rtl="0" algn="l">
              <a:spcBef>
                <a:spcPts val="1200"/>
              </a:spcBef>
              <a:spcAft>
                <a:spcPts val="0"/>
              </a:spcAft>
              <a:buNone/>
            </a:pPr>
            <a:r>
              <a:rPr lang="es-419" u="sng">
                <a:solidFill>
                  <a:schemeClr val="hlink"/>
                </a:solidFill>
                <a:hlinkClick r:id="rId4"/>
              </a:rPr>
              <a:t>https://research.atspotify.com/datasets/</a:t>
            </a:r>
            <a:endParaRPr/>
          </a:p>
          <a:p>
            <a:pPr indent="0" lvl="0" marL="0" rtl="0" algn="l">
              <a:spcBef>
                <a:spcPts val="1200"/>
              </a:spcBef>
              <a:spcAft>
                <a:spcPts val="0"/>
              </a:spcAft>
              <a:buNone/>
            </a:pPr>
            <a:r>
              <a:rPr lang="es-419" u="sng">
                <a:solidFill>
                  <a:schemeClr val="hlink"/>
                </a:solidFill>
                <a:hlinkClick r:id="rId5"/>
              </a:rPr>
              <a:t>https://www.kaggle.com/mmoreaux/audio-cats-and-dogs</a:t>
            </a:r>
            <a:endParaRPr/>
          </a:p>
          <a:p>
            <a:pPr indent="0" lvl="0" marL="0" rtl="0" algn="l">
              <a:spcBef>
                <a:spcPts val="1200"/>
              </a:spcBef>
              <a:spcAft>
                <a:spcPts val="0"/>
              </a:spcAft>
              <a:buNone/>
            </a:pPr>
            <a:r>
              <a:rPr lang="es-419" u="sng">
                <a:solidFill>
                  <a:schemeClr val="hlink"/>
                </a:solidFill>
                <a:hlinkClick r:id="rId6"/>
              </a:rPr>
              <a:t>https://www.kaggle.com/vbookshelf/respiratory-sound-database</a:t>
            </a:r>
            <a:endParaRPr/>
          </a:p>
          <a:p>
            <a:pPr indent="0" lvl="0" marL="0" rtl="0" algn="l">
              <a:spcBef>
                <a:spcPts val="1200"/>
              </a:spcBef>
              <a:spcAft>
                <a:spcPts val="0"/>
              </a:spcAft>
              <a:buNone/>
            </a:pPr>
            <a:r>
              <a:rPr lang="es-419" u="sng">
                <a:solidFill>
                  <a:schemeClr val="hlink"/>
                </a:solidFill>
                <a:hlinkClick r:id="rId7"/>
              </a:rPr>
              <a:t>https://www.kaggle.com/andrewmvd/covid19-cough-audio-classification</a:t>
            </a:r>
            <a:endParaRPr/>
          </a:p>
          <a:p>
            <a:pPr indent="0" lvl="0" marL="0" rtl="0" algn="l">
              <a:spcBef>
                <a:spcPts val="1200"/>
              </a:spcBef>
              <a:spcAft>
                <a:spcPts val="0"/>
              </a:spcAft>
              <a:buNone/>
            </a:pPr>
            <a:r>
              <a:rPr lang="es-419" u="sng">
                <a:solidFill>
                  <a:schemeClr val="hlink"/>
                </a:solidFill>
                <a:hlinkClick r:id="rId8"/>
              </a:rPr>
              <a:t>https://www.kaggle.com/kinguistics/heartbeat-sounds</a:t>
            </a:r>
            <a:endParaRPr/>
          </a:p>
          <a:p>
            <a:pPr indent="0" lvl="0" marL="0" rtl="0" algn="l">
              <a:spcBef>
                <a:spcPts val="1200"/>
              </a:spcBef>
              <a:spcAft>
                <a:spcPts val="1200"/>
              </a:spcAft>
              <a:buNone/>
            </a:pPr>
            <a:r>
              <a:rPr lang="es-419" u="sng">
                <a:solidFill>
                  <a:schemeClr val="hlink"/>
                </a:solidFill>
                <a:hlinkClick r:id="rId9"/>
              </a:rPr>
              <a:t>https://www.kaggle.com/uwrfkaggler/ravdess-emotional-speech-audio</a:t>
            </a:r>
            <a:endParaRPr/>
          </a:p>
        </p:txBody>
      </p:sp>
      <p:sp>
        <p:nvSpPr>
          <p:cNvPr id="505" name="Google Shape;505;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5"/>
          <p:cNvSpPr txBox="1"/>
          <p:nvPr>
            <p:ph type="title"/>
          </p:nvPr>
        </p:nvSpPr>
        <p:spPr>
          <a:xfrm>
            <a:off x="824000" y="1613825"/>
            <a:ext cx="76269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Práctica</a:t>
            </a:r>
            <a:r>
              <a:rPr lang="es-419"/>
              <a:t> 1: señales de audio</a:t>
            </a:r>
            <a:endParaRPr/>
          </a:p>
          <a:p>
            <a:pPr indent="0" lvl="0" marL="0" rtl="0" algn="l">
              <a:spcBef>
                <a:spcPts val="0"/>
              </a:spcBef>
              <a:spcAft>
                <a:spcPts val="0"/>
              </a:spcAft>
              <a:buNone/>
            </a:pPr>
            <a:r>
              <a:rPr b="0" lang="es-419" sz="3200">
                <a:solidFill>
                  <a:schemeClr val="accent3"/>
                </a:solidFill>
              </a:rPr>
              <a:t>(Valor: 15%)</a:t>
            </a:r>
            <a:endParaRPr b="0" sz="3200">
              <a:solidFill>
                <a:schemeClr val="accent3"/>
              </a:solidFill>
            </a:endParaRPr>
          </a:p>
        </p:txBody>
      </p:sp>
      <p:sp>
        <p:nvSpPr>
          <p:cNvPr id="511" name="Google Shape;511;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17" name="Google Shape;517;p46"/>
          <p:cNvSpPr txBox="1"/>
          <p:nvPr>
            <p:ph type="title"/>
          </p:nvPr>
        </p:nvSpPr>
        <p:spPr>
          <a:xfrm>
            <a:off x="1303800" y="598575"/>
            <a:ext cx="3511500" cy="14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500"/>
              <a:t>Biométrico para registro de asistencia</a:t>
            </a:r>
            <a:endParaRPr sz="2500"/>
          </a:p>
        </p:txBody>
      </p:sp>
      <p:grpSp>
        <p:nvGrpSpPr>
          <p:cNvPr id="518" name="Google Shape;518;p46"/>
          <p:cNvGrpSpPr/>
          <p:nvPr/>
        </p:nvGrpSpPr>
        <p:grpSpPr>
          <a:xfrm>
            <a:off x="435152" y="1962400"/>
            <a:ext cx="8276921" cy="547168"/>
            <a:chOff x="1787786" y="2322568"/>
            <a:chExt cx="5763070" cy="643500"/>
          </a:xfrm>
        </p:grpSpPr>
        <p:sp>
          <p:nvSpPr>
            <p:cNvPr id="519" name="Google Shape;519;p46"/>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6"/>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6"/>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6"/>
            <p:cNvSpPr/>
            <p:nvPr/>
          </p:nvSpPr>
          <p:spPr>
            <a:xfrm>
              <a:off x="2169678" y="2399952"/>
              <a:ext cx="8799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Recolección de datos de audio</a:t>
              </a:r>
              <a:endParaRPr sz="900">
                <a:solidFill>
                  <a:schemeClr val="dk2"/>
                </a:solidFill>
                <a:latin typeface="Roboto"/>
                <a:ea typeface="Roboto"/>
                <a:cs typeface="Roboto"/>
                <a:sym typeface="Roboto"/>
              </a:endParaRPr>
            </a:p>
          </p:txBody>
        </p:sp>
        <p:sp>
          <p:nvSpPr>
            <p:cNvPr id="523" name="Google Shape;523;p46"/>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01</a:t>
              </a:r>
              <a:endParaRPr sz="2400">
                <a:solidFill>
                  <a:srgbClr val="FFFFFF"/>
                </a:solidFill>
                <a:latin typeface="Roboto Thin"/>
                <a:ea typeface="Roboto Thin"/>
                <a:cs typeface="Roboto Thin"/>
                <a:sym typeface="Roboto Thin"/>
              </a:endParaRPr>
            </a:p>
          </p:txBody>
        </p:sp>
        <p:sp>
          <p:nvSpPr>
            <p:cNvPr id="524" name="Google Shape;524;p46"/>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El escenario plantea una alternativa al registro de asistencia en papel o con QR, mediante tres métodos por voz: (i) con la frase “confirmando mi asistencia”, (ii) por medio del nombre “asistencia de Hussein”, (iii) por medio de una frase libre, e.g. “ya llegué”.</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Cada estudiante deberá recopilar audios de 4 personas repitiendo cada método 5 veces, y compartirlos vía Google Drive.</a:t>
              </a:r>
              <a:endParaRPr sz="800">
                <a:solidFill>
                  <a:schemeClr val="dk2"/>
                </a:solidFill>
                <a:latin typeface="Roboto"/>
                <a:ea typeface="Roboto"/>
                <a:cs typeface="Roboto"/>
                <a:sym typeface="Roboto"/>
              </a:endParaRPr>
            </a:p>
          </p:txBody>
        </p:sp>
      </p:grpSp>
      <p:grpSp>
        <p:nvGrpSpPr>
          <p:cNvPr id="525" name="Google Shape;525;p46"/>
          <p:cNvGrpSpPr/>
          <p:nvPr/>
        </p:nvGrpSpPr>
        <p:grpSpPr>
          <a:xfrm>
            <a:off x="435152" y="2519250"/>
            <a:ext cx="8276921" cy="547168"/>
            <a:chOff x="1787786" y="2322568"/>
            <a:chExt cx="5763070" cy="643500"/>
          </a:xfrm>
        </p:grpSpPr>
        <p:sp>
          <p:nvSpPr>
            <p:cNvPr id="526" name="Google Shape;526;p46"/>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6"/>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6"/>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6"/>
            <p:cNvSpPr/>
            <p:nvPr/>
          </p:nvSpPr>
          <p:spPr>
            <a:xfrm>
              <a:off x="2169678" y="2399952"/>
              <a:ext cx="8799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Generación de audios sintéticos</a:t>
              </a:r>
              <a:endParaRPr sz="900">
                <a:solidFill>
                  <a:schemeClr val="dk2"/>
                </a:solidFill>
                <a:latin typeface="Roboto"/>
                <a:ea typeface="Roboto"/>
                <a:cs typeface="Roboto"/>
                <a:sym typeface="Roboto"/>
              </a:endParaRPr>
            </a:p>
          </p:txBody>
        </p:sp>
        <p:sp>
          <p:nvSpPr>
            <p:cNvPr id="530" name="Google Shape;530;p46"/>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02</a:t>
              </a:r>
              <a:endParaRPr sz="2400">
                <a:solidFill>
                  <a:srgbClr val="FFFFFF"/>
                </a:solidFill>
                <a:latin typeface="Roboto Thin"/>
                <a:ea typeface="Roboto Thin"/>
                <a:cs typeface="Roboto Thin"/>
                <a:sym typeface="Roboto Thin"/>
              </a:endParaRPr>
            </a:p>
          </p:txBody>
        </p:sp>
        <p:sp>
          <p:nvSpPr>
            <p:cNvPr id="531" name="Google Shape;531;p46"/>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Generar audios sintéticos para considerar una clase nula.</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Se podrán generar audios adicionales con técnicas de procesamiento de audio para aumentar el tamaño del corpus.</a:t>
              </a:r>
              <a:endParaRPr sz="800">
                <a:solidFill>
                  <a:schemeClr val="dk2"/>
                </a:solidFill>
                <a:latin typeface="Roboto"/>
                <a:ea typeface="Roboto"/>
                <a:cs typeface="Roboto"/>
                <a:sym typeface="Roboto"/>
              </a:endParaRPr>
            </a:p>
          </p:txBody>
        </p:sp>
      </p:grpSp>
      <p:grpSp>
        <p:nvGrpSpPr>
          <p:cNvPr id="532" name="Google Shape;532;p46"/>
          <p:cNvGrpSpPr/>
          <p:nvPr/>
        </p:nvGrpSpPr>
        <p:grpSpPr>
          <a:xfrm>
            <a:off x="435152" y="3076112"/>
            <a:ext cx="8276921" cy="547168"/>
            <a:chOff x="1787786" y="2322568"/>
            <a:chExt cx="5763070" cy="643500"/>
          </a:xfrm>
        </p:grpSpPr>
        <p:sp>
          <p:nvSpPr>
            <p:cNvPr id="533" name="Google Shape;533;p46"/>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6"/>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6"/>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6"/>
            <p:cNvSpPr/>
            <p:nvPr/>
          </p:nvSpPr>
          <p:spPr>
            <a:xfrm>
              <a:off x="2169678" y="2399938"/>
              <a:ext cx="9240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Extracción y selección de características</a:t>
              </a:r>
              <a:endParaRPr sz="900">
                <a:solidFill>
                  <a:schemeClr val="dk2"/>
                </a:solidFill>
                <a:latin typeface="Roboto"/>
                <a:ea typeface="Roboto"/>
                <a:cs typeface="Roboto"/>
                <a:sym typeface="Roboto"/>
              </a:endParaRPr>
            </a:p>
          </p:txBody>
        </p:sp>
        <p:sp>
          <p:nvSpPr>
            <p:cNvPr id="537" name="Google Shape;537;p46"/>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03</a:t>
              </a:r>
              <a:endParaRPr sz="2400">
                <a:solidFill>
                  <a:srgbClr val="FFFFFF"/>
                </a:solidFill>
                <a:latin typeface="Roboto Thin"/>
                <a:ea typeface="Roboto Thin"/>
                <a:cs typeface="Roboto Thin"/>
                <a:sym typeface="Roboto Thin"/>
              </a:endParaRPr>
            </a:p>
          </p:txBody>
        </p:sp>
        <p:sp>
          <p:nvSpPr>
            <p:cNvPr id="538" name="Google Shape;538;p46"/>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Generar un </a:t>
              </a:r>
              <a:r>
                <a:rPr i="1" lang="es-419" sz="800">
                  <a:solidFill>
                    <a:schemeClr val="dk2"/>
                  </a:solidFill>
                  <a:latin typeface="Roboto"/>
                  <a:ea typeface="Roboto"/>
                  <a:cs typeface="Roboto"/>
                  <a:sym typeface="Roboto"/>
                </a:rPr>
                <a:t>dataframe</a:t>
              </a:r>
              <a:r>
                <a:rPr lang="es-419" sz="800">
                  <a:solidFill>
                    <a:schemeClr val="dk2"/>
                  </a:solidFill>
                  <a:latin typeface="Roboto"/>
                  <a:ea typeface="Roboto"/>
                  <a:cs typeface="Roboto"/>
                  <a:sym typeface="Roboto"/>
                </a:rPr>
                <a:t> con diversas </a:t>
              </a:r>
              <a:r>
                <a:rPr i="1" lang="es-419" sz="800">
                  <a:solidFill>
                    <a:schemeClr val="dk2"/>
                  </a:solidFill>
                  <a:latin typeface="Roboto"/>
                  <a:ea typeface="Roboto"/>
                  <a:cs typeface="Roboto"/>
                  <a:sym typeface="Roboto"/>
                </a:rPr>
                <a:t>features</a:t>
              </a:r>
              <a:r>
                <a:rPr lang="es-419" sz="800">
                  <a:solidFill>
                    <a:schemeClr val="dk2"/>
                  </a:solidFill>
                  <a:latin typeface="Roboto"/>
                  <a:ea typeface="Roboto"/>
                  <a:cs typeface="Roboto"/>
                  <a:sym typeface="Roboto"/>
                </a:rPr>
                <a:t> de audio, e.g. MFCCs. Etiquetar los datos con el nombre de las personas.</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Se recomienda explorar técnicas de selección de características para reducir el número de variables en el </a:t>
              </a:r>
              <a:r>
                <a:rPr i="1" lang="es-419" sz="800">
                  <a:solidFill>
                    <a:schemeClr val="dk2"/>
                  </a:solidFill>
                  <a:latin typeface="Roboto"/>
                  <a:ea typeface="Roboto"/>
                  <a:cs typeface="Roboto"/>
                  <a:sym typeface="Roboto"/>
                </a:rPr>
                <a:t>dataframe</a:t>
              </a:r>
              <a:r>
                <a:rPr lang="es-419" sz="800">
                  <a:solidFill>
                    <a:schemeClr val="dk2"/>
                  </a:solidFill>
                  <a:latin typeface="Roboto"/>
                  <a:ea typeface="Roboto"/>
                  <a:cs typeface="Roboto"/>
                  <a:sym typeface="Roboto"/>
                </a:rPr>
                <a:t>.</a:t>
              </a:r>
              <a:endParaRPr sz="800">
                <a:solidFill>
                  <a:schemeClr val="dk2"/>
                </a:solidFill>
                <a:latin typeface="Roboto"/>
                <a:ea typeface="Roboto"/>
                <a:cs typeface="Roboto"/>
                <a:sym typeface="Roboto"/>
              </a:endParaRPr>
            </a:p>
          </p:txBody>
        </p:sp>
      </p:grpSp>
      <p:grpSp>
        <p:nvGrpSpPr>
          <p:cNvPr id="539" name="Google Shape;539;p46"/>
          <p:cNvGrpSpPr/>
          <p:nvPr/>
        </p:nvGrpSpPr>
        <p:grpSpPr>
          <a:xfrm>
            <a:off x="433540" y="3632962"/>
            <a:ext cx="8276921" cy="547168"/>
            <a:chOff x="1787786" y="2322568"/>
            <a:chExt cx="5763070" cy="643500"/>
          </a:xfrm>
        </p:grpSpPr>
        <p:sp>
          <p:nvSpPr>
            <p:cNvPr id="540" name="Google Shape;540;p46"/>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6"/>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6"/>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6"/>
            <p:cNvSpPr/>
            <p:nvPr/>
          </p:nvSpPr>
          <p:spPr>
            <a:xfrm>
              <a:off x="2169669" y="2399938"/>
              <a:ext cx="9636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Construcción y evaluación de modelos</a:t>
              </a:r>
              <a:endParaRPr sz="900">
                <a:solidFill>
                  <a:schemeClr val="dk2"/>
                </a:solidFill>
                <a:latin typeface="Roboto"/>
                <a:ea typeface="Roboto"/>
                <a:cs typeface="Roboto"/>
                <a:sym typeface="Roboto"/>
              </a:endParaRPr>
            </a:p>
          </p:txBody>
        </p:sp>
        <p:sp>
          <p:nvSpPr>
            <p:cNvPr id="544" name="Google Shape;544;p46"/>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04</a:t>
              </a:r>
              <a:endParaRPr sz="2400">
                <a:solidFill>
                  <a:srgbClr val="FFFFFF"/>
                </a:solidFill>
                <a:latin typeface="Roboto Thin"/>
                <a:ea typeface="Roboto Thin"/>
                <a:cs typeface="Roboto Thin"/>
                <a:sym typeface="Roboto Thin"/>
              </a:endParaRPr>
            </a:p>
          </p:txBody>
        </p:sp>
        <p:sp>
          <p:nvSpPr>
            <p:cNvPr id="545" name="Google Shape;545;p46"/>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Entrenar al menos </a:t>
              </a:r>
              <a:r>
                <a:rPr b="1" lang="es-419" sz="800">
                  <a:solidFill>
                    <a:schemeClr val="dk2"/>
                  </a:solidFill>
                  <a:latin typeface="Roboto"/>
                  <a:ea typeface="Roboto"/>
                  <a:cs typeface="Roboto"/>
                  <a:sym typeface="Roboto"/>
                </a:rPr>
                <a:t>tres</a:t>
              </a:r>
              <a:r>
                <a:rPr lang="es-419" sz="800">
                  <a:solidFill>
                    <a:schemeClr val="dk2"/>
                  </a:solidFill>
                  <a:latin typeface="Roboto"/>
                  <a:ea typeface="Roboto"/>
                  <a:cs typeface="Roboto"/>
                  <a:sym typeface="Roboto"/>
                </a:rPr>
                <a:t> modelos de clasificación (uno por método) para reconocer a las diferentes personas.</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Evaluar los modelos utilizando validación cruzada y analizar los audios mal clasificados.</a:t>
              </a:r>
              <a:endParaRPr sz="800">
                <a:solidFill>
                  <a:schemeClr val="dk2"/>
                </a:solidFill>
                <a:latin typeface="Roboto"/>
                <a:ea typeface="Roboto"/>
                <a:cs typeface="Roboto"/>
                <a:sym typeface="Roboto"/>
              </a:endParaRPr>
            </a:p>
          </p:txBody>
        </p:sp>
      </p:grpSp>
      <p:grpSp>
        <p:nvGrpSpPr>
          <p:cNvPr id="546" name="Google Shape;546;p46"/>
          <p:cNvGrpSpPr/>
          <p:nvPr/>
        </p:nvGrpSpPr>
        <p:grpSpPr>
          <a:xfrm>
            <a:off x="433540" y="4189812"/>
            <a:ext cx="8276921" cy="547168"/>
            <a:chOff x="1787786" y="2322568"/>
            <a:chExt cx="5763070" cy="643500"/>
          </a:xfrm>
        </p:grpSpPr>
        <p:sp>
          <p:nvSpPr>
            <p:cNvPr id="547" name="Google Shape;547;p46"/>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6"/>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6"/>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6"/>
            <p:cNvSpPr/>
            <p:nvPr/>
          </p:nvSpPr>
          <p:spPr>
            <a:xfrm>
              <a:off x="2169669" y="2399938"/>
              <a:ext cx="9636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Validación externa</a:t>
              </a:r>
              <a:endParaRPr sz="900">
                <a:solidFill>
                  <a:schemeClr val="dk2"/>
                </a:solidFill>
                <a:latin typeface="Roboto"/>
                <a:ea typeface="Roboto"/>
                <a:cs typeface="Roboto"/>
                <a:sym typeface="Roboto"/>
              </a:endParaRPr>
            </a:p>
          </p:txBody>
        </p:sp>
        <p:sp>
          <p:nvSpPr>
            <p:cNvPr id="551" name="Google Shape;551;p46"/>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05</a:t>
              </a:r>
              <a:endParaRPr sz="2400">
                <a:solidFill>
                  <a:srgbClr val="FFFFFF"/>
                </a:solidFill>
                <a:latin typeface="Roboto Thin"/>
                <a:ea typeface="Roboto Thin"/>
                <a:cs typeface="Roboto Thin"/>
                <a:sym typeface="Roboto Thin"/>
              </a:endParaRPr>
            </a:p>
          </p:txBody>
        </p:sp>
        <p:sp>
          <p:nvSpPr>
            <p:cNvPr id="552" name="Google Shape;552;p46"/>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Preparar un script y sintetizar un mensaje para solicitar la asistencia.</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Grabar un audio y enviarlo al mejor modelo para dar una respuesta en tiempo real.</a:t>
              </a:r>
              <a:endParaRPr sz="800">
                <a:solidFill>
                  <a:schemeClr val="dk2"/>
                </a:solidFill>
                <a:latin typeface="Roboto"/>
                <a:ea typeface="Roboto"/>
                <a:cs typeface="Roboto"/>
                <a:sym typeface="Roboto"/>
              </a:endParaRPr>
            </a:p>
          </p:txBody>
        </p:sp>
      </p:grpSp>
      <p:pic>
        <p:nvPicPr>
          <p:cNvPr id="553" name="Google Shape;553;p46"/>
          <p:cNvPicPr preferRelativeResize="0"/>
          <p:nvPr/>
        </p:nvPicPr>
        <p:blipFill>
          <a:blip r:embed="rId3">
            <a:alphaModFix/>
          </a:blip>
          <a:stretch>
            <a:fillRect/>
          </a:stretch>
        </p:blipFill>
        <p:spPr>
          <a:xfrm>
            <a:off x="5958301" y="199100"/>
            <a:ext cx="2752152" cy="155856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7"/>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559" name="Google Shape;559;p47"/>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560" name="Google Shape;560;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61" name="Google Shape;561;p47"/>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562" name="Google Shape;562;p47"/>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