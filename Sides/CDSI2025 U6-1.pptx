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Lst>
  <p:sldSz cy="5143500" cx="9144000"/>
  <p:notesSz cx="6858000" cy="9144000"/>
  <p:embeddedFontLst>
    <p:embeddedFont>
      <p:font typeface="Nunito"/>
      <p:regular r:id="rId53"/>
      <p:bold r:id="rId54"/>
      <p:italic r:id="rId55"/>
      <p:boldItalic r:id="rId56"/>
    </p:embeddedFont>
    <p:embeddedFont>
      <p:font typeface="Maven Pro"/>
      <p:regular r:id="rId57"/>
      <p:bold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font" Target="fonts/Nunito-regular.fntdata"/><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Nunito-italic.fntdata"/><Relationship Id="rId10" Type="http://schemas.openxmlformats.org/officeDocument/2006/relationships/slide" Target="slides/slide5.xml"/><Relationship Id="rId54" Type="http://schemas.openxmlformats.org/officeDocument/2006/relationships/font" Target="fonts/Nunito-bold.fntdata"/><Relationship Id="rId13" Type="http://schemas.openxmlformats.org/officeDocument/2006/relationships/slide" Target="slides/slide8.xml"/><Relationship Id="rId57" Type="http://schemas.openxmlformats.org/officeDocument/2006/relationships/font" Target="fonts/MavenPro-regular.fntdata"/><Relationship Id="rId12" Type="http://schemas.openxmlformats.org/officeDocument/2006/relationships/slide" Target="slides/slide7.xml"/><Relationship Id="rId56" Type="http://schemas.openxmlformats.org/officeDocument/2006/relationships/font" Target="fonts/Nunito-boldItalic.fntdata"/><Relationship Id="rId15" Type="http://schemas.openxmlformats.org/officeDocument/2006/relationships/slide" Target="slides/slide10.xml"/><Relationship Id="rId14" Type="http://schemas.openxmlformats.org/officeDocument/2006/relationships/slide" Target="slides/slide9.xml"/><Relationship Id="rId58" Type="http://schemas.openxmlformats.org/officeDocument/2006/relationships/font" Target="fonts/MavenPro-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https://www.forbes.com/sites/bernardmarr/2021/03/05/the-biggest-wearable-technology-trends-in-2021/?sh=a46e6d03092d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0b8e2f8094_0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0b8e2f8094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10ca5513fe0_0_1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10ca5513fe0_0_1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https://www.sciencedirect.com/science/article/pii/S1389128621001651#b284</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12d58a5e02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112d58a5e02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12d58a5e02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12d58a5e02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117ed0ee730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117ed0ee730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117ed0ee730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117ed0ee730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117ed0ee730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117ed0ee730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117ed0ee730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117ed0ee730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117ed0ee730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117ed0ee730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117ed0ee730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117ed0ee730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117ed0ee730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117ed0ee730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117ed0ee730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117ed0ee730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117ed0ee730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117ed0ee730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117ed0ee730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117ed0ee730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117ed0ee730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117ed0ee730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117ed0ee730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117ed0ee730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117ed0ee730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117ed0ee730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117ed0ee730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117ed0ee730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117ed0ee730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117ed0ee730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117ed0ee730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117ed0ee730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117ed0ee730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117ed0ee730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117ed0ee73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117ed0ee73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117ed0ee730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117ed0ee730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117ed0ee730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117ed0ee730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117ed0ee730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117ed0ee730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117ed0ee730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117ed0ee73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117ed0ee730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117ed0ee730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117ed0ee730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117ed0ee730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117ed0ee730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117ed0ee730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117ed0ee730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117ed0ee730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117ed0ee730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117ed0ee730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117ed0ee730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117ed0ee730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117ed0ee730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117ed0ee730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117ed0ee730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117ed0ee730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117ed0ee730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117ed0ee730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117ed0ee730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117ed0ee730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117ed0ee730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117ed0ee730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117ed0ee730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117ed0ee730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117ed0ee730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117ed0ee730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117ed0ee730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117ed0ee730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117ed0ee730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117ed0ee730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117ed0ee730_0_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117ed0ee730_0_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117ed0ee730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117ed0ee730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21a8a28e6ad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21a8a28e6ad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21a8a28e6ad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21a8a28e6ad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2bf1df6fe2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5" name="Google Shape;635;g2bf1df6fe2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1"/>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 name="Google Shape;29;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30" name="Google Shape;30;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EFEFEF"/>
              </a:buClr>
              <a:buSzPts val="1600"/>
              <a:buNone/>
              <a:defRPr sz="1600">
                <a:solidFill>
                  <a:srgbClr val="EFEFEF"/>
                </a:solidFill>
              </a:defRPr>
            </a:lvl1pPr>
            <a:lvl2pPr lvl="1">
              <a:lnSpc>
                <a:spcPct val="100000"/>
              </a:lnSpc>
              <a:spcBef>
                <a:spcPts val="0"/>
              </a:spcBef>
              <a:spcAft>
                <a:spcPts val="0"/>
              </a:spcAft>
              <a:buClr>
                <a:srgbClr val="EFEFEF"/>
              </a:buClr>
              <a:buSzPts val="1600"/>
              <a:buNone/>
              <a:defRPr sz="1600">
                <a:solidFill>
                  <a:srgbClr val="EFEFEF"/>
                </a:solidFill>
              </a:defRPr>
            </a:lvl2pPr>
            <a:lvl3pPr lvl="2">
              <a:lnSpc>
                <a:spcPct val="100000"/>
              </a:lnSpc>
              <a:spcBef>
                <a:spcPts val="0"/>
              </a:spcBef>
              <a:spcAft>
                <a:spcPts val="0"/>
              </a:spcAft>
              <a:buClr>
                <a:srgbClr val="EFEFEF"/>
              </a:buClr>
              <a:buSzPts val="1600"/>
              <a:buNone/>
              <a:defRPr sz="1600">
                <a:solidFill>
                  <a:srgbClr val="EFEFEF"/>
                </a:solidFill>
              </a:defRPr>
            </a:lvl3pPr>
            <a:lvl4pPr lvl="3">
              <a:lnSpc>
                <a:spcPct val="100000"/>
              </a:lnSpc>
              <a:spcBef>
                <a:spcPts val="0"/>
              </a:spcBef>
              <a:spcAft>
                <a:spcPts val="0"/>
              </a:spcAft>
              <a:buClr>
                <a:srgbClr val="EFEFEF"/>
              </a:buClr>
              <a:buSzPts val="1600"/>
              <a:buNone/>
              <a:defRPr sz="1600">
                <a:solidFill>
                  <a:srgbClr val="EFEFEF"/>
                </a:solidFill>
              </a:defRPr>
            </a:lvl4pPr>
            <a:lvl5pPr lvl="4">
              <a:lnSpc>
                <a:spcPct val="100000"/>
              </a:lnSpc>
              <a:spcBef>
                <a:spcPts val="0"/>
              </a:spcBef>
              <a:spcAft>
                <a:spcPts val="0"/>
              </a:spcAft>
              <a:buClr>
                <a:srgbClr val="EFEFEF"/>
              </a:buClr>
              <a:buSzPts val="1600"/>
              <a:buNone/>
              <a:defRPr sz="1600">
                <a:solidFill>
                  <a:srgbClr val="EFEFEF"/>
                </a:solidFill>
              </a:defRPr>
            </a:lvl5pPr>
            <a:lvl6pPr lvl="5">
              <a:lnSpc>
                <a:spcPct val="100000"/>
              </a:lnSpc>
              <a:spcBef>
                <a:spcPts val="0"/>
              </a:spcBef>
              <a:spcAft>
                <a:spcPts val="0"/>
              </a:spcAft>
              <a:buClr>
                <a:srgbClr val="EFEFEF"/>
              </a:buClr>
              <a:buSzPts val="1600"/>
              <a:buNone/>
              <a:defRPr sz="1600">
                <a:solidFill>
                  <a:srgbClr val="EFEFEF"/>
                </a:solidFill>
              </a:defRPr>
            </a:lvl6pPr>
            <a:lvl7pPr lvl="6">
              <a:lnSpc>
                <a:spcPct val="100000"/>
              </a:lnSpc>
              <a:spcBef>
                <a:spcPts val="0"/>
              </a:spcBef>
              <a:spcAft>
                <a:spcPts val="0"/>
              </a:spcAft>
              <a:buClr>
                <a:srgbClr val="EFEFEF"/>
              </a:buClr>
              <a:buSzPts val="1600"/>
              <a:buNone/>
              <a:defRPr sz="1600">
                <a:solidFill>
                  <a:srgbClr val="EFEFEF"/>
                </a:solidFill>
              </a:defRPr>
            </a:lvl7pPr>
            <a:lvl8pPr lvl="7">
              <a:lnSpc>
                <a:spcPct val="100000"/>
              </a:lnSpc>
              <a:spcBef>
                <a:spcPts val="0"/>
              </a:spcBef>
              <a:spcAft>
                <a:spcPts val="0"/>
              </a:spcAft>
              <a:buClr>
                <a:srgbClr val="EFEFEF"/>
              </a:buClr>
              <a:buSzPts val="1600"/>
              <a:buNone/>
              <a:defRPr sz="1600">
                <a:solidFill>
                  <a:srgbClr val="EFEFEF"/>
                </a:solidFill>
              </a:defRPr>
            </a:lvl8pPr>
            <a:lvl9pPr lvl="8">
              <a:lnSpc>
                <a:spcPct val="100000"/>
              </a:lnSpc>
              <a:spcBef>
                <a:spcPts val="0"/>
              </a:spcBef>
              <a:spcAft>
                <a:spcPts val="0"/>
              </a:spcAft>
              <a:buClr>
                <a:srgbClr val="EFEFEF"/>
              </a:buClr>
              <a:buSzPts val="1600"/>
              <a:buNone/>
              <a:defRPr sz="1600">
                <a:solidFill>
                  <a:srgbClr val="EFEFEF"/>
                </a:solidFill>
              </a:defRPr>
            </a:lvl9pPr>
          </a:lstStyle>
          <a:p/>
        </p:txBody>
      </p:sp>
      <p:sp>
        <p:nvSpPr>
          <p:cNvPr id="31" name="Google Shape;31;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grpSp>
        <p:nvGrpSpPr>
          <p:cNvPr id="32" name="Google Shape;32;p2"/>
          <p:cNvGrpSpPr/>
          <p:nvPr/>
        </p:nvGrpSpPr>
        <p:grpSpPr>
          <a:xfrm>
            <a:off x="5043503" y="0"/>
            <a:ext cx="3814072" cy="3839102"/>
            <a:chOff x="5043503" y="0"/>
            <a:chExt cx="3814072" cy="3839102"/>
          </a:xfrm>
        </p:grpSpPr>
        <p:sp>
          <p:nvSpPr>
            <p:cNvPr id="33" name="Google Shape;33;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 name="Google Shape;35;p2"/>
            <p:cNvGrpSpPr/>
            <p:nvPr/>
          </p:nvGrpSpPr>
          <p:grpSpPr>
            <a:xfrm>
              <a:off x="7647812" y="2704283"/>
              <a:ext cx="635219" cy="635219"/>
              <a:chOff x="6725724" y="2701260"/>
              <a:chExt cx="1208101" cy="1208100"/>
            </a:xfrm>
          </p:grpSpPr>
          <p:sp>
            <p:nvSpPr>
              <p:cNvPr id="36" name="Google Shape;36;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 name="Google Shape;40;p2"/>
            <p:cNvGrpSpPr/>
            <p:nvPr/>
          </p:nvGrpSpPr>
          <p:grpSpPr>
            <a:xfrm>
              <a:off x="7952720" y="179238"/>
              <a:ext cx="873165" cy="873003"/>
              <a:chOff x="7754428" y="208725"/>
              <a:chExt cx="541800" cy="541800"/>
            </a:xfrm>
          </p:grpSpPr>
          <p:sp>
            <p:nvSpPr>
              <p:cNvPr id="41" name="Google Shape;41;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 name="Google Shape;43;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rgbClr val="F3F3F3"/>
              </a:buClr>
              <a:buSzPts val="3600"/>
              <a:buNone/>
              <a:defRPr sz="3600">
                <a:solidFill>
                  <a:srgbClr val="F3F3F3"/>
                </a:solidFill>
              </a:defRPr>
            </a:lvl1pPr>
            <a:lvl2pPr lvl="1">
              <a:spcBef>
                <a:spcPts val="0"/>
              </a:spcBef>
              <a:spcAft>
                <a:spcPts val="0"/>
              </a:spcAft>
              <a:buClr>
                <a:srgbClr val="F3F3F3"/>
              </a:buClr>
              <a:buSzPts val="3600"/>
              <a:buNone/>
              <a:defRPr sz="3600">
                <a:solidFill>
                  <a:srgbClr val="F3F3F3"/>
                </a:solidFill>
              </a:defRPr>
            </a:lvl2pPr>
            <a:lvl3pPr lvl="2">
              <a:spcBef>
                <a:spcPts val="0"/>
              </a:spcBef>
              <a:spcAft>
                <a:spcPts val="0"/>
              </a:spcAft>
              <a:buClr>
                <a:srgbClr val="F3F3F3"/>
              </a:buClr>
              <a:buSzPts val="3600"/>
              <a:buNone/>
              <a:defRPr sz="3600">
                <a:solidFill>
                  <a:srgbClr val="F3F3F3"/>
                </a:solidFill>
              </a:defRPr>
            </a:lvl3pPr>
            <a:lvl4pPr lvl="3">
              <a:spcBef>
                <a:spcPts val="0"/>
              </a:spcBef>
              <a:spcAft>
                <a:spcPts val="0"/>
              </a:spcAft>
              <a:buClr>
                <a:srgbClr val="F3F3F3"/>
              </a:buClr>
              <a:buSzPts val="3600"/>
              <a:buNone/>
              <a:defRPr sz="3600">
                <a:solidFill>
                  <a:srgbClr val="F3F3F3"/>
                </a:solidFill>
              </a:defRPr>
            </a:lvl4pPr>
            <a:lvl5pPr lvl="4">
              <a:spcBef>
                <a:spcPts val="0"/>
              </a:spcBef>
              <a:spcAft>
                <a:spcPts val="0"/>
              </a:spcAft>
              <a:buClr>
                <a:srgbClr val="F3F3F3"/>
              </a:buClr>
              <a:buSzPts val="3600"/>
              <a:buNone/>
              <a:defRPr sz="3600">
                <a:solidFill>
                  <a:srgbClr val="F3F3F3"/>
                </a:solidFill>
              </a:defRPr>
            </a:lvl5pPr>
            <a:lvl6pPr lvl="5">
              <a:spcBef>
                <a:spcPts val="0"/>
              </a:spcBef>
              <a:spcAft>
                <a:spcPts val="0"/>
              </a:spcAft>
              <a:buClr>
                <a:srgbClr val="F3F3F3"/>
              </a:buClr>
              <a:buSzPts val="3600"/>
              <a:buNone/>
              <a:defRPr sz="3600">
                <a:solidFill>
                  <a:srgbClr val="F3F3F3"/>
                </a:solidFill>
              </a:defRPr>
            </a:lvl6pPr>
            <a:lvl7pPr lvl="6">
              <a:spcBef>
                <a:spcPts val="0"/>
              </a:spcBef>
              <a:spcAft>
                <a:spcPts val="0"/>
              </a:spcAft>
              <a:buClr>
                <a:srgbClr val="F3F3F3"/>
              </a:buClr>
              <a:buSzPts val="3600"/>
              <a:buNone/>
              <a:defRPr sz="3600">
                <a:solidFill>
                  <a:srgbClr val="F3F3F3"/>
                </a:solidFill>
              </a:defRPr>
            </a:lvl7pPr>
            <a:lvl8pPr lvl="7">
              <a:spcBef>
                <a:spcPts val="0"/>
              </a:spcBef>
              <a:spcAft>
                <a:spcPts val="0"/>
              </a:spcAft>
              <a:buClr>
                <a:srgbClr val="F3F3F3"/>
              </a:buClr>
              <a:buSzPts val="3600"/>
              <a:buNone/>
              <a:defRPr sz="3600">
                <a:solidFill>
                  <a:srgbClr val="F3F3F3"/>
                </a:solidFill>
              </a:defRPr>
            </a:lvl8pPr>
            <a:lvl9pPr lvl="8">
              <a:spcBef>
                <a:spcPts val="0"/>
              </a:spcBef>
              <a:spcAft>
                <a:spcPts val="0"/>
              </a:spcAft>
              <a:buClr>
                <a:srgbClr val="F3F3F3"/>
              </a:buClr>
              <a:buSzPts val="3600"/>
              <a:buNone/>
              <a:defRPr sz="3600">
                <a:solidFill>
                  <a:srgbClr val="F3F3F3"/>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rgbClr val="EFEFEF"/>
              </a:buClr>
              <a:buSzPts val="3600"/>
              <a:buNone/>
              <a:defRPr sz="3600">
                <a:solidFill>
                  <a:srgbClr val="EFEFEF"/>
                </a:solidFill>
              </a:defRPr>
            </a:lvl1pPr>
            <a:lvl2pPr lvl="1">
              <a:spcBef>
                <a:spcPts val="0"/>
              </a:spcBef>
              <a:spcAft>
                <a:spcPts val="0"/>
              </a:spcAft>
              <a:buClr>
                <a:srgbClr val="EFEFEF"/>
              </a:buClr>
              <a:buSzPts val="3600"/>
              <a:buNone/>
              <a:defRPr sz="3600">
                <a:solidFill>
                  <a:srgbClr val="EFEFEF"/>
                </a:solidFill>
              </a:defRPr>
            </a:lvl2pPr>
            <a:lvl3pPr lvl="2">
              <a:spcBef>
                <a:spcPts val="0"/>
              </a:spcBef>
              <a:spcAft>
                <a:spcPts val="0"/>
              </a:spcAft>
              <a:buClr>
                <a:srgbClr val="EFEFEF"/>
              </a:buClr>
              <a:buSzPts val="3600"/>
              <a:buNone/>
              <a:defRPr sz="3600">
                <a:solidFill>
                  <a:srgbClr val="EFEFEF"/>
                </a:solidFill>
              </a:defRPr>
            </a:lvl3pPr>
            <a:lvl4pPr lvl="3">
              <a:spcBef>
                <a:spcPts val="0"/>
              </a:spcBef>
              <a:spcAft>
                <a:spcPts val="0"/>
              </a:spcAft>
              <a:buClr>
                <a:srgbClr val="EFEFEF"/>
              </a:buClr>
              <a:buSzPts val="3600"/>
              <a:buNone/>
              <a:defRPr sz="3600">
                <a:solidFill>
                  <a:srgbClr val="EFEFEF"/>
                </a:solidFill>
              </a:defRPr>
            </a:lvl4pPr>
            <a:lvl5pPr lvl="4">
              <a:spcBef>
                <a:spcPts val="0"/>
              </a:spcBef>
              <a:spcAft>
                <a:spcPts val="0"/>
              </a:spcAft>
              <a:buClr>
                <a:srgbClr val="EFEFEF"/>
              </a:buClr>
              <a:buSzPts val="3600"/>
              <a:buNone/>
              <a:defRPr sz="3600">
                <a:solidFill>
                  <a:srgbClr val="EFEFEF"/>
                </a:solidFill>
              </a:defRPr>
            </a:lvl5pPr>
            <a:lvl6pPr lvl="5">
              <a:spcBef>
                <a:spcPts val="0"/>
              </a:spcBef>
              <a:spcAft>
                <a:spcPts val="0"/>
              </a:spcAft>
              <a:buClr>
                <a:srgbClr val="EFEFEF"/>
              </a:buClr>
              <a:buSzPts val="3600"/>
              <a:buNone/>
              <a:defRPr sz="3600">
                <a:solidFill>
                  <a:srgbClr val="EFEFEF"/>
                </a:solidFill>
              </a:defRPr>
            </a:lvl6pPr>
            <a:lvl7pPr lvl="6">
              <a:spcBef>
                <a:spcPts val="0"/>
              </a:spcBef>
              <a:spcAft>
                <a:spcPts val="0"/>
              </a:spcAft>
              <a:buClr>
                <a:srgbClr val="EFEFEF"/>
              </a:buClr>
              <a:buSzPts val="3600"/>
              <a:buNone/>
              <a:defRPr sz="3600">
                <a:solidFill>
                  <a:srgbClr val="EFEFEF"/>
                </a:solidFill>
              </a:defRPr>
            </a:lvl7pPr>
            <a:lvl8pPr lvl="7">
              <a:spcBef>
                <a:spcPts val="0"/>
              </a:spcBef>
              <a:spcAft>
                <a:spcPts val="0"/>
              </a:spcAft>
              <a:buClr>
                <a:srgbClr val="EFEFEF"/>
              </a:buClr>
              <a:buSzPts val="3600"/>
              <a:buNone/>
              <a:defRPr sz="3600">
                <a:solidFill>
                  <a:srgbClr val="EFEFEF"/>
                </a:solidFill>
              </a:defRPr>
            </a:lvl8pPr>
            <a:lvl9pPr lvl="8">
              <a:spcBef>
                <a:spcPts val="0"/>
              </a:spcBef>
              <a:spcAft>
                <a:spcPts val="0"/>
              </a:spcAft>
              <a:buClr>
                <a:srgbClr val="EFEFEF"/>
              </a:buClr>
              <a:buSzPts val="3600"/>
              <a:buNone/>
              <a:defRPr sz="3600">
                <a:solidFill>
                  <a:srgbClr val="EFEFEF"/>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3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3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25.png"/><Relationship Id="rId4" Type="http://schemas.openxmlformats.org/officeDocument/2006/relationships/image" Target="../media/image7.png"/><Relationship Id="rId9"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image" Target="../media/image4.png"/><Relationship Id="rId7" Type="http://schemas.openxmlformats.org/officeDocument/2006/relationships/image" Target="../media/image6.png"/><Relationship Id="rId8"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 Id="rId3" Type="http://schemas.openxmlformats.org/officeDocument/2006/relationships/image" Target="../media/image3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 Id="rId3"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 Id="rId3"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 Id="rId3"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image" Target="../media/image1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8.xml"/><Relationship Id="rId3" Type="http://schemas.openxmlformats.org/officeDocument/2006/relationships/image" Target="../media/image29.png"/><Relationship Id="rId4"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 Id="rId3" Type="http://schemas.openxmlformats.org/officeDocument/2006/relationships/image" Target="../media/image3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0.xml"/><Relationship Id="rId3" Type="http://schemas.openxmlformats.org/officeDocument/2006/relationships/image" Target="../media/image3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Relationship Id="rId3" Type="http://schemas.openxmlformats.org/officeDocument/2006/relationships/hyperlink" Target="http://drive.google.com/file/d/1kTu5DrKYagf1k9KCbD9o3YWxpNbnpvJg/view" TargetMode="External"/><Relationship Id="rId4" Type="http://schemas.openxmlformats.org/officeDocument/2006/relationships/image" Target="../media/image10.png"/><Relationship Id="rId9" Type="http://schemas.openxmlformats.org/officeDocument/2006/relationships/hyperlink" Target="http://drive.google.com/file/d/11Azk1FyUDboGuZKw_pB6BOKwmFLRV8LY/view" TargetMode="External"/><Relationship Id="rId5" Type="http://schemas.openxmlformats.org/officeDocument/2006/relationships/hyperlink" Target="http://drive.google.com/file/d/13RCHGJvFkpY3cjbU1H0ybbOpNGEKRA-Q/view" TargetMode="External"/><Relationship Id="rId6" Type="http://schemas.openxmlformats.org/officeDocument/2006/relationships/hyperlink" Target="http://drive.google.com/file/d/1KdfTRbC3x7Bj-_xuaPrdspDmFQeBIfTR/view" TargetMode="External"/><Relationship Id="rId7" Type="http://schemas.openxmlformats.org/officeDocument/2006/relationships/hyperlink" Target="http://drive.google.com/file/d/1uPPiga1KhzRZm-pXfvZfFS7eeZ19G1md/view" TargetMode="External"/><Relationship Id="rId8" Type="http://schemas.openxmlformats.org/officeDocument/2006/relationships/hyperlink" Target="http://drive.google.com/file/d/1vshMTcuDP_QJFOa_SWrm_owN_VG_Le1q/view"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Relationship Id="rId3" Type="http://schemas.openxmlformats.org/officeDocument/2006/relationships/hyperlink" Target="http://www.youtube.com/watch?v=mz2yb4tLbyM" TargetMode="External"/><Relationship Id="rId4" Type="http://schemas.openxmlformats.org/officeDocument/2006/relationships/image" Target="../media/image19.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3.xml"/><Relationship Id="rId3" Type="http://schemas.openxmlformats.org/officeDocument/2006/relationships/hyperlink" Target="http://www.youtube.com/watch?v=Zgl4NeNAvEc" TargetMode="External"/><Relationship Id="rId4" Type="http://schemas.openxmlformats.org/officeDocument/2006/relationships/image" Target="../media/image23.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Relationship Id="rId3" Type="http://schemas.openxmlformats.org/officeDocument/2006/relationships/hyperlink" Target="http://www.youtube.com/watch?v=l4TAIEElS8E" TargetMode="External"/><Relationship Id="rId4" Type="http://schemas.openxmlformats.org/officeDocument/2006/relationships/image" Target="../media/image21.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5.xml"/><Relationship Id="rId3" Type="http://schemas.openxmlformats.org/officeDocument/2006/relationships/hyperlink" Target="http://www.youtube.com/watch?v=jQmexljwQnc" TargetMode="External"/><Relationship Id="rId4" Type="http://schemas.openxmlformats.org/officeDocument/2006/relationships/image" Target="../media/image22.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6.xml"/><Relationship Id="rId3" Type="http://schemas.openxmlformats.org/officeDocument/2006/relationships/image" Target="../media/image2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7.xml"/><Relationship Id="rId3" Type="http://schemas.openxmlformats.org/officeDocument/2006/relationships/image" Target="../media/image27.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s-419"/>
              <a:t>Ciencia de Datos para Sensores Inteligentes</a:t>
            </a:r>
            <a:endParaRPr/>
          </a:p>
          <a:p>
            <a:pPr indent="0" lvl="0" marL="0" rtl="0" algn="l">
              <a:lnSpc>
                <a:spcPct val="115000"/>
              </a:lnSpc>
              <a:spcBef>
                <a:spcPts val="0"/>
              </a:spcBef>
              <a:spcAft>
                <a:spcPts val="0"/>
              </a:spcAft>
              <a:buNone/>
            </a:pPr>
            <a:r>
              <a:rPr b="0" lang="es-419" sz="1644">
                <a:solidFill>
                  <a:schemeClr val="dk1"/>
                </a:solidFill>
                <a:latin typeface="Arial"/>
                <a:ea typeface="Arial"/>
                <a:cs typeface="Arial"/>
                <a:sym typeface="Arial"/>
              </a:rPr>
              <a:t>Tópicos Selectos en Sistemas Interactivos</a:t>
            </a:r>
            <a:endParaRPr sz="4044"/>
          </a:p>
        </p:txBody>
      </p:sp>
      <p:sp>
        <p:nvSpPr>
          <p:cNvPr id="278" name="Google Shape;278;p13"/>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solidFill>
                  <a:srgbClr val="EFEFEF"/>
                </a:solidFill>
              </a:rPr>
              <a:t>Dr. Irvin Hussein López Nava</a:t>
            </a:r>
            <a:endParaRPr>
              <a:solidFill>
                <a:srgbClr val="EFEFEF"/>
              </a:solidFill>
            </a:endParaRPr>
          </a:p>
          <a:p>
            <a:pPr indent="0" lvl="0" marL="0" rtl="0" algn="l">
              <a:spcBef>
                <a:spcPts val="0"/>
              </a:spcBef>
              <a:spcAft>
                <a:spcPts val="0"/>
              </a:spcAft>
              <a:buNone/>
            </a:pPr>
            <a:r>
              <a:rPr lang="es-419">
                <a:solidFill>
                  <a:srgbClr val="D9D9D9"/>
                </a:solidFill>
              </a:rPr>
              <a:t>CICESE 2025 - I</a:t>
            </a:r>
            <a:endParaRPr>
              <a:solidFill>
                <a:srgbClr val="D9D9D9"/>
              </a:solidFill>
            </a:endParaRPr>
          </a:p>
        </p:txBody>
      </p:sp>
      <p:pic>
        <p:nvPicPr>
          <p:cNvPr id="279" name="Google Shape;279;p13"/>
          <p:cNvPicPr preferRelativeResize="0"/>
          <p:nvPr/>
        </p:nvPicPr>
        <p:blipFill>
          <a:blip r:embed="rId3">
            <a:alphaModFix amt="50000"/>
          </a:blip>
          <a:stretch>
            <a:fillRect/>
          </a:stretch>
        </p:blipFill>
        <p:spPr>
          <a:xfrm>
            <a:off x="6282225" y="1416333"/>
            <a:ext cx="908050" cy="448350"/>
          </a:xfrm>
          <a:prstGeom prst="rect">
            <a:avLst/>
          </a:prstGeom>
          <a:noFill/>
          <a:ln>
            <a:noFill/>
          </a:ln>
        </p:spPr>
      </p:pic>
      <p:pic>
        <p:nvPicPr>
          <p:cNvPr id="280" name="Google Shape;280;p13"/>
          <p:cNvPicPr preferRelativeResize="0"/>
          <p:nvPr/>
        </p:nvPicPr>
        <p:blipFill>
          <a:blip r:embed="rId4">
            <a:alphaModFix amt="75000"/>
          </a:blip>
          <a:stretch>
            <a:fillRect/>
          </a:stretch>
        </p:blipFill>
        <p:spPr>
          <a:xfrm>
            <a:off x="6023125" y="659125"/>
            <a:ext cx="318050" cy="318050"/>
          </a:xfrm>
          <a:prstGeom prst="rect">
            <a:avLst/>
          </a:prstGeom>
          <a:noFill/>
          <a:ln>
            <a:noFill/>
          </a:ln>
        </p:spPr>
      </p:pic>
      <p:pic>
        <p:nvPicPr>
          <p:cNvPr id="281" name="Google Shape;281;p13"/>
          <p:cNvPicPr preferRelativeResize="0"/>
          <p:nvPr/>
        </p:nvPicPr>
        <p:blipFill rotWithShape="1">
          <a:blip r:embed="rId5">
            <a:alphaModFix amt="75000"/>
          </a:blip>
          <a:srcRect b="35620" l="28214" r="28782" t="0"/>
          <a:stretch/>
        </p:blipFill>
        <p:spPr>
          <a:xfrm>
            <a:off x="5568825" y="1580658"/>
            <a:ext cx="227338" cy="20781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4"/>
          <p:cNvSpPr txBox="1"/>
          <p:nvPr>
            <p:ph type="title"/>
          </p:nvPr>
        </p:nvSpPr>
        <p:spPr>
          <a:xfrm>
            <a:off x="1388625" y="772725"/>
            <a:ext cx="6366900" cy="1863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6000">
                <a:solidFill>
                  <a:schemeClr val="dk1"/>
                </a:solidFill>
              </a:rPr>
              <a:t>Unidad 7</a:t>
            </a:r>
            <a:endParaRPr sz="6000">
              <a:solidFill>
                <a:schemeClr val="dk1"/>
              </a:solidFill>
            </a:endParaRPr>
          </a:p>
        </p:txBody>
      </p:sp>
      <p:sp>
        <p:nvSpPr>
          <p:cNvPr id="287" name="Google Shape;287;p14"/>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s-419" sz="3200"/>
              <a:t>Reconocimiento de actividades</a:t>
            </a:r>
            <a:endParaRPr sz="3200"/>
          </a:p>
        </p:txBody>
      </p:sp>
      <p:sp>
        <p:nvSpPr>
          <p:cNvPr id="288" name="Google Shape;288;p1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5"/>
          <p:cNvSpPr txBox="1"/>
          <p:nvPr>
            <p:ph type="title"/>
          </p:nvPr>
        </p:nvSpPr>
        <p:spPr>
          <a:xfrm>
            <a:off x="824000" y="1613825"/>
            <a:ext cx="63867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7</a:t>
            </a:r>
            <a:r>
              <a:rPr lang="es-419"/>
              <a:t>.1 Seguimiento del movimiento humano</a:t>
            </a:r>
            <a:endParaRPr/>
          </a:p>
        </p:txBody>
      </p:sp>
      <p:sp>
        <p:nvSpPr>
          <p:cNvPr id="294" name="Google Shape;294;p1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1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Biomecánica del movimiento humano</a:t>
            </a:r>
            <a:endParaRPr/>
          </a:p>
        </p:txBody>
      </p:sp>
      <p:sp>
        <p:nvSpPr>
          <p:cNvPr id="300" name="Google Shape;300;p16"/>
          <p:cNvSpPr txBox="1"/>
          <p:nvPr>
            <p:ph idx="1" type="body"/>
          </p:nvPr>
        </p:nvSpPr>
        <p:spPr>
          <a:xfrm>
            <a:off x="1303800" y="16852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 biomecánica es la aplicación de métodos y técnicas del campo de la mecánica al análisis y la comprensión de los sistemas biológicos.</a:t>
            </a:r>
            <a:endParaRPr/>
          </a:p>
          <a:p>
            <a:pPr indent="0" lvl="0" marL="0" rtl="0" algn="l">
              <a:spcBef>
                <a:spcPts val="1200"/>
              </a:spcBef>
              <a:spcAft>
                <a:spcPts val="0"/>
              </a:spcAft>
              <a:buNone/>
            </a:pPr>
            <a:r>
              <a:rPr lang="es-419"/>
              <a:t>Esta es el área que analiza las propiedades mecánicas de los tejidos, los sistemas y el movimiento de los organismos vivos, e.g. el cuerpo humano.</a:t>
            </a:r>
            <a:endParaRPr/>
          </a:p>
          <a:p>
            <a:pPr indent="0" lvl="0" marL="0" rtl="0" algn="l">
              <a:spcBef>
                <a:spcPts val="1200"/>
              </a:spcBef>
              <a:spcAft>
                <a:spcPts val="1200"/>
              </a:spcAft>
              <a:buNone/>
            </a:pPr>
            <a:r>
              <a:rPr lang="es-419"/>
              <a:t>El cuerpo humano está compuesto de huesos unidos por articulaciones que forman el esqueleto y están cubiertos por tejidos blandos, como los músculos.</a:t>
            </a:r>
            <a:endParaRPr/>
          </a:p>
        </p:txBody>
      </p:sp>
      <p:sp>
        <p:nvSpPr>
          <p:cNvPr id="301" name="Google Shape;301;p1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302" name="Google Shape;302;p16"/>
          <p:cNvSpPr txBox="1"/>
          <p:nvPr/>
        </p:nvSpPr>
        <p:spPr>
          <a:xfrm>
            <a:off x="800450" y="4395475"/>
            <a:ext cx="7537200" cy="677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Fung, Y. C. (2013). Biomechanics: mechanical properties of living tissues. Springer</a:t>
            </a:r>
            <a:endParaRPr sz="800">
              <a:solidFill>
                <a:srgbClr val="94B6BD"/>
              </a:solidFill>
            </a:endParaRPr>
          </a:p>
          <a:p>
            <a:pPr indent="0" lvl="0" marL="0" rtl="0" algn="r">
              <a:spcBef>
                <a:spcPts val="0"/>
              </a:spcBef>
              <a:spcAft>
                <a:spcPts val="0"/>
              </a:spcAft>
              <a:buNone/>
            </a:pPr>
            <a:r>
              <a:rPr lang="es-419" sz="800">
                <a:solidFill>
                  <a:srgbClr val="94B6BD"/>
                </a:solidFill>
              </a:rPr>
              <a:t>Winter, D. A. (2009). Biomechanics and motor control of human movement.John Wiley &amp; Sons</a:t>
            </a:r>
            <a:endParaRPr sz="800">
              <a:solidFill>
                <a:srgbClr val="94B6BD"/>
              </a:solidFill>
            </a:endParaRPr>
          </a:p>
          <a:p>
            <a:pPr indent="0" lvl="0" marL="0" rtl="0" algn="r">
              <a:spcBef>
                <a:spcPts val="0"/>
              </a:spcBef>
              <a:spcAft>
                <a:spcPts val="0"/>
              </a:spcAft>
              <a:buNone/>
            </a:pPr>
            <a:r>
              <a:rPr lang="es-419" sz="800">
                <a:solidFill>
                  <a:srgbClr val="94B6BD"/>
                </a:solidFill>
              </a:rPr>
              <a:t>Marieb, E. N. and Hoehn, K. (2007). Human Anatomy &amp; Physiology. Pearson Education</a:t>
            </a:r>
            <a:endParaRPr sz="800">
              <a:solidFill>
                <a:srgbClr val="94B6BD"/>
              </a:solidFill>
            </a:endParaRPr>
          </a:p>
          <a:p>
            <a:pPr indent="0" lvl="0" marL="0" rtl="0" algn="r">
              <a:spcBef>
                <a:spcPts val="0"/>
              </a:spcBef>
              <a:spcAft>
                <a:spcPts val="0"/>
              </a:spcAft>
              <a:buNone/>
            </a:pPr>
            <a:r>
              <a:t/>
            </a:r>
            <a:endParaRPr sz="800">
              <a:solidFill>
                <a:srgbClr val="94B6BD"/>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7"/>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Regiones del </a:t>
            </a:r>
            <a:br>
              <a:rPr lang="es-419" sz="2400">
                <a:solidFill>
                  <a:schemeClr val="dk1"/>
                </a:solidFill>
              </a:rPr>
            </a:br>
            <a:r>
              <a:rPr lang="es-419" sz="2400">
                <a:solidFill>
                  <a:schemeClr val="dk1"/>
                </a:solidFill>
              </a:rPr>
              <a:t>cuerpo humano</a:t>
            </a:r>
            <a:endParaRPr/>
          </a:p>
        </p:txBody>
      </p:sp>
      <p:sp>
        <p:nvSpPr>
          <p:cNvPr id="308" name="Google Shape;308;p17"/>
          <p:cNvSpPr txBox="1"/>
          <p:nvPr>
            <p:ph idx="1" type="body"/>
          </p:nvPr>
        </p:nvSpPr>
        <p:spPr>
          <a:xfrm>
            <a:off x="1303800" y="1913850"/>
            <a:ext cx="34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Si los huesos se consideran segmentos rígidos, es posible suponer que el cuerpo está dividido en </a:t>
            </a:r>
            <a:r>
              <a:rPr b="1" lang="es-419"/>
              <a:t>regiones</a:t>
            </a:r>
            <a:r>
              <a:rPr lang="es-419"/>
              <a:t> o </a:t>
            </a:r>
            <a:r>
              <a:rPr b="1" lang="es-419">
                <a:solidFill>
                  <a:schemeClr val="accent5"/>
                </a:solidFill>
              </a:rPr>
              <a:t>segmentos anatómicos</a:t>
            </a:r>
            <a:r>
              <a:rPr lang="es-419"/>
              <a:t>.</a:t>
            </a:r>
            <a:endParaRPr/>
          </a:p>
          <a:p>
            <a:pPr indent="0" lvl="0" marL="0" rtl="0" algn="l">
              <a:spcBef>
                <a:spcPts val="1200"/>
              </a:spcBef>
              <a:spcAft>
                <a:spcPts val="1200"/>
              </a:spcAft>
              <a:buNone/>
            </a:pPr>
            <a:r>
              <a:rPr lang="es-419"/>
              <a:t>Por lo que el movimiento entre estos segmentos se puede describir mediante los mismos métodos utilizados para la cinemática de manipuladores.</a:t>
            </a:r>
            <a:endParaRPr/>
          </a:p>
        </p:txBody>
      </p:sp>
      <p:sp>
        <p:nvSpPr>
          <p:cNvPr id="309" name="Google Shape;309;p1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10" name="Google Shape;310;p17"/>
          <p:cNvPicPr preferRelativeResize="0"/>
          <p:nvPr/>
        </p:nvPicPr>
        <p:blipFill>
          <a:blip r:embed="rId3">
            <a:alphaModFix/>
          </a:blip>
          <a:stretch>
            <a:fillRect/>
          </a:stretch>
        </p:blipFill>
        <p:spPr>
          <a:xfrm>
            <a:off x="5695100" y="681525"/>
            <a:ext cx="2346491" cy="3780451"/>
          </a:xfrm>
          <a:prstGeom prst="rect">
            <a:avLst/>
          </a:prstGeom>
          <a:noFill/>
          <a:ln>
            <a:noFill/>
          </a:ln>
        </p:spPr>
      </p:pic>
      <p:sp>
        <p:nvSpPr>
          <p:cNvPr id="311" name="Google Shape;311;p17"/>
          <p:cNvSpPr txBox="1"/>
          <p:nvPr/>
        </p:nvSpPr>
        <p:spPr>
          <a:xfrm>
            <a:off x="800450" y="4547875"/>
            <a:ext cx="3771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800">
                <a:solidFill>
                  <a:srgbClr val="94B6BD"/>
                </a:solidFill>
              </a:rPr>
              <a:t>Moore, K. L., Dalley, A. F., and Agur, A. M. R. (2014). Clinically oriented anatomy. Lippincott Williams and Wilkins.</a:t>
            </a:r>
            <a:endParaRPr sz="800">
              <a:solidFill>
                <a:srgbClr val="94B6BD"/>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8"/>
          <p:cNvSpPr txBox="1"/>
          <p:nvPr>
            <p:ph idx="1" type="body"/>
          </p:nvPr>
        </p:nvSpPr>
        <p:spPr>
          <a:xfrm>
            <a:off x="1303800" y="16852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 descripción del movimiento humano se puede explicar por los movimientos entre los segmentos y el rango de movimiento (DoF) de cada articulación en tres planos del cuerpo, llamados planos anatómicos.</a:t>
            </a:r>
            <a:endParaRPr/>
          </a:p>
          <a:p>
            <a:pPr indent="0" lvl="0" marL="0" rtl="0" algn="l">
              <a:spcBef>
                <a:spcPts val="1200"/>
              </a:spcBef>
              <a:spcAft>
                <a:spcPts val="1200"/>
              </a:spcAft>
              <a:buNone/>
            </a:pPr>
            <a:r>
              <a:rPr lang="es-419"/>
              <a:t>Estos planos se definen como la base del cuerpo en la posición anatómica, i.e., de pie con los pies juntos, los brazos girados hacia los lados, con la cabeza, los ojos y las palmas de las manos mirando hacia delante.</a:t>
            </a:r>
            <a:endParaRPr/>
          </a:p>
        </p:txBody>
      </p:sp>
      <p:sp>
        <p:nvSpPr>
          <p:cNvPr id="317" name="Google Shape;317;p1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Planos anatómicos</a:t>
            </a:r>
            <a:endParaRPr/>
          </a:p>
        </p:txBody>
      </p:sp>
      <p:sp>
        <p:nvSpPr>
          <p:cNvPr id="318" name="Google Shape;318;p1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319" name="Google Shape;319;p18"/>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Moore, K. L., Dalley, A. F., and Agur, A. M. R. (2014). Clinically oriented anatomy. Lippincott Williams and Wilkins</a:t>
            </a:r>
            <a:endParaRPr sz="800">
              <a:solidFill>
                <a:srgbClr val="94B6BD"/>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19"/>
          <p:cNvSpPr txBox="1"/>
          <p:nvPr>
            <p:ph idx="1" type="body"/>
          </p:nvPr>
        </p:nvSpPr>
        <p:spPr>
          <a:xfrm>
            <a:off x="1303800" y="1685250"/>
            <a:ext cx="7030500" cy="2696400"/>
          </a:xfrm>
          <a:prstGeom prst="rect">
            <a:avLst/>
          </a:prstGeom>
        </p:spPr>
        <p:txBody>
          <a:bodyPr anchorCtr="0" anchor="t" bIns="91425" lIns="91425" spcFirstLastPara="1" rIns="91425" wrap="square" tIns="91425">
            <a:normAutofit lnSpcReduction="10000"/>
          </a:bodyPr>
          <a:lstStyle/>
          <a:p>
            <a:pPr indent="-317500" lvl="0" marL="457200" rtl="0" algn="l">
              <a:spcBef>
                <a:spcPts val="0"/>
              </a:spcBef>
              <a:spcAft>
                <a:spcPts val="0"/>
              </a:spcAft>
              <a:buSzPts val="1400"/>
              <a:buChar char="●"/>
            </a:pPr>
            <a:r>
              <a:rPr lang="es-419"/>
              <a:t>El </a:t>
            </a:r>
            <a:r>
              <a:rPr b="1" lang="es-419"/>
              <a:t>plano medio</a:t>
            </a:r>
            <a:r>
              <a:rPr lang="es-419"/>
              <a:t> (plano sagital medio), es el plano vertical que pasa longitudinalmente por el cuerpo, divide el cuerpo en mitades derecha e izquierda. </a:t>
            </a:r>
            <a:endParaRPr/>
          </a:p>
          <a:p>
            <a:pPr indent="-311150" lvl="1" marL="914400" rtl="0" algn="l">
              <a:spcBef>
                <a:spcPts val="0"/>
              </a:spcBef>
              <a:spcAft>
                <a:spcPts val="0"/>
              </a:spcAft>
              <a:buSzPts val="1300"/>
              <a:buChar char="○"/>
            </a:pPr>
            <a:r>
              <a:rPr lang="es-419" sz="1300"/>
              <a:t>Los </a:t>
            </a:r>
            <a:r>
              <a:rPr b="1" lang="es-419" sz="1300">
                <a:solidFill>
                  <a:schemeClr val="accent5"/>
                </a:solidFill>
              </a:rPr>
              <a:t>planos sagitales</a:t>
            </a:r>
            <a:r>
              <a:rPr lang="es-419" sz="1300"/>
              <a:t> son planos verticales que atraviesan el cuerpo paralelos al plano medio.</a:t>
            </a:r>
            <a:endParaRPr sz="1300"/>
          </a:p>
          <a:p>
            <a:pPr indent="-317500" lvl="0" marL="457200" rtl="0" algn="l">
              <a:spcBef>
                <a:spcPts val="0"/>
              </a:spcBef>
              <a:spcAft>
                <a:spcPts val="0"/>
              </a:spcAft>
              <a:buSzPts val="1400"/>
              <a:buChar char="●"/>
            </a:pPr>
            <a:r>
              <a:rPr lang="es-419"/>
              <a:t>Los </a:t>
            </a:r>
            <a:r>
              <a:rPr b="1" lang="es-419"/>
              <a:t>planos frontales </a:t>
            </a:r>
            <a:r>
              <a:rPr lang="es-419"/>
              <a:t>son planos verticales que atraviesan el cuerpo en ángulo recto con el plano medio y dividen el cuerpo en partes anterior (frontal) y posterior (trasera).</a:t>
            </a:r>
            <a:endParaRPr/>
          </a:p>
          <a:p>
            <a:pPr indent="-317500" lvl="0" marL="457200" rtl="0" algn="l">
              <a:spcBef>
                <a:spcPts val="0"/>
              </a:spcBef>
              <a:spcAft>
                <a:spcPts val="0"/>
              </a:spcAft>
              <a:buSzPts val="1400"/>
              <a:buChar char="●"/>
            </a:pPr>
            <a:r>
              <a:rPr lang="es-419"/>
              <a:t>Los </a:t>
            </a:r>
            <a:r>
              <a:rPr b="1" lang="es-419"/>
              <a:t>planos transversales</a:t>
            </a:r>
            <a:r>
              <a:rPr lang="es-419"/>
              <a:t> son planos horizontales que atraviesan el cuerpo en ángulo recto con los planos medio y frontal, y dividen el cuerpo en partes superior (superior) e inferior (inferior).</a:t>
            </a:r>
            <a:endParaRPr/>
          </a:p>
        </p:txBody>
      </p:sp>
      <p:sp>
        <p:nvSpPr>
          <p:cNvPr id="325" name="Google Shape;325;p1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Planos anatómicos</a:t>
            </a:r>
            <a:endParaRPr/>
          </a:p>
        </p:txBody>
      </p:sp>
      <p:sp>
        <p:nvSpPr>
          <p:cNvPr id="326" name="Google Shape;326;p1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327" name="Google Shape;327;p19"/>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Moore, K. L., Dalley, A. F., and Agur, A. M. R. (2014). Clinically oriented anatomy. Lippincott Williams and Wilkins</a:t>
            </a:r>
            <a:endParaRPr sz="800">
              <a:solidFill>
                <a:srgbClr val="94B6BD"/>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Planos principales del cuerpo humano</a:t>
            </a:r>
            <a:endParaRPr/>
          </a:p>
        </p:txBody>
      </p:sp>
      <p:sp>
        <p:nvSpPr>
          <p:cNvPr id="333" name="Google Shape;333;p2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34" name="Google Shape;334;p20"/>
          <p:cNvPicPr preferRelativeResize="0"/>
          <p:nvPr/>
        </p:nvPicPr>
        <p:blipFill rotWithShape="1">
          <a:blip r:embed="rId3">
            <a:alphaModFix/>
          </a:blip>
          <a:srcRect b="13741" l="0" r="0" t="0"/>
          <a:stretch/>
        </p:blipFill>
        <p:spPr>
          <a:xfrm>
            <a:off x="1333500" y="1238125"/>
            <a:ext cx="6477001" cy="2667250"/>
          </a:xfrm>
          <a:prstGeom prst="rect">
            <a:avLst/>
          </a:prstGeom>
          <a:noFill/>
          <a:ln>
            <a:noFill/>
          </a:ln>
        </p:spPr>
      </p:pic>
      <p:sp>
        <p:nvSpPr>
          <p:cNvPr id="335" name="Google Shape;335;p20"/>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Moore, K. L., Dalley, A. F., and Agur, A. M. R. (2014). Clinically oriented anatomy. Lippincott Williams and Wilkins</a:t>
            </a:r>
            <a:endParaRPr sz="800">
              <a:solidFill>
                <a:srgbClr val="94B6BD"/>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1"/>
          <p:cNvSpPr txBox="1"/>
          <p:nvPr>
            <p:ph idx="1" type="body"/>
          </p:nvPr>
        </p:nvSpPr>
        <p:spPr>
          <a:xfrm>
            <a:off x="1303800" y="1685250"/>
            <a:ext cx="7030500" cy="269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 mayoría de los movimientos se definen con referencia a la posición anatómica, con movimientos que ocurren dentro y alrededor de ejes alineados con respecto a planos anatómicos específicos. Los términos de movimiento también pueden considerarse en pares de movimientos opuestos:</a:t>
            </a:r>
            <a:endParaRPr/>
          </a:p>
          <a:p>
            <a:pPr indent="-317500" lvl="0" marL="457200" rtl="0" algn="l">
              <a:spcBef>
                <a:spcPts val="1200"/>
              </a:spcBef>
              <a:spcAft>
                <a:spcPts val="0"/>
              </a:spcAft>
              <a:buSzPts val="1400"/>
              <a:buChar char="●"/>
            </a:pPr>
            <a:r>
              <a:rPr lang="es-419"/>
              <a:t>Los movimientos de </a:t>
            </a:r>
            <a:r>
              <a:rPr b="1" lang="es-419"/>
              <a:t>flexión y extensión</a:t>
            </a:r>
            <a:r>
              <a:rPr lang="es-419"/>
              <a:t> generalmente ocurren en planos sagitales alrededor de un eje transversal. La flexión es un movimiento que reduce el ángulo entre los segmentos del cuerpo. La extensión es un movimiento que aumenta el ángulo entre los segmentos del cuerpo y se opone a la flexión.</a:t>
            </a:r>
            <a:endParaRPr/>
          </a:p>
        </p:txBody>
      </p:sp>
      <p:sp>
        <p:nvSpPr>
          <p:cNvPr id="341" name="Google Shape;341;p2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Movimientos (</a:t>
            </a:r>
            <a:r>
              <a:rPr i="1" lang="es-419" sz="2400">
                <a:solidFill>
                  <a:schemeClr val="dk1"/>
                </a:solidFill>
              </a:rPr>
              <a:t>terms of movements</a:t>
            </a:r>
            <a:r>
              <a:rPr lang="es-419" sz="2400">
                <a:solidFill>
                  <a:schemeClr val="dk1"/>
                </a:solidFill>
              </a:rPr>
              <a:t>)</a:t>
            </a:r>
            <a:endParaRPr/>
          </a:p>
        </p:txBody>
      </p:sp>
      <p:sp>
        <p:nvSpPr>
          <p:cNvPr id="342" name="Google Shape;342;p2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343" name="Google Shape;343;p21"/>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Moore, K. L., Dalley, A. F., and Agur, A. M. R. (2014). Clinically oriented anatomy. Lippincott Williams and Wilkins</a:t>
            </a:r>
            <a:endParaRPr sz="800">
              <a:solidFill>
                <a:srgbClr val="94B6BD"/>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22"/>
          <p:cNvSpPr txBox="1"/>
          <p:nvPr>
            <p:ph idx="1" type="body"/>
          </p:nvPr>
        </p:nvSpPr>
        <p:spPr>
          <a:xfrm>
            <a:off x="1303800" y="1685250"/>
            <a:ext cx="7030500" cy="269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s-419"/>
              <a:t>Los movimientos de </a:t>
            </a:r>
            <a:r>
              <a:rPr b="1" lang="es-419"/>
              <a:t>abducción y aducción</a:t>
            </a:r>
            <a:r>
              <a:rPr lang="es-419"/>
              <a:t> generalmente ocurren en un plano frontal alrededor de un eje anteroposterior. La abducción es un movimiento hacia afuera de la extremidad que se aleja del plano medio del cuerpo. La aducción es un movimiento que acerca una extremidad al cuerpo y se opone a la abducción.</a:t>
            </a:r>
            <a:endParaRPr/>
          </a:p>
        </p:txBody>
      </p:sp>
      <p:sp>
        <p:nvSpPr>
          <p:cNvPr id="349" name="Google Shape;349;p2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Movimientos (</a:t>
            </a:r>
            <a:r>
              <a:rPr i="1" lang="es-419" sz="2400">
                <a:solidFill>
                  <a:schemeClr val="dk1"/>
                </a:solidFill>
              </a:rPr>
              <a:t>terms of movements</a:t>
            </a:r>
            <a:r>
              <a:rPr lang="es-419" sz="2400">
                <a:solidFill>
                  <a:schemeClr val="dk1"/>
                </a:solidFill>
              </a:rPr>
              <a:t>)</a:t>
            </a:r>
            <a:endParaRPr/>
          </a:p>
        </p:txBody>
      </p:sp>
      <p:sp>
        <p:nvSpPr>
          <p:cNvPr id="350" name="Google Shape;350;p2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351" name="Google Shape;351;p22"/>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Moore, K. L., Dalley, A. F., and Agur, A. M. R. (2014). Clinically oriented anatomy. Lippincott Williams and Wilkins</a:t>
            </a:r>
            <a:endParaRPr sz="800">
              <a:solidFill>
                <a:srgbClr val="94B6BD"/>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23"/>
          <p:cNvSpPr txBox="1"/>
          <p:nvPr>
            <p:ph idx="1" type="body"/>
          </p:nvPr>
        </p:nvSpPr>
        <p:spPr>
          <a:xfrm>
            <a:off x="1303800" y="1685250"/>
            <a:ext cx="7030500" cy="269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s-419"/>
              <a:t>La </a:t>
            </a:r>
            <a:r>
              <a:rPr b="1" lang="es-419"/>
              <a:t>rotación</a:t>
            </a:r>
            <a:r>
              <a:rPr lang="es-419"/>
              <a:t> implica girar o hacer girar una parte del cuerpo alrededor de su eje longitudinal. Las rotaciones internas y externas son los movimientos alrededor del eje largo de la extremidad en un movimiento circular. </a:t>
            </a:r>
            <a:endParaRPr/>
          </a:p>
          <a:p>
            <a:pPr indent="-311150" lvl="1" marL="914400" rtl="0" algn="l">
              <a:spcBef>
                <a:spcPts val="0"/>
              </a:spcBef>
              <a:spcAft>
                <a:spcPts val="0"/>
              </a:spcAft>
              <a:buSzPts val="1300"/>
              <a:buChar char="○"/>
            </a:pPr>
            <a:r>
              <a:rPr lang="es-419" sz="1300"/>
              <a:t>La </a:t>
            </a:r>
            <a:r>
              <a:rPr b="1" lang="es-419" sz="1300">
                <a:solidFill>
                  <a:schemeClr val="accent5"/>
                </a:solidFill>
              </a:rPr>
              <a:t>pronación </a:t>
            </a:r>
            <a:r>
              <a:rPr lang="es-419" sz="1300">
                <a:solidFill>
                  <a:schemeClr val="accent5"/>
                </a:solidFill>
              </a:rPr>
              <a:t>y</a:t>
            </a:r>
            <a:r>
              <a:rPr b="1" lang="es-419" sz="1300">
                <a:solidFill>
                  <a:schemeClr val="accent5"/>
                </a:solidFill>
              </a:rPr>
              <a:t> la supinación</a:t>
            </a:r>
            <a:r>
              <a:rPr lang="es-419" sz="1300"/>
              <a:t> son un par de movimientos de rotación únicos posibles solo en los antebrazos. La pronación es una rotación del antebrazo que mueve la palma de una posición anterior a una posterior, es decir, la palma hacia abajo. La supinación es la rotación del antebrazo para que la posición de la palma sea anterior, es decir, la palma hacia arriba.</a:t>
            </a:r>
            <a:endParaRPr sz="1300"/>
          </a:p>
        </p:txBody>
      </p:sp>
      <p:sp>
        <p:nvSpPr>
          <p:cNvPr id="357" name="Google Shape;357;p2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Movimientos (</a:t>
            </a:r>
            <a:r>
              <a:rPr i="1" lang="es-419" sz="2400">
                <a:solidFill>
                  <a:schemeClr val="dk1"/>
                </a:solidFill>
              </a:rPr>
              <a:t>terms of movements</a:t>
            </a:r>
            <a:r>
              <a:rPr lang="es-419" sz="2400">
                <a:solidFill>
                  <a:schemeClr val="dk1"/>
                </a:solidFill>
              </a:rPr>
              <a:t>)</a:t>
            </a:r>
            <a:endParaRPr/>
          </a:p>
        </p:txBody>
      </p:sp>
      <p:sp>
        <p:nvSpPr>
          <p:cNvPr id="358" name="Google Shape;358;p2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359" name="Google Shape;359;p23"/>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Moore, K. L., Dalley, A. F., and Agur, A. M. R. (2014). Clinically oriented anatomy. Lippincott Williams and Wilkins</a:t>
            </a:r>
            <a:endParaRPr sz="800">
              <a:solidFill>
                <a:srgbClr val="94B6BD"/>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24"/>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Movimientos de las extremidades y segmentos de las extremidades.</a:t>
            </a:r>
            <a:endParaRPr/>
          </a:p>
        </p:txBody>
      </p:sp>
      <p:sp>
        <p:nvSpPr>
          <p:cNvPr id="365" name="Google Shape;365;p2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66" name="Google Shape;366;p24"/>
          <p:cNvPicPr preferRelativeResize="0"/>
          <p:nvPr/>
        </p:nvPicPr>
        <p:blipFill>
          <a:blip r:embed="rId3">
            <a:alphaModFix/>
          </a:blip>
          <a:stretch>
            <a:fillRect/>
          </a:stretch>
        </p:blipFill>
        <p:spPr>
          <a:xfrm>
            <a:off x="1275488" y="1258202"/>
            <a:ext cx="6593024" cy="26270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25"/>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Movimientos de otros segmentos anatómicos</a:t>
            </a:r>
            <a:endParaRPr/>
          </a:p>
        </p:txBody>
      </p:sp>
      <p:sp>
        <p:nvSpPr>
          <p:cNvPr id="372" name="Google Shape;372;p2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73" name="Google Shape;373;p25"/>
          <p:cNvPicPr preferRelativeResize="0"/>
          <p:nvPr/>
        </p:nvPicPr>
        <p:blipFill>
          <a:blip r:embed="rId3">
            <a:alphaModFix/>
          </a:blip>
          <a:stretch>
            <a:fillRect/>
          </a:stretch>
        </p:blipFill>
        <p:spPr>
          <a:xfrm>
            <a:off x="340800" y="257400"/>
            <a:ext cx="2039798" cy="1882874"/>
          </a:xfrm>
          <a:prstGeom prst="rect">
            <a:avLst/>
          </a:prstGeom>
          <a:noFill/>
          <a:ln>
            <a:noFill/>
          </a:ln>
        </p:spPr>
      </p:pic>
      <p:pic>
        <p:nvPicPr>
          <p:cNvPr id="374" name="Google Shape;374;p25"/>
          <p:cNvPicPr preferRelativeResize="0"/>
          <p:nvPr/>
        </p:nvPicPr>
        <p:blipFill>
          <a:blip r:embed="rId4">
            <a:alphaModFix/>
          </a:blip>
          <a:stretch>
            <a:fillRect/>
          </a:stretch>
        </p:blipFill>
        <p:spPr>
          <a:xfrm>
            <a:off x="2504200" y="566500"/>
            <a:ext cx="3183550" cy="1192925"/>
          </a:xfrm>
          <a:prstGeom prst="rect">
            <a:avLst/>
          </a:prstGeom>
          <a:noFill/>
          <a:ln>
            <a:noFill/>
          </a:ln>
        </p:spPr>
      </p:pic>
      <p:pic>
        <p:nvPicPr>
          <p:cNvPr id="375" name="Google Shape;375;p25"/>
          <p:cNvPicPr preferRelativeResize="0"/>
          <p:nvPr/>
        </p:nvPicPr>
        <p:blipFill>
          <a:blip r:embed="rId5">
            <a:alphaModFix/>
          </a:blip>
          <a:stretch>
            <a:fillRect/>
          </a:stretch>
        </p:blipFill>
        <p:spPr>
          <a:xfrm>
            <a:off x="3944613" y="2166888"/>
            <a:ext cx="1460834" cy="1564600"/>
          </a:xfrm>
          <a:prstGeom prst="rect">
            <a:avLst/>
          </a:prstGeom>
          <a:noFill/>
          <a:ln>
            <a:noFill/>
          </a:ln>
        </p:spPr>
      </p:pic>
      <p:pic>
        <p:nvPicPr>
          <p:cNvPr id="376" name="Google Shape;376;p25"/>
          <p:cNvPicPr preferRelativeResize="0"/>
          <p:nvPr/>
        </p:nvPicPr>
        <p:blipFill>
          <a:blip r:embed="rId6">
            <a:alphaModFix/>
          </a:blip>
          <a:stretch>
            <a:fillRect/>
          </a:stretch>
        </p:blipFill>
        <p:spPr>
          <a:xfrm>
            <a:off x="2504200" y="2248300"/>
            <a:ext cx="1328286" cy="1564600"/>
          </a:xfrm>
          <a:prstGeom prst="rect">
            <a:avLst/>
          </a:prstGeom>
          <a:noFill/>
          <a:ln>
            <a:noFill/>
          </a:ln>
        </p:spPr>
      </p:pic>
      <p:pic>
        <p:nvPicPr>
          <p:cNvPr id="377" name="Google Shape;377;p25"/>
          <p:cNvPicPr preferRelativeResize="0"/>
          <p:nvPr/>
        </p:nvPicPr>
        <p:blipFill>
          <a:blip r:embed="rId7">
            <a:alphaModFix/>
          </a:blip>
          <a:stretch>
            <a:fillRect/>
          </a:stretch>
        </p:blipFill>
        <p:spPr>
          <a:xfrm>
            <a:off x="5993825" y="316275"/>
            <a:ext cx="2786509" cy="2089875"/>
          </a:xfrm>
          <a:prstGeom prst="rect">
            <a:avLst/>
          </a:prstGeom>
          <a:noFill/>
          <a:ln>
            <a:noFill/>
          </a:ln>
        </p:spPr>
      </p:pic>
      <p:pic>
        <p:nvPicPr>
          <p:cNvPr id="378" name="Google Shape;378;p25"/>
          <p:cNvPicPr preferRelativeResize="0"/>
          <p:nvPr/>
        </p:nvPicPr>
        <p:blipFill>
          <a:blip r:embed="rId8">
            <a:alphaModFix/>
          </a:blip>
          <a:stretch>
            <a:fillRect/>
          </a:stretch>
        </p:blipFill>
        <p:spPr>
          <a:xfrm>
            <a:off x="5828950" y="2676100"/>
            <a:ext cx="2951384" cy="1192925"/>
          </a:xfrm>
          <a:prstGeom prst="rect">
            <a:avLst/>
          </a:prstGeom>
          <a:noFill/>
          <a:ln>
            <a:noFill/>
          </a:ln>
        </p:spPr>
      </p:pic>
      <p:pic>
        <p:nvPicPr>
          <p:cNvPr id="379" name="Google Shape;379;p25"/>
          <p:cNvPicPr preferRelativeResize="0"/>
          <p:nvPr/>
        </p:nvPicPr>
        <p:blipFill>
          <a:blip r:embed="rId9">
            <a:alphaModFix/>
          </a:blip>
          <a:stretch>
            <a:fillRect/>
          </a:stretch>
        </p:blipFill>
        <p:spPr>
          <a:xfrm>
            <a:off x="856397" y="2462425"/>
            <a:ext cx="871125" cy="1354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26"/>
          <p:cNvSpPr txBox="1"/>
          <p:nvPr>
            <p:ph idx="1" type="body"/>
          </p:nvPr>
        </p:nvSpPr>
        <p:spPr>
          <a:xfrm>
            <a:off x="1303800" y="1685250"/>
            <a:ext cx="7030500" cy="269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Las extremidades superiores se caracterizan por su movilidad y capacidad para agarrar, golpear y llevar a cabo acciones motoras de manipulación.</a:t>
            </a:r>
            <a:endParaRPr/>
          </a:p>
          <a:p>
            <a:pPr indent="0" lvl="0" marL="0" rtl="0" algn="l">
              <a:spcBef>
                <a:spcPts val="1200"/>
              </a:spcBef>
              <a:spcAft>
                <a:spcPts val="0"/>
              </a:spcAft>
              <a:buNone/>
            </a:pPr>
            <a:r>
              <a:rPr lang="es-419"/>
              <a:t>La extremidad superior es la región desde el hombro hasta la mano. </a:t>
            </a:r>
            <a:endParaRPr/>
          </a:p>
          <a:p>
            <a:pPr indent="0" lvl="0" marL="0" rtl="0" algn="l">
              <a:spcBef>
                <a:spcPts val="1200"/>
              </a:spcBef>
              <a:spcAft>
                <a:spcPts val="0"/>
              </a:spcAft>
              <a:buNone/>
            </a:pPr>
            <a:r>
              <a:rPr lang="es-419"/>
              <a:t>Incluye tres </a:t>
            </a:r>
            <a:r>
              <a:rPr b="1" lang="es-419"/>
              <a:t>segmentos</a:t>
            </a:r>
            <a:r>
              <a:rPr lang="es-419"/>
              <a:t>: el brazo superior (la región entre el hombro y el codo),</a:t>
            </a:r>
            <a:r>
              <a:rPr lang="es-419"/>
              <a:t> </a:t>
            </a:r>
            <a:r>
              <a:rPr lang="es-419"/>
              <a:t>el antebrazo (la región entre el codo y la muñeca) y la mano. </a:t>
            </a:r>
            <a:endParaRPr/>
          </a:p>
          <a:p>
            <a:pPr indent="0" lvl="0" marL="0" rtl="0" algn="l">
              <a:spcBef>
                <a:spcPts val="1200"/>
              </a:spcBef>
              <a:spcAft>
                <a:spcPts val="1200"/>
              </a:spcAft>
              <a:buNone/>
            </a:pPr>
            <a:r>
              <a:rPr lang="es-419"/>
              <a:t>Estos segmentos están unidos entre ellos y al tronco por tres </a:t>
            </a:r>
            <a:r>
              <a:rPr b="1" lang="es-419"/>
              <a:t>articulaciones</a:t>
            </a:r>
            <a:r>
              <a:rPr lang="es-419"/>
              <a:t>: el hombro, el codo y la muñeca.</a:t>
            </a:r>
            <a:endParaRPr/>
          </a:p>
        </p:txBody>
      </p:sp>
      <p:sp>
        <p:nvSpPr>
          <p:cNvPr id="385" name="Google Shape;385;p2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Extremidad superior</a:t>
            </a:r>
            <a:endParaRPr/>
          </a:p>
        </p:txBody>
      </p:sp>
      <p:sp>
        <p:nvSpPr>
          <p:cNvPr id="386" name="Google Shape;386;p2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387" name="Google Shape;387;p26"/>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Sobotta, J., Putz, R., and Pabst, R. (2006). Atlas of Human Anatomy:Head, Neck, Upper Limb, volume 1. Elsevier.</a:t>
            </a:r>
            <a:endParaRPr sz="800">
              <a:solidFill>
                <a:srgbClr val="94B6BD"/>
              </a:solidFill>
            </a:endParaRPr>
          </a:p>
          <a:p>
            <a:pPr indent="0" lvl="0" marL="0" rtl="0" algn="r">
              <a:spcBef>
                <a:spcPts val="0"/>
              </a:spcBef>
              <a:spcAft>
                <a:spcPts val="0"/>
              </a:spcAft>
              <a:buNone/>
            </a:pPr>
            <a:r>
              <a:t/>
            </a:r>
            <a:endParaRPr sz="800">
              <a:solidFill>
                <a:srgbClr val="94B6BD"/>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2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93" name="Google Shape;393;p27"/>
          <p:cNvPicPr preferRelativeResize="0"/>
          <p:nvPr/>
        </p:nvPicPr>
        <p:blipFill>
          <a:blip r:embed="rId3">
            <a:alphaModFix/>
          </a:blip>
          <a:stretch>
            <a:fillRect/>
          </a:stretch>
        </p:blipFill>
        <p:spPr>
          <a:xfrm>
            <a:off x="3126575" y="343238"/>
            <a:ext cx="2890847" cy="445702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28"/>
          <p:cNvSpPr txBox="1"/>
          <p:nvPr>
            <p:ph idx="1" type="body"/>
          </p:nvPr>
        </p:nvSpPr>
        <p:spPr>
          <a:xfrm>
            <a:off x="1303800" y="1685250"/>
            <a:ext cx="7030500" cy="269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Las extremidades (miembros) inferiores son extensiones del tronco que están especializadas en sostener el peso corporal en la locomoción y en el mantenimiento del equilibrio.</a:t>
            </a:r>
            <a:endParaRPr/>
          </a:p>
          <a:p>
            <a:pPr indent="0" lvl="0" marL="0" rtl="0" algn="l">
              <a:spcBef>
                <a:spcPts val="1200"/>
              </a:spcBef>
              <a:spcAft>
                <a:spcPts val="0"/>
              </a:spcAft>
              <a:buNone/>
            </a:pPr>
            <a:r>
              <a:rPr lang="es-419"/>
              <a:t>La extremidad inferior se extiende desde la región glútea hasta el pie. </a:t>
            </a:r>
            <a:endParaRPr/>
          </a:p>
          <a:p>
            <a:pPr indent="0" lvl="0" marL="0" rtl="0" algn="l">
              <a:spcBef>
                <a:spcPts val="1200"/>
              </a:spcBef>
              <a:spcAft>
                <a:spcPts val="0"/>
              </a:spcAft>
              <a:buNone/>
            </a:pPr>
            <a:r>
              <a:rPr lang="es-419"/>
              <a:t>Consta de tres </a:t>
            </a:r>
            <a:r>
              <a:rPr b="1" lang="es-419"/>
              <a:t>segmentos</a:t>
            </a:r>
            <a:r>
              <a:rPr lang="es-419"/>
              <a:t>: el muslo (la región entre la cadera y la rodilla), la pierna (la región entre la rodilla y el tobillo) y el pie. </a:t>
            </a:r>
            <a:endParaRPr/>
          </a:p>
          <a:p>
            <a:pPr indent="0" lvl="0" marL="0" rtl="0" algn="l">
              <a:spcBef>
                <a:spcPts val="1200"/>
              </a:spcBef>
              <a:spcAft>
                <a:spcPts val="1200"/>
              </a:spcAft>
              <a:buNone/>
            </a:pPr>
            <a:r>
              <a:rPr lang="es-419"/>
              <a:t>Estos segmentos están unidos entre sí por tres </a:t>
            </a:r>
            <a:r>
              <a:rPr b="1" lang="es-419"/>
              <a:t>articulaciones</a:t>
            </a:r>
            <a:r>
              <a:rPr lang="es-419"/>
              <a:t>: la cadera, la rodilla y el tobillo.</a:t>
            </a:r>
            <a:endParaRPr/>
          </a:p>
        </p:txBody>
      </p:sp>
      <p:sp>
        <p:nvSpPr>
          <p:cNvPr id="399" name="Google Shape;399;p2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Extremidad inferior</a:t>
            </a:r>
            <a:endParaRPr/>
          </a:p>
        </p:txBody>
      </p:sp>
      <p:sp>
        <p:nvSpPr>
          <p:cNvPr id="400" name="Google Shape;400;p2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01" name="Google Shape;401;p28"/>
          <p:cNvSpPr txBox="1"/>
          <p:nvPr/>
        </p:nvSpPr>
        <p:spPr>
          <a:xfrm>
            <a:off x="800450" y="4547875"/>
            <a:ext cx="75372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Draves, D. J. (1986). Anatomy of the lower extremity. Williams &amp; Wilkins.</a:t>
            </a:r>
            <a:endParaRPr sz="800">
              <a:solidFill>
                <a:srgbClr val="94B6BD"/>
              </a:solidFill>
            </a:endParaRPr>
          </a:p>
          <a:p>
            <a:pPr indent="0" lvl="0" marL="0" rtl="0" algn="r">
              <a:spcBef>
                <a:spcPts val="0"/>
              </a:spcBef>
              <a:spcAft>
                <a:spcPts val="0"/>
              </a:spcAft>
              <a:buNone/>
            </a:pPr>
            <a:r>
              <a:t/>
            </a:r>
            <a:endParaRPr sz="800">
              <a:solidFill>
                <a:srgbClr val="94B6BD"/>
              </a:solidFill>
            </a:endParaRPr>
          </a:p>
          <a:p>
            <a:pPr indent="0" lvl="0" marL="0" rtl="0" algn="r">
              <a:spcBef>
                <a:spcPts val="0"/>
              </a:spcBef>
              <a:spcAft>
                <a:spcPts val="0"/>
              </a:spcAft>
              <a:buNone/>
            </a:pPr>
            <a:r>
              <a:t/>
            </a:r>
            <a:endParaRPr sz="800">
              <a:solidFill>
                <a:srgbClr val="94B6BD"/>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2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407" name="Google Shape;407;p29"/>
          <p:cNvPicPr preferRelativeResize="0"/>
          <p:nvPr/>
        </p:nvPicPr>
        <p:blipFill>
          <a:blip r:embed="rId3">
            <a:alphaModFix/>
          </a:blip>
          <a:stretch>
            <a:fillRect/>
          </a:stretch>
        </p:blipFill>
        <p:spPr>
          <a:xfrm>
            <a:off x="3299400" y="152400"/>
            <a:ext cx="2545212" cy="48386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30"/>
          <p:cNvSpPr txBox="1"/>
          <p:nvPr>
            <p:ph idx="1" type="body"/>
          </p:nvPr>
        </p:nvSpPr>
        <p:spPr>
          <a:xfrm>
            <a:off x="1303800" y="1685250"/>
            <a:ext cx="7255500" cy="3051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419"/>
              <a:t>La columna vertebral es una estructura ósea en forma de pilar que soporta el tronco. Está dividida en varias secciones. </a:t>
            </a:r>
            <a:endParaRPr/>
          </a:p>
          <a:p>
            <a:pPr indent="-317500" lvl="0" marL="457200" rtl="0" algn="l">
              <a:spcBef>
                <a:spcPts val="1200"/>
              </a:spcBef>
              <a:spcAft>
                <a:spcPts val="0"/>
              </a:spcAft>
              <a:buSzPts val="1400"/>
              <a:buChar char="●"/>
            </a:pPr>
            <a:r>
              <a:rPr lang="es-419"/>
              <a:t>Las vértebras </a:t>
            </a:r>
            <a:r>
              <a:rPr b="1" lang="es-419"/>
              <a:t>cervicales</a:t>
            </a:r>
            <a:r>
              <a:rPr lang="es-419"/>
              <a:t> forman el cuello. </a:t>
            </a:r>
            <a:endParaRPr/>
          </a:p>
          <a:p>
            <a:pPr indent="-317500" lvl="0" marL="457200" rtl="0" algn="l">
              <a:spcBef>
                <a:spcPts val="0"/>
              </a:spcBef>
              <a:spcAft>
                <a:spcPts val="0"/>
              </a:spcAft>
              <a:buSzPts val="1400"/>
              <a:buChar char="●"/>
            </a:pPr>
            <a:r>
              <a:rPr lang="es-419"/>
              <a:t>Las vértebras </a:t>
            </a:r>
            <a:r>
              <a:rPr b="1" lang="es-419"/>
              <a:t>torácicas</a:t>
            </a:r>
            <a:r>
              <a:rPr lang="es-419"/>
              <a:t> comprenden la porción del tórax y tienen costillas adheridas a ellas. </a:t>
            </a:r>
            <a:endParaRPr/>
          </a:p>
          <a:p>
            <a:pPr indent="-317500" lvl="0" marL="457200" rtl="0" algn="l">
              <a:spcBef>
                <a:spcPts val="0"/>
              </a:spcBef>
              <a:spcAft>
                <a:spcPts val="0"/>
              </a:spcAft>
              <a:buSzPts val="1400"/>
              <a:buChar char="●"/>
            </a:pPr>
            <a:r>
              <a:rPr lang="es-419"/>
              <a:t>Las vértebras </a:t>
            </a:r>
            <a:r>
              <a:rPr b="1" lang="es-419"/>
              <a:t>lumbares</a:t>
            </a:r>
            <a:r>
              <a:rPr lang="es-419"/>
              <a:t> son las vértebras restantes que están por debajo del último hueso torácico y en la parte superior del sacro. Las vértebras sacros están rodeadas por los huesos de la pelvis.</a:t>
            </a:r>
            <a:endParaRPr/>
          </a:p>
          <a:p>
            <a:pPr indent="0" lvl="0" marL="0" rtl="0" algn="l">
              <a:spcBef>
                <a:spcPts val="1200"/>
              </a:spcBef>
              <a:spcAft>
                <a:spcPts val="0"/>
              </a:spcAft>
              <a:buNone/>
            </a:pPr>
            <a:r>
              <a:rPr lang="es-419"/>
              <a:t>La columna tiene tres características: rigidez para soportar cargas, proteger las estructuras internas y dar una buena movilidad y flexibilidad. </a:t>
            </a:r>
            <a:endParaRPr/>
          </a:p>
          <a:p>
            <a:pPr indent="0" lvl="0" marL="0" rtl="0" algn="l">
              <a:spcBef>
                <a:spcPts val="1200"/>
              </a:spcBef>
              <a:spcAft>
                <a:spcPts val="1200"/>
              </a:spcAft>
              <a:buNone/>
            </a:pPr>
            <a:r>
              <a:rPr lang="es-419"/>
              <a:t>Permite movimientos de flexión/extensión, flexiones laterales y rotaciones.</a:t>
            </a:r>
            <a:endParaRPr/>
          </a:p>
        </p:txBody>
      </p:sp>
      <p:sp>
        <p:nvSpPr>
          <p:cNvPr id="413" name="Google Shape;413;p3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Torso o tronco</a:t>
            </a:r>
            <a:endParaRPr/>
          </a:p>
        </p:txBody>
      </p:sp>
      <p:sp>
        <p:nvSpPr>
          <p:cNvPr id="414" name="Google Shape;414;p3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3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420" name="Google Shape;420;p31"/>
          <p:cNvPicPr preferRelativeResize="0"/>
          <p:nvPr/>
        </p:nvPicPr>
        <p:blipFill>
          <a:blip r:embed="rId3">
            <a:alphaModFix/>
          </a:blip>
          <a:stretch>
            <a:fillRect/>
          </a:stretch>
        </p:blipFill>
        <p:spPr>
          <a:xfrm>
            <a:off x="2901612" y="231675"/>
            <a:ext cx="3340784" cy="483870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32"/>
          <p:cNvSpPr txBox="1"/>
          <p:nvPr>
            <p:ph idx="1" type="body"/>
          </p:nvPr>
        </p:nvSpPr>
        <p:spPr>
          <a:xfrm>
            <a:off x="1303800" y="1685250"/>
            <a:ext cx="7255500" cy="305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El cuello permite la flexibilidad necesaria para posicionar la cabeza y maximizar la eficiencia de sus órganos sensoriales. </a:t>
            </a:r>
            <a:endParaRPr/>
          </a:p>
          <a:p>
            <a:pPr indent="0" lvl="0" marL="0" rtl="0" algn="l">
              <a:spcBef>
                <a:spcPts val="1200"/>
              </a:spcBef>
              <a:spcAft>
                <a:spcPts val="0"/>
              </a:spcAft>
              <a:buNone/>
            </a:pPr>
            <a:r>
              <a:rPr lang="es-419"/>
              <a:t>Los movimientos articulares del cuello son: flexión/extensión, inclinación lateral, y rotación.</a:t>
            </a:r>
            <a:endParaRPr/>
          </a:p>
          <a:p>
            <a:pPr indent="0" lvl="0" marL="0" rtl="0" algn="l">
              <a:spcBef>
                <a:spcPts val="1200"/>
              </a:spcBef>
              <a:spcAft>
                <a:spcPts val="0"/>
              </a:spcAft>
              <a:buNone/>
            </a:pPr>
            <a:r>
              <a:rPr lang="es-419"/>
              <a:t>Los músculos faciales desplazan la piel y modifican las expresiones faciales para manifestar los estados de ánimo.</a:t>
            </a:r>
            <a:endParaRPr/>
          </a:p>
          <a:p>
            <a:pPr indent="0" lvl="0" marL="0" rtl="0" algn="l">
              <a:spcBef>
                <a:spcPts val="1200"/>
              </a:spcBef>
              <a:spcAft>
                <a:spcPts val="1200"/>
              </a:spcAft>
              <a:buNone/>
            </a:pPr>
            <a:r>
              <a:t/>
            </a:r>
            <a:endParaRPr/>
          </a:p>
        </p:txBody>
      </p:sp>
      <p:sp>
        <p:nvSpPr>
          <p:cNvPr id="426" name="Google Shape;426;p3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Cabeza</a:t>
            </a:r>
            <a:endParaRPr/>
          </a:p>
        </p:txBody>
      </p:sp>
      <p:sp>
        <p:nvSpPr>
          <p:cNvPr id="427" name="Google Shape;427;p3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28" name="Google Shape;428;p32"/>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Moore, K. L., Dalley, A. F., and Agur, A. M. R. (2014). Clinically oriented anatomy. Lippincott Williams and Wilkins</a:t>
            </a:r>
            <a:endParaRPr sz="800">
              <a:solidFill>
                <a:srgbClr val="94B6BD"/>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33"/>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Gestos faciales</a:t>
            </a:r>
            <a:endParaRPr/>
          </a:p>
        </p:txBody>
      </p:sp>
      <p:sp>
        <p:nvSpPr>
          <p:cNvPr id="434" name="Google Shape;434;p3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435" name="Google Shape;435;p33"/>
          <p:cNvPicPr preferRelativeResize="0"/>
          <p:nvPr/>
        </p:nvPicPr>
        <p:blipFill>
          <a:blip r:embed="rId3">
            <a:alphaModFix/>
          </a:blip>
          <a:stretch>
            <a:fillRect/>
          </a:stretch>
        </p:blipFill>
        <p:spPr>
          <a:xfrm>
            <a:off x="2892300" y="1029850"/>
            <a:ext cx="3359401" cy="315695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34"/>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Cuerpo con tejido blando con representación de segmentos rígidos.</a:t>
            </a:r>
            <a:endParaRPr/>
          </a:p>
        </p:txBody>
      </p:sp>
      <p:sp>
        <p:nvSpPr>
          <p:cNvPr id="441" name="Google Shape;441;p3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442" name="Google Shape;442;p34"/>
          <p:cNvPicPr preferRelativeResize="0"/>
          <p:nvPr/>
        </p:nvPicPr>
        <p:blipFill rotWithShape="1">
          <a:blip r:embed="rId3">
            <a:alphaModFix/>
          </a:blip>
          <a:srcRect b="9706" l="0" r="0" t="0"/>
          <a:stretch/>
        </p:blipFill>
        <p:spPr>
          <a:xfrm>
            <a:off x="1163850" y="677075"/>
            <a:ext cx="6816302" cy="34619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35"/>
          <p:cNvSpPr txBox="1"/>
          <p:nvPr>
            <p:ph idx="1" type="body"/>
          </p:nvPr>
        </p:nvSpPr>
        <p:spPr>
          <a:xfrm>
            <a:off x="1303800" y="16852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 cinemática investiga el movimiento sin considerar la naturaleza del cuerpo o cómo se produce el movimiento. En otras palabras, la cinemática estudia la geometría del movimiento. </a:t>
            </a:r>
            <a:endParaRPr/>
          </a:p>
          <a:p>
            <a:pPr indent="0" lvl="0" marL="0" rtl="0" algn="l">
              <a:spcBef>
                <a:spcPts val="1200"/>
              </a:spcBef>
              <a:spcAft>
                <a:spcPts val="0"/>
              </a:spcAft>
              <a:buNone/>
            </a:pPr>
            <a:r>
              <a:rPr lang="es-419"/>
              <a:t>Si un cuerpo, como parte de una máquina, está obligado a moverse de cierta manera en virtud de su contacto con otros elementos de la máquina, su movimiento puede estar determinado por la cinemática. </a:t>
            </a:r>
            <a:endParaRPr/>
          </a:p>
          <a:p>
            <a:pPr indent="0" lvl="0" marL="0" rtl="0" algn="l">
              <a:spcBef>
                <a:spcPts val="1200"/>
              </a:spcBef>
              <a:spcAft>
                <a:spcPts val="1200"/>
              </a:spcAft>
              <a:buNone/>
            </a:pPr>
            <a:r>
              <a:rPr lang="es-419"/>
              <a:t>Una vez que se conoce el movimiento, las fuerzas que produjeron ese movimiento se pueden encontrar por medio de la dinámica.</a:t>
            </a:r>
            <a:endParaRPr/>
          </a:p>
        </p:txBody>
      </p:sp>
      <p:sp>
        <p:nvSpPr>
          <p:cNvPr id="448" name="Google Shape;448;p3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49" name="Google Shape;449;p35"/>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Wright, T. W. (1898). Elements of mechanics including kinematics, kinetics and statics, with applications. D. Van Nostrand Compa</a:t>
            </a:r>
            <a:endParaRPr sz="800">
              <a:solidFill>
                <a:srgbClr val="94B6BD"/>
              </a:solidFill>
            </a:endParaRPr>
          </a:p>
          <a:p>
            <a:pPr indent="0" lvl="0" marL="0" rtl="0" algn="r">
              <a:spcBef>
                <a:spcPts val="0"/>
              </a:spcBef>
              <a:spcAft>
                <a:spcPts val="0"/>
              </a:spcAft>
              <a:buNone/>
            </a:pPr>
            <a:r>
              <a:rPr lang="es-419" sz="800">
                <a:solidFill>
                  <a:srgbClr val="94B6BD"/>
                </a:solidFill>
              </a:rPr>
              <a:t>Beggs, J. S. (1983). Kinematics. CRC Press.</a:t>
            </a:r>
            <a:endParaRPr sz="800">
              <a:solidFill>
                <a:srgbClr val="94B6BD"/>
              </a:solidFill>
            </a:endParaRPr>
          </a:p>
        </p:txBody>
      </p:sp>
      <p:sp>
        <p:nvSpPr>
          <p:cNvPr id="450" name="Google Shape;450;p3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Cinemática</a:t>
            </a:r>
            <a:r>
              <a:rPr lang="es-419"/>
              <a:t>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36"/>
          <p:cNvSpPr txBox="1"/>
          <p:nvPr>
            <p:ph idx="1" type="body"/>
          </p:nvPr>
        </p:nvSpPr>
        <p:spPr>
          <a:xfrm>
            <a:off x="1303800" y="1685250"/>
            <a:ext cx="7030500" cy="2541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Se dice que un cuerpo está en movimiento con respecto a otro cuerpo cuando cambia su posición con respecto a ese otro. </a:t>
            </a:r>
            <a:endParaRPr/>
          </a:p>
          <a:p>
            <a:pPr indent="0" lvl="0" marL="0" rtl="0" algn="l">
              <a:spcBef>
                <a:spcPts val="1200"/>
              </a:spcBef>
              <a:spcAft>
                <a:spcPts val="0"/>
              </a:spcAft>
              <a:buNone/>
            </a:pPr>
            <a:r>
              <a:rPr lang="es-419"/>
              <a:t>Cambiar la posición implica un cambio de distancia o de dirección, o tanto de distancia como de dirección. </a:t>
            </a:r>
            <a:endParaRPr/>
          </a:p>
          <a:p>
            <a:pPr indent="0" lvl="0" marL="0" rtl="0" algn="l">
              <a:spcBef>
                <a:spcPts val="1200"/>
              </a:spcBef>
              <a:spcAft>
                <a:spcPts val="0"/>
              </a:spcAft>
              <a:buNone/>
            </a:pPr>
            <a:r>
              <a:rPr lang="es-419"/>
              <a:t>Si un cuerpo se mueve de una posición a otra, el cambio de posición se denomina desplazamiento del cuerpo. </a:t>
            </a:r>
            <a:endParaRPr/>
          </a:p>
          <a:p>
            <a:pPr indent="0" lvl="0" marL="0" rtl="0" algn="l">
              <a:spcBef>
                <a:spcPts val="1200"/>
              </a:spcBef>
              <a:spcAft>
                <a:spcPts val="1200"/>
              </a:spcAft>
              <a:buNone/>
            </a:pPr>
            <a:r>
              <a:rPr lang="es-419"/>
              <a:t>También en este desplazamiento se toma cierto tiempo, de modo que los elementos del movimiento son la distancia, la dirección y el tiempo. </a:t>
            </a:r>
            <a:endParaRPr/>
          </a:p>
        </p:txBody>
      </p:sp>
      <p:sp>
        <p:nvSpPr>
          <p:cNvPr id="456" name="Google Shape;456;p3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Rigid body kinematics</a:t>
            </a:r>
            <a:endParaRPr/>
          </a:p>
        </p:txBody>
      </p:sp>
      <p:sp>
        <p:nvSpPr>
          <p:cNvPr id="457" name="Google Shape;457;p3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58" name="Google Shape;458;p36"/>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Whittaker, E. T. (1937). A treatise on the analytical dynamics of particles and rigid bodies. CUP Archive.</a:t>
            </a:r>
            <a:endParaRPr sz="800">
              <a:solidFill>
                <a:srgbClr val="94B6BD"/>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37"/>
          <p:cNvSpPr txBox="1"/>
          <p:nvPr>
            <p:ph idx="1" type="body"/>
          </p:nvPr>
        </p:nvSpPr>
        <p:spPr>
          <a:xfrm>
            <a:off x="1303800" y="16852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Un cuerpo es rígido cuando la distancia mutua de cada par de puntos especificados en él es invariable, de modo que el cuerpo no se expande ni se contrae ni cambia su forma de ninguna manera, aunque puede cambiar su posición con respecto a los objetos circundantes. </a:t>
            </a:r>
            <a:endParaRPr/>
          </a:p>
          <a:p>
            <a:pPr indent="0" lvl="0" marL="0" rtl="0" algn="l">
              <a:spcBef>
                <a:spcPts val="1200"/>
              </a:spcBef>
              <a:spcAft>
                <a:spcPts val="1200"/>
              </a:spcAft>
              <a:buNone/>
            </a:pPr>
            <a:r>
              <a:rPr lang="es-419"/>
              <a:t>La posición de un cuerpo rígido se puede especificar en términos de la posición de un punto fijo en el cuerpo y la actitud (</a:t>
            </a:r>
            <a:r>
              <a:rPr i="1" lang="es-419"/>
              <a:t>attitude</a:t>
            </a:r>
            <a:r>
              <a:rPr lang="es-419"/>
              <a:t>) del cuerpo en relación con un marco de referencia.</a:t>
            </a:r>
            <a:endParaRPr/>
          </a:p>
        </p:txBody>
      </p:sp>
      <p:sp>
        <p:nvSpPr>
          <p:cNvPr id="464" name="Google Shape;464;p3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Rigid body </a:t>
            </a:r>
            <a:endParaRPr/>
          </a:p>
        </p:txBody>
      </p:sp>
      <p:sp>
        <p:nvSpPr>
          <p:cNvPr id="465" name="Google Shape;465;p3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66" name="Google Shape;466;p37"/>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Whittaker, E. T. (1937). A treatise on the analytical dynamics of particles and rigid bodies. CUP Archive.</a:t>
            </a:r>
            <a:endParaRPr sz="800">
              <a:solidFill>
                <a:srgbClr val="94B6BD"/>
              </a:solidFill>
            </a:endParaRPr>
          </a:p>
          <a:p>
            <a:pPr indent="0" lvl="0" marL="0" rtl="0" algn="r">
              <a:spcBef>
                <a:spcPts val="0"/>
              </a:spcBef>
              <a:spcAft>
                <a:spcPts val="0"/>
              </a:spcAft>
              <a:buNone/>
            </a:pPr>
            <a:r>
              <a:rPr lang="es-419" sz="800">
                <a:solidFill>
                  <a:srgbClr val="94B6BD"/>
                </a:solidFill>
              </a:rPr>
              <a:t>Beggs, J. S. (1983). Kinematics. CRC Press.</a:t>
            </a:r>
            <a:endParaRPr sz="800">
              <a:solidFill>
                <a:srgbClr val="94B6BD"/>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38"/>
          <p:cNvSpPr txBox="1"/>
          <p:nvPr>
            <p:ph idx="1" type="body"/>
          </p:nvPr>
        </p:nvSpPr>
        <p:spPr>
          <a:xfrm>
            <a:off x="1303800" y="16852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Un manipulador puede ser un conjunto de </a:t>
            </a:r>
            <a:r>
              <a:rPr b="1" lang="es-419"/>
              <a:t>cuerpos rígidos</a:t>
            </a:r>
            <a:r>
              <a:rPr lang="es-419"/>
              <a:t> conectados en cadena por articulaciones. Estos cuerpos se denominan </a:t>
            </a:r>
            <a:r>
              <a:rPr b="1" lang="es-419">
                <a:solidFill>
                  <a:schemeClr val="accent5"/>
                </a:solidFill>
              </a:rPr>
              <a:t>enlaces</a:t>
            </a:r>
            <a:r>
              <a:rPr lang="es-419"/>
              <a:t> (</a:t>
            </a:r>
            <a:r>
              <a:rPr i="1" lang="es-419"/>
              <a:t>links</a:t>
            </a:r>
            <a:r>
              <a:rPr lang="es-419"/>
              <a:t>). Las </a:t>
            </a:r>
            <a:r>
              <a:rPr b="1" lang="es-419">
                <a:solidFill>
                  <a:schemeClr val="accent5"/>
                </a:solidFill>
              </a:rPr>
              <a:t>uniones</a:t>
            </a:r>
            <a:r>
              <a:rPr lang="es-419"/>
              <a:t>, o articulaciones, (</a:t>
            </a:r>
            <a:r>
              <a:rPr i="1" lang="es-419"/>
              <a:t>joints</a:t>
            </a:r>
            <a:r>
              <a:rPr lang="es-419"/>
              <a:t>) forman una conexión entre un par de enlaces vecinos. </a:t>
            </a:r>
            <a:endParaRPr/>
          </a:p>
          <a:p>
            <a:pPr indent="0" lvl="0" marL="0" rtl="0" algn="l">
              <a:spcBef>
                <a:spcPts val="1200"/>
              </a:spcBef>
              <a:spcAft>
                <a:spcPts val="0"/>
              </a:spcAft>
              <a:buNone/>
            </a:pPr>
            <a:r>
              <a:rPr lang="es-419"/>
              <a:t>Las consideraciones de diseño mecánico de los manipuladores generalmente se construyen a partir de uniones que exhiben solo un </a:t>
            </a:r>
            <a:r>
              <a:rPr b="1" lang="es-419"/>
              <a:t>grado de libertad</a:t>
            </a:r>
            <a:r>
              <a:rPr lang="es-419"/>
              <a:t> (DoF).</a:t>
            </a:r>
            <a:endParaRPr/>
          </a:p>
          <a:p>
            <a:pPr indent="0" lvl="0" marL="0" rtl="0" algn="l">
              <a:spcBef>
                <a:spcPts val="1200"/>
              </a:spcBef>
              <a:spcAft>
                <a:spcPts val="1200"/>
              </a:spcAft>
              <a:buNone/>
            </a:pPr>
            <a:r>
              <a:rPr lang="es-419"/>
              <a:t>La mayoría de los manipuladores tienen articulaciones giratorias o articulaciones prismáticas.</a:t>
            </a:r>
            <a:endParaRPr/>
          </a:p>
        </p:txBody>
      </p:sp>
      <p:sp>
        <p:nvSpPr>
          <p:cNvPr id="472" name="Google Shape;472;p3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Link description</a:t>
            </a:r>
            <a:endParaRPr/>
          </a:p>
        </p:txBody>
      </p:sp>
      <p:sp>
        <p:nvSpPr>
          <p:cNvPr id="473" name="Google Shape;473;p3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74" name="Google Shape;474;p38"/>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Spong, M. W., &amp; Vidyasagar, M. (2008). Robot dynamics and control. John Wiley &amp; Sons.</a:t>
            </a:r>
            <a:endParaRPr sz="800">
              <a:solidFill>
                <a:srgbClr val="94B6BD"/>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39"/>
          <p:cNvSpPr txBox="1"/>
          <p:nvPr>
            <p:ph idx="1" type="body"/>
          </p:nvPr>
        </p:nvSpPr>
        <p:spPr>
          <a:xfrm>
            <a:off x="1303800" y="1685250"/>
            <a:ext cx="7030500" cy="286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Los</a:t>
            </a:r>
            <a:r>
              <a:rPr b="1" lang="es-419">
                <a:solidFill>
                  <a:schemeClr val="accent5"/>
                </a:solidFill>
              </a:rPr>
              <a:t> enlaces</a:t>
            </a:r>
            <a:r>
              <a:rPr lang="es-419"/>
              <a:t> se numeran empezando por la base inmóvil del manipulador (enlace 0). El primer móvil es el enlace 1, y el extremo libre del manipulador, es el enlace </a:t>
            </a:r>
            <a:r>
              <a:rPr i="1" lang="es-419"/>
              <a:t>n</a:t>
            </a:r>
            <a:r>
              <a:rPr lang="es-419"/>
              <a:t>. </a:t>
            </a:r>
            <a:endParaRPr/>
          </a:p>
          <a:p>
            <a:pPr indent="0" lvl="0" marL="0" rtl="0" algn="l">
              <a:spcBef>
                <a:spcPts val="1200"/>
              </a:spcBef>
              <a:spcAft>
                <a:spcPts val="0"/>
              </a:spcAft>
              <a:buNone/>
            </a:pPr>
            <a:r>
              <a:rPr lang="es-419"/>
              <a:t>Un </a:t>
            </a:r>
            <a:r>
              <a:rPr b="1" lang="es-419"/>
              <a:t>enlace</a:t>
            </a:r>
            <a:r>
              <a:rPr lang="es-419"/>
              <a:t> se considera como un cuerpo rígido que define la relación entre dos ejes de articulación vecinos. Los ejes de articulación están definidos por líneas en el espacio. </a:t>
            </a:r>
            <a:endParaRPr/>
          </a:p>
          <a:p>
            <a:pPr indent="0" lvl="0" marL="0" rtl="0" algn="l">
              <a:spcBef>
                <a:spcPts val="1200"/>
              </a:spcBef>
              <a:spcAft>
                <a:spcPts val="1200"/>
              </a:spcAft>
              <a:buNone/>
            </a:pPr>
            <a:r>
              <a:rPr lang="es-419"/>
              <a:t>El eje de articulación </a:t>
            </a:r>
            <a:r>
              <a:rPr i="1" lang="es-419"/>
              <a:t>i</a:t>
            </a:r>
            <a:r>
              <a:rPr lang="es-419"/>
              <a:t> se define mediante una dirección vectorial, sobre la cual el vínculo </a:t>
            </a:r>
            <a:r>
              <a:rPr i="1" lang="es-419"/>
              <a:t>i</a:t>
            </a:r>
            <a:r>
              <a:rPr lang="es-419"/>
              <a:t> gira en relación con el vínculo </a:t>
            </a:r>
            <a:r>
              <a:rPr i="1" lang="es-419"/>
              <a:t>i − 1</a:t>
            </a:r>
            <a:r>
              <a:rPr lang="es-419"/>
              <a:t>. Un vínculo se puede especificar con dos números, que definen la ubicación relativa de los dos ejes en el espacio.</a:t>
            </a:r>
            <a:endParaRPr/>
          </a:p>
        </p:txBody>
      </p:sp>
      <p:sp>
        <p:nvSpPr>
          <p:cNvPr id="480" name="Google Shape;480;p3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Links &amp; joints</a:t>
            </a:r>
            <a:endParaRPr/>
          </a:p>
        </p:txBody>
      </p:sp>
      <p:sp>
        <p:nvSpPr>
          <p:cNvPr id="481" name="Google Shape;481;p3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82" name="Google Shape;482;p39"/>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Craig, J. J. (2005). Introduction to robotics: mechanics and control. Pearson Educacion.</a:t>
            </a:r>
            <a:endParaRPr sz="800">
              <a:solidFill>
                <a:srgbClr val="94B6BD"/>
              </a:solidFill>
            </a:endParaRPr>
          </a:p>
          <a:p>
            <a:pPr indent="0" lvl="0" marL="0" rtl="0" algn="r">
              <a:spcBef>
                <a:spcPts val="0"/>
              </a:spcBef>
              <a:spcAft>
                <a:spcPts val="0"/>
              </a:spcAft>
              <a:buNone/>
            </a:pPr>
            <a:r>
              <a:t/>
            </a:r>
            <a:endParaRPr sz="800">
              <a:solidFill>
                <a:srgbClr val="94B6BD"/>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40"/>
          <p:cNvSpPr txBox="1"/>
          <p:nvPr>
            <p:ph idx="1" type="body"/>
          </p:nvPr>
        </p:nvSpPr>
        <p:spPr>
          <a:xfrm>
            <a:off x="1303800" y="16852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Para dos ejes en un espacio 3D, existe una medida de </a:t>
            </a:r>
            <a:r>
              <a:rPr b="1" lang="es-419"/>
              <a:t>distancia</a:t>
            </a:r>
            <a:r>
              <a:rPr lang="es-419"/>
              <a:t> definida entre ellos. </a:t>
            </a:r>
            <a:endParaRPr/>
          </a:p>
          <a:p>
            <a:pPr indent="0" lvl="0" marL="0" rtl="0" algn="l">
              <a:spcBef>
                <a:spcPts val="1200"/>
              </a:spcBef>
              <a:spcAft>
                <a:spcPts val="0"/>
              </a:spcAft>
              <a:buNone/>
            </a:pPr>
            <a:r>
              <a:rPr lang="es-419"/>
              <a:t>Esta distancia se mide a lo largo de una línea que es mutuamente perpendicular a ambos ejes (longitud del enlace, </a:t>
            </a:r>
            <a:r>
              <a:rPr b="1" i="1" lang="es-419"/>
              <a:t>a</a:t>
            </a:r>
            <a:r>
              <a:rPr b="1" baseline="-25000" i="1" lang="es-419"/>
              <a:t>i−1</a:t>
            </a:r>
            <a:r>
              <a:rPr lang="es-419"/>
              <a:t>). </a:t>
            </a:r>
            <a:endParaRPr/>
          </a:p>
          <a:p>
            <a:pPr indent="0" lvl="0" marL="0" rtl="0" algn="l">
              <a:spcBef>
                <a:spcPts val="1200"/>
              </a:spcBef>
              <a:spcAft>
                <a:spcPts val="0"/>
              </a:spcAft>
              <a:buNone/>
            </a:pPr>
            <a:r>
              <a:rPr lang="es-419"/>
              <a:t>Esta perpendicular mutua existe siempre; es única excepto cuando ambos ejes son paralelos, en cuyo caso hay muchas perpendiculares mutuas de igual longitud.</a:t>
            </a:r>
            <a:endParaRPr/>
          </a:p>
          <a:p>
            <a:pPr indent="0" lvl="0" marL="0" rtl="0" algn="l">
              <a:spcBef>
                <a:spcPts val="1200"/>
              </a:spcBef>
              <a:spcAft>
                <a:spcPts val="1200"/>
              </a:spcAft>
              <a:buNone/>
            </a:pPr>
            <a:r>
              <a:rPr lang="es-419"/>
              <a:t>En un plano cuya normal es la línea mutuamente perpendicular se puede medir un ángulo entre los ejes </a:t>
            </a:r>
            <a:r>
              <a:rPr i="1" lang="es-419"/>
              <a:t>i−1</a:t>
            </a:r>
            <a:r>
              <a:rPr lang="es-419"/>
              <a:t> e </a:t>
            </a:r>
            <a:r>
              <a:rPr i="1" lang="es-419"/>
              <a:t>i</a:t>
            </a:r>
            <a:r>
              <a:rPr lang="es-419"/>
              <a:t> proyectados sobre este plano (</a:t>
            </a:r>
            <a:r>
              <a:rPr lang="es-419"/>
              <a:t>torsión del enlace, </a:t>
            </a:r>
            <a:r>
              <a:rPr lang="es-419" sz="1300"/>
              <a:t>𝞪</a:t>
            </a:r>
            <a:r>
              <a:rPr lang="es-419"/>
              <a:t>).</a:t>
            </a:r>
            <a:endParaRPr/>
          </a:p>
        </p:txBody>
      </p:sp>
      <p:sp>
        <p:nvSpPr>
          <p:cNvPr id="488" name="Google Shape;488;p4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Two joint axes</a:t>
            </a:r>
            <a:endParaRPr/>
          </a:p>
        </p:txBody>
      </p:sp>
      <p:sp>
        <p:nvSpPr>
          <p:cNvPr id="489" name="Google Shape;489;p4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41"/>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Link length (</a:t>
            </a:r>
            <a:r>
              <a:rPr b="1" i="1" lang="es-419"/>
              <a:t>a</a:t>
            </a:r>
            <a:r>
              <a:rPr lang="es-419"/>
              <a:t>) and the link twist (𝞪)</a:t>
            </a:r>
            <a:endParaRPr/>
          </a:p>
        </p:txBody>
      </p:sp>
      <p:sp>
        <p:nvSpPr>
          <p:cNvPr id="495" name="Google Shape;495;p4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496" name="Google Shape;496;p41"/>
          <p:cNvPicPr preferRelativeResize="0"/>
          <p:nvPr/>
        </p:nvPicPr>
        <p:blipFill>
          <a:blip r:embed="rId3">
            <a:alphaModFix/>
          </a:blip>
          <a:stretch>
            <a:fillRect/>
          </a:stretch>
        </p:blipFill>
        <p:spPr>
          <a:xfrm>
            <a:off x="2024713" y="1165088"/>
            <a:ext cx="5094574" cy="281332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42"/>
          <p:cNvSpPr txBox="1"/>
          <p:nvPr>
            <p:ph idx="1" type="body"/>
          </p:nvPr>
        </p:nvSpPr>
        <p:spPr>
          <a:xfrm>
            <a:off x="1303800" y="16852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Los enlaces vecinos tienen un eje de unión común entre ellos: un parámetro de interconexión a lo largo del eje común de un enlace al siguiente. </a:t>
            </a:r>
            <a:endParaRPr/>
          </a:p>
          <a:p>
            <a:pPr indent="0" lvl="0" marL="0" rtl="0" algn="l">
              <a:spcBef>
                <a:spcPts val="1200"/>
              </a:spcBef>
              <a:spcAft>
                <a:spcPts val="0"/>
              </a:spcAft>
              <a:buNone/>
            </a:pPr>
            <a:r>
              <a:rPr lang="es-419"/>
              <a:t>Este parámetro se denomina desplazamiento de enlace (</a:t>
            </a:r>
            <a:r>
              <a:rPr i="1" lang="es-419"/>
              <a:t>link offset</a:t>
            </a:r>
            <a:r>
              <a:rPr lang="es-419"/>
              <a:t>). El desplazamiento en el eje de articulación </a:t>
            </a:r>
            <a:r>
              <a:rPr i="1" lang="es-419"/>
              <a:t>i</a:t>
            </a:r>
            <a:r>
              <a:rPr lang="es-419"/>
              <a:t> se llama </a:t>
            </a:r>
            <a:r>
              <a:rPr b="1" i="1" lang="es-419"/>
              <a:t>d</a:t>
            </a:r>
            <a:r>
              <a:rPr b="1" baseline="-25000" i="1" lang="es-419"/>
              <a:t>i</a:t>
            </a:r>
            <a:r>
              <a:rPr lang="es-419"/>
              <a:t>. </a:t>
            </a:r>
            <a:endParaRPr/>
          </a:p>
          <a:p>
            <a:pPr indent="0" lvl="0" marL="0" rtl="0" algn="l">
              <a:spcBef>
                <a:spcPts val="1200"/>
              </a:spcBef>
              <a:spcAft>
                <a:spcPts val="1200"/>
              </a:spcAft>
              <a:buNone/>
            </a:pPr>
            <a:r>
              <a:rPr lang="es-419"/>
              <a:t>El parámetro que describe la cantidad de rotación sobre este eje común entre un enlace y su vecino se llama ángulo de unión, </a:t>
            </a:r>
            <a:r>
              <a:rPr b="1" i="1" lang="es-419"/>
              <a:t>θ</a:t>
            </a:r>
            <a:r>
              <a:rPr b="1" baseline="-25000" i="1" lang="es-419"/>
              <a:t>i</a:t>
            </a:r>
            <a:r>
              <a:rPr lang="es-419"/>
              <a:t>.</a:t>
            </a:r>
            <a:endParaRPr/>
          </a:p>
        </p:txBody>
      </p:sp>
      <p:sp>
        <p:nvSpPr>
          <p:cNvPr id="502" name="Google Shape;502;p4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Link-connection description</a:t>
            </a:r>
            <a:endParaRPr/>
          </a:p>
        </p:txBody>
      </p:sp>
      <p:sp>
        <p:nvSpPr>
          <p:cNvPr id="503" name="Google Shape;503;p4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04" name="Google Shape;504;p42"/>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Craig, J. J. (2005). Introduction to robotics: mechanics and control. Pearson Educacion.</a:t>
            </a:r>
            <a:endParaRPr sz="800">
              <a:solidFill>
                <a:srgbClr val="94B6BD"/>
              </a:solidFill>
            </a:endParaRPr>
          </a:p>
          <a:p>
            <a:pPr indent="0" lvl="0" marL="0" rtl="0" algn="r">
              <a:spcBef>
                <a:spcPts val="0"/>
              </a:spcBef>
              <a:spcAft>
                <a:spcPts val="0"/>
              </a:spcAft>
              <a:buNone/>
            </a:pPr>
            <a:r>
              <a:t/>
            </a:r>
            <a:endParaRPr sz="800">
              <a:solidFill>
                <a:srgbClr val="94B6BD"/>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43"/>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t>
            </a:r>
            <a:r>
              <a:rPr lang="es-419"/>
              <a:t>ink offset (</a:t>
            </a:r>
            <a:r>
              <a:rPr b="1" i="1" lang="es-419"/>
              <a:t>d</a:t>
            </a:r>
            <a:r>
              <a:rPr lang="es-419"/>
              <a:t>), and the joint angle (</a:t>
            </a:r>
            <a:r>
              <a:rPr b="1" i="1" lang="es-419"/>
              <a:t>θ</a:t>
            </a:r>
            <a:r>
              <a:rPr lang="es-419"/>
              <a:t>)</a:t>
            </a:r>
            <a:endParaRPr/>
          </a:p>
        </p:txBody>
      </p:sp>
      <p:sp>
        <p:nvSpPr>
          <p:cNvPr id="510" name="Google Shape;510;p4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11" name="Google Shape;511;p43"/>
          <p:cNvPicPr preferRelativeResize="0"/>
          <p:nvPr/>
        </p:nvPicPr>
        <p:blipFill>
          <a:blip r:embed="rId3">
            <a:alphaModFix/>
          </a:blip>
          <a:stretch>
            <a:fillRect/>
          </a:stretch>
        </p:blipFill>
        <p:spPr>
          <a:xfrm>
            <a:off x="1826413" y="1198962"/>
            <a:ext cx="5491175" cy="27455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44"/>
          <p:cNvSpPr txBox="1"/>
          <p:nvPr>
            <p:ph idx="1" type="body"/>
          </p:nvPr>
        </p:nvSpPr>
        <p:spPr>
          <a:xfrm>
            <a:off x="1303800" y="1685250"/>
            <a:ext cx="7030500" cy="2541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419"/>
              <a:t>Para describir la ubicación de cada enlace en relación con sus vecinos, se define un marco para cada enlace. Los marcos se numeran de acuerdo con el enlace al que están adjuntos, i.e., el marco </a:t>
            </a:r>
            <a:r>
              <a:rPr i="1" lang="es-419"/>
              <a:t>{i}</a:t>
            </a:r>
            <a:r>
              <a:rPr lang="es-419"/>
              <a:t> se adjunta al enlace </a:t>
            </a:r>
            <a:r>
              <a:rPr i="1" lang="es-419"/>
              <a:t>i</a:t>
            </a:r>
            <a:r>
              <a:rPr lang="es-419"/>
              <a:t>.</a:t>
            </a:r>
            <a:endParaRPr/>
          </a:p>
          <a:p>
            <a:pPr indent="0" lvl="0" marL="0" rtl="0" algn="l">
              <a:spcBef>
                <a:spcPts val="1200"/>
              </a:spcBef>
              <a:spcAft>
                <a:spcPts val="0"/>
              </a:spcAft>
              <a:buNone/>
            </a:pPr>
            <a:r>
              <a:rPr lang="es-419"/>
              <a:t>La convención para ubicar marcos en los enlaces es: </a:t>
            </a:r>
            <a:endParaRPr/>
          </a:p>
          <a:p>
            <a:pPr indent="-317500" lvl="0" marL="457200" rtl="0" algn="l">
              <a:spcBef>
                <a:spcPts val="1200"/>
              </a:spcBef>
              <a:spcAft>
                <a:spcPts val="0"/>
              </a:spcAft>
              <a:buSzPts val="1400"/>
              <a:buChar char="●"/>
            </a:pPr>
            <a:r>
              <a:rPr lang="es-419"/>
              <a:t>El eje-</a:t>
            </a:r>
            <a:r>
              <a:rPr i="1" lang="es-419"/>
              <a:t>z</a:t>
            </a:r>
            <a:r>
              <a:rPr lang="es-419"/>
              <a:t> del marco </a:t>
            </a:r>
            <a:r>
              <a:rPr i="1" lang="es-419"/>
              <a:t>{i}</a:t>
            </a:r>
            <a:r>
              <a:rPr lang="es-419"/>
              <a:t>, llamado </a:t>
            </a:r>
            <a:r>
              <a:rPr b="1" i="1" lang="es-419"/>
              <a:t>z</a:t>
            </a:r>
            <a:r>
              <a:rPr b="1" baseline="-25000" i="1" lang="es-419"/>
              <a:t>i</a:t>
            </a:r>
            <a:r>
              <a:rPr lang="es-419"/>
              <a:t>, coincide con el eje de la unión </a:t>
            </a:r>
            <a:r>
              <a:rPr i="1" lang="es-419"/>
              <a:t>i</a:t>
            </a:r>
            <a:r>
              <a:rPr lang="es-419"/>
              <a:t>. </a:t>
            </a:r>
            <a:endParaRPr/>
          </a:p>
          <a:p>
            <a:pPr indent="-317500" lvl="0" marL="457200" rtl="0" algn="l">
              <a:spcBef>
                <a:spcPts val="0"/>
              </a:spcBef>
              <a:spcAft>
                <a:spcPts val="0"/>
              </a:spcAft>
              <a:buSzPts val="1400"/>
              <a:buChar char="●"/>
            </a:pPr>
            <a:r>
              <a:rPr lang="es-419"/>
              <a:t>El origen del marco </a:t>
            </a:r>
            <a:r>
              <a:rPr i="1" lang="es-419"/>
              <a:t>{i}</a:t>
            </a:r>
            <a:r>
              <a:rPr lang="es-419"/>
              <a:t> está ubicado en la perpendicular </a:t>
            </a:r>
            <a:r>
              <a:rPr i="1" lang="es-419"/>
              <a:t>a</a:t>
            </a:r>
            <a:r>
              <a:rPr baseline="-25000" i="1" lang="es-419"/>
              <a:t>i</a:t>
            </a:r>
            <a:r>
              <a:rPr lang="es-419"/>
              <a:t> e intersecta el eje </a:t>
            </a:r>
            <a:r>
              <a:rPr i="1" lang="es-419"/>
              <a:t>i</a:t>
            </a:r>
            <a:r>
              <a:rPr lang="es-419"/>
              <a:t> de la articulación. </a:t>
            </a:r>
            <a:endParaRPr/>
          </a:p>
          <a:p>
            <a:pPr indent="-317500" lvl="0" marL="457200" rtl="0" algn="l">
              <a:spcBef>
                <a:spcPts val="0"/>
              </a:spcBef>
              <a:spcAft>
                <a:spcPts val="0"/>
              </a:spcAft>
              <a:buSzPts val="1400"/>
              <a:buChar char="●"/>
            </a:pPr>
            <a:r>
              <a:rPr b="1" i="1" lang="es-419"/>
              <a:t>x</a:t>
            </a:r>
            <a:r>
              <a:rPr b="1" baseline="-25000" i="1" lang="es-419"/>
              <a:t>i</a:t>
            </a:r>
            <a:r>
              <a:rPr lang="es-419"/>
              <a:t> apunta a lo largo de </a:t>
            </a:r>
            <a:r>
              <a:rPr i="1" lang="es-419"/>
              <a:t>a</a:t>
            </a:r>
            <a:r>
              <a:rPr baseline="-25000" i="1" lang="es-419"/>
              <a:t>i</a:t>
            </a:r>
            <a:r>
              <a:rPr lang="es-419"/>
              <a:t> en la dirección de la unión </a:t>
            </a:r>
            <a:r>
              <a:rPr i="1" lang="es-419"/>
              <a:t>i</a:t>
            </a:r>
            <a:r>
              <a:rPr lang="es-419"/>
              <a:t> a </a:t>
            </a:r>
            <a:r>
              <a:rPr i="1" lang="es-419"/>
              <a:t>i+1</a:t>
            </a:r>
            <a:r>
              <a:rPr lang="es-419"/>
              <a:t>. En el caso de </a:t>
            </a:r>
            <a:r>
              <a:rPr i="1" lang="es-419"/>
              <a:t>a</a:t>
            </a:r>
            <a:r>
              <a:rPr baseline="-25000" i="1" lang="es-419"/>
              <a:t>i</a:t>
            </a:r>
            <a:r>
              <a:rPr i="1" lang="es-419"/>
              <a:t>=0</a:t>
            </a:r>
            <a:r>
              <a:rPr lang="es-419"/>
              <a:t>, </a:t>
            </a:r>
            <a:r>
              <a:rPr i="1" lang="es-419"/>
              <a:t>x</a:t>
            </a:r>
            <a:r>
              <a:rPr baseline="-25000" i="1" lang="es-419"/>
              <a:t>i</a:t>
            </a:r>
            <a:r>
              <a:rPr lang="es-419"/>
              <a:t> es normal al plano de </a:t>
            </a:r>
            <a:r>
              <a:rPr i="1" lang="es-419"/>
              <a:t>z</a:t>
            </a:r>
            <a:r>
              <a:rPr baseline="-25000" i="1" lang="es-419"/>
              <a:t>i</a:t>
            </a:r>
            <a:r>
              <a:rPr lang="es-419"/>
              <a:t> y </a:t>
            </a:r>
            <a:r>
              <a:rPr i="1" lang="es-419"/>
              <a:t>z</a:t>
            </a:r>
            <a:r>
              <a:rPr baseline="-25000" i="1" lang="es-419"/>
              <a:t>i+1</a:t>
            </a:r>
            <a:r>
              <a:rPr lang="es-419"/>
              <a:t>. </a:t>
            </a:r>
            <a:endParaRPr/>
          </a:p>
          <a:p>
            <a:pPr indent="-317500" lvl="0" marL="457200" rtl="0" algn="l">
              <a:spcBef>
                <a:spcPts val="0"/>
              </a:spcBef>
              <a:spcAft>
                <a:spcPts val="0"/>
              </a:spcAft>
              <a:buSzPts val="1400"/>
              <a:buChar char="●"/>
            </a:pPr>
            <a:r>
              <a:rPr b="1" i="1" lang="es-419"/>
              <a:t>y</a:t>
            </a:r>
            <a:r>
              <a:rPr b="1" baseline="-25000" i="1" lang="es-419"/>
              <a:t>i</a:t>
            </a:r>
            <a:r>
              <a:rPr lang="es-419"/>
              <a:t> se forma por la regla de la mano derecha para completar el marco </a:t>
            </a:r>
            <a:r>
              <a:rPr i="1" lang="es-419"/>
              <a:t>i</a:t>
            </a:r>
            <a:r>
              <a:rPr lang="es-419"/>
              <a:t>. </a:t>
            </a:r>
            <a:endParaRPr/>
          </a:p>
        </p:txBody>
      </p:sp>
      <p:sp>
        <p:nvSpPr>
          <p:cNvPr id="517" name="Google Shape;517;p4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Convention for associating frames to links</a:t>
            </a:r>
            <a:endParaRPr/>
          </a:p>
        </p:txBody>
      </p:sp>
      <p:sp>
        <p:nvSpPr>
          <p:cNvPr id="518" name="Google Shape;518;p4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19" name="Google Shape;519;p44"/>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Craig, J. J. (2005). Introduction to robotics: mechanics and control. Pearson Educacion.</a:t>
            </a:r>
            <a:endParaRPr sz="800">
              <a:solidFill>
                <a:srgbClr val="94B6BD"/>
              </a:solidFill>
            </a:endParaRPr>
          </a:p>
          <a:p>
            <a:pPr indent="0" lvl="0" marL="0" rtl="0" algn="r">
              <a:spcBef>
                <a:spcPts val="0"/>
              </a:spcBef>
              <a:spcAft>
                <a:spcPts val="0"/>
              </a:spcAft>
              <a:buNone/>
            </a:pPr>
            <a:r>
              <a:t/>
            </a:r>
            <a:endParaRPr sz="800">
              <a:solidFill>
                <a:srgbClr val="94B6BD"/>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45"/>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Link offset (</a:t>
            </a:r>
            <a:r>
              <a:rPr b="1" i="1" lang="es-419"/>
              <a:t>d</a:t>
            </a:r>
            <a:r>
              <a:rPr lang="es-419"/>
              <a:t>), and the joint angle (</a:t>
            </a:r>
            <a:r>
              <a:rPr b="1" i="1" lang="es-419"/>
              <a:t>θ</a:t>
            </a:r>
            <a:r>
              <a:rPr lang="es-419"/>
              <a:t>)</a:t>
            </a:r>
            <a:endParaRPr/>
          </a:p>
        </p:txBody>
      </p:sp>
      <p:sp>
        <p:nvSpPr>
          <p:cNvPr id="525" name="Google Shape;525;p4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26" name="Google Shape;526;p45"/>
          <p:cNvPicPr preferRelativeResize="0"/>
          <p:nvPr/>
        </p:nvPicPr>
        <p:blipFill>
          <a:blip r:embed="rId3">
            <a:alphaModFix/>
          </a:blip>
          <a:stretch>
            <a:fillRect/>
          </a:stretch>
        </p:blipFill>
        <p:spPr>
          <a:xfrm>
            <a:off x="2088074" y="1220412"/>
            <a:ext cx="4967850" cy="270267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46"/>
          <p:cNvSpPr txBox="1"/>
          <p:nvPr>
            <p:ph idx="1" type="body"/>
          </p:nvPr>
        </p:nvSpPr>
        <p:spPr>
          <a:xfrm>
            <a:off x="1303800" y="16852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 definición de mecanismos a partir de los parámetros descritos previamente, es una convención llamada notación Denavit-Hartenberg, y las cantidades se denominan parámetros DH y se resumen de la siguiente manera:</a:t>
            </a:r>
            <a:endParaRPr/>
          </a:p>
          <a:p>
            <a:pPr indent="-317500" lvl="0" marL="457200" rtl="0" algn="l">
              <a:spcBef>
                <a:spcPts val="1200"/>
              </a:spcBef>
              <a:spcAft>
                <a:spcPts val="0"/>
              </a:spcAft>
              <a:buSzPts val="1400"/>
              <a:buChar char="●"/>
            </a:pPr>
            <a:r>
              <a:rPr i="1" lang="es-419"/>
              <a:t>a</a:t>
            </a:r>
            <a:r>
              <a:rPr baseline="-25000" i="1" lang="es-419"/>
              <a:t>i</a:t>
            </a:r>
            <a:r>
              <a:rPr lang="es-419"/>
              <a:t> = la distancia de </a:t>
            </a:r>
            <a:r>
              <a:rPr i="1" lang="es-419"/>
              <a:t>z</a:t>
            </a:r>
            <a:r>
              <a:rPr baseline="-25000" i="1" lang="es-419"/>
              <a:t>i</a:t>
            </a:r>
            <a:r>
              <a:rPr lang="es-419"/>
              <a:t> a </a:t>
            </a:r>
            <a:r>
              <a:rPr i="1" lang="es-419"/>
              <a:t>z</a:t>
            </a:r>
            <a:r>
              <a:rPr baseline="-25000" i="1" lang="es-419"/>
              <a:t>i+1</a:t>
            </a:r>
            <a:r>
              <a:rPr lang="es-419"/>
              <a:t> medida a lo largo de </a:t>
            </a:r>
            <a:r>
              <a:rPr i="1" lang="es-419"/>
              <a:t>x</a:t>
            </a:r>
            <a:r>
              <a:rPr baseline="-25000" i="1" lang="es-419"/>
              <a:t>i</a:t>
            </a:r>
            <a:r>
              <a:rPr lang="es-419"/>
              <a:t>;</a:t>
            </a:r>
            <a:endParaRPr/>
          </a:p>
          <a:p>
            <a:pPr indent="-317500" lvl="0" marL="457200" rtl="0" algn="l">
              <a:spcBef>
                <a:spcPts val="0"/>
              </a:spcBef>
              <a:spcAft>
                <a:spcPts val="0"/>
              </a:spcAft>
              <a:buSzPts val="1400"/>
              <a:buChar char="●"/>
            </a:pPr>
            <a:r>
              <a:rPr i="1" lang="es-419"/>
              <a:t>α</a:t>
            </a:r>
            <a:r>
              <a:rPr baseline="-25000" i="1" lang="es-419"/>
              <a:t>i</a:t>
            </a:r>
            <a:r>
              <a:rPr lang="es-419"/>
              <a:t> = el ángulo de </a:t>
            </a:r>
            <a:r>
              <a:rPr i="1" lang="es-419"/>
              <a:t>z</a:t>
            </a:r>
            <a:r>
              <a:rPr baseline="-25000" i="1" lang="es-419"/>
              <a:t>i</a:t>
            </a:r>
            <a:r>
              <a:rPr lang="es-419"/>
              <a:t> a </a:t>
            </a:r>
            <a:r>
              <a:rPr i="1" lang="es-419"/>
              <a:t>z</a:t>
            </a:r>
            <a:r>
              <a:rPr baseline="-25000" i="1" lang="es-419"/>
              <a:t>i+1</a:t>
            </a:r>
            <a:r>
              <a:rPr lang="es-419"/>
              <a:t> medido alrededor de </a:t>
            </a:r>
            <a:r>
              <a:rPr i="1" lang="es-419"/>
              <a:t>x</a:t>
            </a:r>
            <a:r>
              <a:rPr baseline="-25000" i="1" lang="es-419"/>
              <a:t>i</a:t>
            </a:r>
            <a:r>
              <a:rPr lang="es-419"/>
              <a:t>;</a:t>
            </a:r>
            <a:endParaRPr/>
          </a:p>
          <a:p>
            <a:pPr indent="-317500" lvl="0" marL="457200" rtl="0" algn="l">
              <a:spcBef>
                <a:spcPts val="0"/>
              </a:spcBef>
              <a:spcAft>
                <a:spcPts val="0"/>
              </a:spcAft>
              <a:buSzPts val="1400"/>
              <a:buChar char="●"/>
            </a:pPr>
            <a:r>
              <a:rPr i="1" lang="es-419"/>
              <a:t>d</a:t>
            </a:r>
            <a:r>
              <a:rPr baseline="-25000" i="1" lang="es-419"/>
              <a:t>i</a:t>
            </a:r>
            <a:r>
              <a:rPr lang="es-419"/>
              <a:t> = la distancia de </a:t>
            </a:r>
            <a:r>
              <a:rPr i="1" lang="es-419"/>
              <a:t>x</a:t>
            </a:r>
            <a:r>
              <a:rPr baseline="-25000" i="1" lang="es-419"/>
              <a:t>i−1</a:t>
            </a:r>
            <a:r>
              <a:rPr lang="es-419"/>
              <a:t> a </a:t>
            </a:r>
            <a:r>
              <a:rPr i="1" lang="es-419"/>
              <a:t>x</a:t>
            </a:r>
            <a:r>
              <a:rPr baseline="-25000" i="1" lang="es-419"/>
              <a:t>i</a:t>
            </a:r>
            <a:r>
              <a:rPr lang="es-419"/>
              <a:t> medida a lo largo de </a:t>
            </a:r>
            <a:r>
              <a:rPr i="1" lang="es-419"/>
              <a:t>z</a:t>
            </a:r>
            <a:r>
              <a:rPr baseline="-25000" i="1" lang="es-419"/>
              <a:t>i</a:t>
            </a:r>
            <a:r>
              <a:rPr lang="es-419"/>
              <a:t>; y </a:t>
            </a:r>
            <a:endParaRPr/>
          </a:p>
          <a:p>
            <a:pPr indent="-317500" lvl="0" marL="457200" rtl="0" algn="l">
              <a:spcBef>
                <a:spcPts val="0"/>
              </a:spcBef>
              <a:spcAft>
                <a:spcPts val="0"/>
              </a:spcAft>
              <a:buSzPts val="1400"/>
              <a:buChar char="●"/>
            </a:pPr>
            <a:r>
              <a:rPr i="1" lang="es-419"/>
              <a:t>θ</a:t>
            </a:r>
            <a:r>
              <a:rPr baseline="-25000" i="1" lang="es-419"/>
              <a:t>i</a:t>
            </a:r>
            <a:r>
              <a:rPr lang="es-419"/>
              <a:t> = el ángulo de </a:t>
            </a:r>
            <a:r>
              <a:rPr i="1" lang="es-419"/>
              <a:t>x</a:t>
            </a:r>
            <a:r>
              <a:rPr baseline="-25000" i="1" lang="es-419"/>
              <a:t>i−1</a:t>
            </a:r>
            <a:r>
              <a:rPr lang="es-419"/>
              <a:t> a </a:t>
            </a:r>
            <a:r>
              <a:rPr i="1" lang="es-419"/>
              <a:t>x</a:t>
            </a:r>
            <a:r>
              <a:rPr baseline="-25000" i="1" lang="es-419"/>
              <a:t>i</a:t>
            </a:r>
            <a:r>
              <a:rPr lang="es-419"/>
              <a:t> medido alrededor de </a:t>
            </a:r>
            <a:r>
              <a:rPr i="1" lang="es-419"/>
              <a:t>z</a:t>
            </a:r>
            <a:r>
              <a:rPr baseline="-25000" i="1" lang="es-419"/>
              <a:t>i</a:t>
            </a:r>
            <a:r>
              <a:rPr lang="es-419"/>
              <a:t>.</a:t>
            </a:r>
            <a:endParaRPr/>
          </a:p>
        </p:txBody>
      </p:sp>
      <p:sp>
        <p:nvSpPr>
          <p:cNvPr id="532" name="Google Shape;532;p4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Denavit-Hartenberg notation</a:t>
            </a:r>
            <a:endParaRPr/>
          </a:p>
        </p:txBody>
      </p:sp>
      <p:sp>
        <p:nvSpPr>
          <p:cNvPr id="533" name="Google Shape;533;p4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34" name="Google Shape;534;p46"/>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Denavit, J., &amp; Hartenberg, R. S. (1955). A kinematic notation for lower-pair mechanisms based on matrices.</a:t>
            </a:r>
            <a:endParaRPr sz="800">
              <a:solidFill>
                <a:srgbClr val="94B6BD"/>
              </a:solidFill>
            </a:endParaRPr>
          </a:p>
          <a:p>
            <a:pPr indent="0" lvl="0" marL="0" rtl="0" algn="r">
              <a:spcBef>
                <a:spcPts val="0"/>
              </a:spcBef>
              <a:spcAft>
                <a:spcPts val="0"/>
              </a:spcAft>
              <a:buNone/>
            </a:pPr>
            <a:r>
              <a:t/>
            </a:r>
            <a:endParaRPr sz="800">
              <a:solidFill>
                <a:srgbClr val="94B6BD"/>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47"/>
          <p:cNvSpPr txBox="1"/>
          <p:nvPr>
            <p:ph idx="1" type="body"/>
          </p:nvPr>
        </p:nvSpPr>
        <p:spPr>
          <a:xfrm>
            <a:off x="1303800" y="16852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Para construir la transformación que define el marco </a:t>
            </a:r>
            <a:r>
              <a:rPr i="1" lang="es-419"/>
              <a:t>{i}</a:t>
            </a:r>
            <a:r>
              <a:rPr lang="es-419"/>
              <a:t> en relación con el marco </a:t>
            </a:r>
            <a:r>
              <a:rPr i="1" lang="es-419"/>
              <a:t>{i−1}</a:t>
            </a:r>
            <a:r>
              <a:rPr lang="es-419"/>
              <a:t> se requiere una función de los cuatro parámetros del enlace. </a:t>
            </a:r>
            <a:endParaRPr/>
          </a:p>
          <a:p>
            <a:pPr indent="0" lvl="0" marL="0" rtl="0" algn="l">
              <a:spcBef>
                <a:spcPts val="1200"/>
              </a:spcBef>
              <a:spcAft>
                <a:spcPts val="1200"/>
              </a:spcAft>
              <a:buNone/>
            </a:pPr>
            <a:r>
              <a:t/>
            </a:r>
            <a:endParaRPr/>
          </a:p>
        </p:txBody>
      </p:sp>
      <p:sp>
        <p:nvSpPr>
          <p:cNvPr id="540" name="Google Shape;540;p4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Forward kinematics</a:t>
            </a:r>
            <a:endParaRPr/>
          </a:p>
        </p:txBody>
      </p:sp>
      <p:sp>
        <p:nvSpPr>
          <p:cNvPr id="541" name="Google Shape;541;p4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42" name="Google Shape;542;p47"/>
          <p:cNvPicPr preferRelativeResize="0"/>
          <p:nvPr/>
        </p:nvPicPr>
        <p:blipFill>
          <a:blip r:embed="rId3">
            <a:alphaModFix/>
          </a:blip>
          <a:stretch>
            <a:fillRect/>
          </a:stretch>
        </p:blipFill>
        <p:spPr>
          <a:xfrm>
            <a:off x="1303788" y="2880825"/>
            <a:ext cx="3033724" cy="620075"/>
          </a:xfrm>
          <a:prstGeom prst="rect">
            <a:avLst/>
          </a:prstGeom>
          <a:noFill/>
          <a:ln>
            <a:noFill/>
          </a:ln>
        </p:spPr>
      </p:pic>
      <p:pic>
        <p:nvPicPr>
          <p:cNvPr id="543" name="Google Shape;543;p47"/>
          <p:cNvPicPr preferRelativeResize="0"/>
          <p:nvPr/>
        </p:nvPicPr>
        <p:blipFill>
          <a:blip r:embed="rId4">
            <a:alphaModFix/>
          </a:blip>
          <a:stretch>
            <a:fillRect/>
          </a:stretch>
        </p:blipFill>
        <p:spPr>
          <a:xfrm>
            <a:off x="4868801" y="2510250"/>
            <a:ext cx="3210499" cy="2054450"/>
          </a:xfrm>
          <a:prstGeom prst="rect">
            <a:avLst/>
          </a:prstGeom>
          <a:noFill/>
          <a:ln>
            <a:noFill/>
          </a:ln>
        </p:spPr>
      </p:pic>
      <p:pic>
        <p:nvPicPr>
          <p:cNvPr id="544" name="Google Shape;544;p47"/>
          <p:cNvPicPr preferRelativeResize="0"/>
          <p:nvPr/>
        </p:nvPicPr>
        <p:blipFill>
          <a:blip r:embed="rId5">
            <a:alphaModFix/>
          </a:blip>
          <a:stretch>
            <a:fillRect/>
          </a:stretch>
        </p:blipFill>
        <p:spPr>
          <a:xfrm>
            <a:off x="2103167" y="4028725"/>
            <a:ext cx="1434958" cy="2966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48"/>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Representación del movimiento humano</a:t>
            </a:r>
            <a:endParaRPr/>
          </a:p>
        </p:txBody>
      </p:sp>
      <p:sp>
        <p:nvSpPr>
          <p:cNvPr id="550" name="Google Shape;550;p48"/>
          <p:cNvSpPr txBox="1"/>
          <p:nvPr>
            <p:ph idx="1" type="body"/>
          </p:nvPr>
        </p:nvSpPr>
        <p:spPr>
          <a:xfrm>
            <a:off x="1303800" y="1685250"/>
            <a:ext cx="7030500" cy="2541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419"/>
              <a:t>El movimiento humano puede describirse por el cambio de una postura inicial, e.g., la posición anatómica, en función del tiempo.</a:t>
            </a:r>
            <a:endParaRPr/>
          </a:p>
          <a:p>
            <a:pPr indent="0" lvl="0" marL="0" rtl="0" algn="l">
              <a:spcBef>
                <a:spcPts val="1200"/>
              </a:spcBef>
              <a:spcAft>
                <a:spcPts val="0"/>
              </a:spcAft>
              <a:buNone/>
            </a:pPr>
            <a:r>
              <a:rPr lang="es-419"/>
              <a:t>La </a:t>
            </a:r>
            <a:r>
              <a:rPr b="1" lang="es-419"/>
              <a:t>pose</a:t>
            </a:r>
            <a:r>
              <a:rPr lang="es-419"/>
              <a:t> (posición y orientación) es usada en el análisis cuantitativo para medir el movimiento usando modelos matemáticos y mediciones antropométricas del cuerpo humano.</a:t>
            </a:r>
            <a:endParaRPr/>
          </a:p>
          <a:p>
            <a:pPr indent="0" lvl="0" marL="0" rtl="0" algn="l">
              <a:spcBef>
                <a:spcPts val="1200"/>
              </a:spcBef>
              <a:spcAft>
                <a:spcPts val="0"/>
              </a:spcAft>
              <a:buNone/>
            </a:pPr>
            <a:r>
              <a:rPr lang="es-419"/>
              <a:t>Respecto a representación espacial, los estudios de movimiento se dividen en: </a:t>
            </a:r>
            <a:endParaRPr/>
          </a:p>
          <a:p>
            <a:pPr indent="-317500" lvl="0" marL="457200" rtl="0" algn="l">
              <a:spcBef>
                <a:spcPts val="1200"/>
              </a:spcBef>
              <a:spcAft>
                <a:spcPts val="0"/>
              </a:spcAft>
              <a:buSzPts val="1400"/>
              <a:buChar char="●"/>
            </a:pPr>
            <a:r>
              <a:rPr lang="es-419"/>
              <a:t>1-D: un punto que se mueve en un único eje.</a:t>
            </a:r>
            <a:endParaRPr/>
          </a:p>
          <a:p>
            <a:pPr indent="-317500" lvl="0" marL="457200" rtl="0" algn="l">
              <a:spcBef>
                <a:spcPts val="0"/>
              </a:spcBef>
              <a:spcAft>
                <a:spcPts val="0"/>
              </a:spcAft>
              <a:buSzPts val="1400"/>
              <a:buChar char="●"/>
            </a:pPr>
            <a:r>
              <a:rPr lang="es-419"/>
              <a:t>2-D: un objeto que se mueve sobre dos ejes y tiene un eje de rotación</a:t>
            </a:r>
            <a:endParaRPr/>
          </a:p>
          <a:p>
            <a:pPr indent="-317500" lvl="0" marL="457200" rtl="0" algn="l">
              <a:spcBef>
                <a:spcPts val="0"/>
              </a:spcBef>
              <a:spcAft>
                <a:spcPts val="0"/>
              </a:spcAft>
              <a:buSzPts val="1400"/>
              <a:buChar char="●"/>
            </a:pPr>
            <a:r>
              <a:rPr lang="es-419"/>
              <a:t>3-D: un objeto que se mueve y rota en tres ejes.</a:t>
            </a:r>
            <a:endParaRPr/>
          </a:p>
        </p:txBody>
      </p:sp>
      <p:sp>
        <p:nvSpPr>
          <p:cNvPr id="551" name="Google Shape;551;p4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52" name="Google Shape;552;p48"/>
          <p:cNvSpPr txBox="1"/>
          <p:nvPr/>
        </p:nvSpPr>
        <p:spPr>
          <a:xfrm>
            <a:off x="800450" y="43954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Ref.</a:t>
            </a:r>
            <a:endParaRPr sz="800">
              <a:solidFill>
                <a:srgbClr val="94B6BD"/>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49"/>
          <p:cNvSpPr txBox="1"/>
          <p:nvPr>
            <p:ph idx="1" type="body"/>
          </p:nvPr>
        </p:nvSpPr>
        <p:spPr>
          <a:xfrm>
            <a:off x="1303800" y="1685250"/>
            <a:ext cx="7255500" cy="305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Los estudios de seguimiento del movimiento humano se pueden agrupar en dos enfoques, según el tipo de estimación: </a:t>
            </a:r>
            <a:endParaRPr/>
          </a:p>
          <a:p>
            <a:pPr indent="-317500" lvl="0" marL="457200" rtl="0" algn="l">
              <a:spcBef>
                <a:spcPts val="1200"/>
              </a:spcBef>
              <a:spcAft>
                <a:spcPts val="0"/>
              </a:spcAft>
              <a:buSzPts val="1400"/>
              <a:buChar char="●"/>
            </a:pPr>
            <a:r>
              <a:rPr b="1" lang="es-419"/>
              <a:t>Estimación directa</a:t>
            </a:r>
            <a:r>
              <a:rPr lang="es-419"/>
              <a:t>: cada orientación del segmento se estima como si estuviera desconectada de los segmentos adyacentes. Estos estudios no incorporan las restricciones cinemáticas de las articulaciones humanas en la estimación.</a:t>
            </a:r>
            <a:endParaRPr/>
          </a:p>
          <a:p>
            <a:pPr indent="-317500" lvl="0" marL="457200" rtl="0" algn="l">
              <a:spcBef>
                <a:spcPts val="0"/>
              </a:spcBef>
              <a:spcAft>
                <a:spcPts val="0"/>
              </a:spcAft>
              <a:buSzPts val="1400"/>
              <a:buChar char="●"/>
            </a:pPr>
            <a:r>
              <a:rPr b="1" lang="es-419"/>
              <a:t>Estimación combinada</a:t>
            </a:r>
            <a:r>
              <a:rPr lang="es-419"/>
              <a:t>: las restricciones cinemáticas humanas están integradas en el modelo de estimación y tienen en cuenta una o más restricciones anatómicas de las articulaciones humanas al mismo tiempo.</a:t>
            </a:r>
            <a:endParaRPr/>
          </a:p>
        </p:txBody>
      </p:sp>
      <p:sp>
        <p:nvSpPr>
          <p:cNvPr id="558" name="Google Shape;558;p4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Tipos de estimaciones</a:t>
            </a:r>
            <a:endParaRPr/>
          </a:p>
        </p:txBody>
      </p:sp>
      <p:sp>
        <p:nvSpPr>
          <p:cNvPr id="559" name="Google Shape;559;p4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5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Estimación directa</a:t>
            </a:r>
            <a:endParaRPr/>
          </a:p>
        </p:txBody>
      </p:sp>
      <p:sp>
        <p:nvSpPr>
          <p:cNvPr id="565" name="Google Shape;565;p5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66" name="Google Shape;566;p50"/>
          <p:cNvPicPr preferRelativeResize="0"/>
          <p:nvPr/>
        </p:nvPicPr>
        <p:blipFill>
          <a:blip r:embed="rId3">
            <a:alphaModFix/>
          </a:blip>
          <a:stretch>
            <a:fillRect/>
          </a:stretch>
        </p:blipFill>
        <p:spPr>
          <a:xfrm>
            <a:off x="1242125" y="1065400"/>
            <a:ext cx="2440976" cy="2609051"/>
          </a:xfrm>
          <a:prstGeom prst="rect">
            <a:avLst/>
          </a:prstGeom>
          <a:noFill/>
          <a:ln>
            <a:noFill/>
          </a:ln>
        </p:spPr>
      </p:pic>
      <p:pic>
        <p:nvPicPr>
          <p:cNvPr id="567" name="Google Shape;567;p50"/>
          <p:cNvPicPr preferRelativeResize="0"/>
          <p:nvPr/>
        </p:nvPicPr>
        <p:blipFill>
          <a:blip r:embed="rId4">
            <a:alphaModFix/>
          </a:blip>
          <a:stretch>
            <a:fillRect/>
          </a:stretch>
        </p:blipFill>
        <p:spPr>
          <a:xfrm>
            <a:off x="4176900" y="1434674"/>
            <a:ext cx="4461924" cy="1798225"/>
          </a:xfrm>
          <a:prstGeom prst="rect">
            <a:avLst/>
          </a:prstGeom>
          <a:noFill/>
          <a:ln>
            <a:noFill/>
          </a:ln>
        </p:spPr>
      </p:pic>
      <p:sp>
        <p:nvSpPr>
          <p:cNvPr id="568" name="Google Shape;568;p50"/>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López-Nava, I. H., &amp; Muñoz-Meléndez, A. (2016, June). Complex human action recognition on daily living environments </a:t>
            </a:r>
            <a:br>
              <a:rPr lang="es-419" sz="800">
                <a:solidFill>
                  <a:srgbClr val="94B6BD"/>
                </a:solidFill>
              </a:rPr>
            </a:br>
            <a:r>
              <a:rPr lang="es-419" sz="800">
                <a:solidFill>
                  <a:srgbClr val="94B6BD"/>
                </a:solidFill>
              </a:rPr>
              <a:t>using wearable inertial sensors. In PervasiveHealth (pp. 138-145).</a:t>
            </a:r>
            <a:endParaRPr sz="800">
              <a:solidFill>
                <a:srgbClr val="94B6BD"/>
              </a:solidFill>
            </a:endParaRPr>
          </a:p>
        </p:txBody>
      </p:sp>
      <p:sp>
        <p:nvSpPr>
          <p:cNvPr id="569" name="Google Shape;569;p50"/>
          <p:cNvSpPr/>
          <p:nvPr/>
        </p:nvSpPr>
        <p:spPr>
          <a:xfrm>
            <a:off x="2017900" y="1354675"/>
            <a:ext cx="218700" cy="211500"/>
          </a:xfrm>
          <a:prstGeom prst="ellipse">
            <a:avLst/>
          </a:prstGeom>
          <a:noFill/>
          <a:ln cap="flat" cmpd="sng" w="19050">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50"/>
          <p:cNvSpPr/>
          <p:nvPr/>
        </p:nvSpPr>
        <p:spPr>
          <a:xfrm>
            <a:off x="2094100" y="1735675"/>
            <a:ext cx="218700" cy="211500"/>
          </a:xfrm>
          <a:prstGeom prst="ellipse">
            <a:avLst/>
          </a:prstGeom>
          <a:noFill/>
          <a:ln cap="flat" cmpd="sng" w="19050">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50"/>
          <p:cNvSpPr/>
          <p:nvPr/>
        </p:nvSpPr>
        <p:spPr>
          <a:xfrm>
            <a:off x="3160900" y="1430875"/>
            <a:ext cx="218700" cy="211500"/>
          </a:xfrm>
          <a:prstGeom prst="ellipse">
            <a:avLst/>
          </a:prstGeom>
          <a:noFill/>
          <a:ln cap="flat" cmpd="sng" w="19050">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50"/>
          <p:cNvSpPr txBox="1"/>
          <p:nvPr/>
        </p:nvSpPr>
        <p:spPr>
          <a:xfrm>
            <a:off x="2094100" y="832550"/>
            <a:ext cx="15594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900">
                <a:solidFill>
                  <a:schemeClr val="accent5"/>
                </a:solidFill>
                <a:latin typeface="Nunito"/>
                <a:ea typeface="Nunito"/>
                <a:cs typeface="Nunito"/>
                <a:sym typeface="Nunito"/>
              </a:rPr>
              <a:t>3 ejes por sensor!!</a:t>
            </a:r>
            <a:endParaRPr b="1" sz="900">
              <a:solidFill>
                <a:schemeClr val="accent5"/>
              </a:solidFill>
              <a:latin typeface="Nunito"/>
              <a:ea typeface="Nunito"/>
              <a:cs typeface="Nunito"/>
              <a:sym typeface="Nuni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51"/>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Estimación combinada: modelo de extremidad superior</a:t>
            </a:r>
            <a:endParaRPr/>
          </a:p>
        </p:txBody>
      </p:sp>
      <p:sp>
        <p:nvSpPr>
          <p:cNvPr id="578" name="Google Shape;578;p5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79" name="Google Shape;579;p51"/>
          <p:cNvPicPr preferRelativeResize="0"/>
          <p:nvPr/>
        </p:nvPicPr>
        <p:blipFill>
          <a:blip r:embed="rId3">
            <a:alphaModFix/>
          </a:blip>
          <a:stretch>
            <a:fillRect/>
          </a:stretch>
        </p:blipFill>
        <p:spPr>
          <a:xfrm>
            <a:off x="1424850" y="376550"/>
            <a:ext cx="6294301" cy="383417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52"/>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Estimación combinada: m</a:t>
            </a:r>
            <a:r>
              <a:rPr lang="es-419"/>
              <a:t>odelo de extremidad inferior</a:t>
            </a:r>
            <a:endParaRPr/>
          </a:p>
        </p:txBody>
      </p:sp>
      <p:sp>
        <p:nvSpPr>
          <p:cNvPr id="585" name="Google Shape;585;p5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86" name="Google Shape;586;p52"/>
          <p:cNvPicPr preferRelativeResize="0"/>
          <p:nvPr/>
        </p:nvPicPr>
        <p:blipFill>
          <a:blip r:embed="rId3">
            <a:alphaModFix/>
          </a:blip>
          <a:stretch>
            <a:fillRect/>
          </a:stretch>
        </p:blipFill>
        <p:spPr>
          <a:xfrm>
            <a:off x="2026788" y="272000"/>
            <a:ext cx="5090423" cy="383417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53"/>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Validación de los modelos previos</a:t>
            </a:r>
            <a:endParaRPr/>
          </a:p>
        </p:txBody>
      </p:sp>
      <p:sp>
        <p:nvSpPr>
          <p:cNvPr id="592" name="Google Shape;592;p5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93" name="Google Shape;593;p53" title="victor-bajar.MOV">
            <a:hlinkClick r:id="rId3"/>
          </p:cNvPr>
          <p:cNvPicPr preferRelativeResize="0"/>
          <p:nvPr/>
        </p:nvPicPr>
        <p:blipFill>
          <a:blip r:embed="rId4">
            <a:alphaModFix/>
          </a:blip>
          <a:stretch>
            <a:fillRect/>
          </a:stretch>
        </p:blipFill>
        <p:spPr>
          <a:xfrm>
            <a:off x="1303800" y="886175"/>
            <a:ext cx="1921002" cy="1440000"/>
          </a:xfrm>
          <a:prstGeom prst="rect">
            <a:avLst/>
          </a:prstGeom>
          <a:noFill/>
          <a:ln>
            <a:noFill/>
          </a:ln>
        </p:spPr>
      </p:pic>
      <p:pic>
        <p:nvPicPr>
          <p:cNvPr id="594" name="Google Shape;594;p53" title="victor-walk.MOV">
            <a:hlinkClick r:id="rId5"/>
          </p:cNvPr>
          <p:cNvPicPr preferRelativeResize="0"/>
          <p:nvPr/>
        </p:nvPicPr>
        <p:blipFill>
          <a:blip r:embed="rId4">
            <a:alphaModFix/>
          </a:blip>
          <a:stretch>
            <a:fillRect/>
          </a:stretch>
        </p:blipFill>
        <p:spPr>
          <a:xfrm>
            <a:off x="3659427" y="886175"/>
            <a:ext cx="1918993" cy="1440000"/>
          </a:xfrm>
          <a:prstGeom prst="rect">
            <a:avLst/>
          </a:prstGeom>
          <a:noFill/>
          <a:ln>
            <a:noFill/>
          </a:ln>
        </p:spPr>
      </p:pic>
      <p:pic>
        <p:nvPicPr>
          <p:cNvPr id="595" name="Google Shape;595;p53" title="victor-free-LL.MOV">
            <a:hlinkClick r:id="rId6"/>
          </p:cNvPr>
          <p:cNvPicPr preferRelativeResize="0"/>
          <p:nvPr/>
        </p:nvPicPr>
        <p:blipFill>
          <a:blip r:embed="rId4">
            <a:alphaModFix/>
          </a:blip>
          <a:stretch>
            <a:fillRect/>
          </a:stretch>
        </p:blipFill>
        <p:spPr>
          <a:xfrm>
            <a:off x="5956595" y="886175"/>
            <a:ext cx="1921414" cy="1440000"/>
          </a:xfrm>
          <a:prstGeom prst="rect">
            <a:avLst/>
          </a:prstGeom>
          <a:noFill/>
          <a:ln>
            <a:noFill/>
          </a:ln>
        </p:spPr>
      </p:pic>
      <p:pic>
        <p:nvPicPr>
          <p:cNvPr id="596" name="Google Shape;596;p53" title="ernesto-free-UL.MOV">
            <a:hlinkClick r:id="rId7"/>
          </p:cNvPr>
          <p:cNvPicPr preferRelativeResize="0"/>
          <p:nvPr/>
        </p:nvPicPr>
        <p:blipFill>
          <a:blip r:embed="rId4">
            <a:alphaModFix/>
          </a:blip>
          <a:stretch>
            <a:fillRect/>
          </a:stretch>
        </p:blipFill>
        <p:spPr>
          <a:xfrm>
            <a:off x="5957800" y="2621125"/>
            <a:ext cx="1918993" cy="1440000"/>
          </a:xfrm>
          <a:prstGeom prst="rect">
            <a:avLst/>
          </a:prstGeom>
          <a:noFill/>
          <a:ln>
            <a:noFill/>
          </a:ln>
        </p:spPr>
      </p:pic>
      <p:pic>
        <p:nvPicPr>
          <p:cNvPr id="597" name="Google Shape;597;p53" title="ernesto-movements-UL.MOV">
            <a:hlinkClick r:id="rId8"/>
          </p:cNvPr>
          <p:cNvPicPr preferRelativeResize="0"/>
          <p:nvPr/>
        </p:nvPicPr>
        <p:blipFill>
          <a:blip r:embed="rId4">
            <a:alphaModFix/>
          </a:blip>
          <a:stretch>
            <a:fillRect/>
          </a:stretch>
        </p:blipFill>
        <p:spPr>
          <a:xfrm>
            <a:off x="1304800" y="2621125"/>
            <a:ext cx="1918993" cy="1440000"/>
          </a:xfrm>
          <a:prstGeom prst="rect">
            <a:avLst/>
          </a:prstGeom>
          <a:noFill/>
          <a:ln>
            <a:noFill/>
          </a:ln>
        </p:spPr>
      </p:pic>
      <p:pic>
        <p:nvPicPr>
          <p:cNvPr id="598" name="Google Shape;598;p53" title="ernesto-cepillarse.MOV">
            <a:hlinkClick r:id="rId9"/>
          </p:cNvPr>
          <p:cNvPicPr preferRelativeResize="0"/>
          <p:nvPr/>
        </p:nvPicPr>
        <p:blipFill>
          <a:blip r:embed="rId4">
            <a:alphaModFix/>
          </a:blip>
          <a:stretch>
            <a:fillRect/>
          </a:stretch>
        </p:blipFill>
        <p:spPr>
          <a:xfrm>
            <a:off x="3659425" y="2621125"/>
            <a:ext cx="1918993" cy="1440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3"/>
                                        </p:tgtEl>
                                        <p:attrNameLst>
                                          <p:attrName>style.visibility</p:attrName>
                                        </p:attrNameLst>
                                      </p:cBhvr>
                                      <p:to>
                                        <p:strVal val="visible"/>
                                      </p:to>
                                    </p:set>
                                    <p:animEffect filter="fade" transition="in">
                                      <p:cBhvr>
                                        <p:cTn dur="1000"/>
                                        <p:tgtEl>
                                          <p:spTgt spid="5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4"/>
                                        </p:tgtEl>
                                        <p:attrNameLst>
                                          <p:attrName>style.visibility</p:attrName>
                                        </p:attrNameLst>
                                      </p:cBhvr>
                                      <p:to>
                                        <p:strVal val="visible"/>
                                      </p:to>
                                    </p:set>
                                    <p:animEffect filter="fade" transition="in">
                                      <p:cBhvr>
                                        <p:cTn dur="1000"/>
                                        <p:tgtEl>
                                          <p:spTgt spid="5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
                                        </p:tgtEl>
                                        <p:attrNameLst>
                                          <p:attrName>style.visibility</p:attrName>
                                        </p:attrNameLst>
                                      </p:cBhvr>
                                      <p:to>
                                        <p:strVal val="visible"/>
                                      </p:to>
                                    </p:set>
                                    <p:animEffect filter="fade" transition="in">
                                      <p:cBhvr>
                                        <p:cTn dur="1000"/>
                                        <p:tgtEl>
                                          <p:spTgt spid="5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6"/>
                                        </p:tgtEl>
                                        <p:attrNameLst>
                                          <p:attrName>style.visibility</p:attrName>
                                        </p:attrNameLst>
                                      </p:cBhvr>
                                      <p:to>
                                        <p:strVal val="visible"/>
                                      </p:to>
                                    </p:set>
                                    <p:animEffect filter="fade" transition="in">
                                      <p:cBhvr>
                                        <p:cTn dur="1000"/>
                                        <p:tgtEl>
                                          <p:spTgt spid="5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7"/>
                                        </p:tgtEl>
                                        <p:attrNameLst>
                                          <p:attrName>style.visibility</p:attrName>
                                        </p:attrNameLst>
                                      </p:cBhvr>
                                      <p:to>
                                        <p:strVal val="visible"/>
                                      </p:to>
                                    </p:set>
                                    <p:animEffect filter="fade" transition="in">
                                      <p:cBhvr>
                                        <p:cTn dur="1000"/>
                                        <p:tgtEl>
                                          <p:spTgt spid="5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8"/>
                                        </p:tgtEl>
                                        <p:attrNameLst>
                                          <p:attrName>style.visibility</p:attrName>
                                        </p:attrNameLst>
                                      </p:cBhvr>
                                      <p:to>
                                        <p:strVal val="visible"/>
                                      </p:to>
                                    </p:set>
                                    <p:animEffect filter="fade" transition="in">
                                      <p:cBhvr>
                                        <p:cTn dur="1000"/>
                                        <p:tgtEl>
                                          <p:spTgt spid="5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54"/>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Xsens MoCap System</a:t>
            </a:r>
            <a:endParaRPr/>
          </a:p>
        </p:txBody>
      </p:sp>
      <p:sp>
        <p:nvSpPr>
          <p:cNvPr id="604" name="Google Shape;604;p5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descr="Wireless Xsens inertial sensors are attached to the lower extremity for gait analysis.  The MotionMonitor® generates the model and provides output of gait-related parameters with no programming efforts required.&#10;&#10;Visit http://www.TheMotionMonitor.com/applications/gait-analysis.aspx to learn more!" id="605" name="Google Shape;605;p54" title="Treadmill Gait Analysis with Xsens">
            <a:hlinkClick r:id="rId3"/>
          </p:cNvPr>
          <p:cNvPicPr preferRelativeResize="0"/>
          <p:nvPr/>
        </p:nvPicPr>
        <p:blipFill>
          <a:blip r:embed="rId4">
            <a:alphaModFix/>
          </a:blip>
          <a:stretch>
            <a:fillRect/>
          </a:stretch>
        </p:blipFill>
        <p:spPr>
          <a:xfrm>
            <a:off x="2009650" y="903150"/>
            <a:ext cx="5124706" cy="2880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
                                        </p:tgtEl>
                                        <p:attrNameLst>
                                          <p:attrName>style.visibility</p:attrName>
                                        </p:attrNameLst>
                                      </p:cBhvr>
                                      <p:to>
                                        <p:strVal val="visible"/>
                                      </p:to>
                                    </p:set>
                                    <p:animEffect filter="fade" transition="in">
                                      <p:cBhvr>
                                        <p:cTn dur="1000"/>
                                        <p:tgtEl>
                                          <p:spTgt spid="6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55"/>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Kinect Azure</a:t>
            </a:r>
            <a:endParaRPr/>
          </a:p>
        </p:txBody>
      </p:sp>
      <p:sp>
        <p:nvSpPr>
          <p:cNvPr id="611" name="Google Shape;611;p5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descr="Making great looking #AR is a combination of lots of small parts and together they really add a lot! Here's a tech demo we created with the Microsoft Azure Kinect DK, combining:&#10;- Static environment mapping&#10;- Realtime environment / user occlusion&#10;- Realtime light / shadow / VFX&#10;- AI navigation" id="612" name="Google Shape;612;p55" title="Microsoft Azure Kinect DK - Tech Demo">
            <a:hlinkClick r:id="rId3"/>
          </p:cNvPr>
          <p:cNvPicPr preferRelativeResize="0"/>
          <p:nvPr/>
        </p:nvPicPr>
        <p:blipFill>
          <a:blip r:embed="rId4">
            <a:alphaModFix/>
          </a:blip>
          <a:stretch>
            <a:fillRect/>
          </a:stretch>
        </p:blipFill>
        <p:spPr>
          <a:xfrm>
            <a:off x="2009650" y="903150"/>
            <a:ext cx="5124706" cy="2880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2"/>
                                        </p:tgtEl>
                                        <p:attrNameLst>
                                          <p:attrName>style.visibility</p:attrName>
                                        </p:attrNameLst>
                                      </p:cBhvr>
                                      <p:to>
                                        <p:strVal val="visible"/>
                                      </p:to>
                                    </p:set>
                                    <p:animEffect filter="fade" transition="in">
                                      <p:cBhvr>
                                        <p:cTn dur="1000"/>
                                        <p:tgtEl>
                                          <p:spTgt spid="6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56"/>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Vicon System</a:t>
            </a:r>
            <a:endParaRPr/>
          </a:p>
        </p:txBody>
      </p:sp>
      <p:sp>
        <p:nvSpPr>
          <p:cNvPr id="618" name="Google Shape;618;p5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descr="https://www.sun.ac.za/english/faculty/science/CAF/units/neuromechanics" id="619" name="Google Shape;619;p56" title="Force and PiG model overlay in Vicon Nexus during running">
            <a:hlinkClick r:id="rId3"/>
          </p:cNvPr>
          <p:cNvPicPr preferRelativeResize="0"/>
          <p:nvPr/>
        </p:nvPicPr>
        <p:blipFill>
          <a:blip r:embed="rId4">
            <a:alphaModFix/>
          </a:blip>
          <a:stretch>
            <a:fillRect/>
          </a:stretch>
        </p:blipFill>
        <p:spPr>
          <a:xfrm>
            <a:off x="2009650" y="903150"/>
            <a:ext cx="5124706" cy="2880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9"/>
                                        </p:tgtEl>
                                        <p:attrNameLst>
                                          <p:attrName>style.visibility</p:attrName>
                                        </p:attrNameLst>
                                      </p:cBhvr>
                                      <p:to>
                                        <p:strVal val="visible"/>
                                      </p:to>
                                    </p:set>
                                    <p:animEffect filter="fade" transition="in">
                                      <p:cBhvr>
                                        <p:cTn dur="1000"/>
                                        <p:tgtEl>
                                          <p:spTgt spid="6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57"/>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Neural networks</a:t>
            </a:r>
            <a:endParaRPr/>
          </a:p>
        </p:txBody>
      </p:sp>
      <p:sp>
        <p:nvSpPr>
          <p:cNvPr id="625" name="Google Shape;625;p5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descr="An example of someone running with an anatomically relevant skeleton overlayed onto their silhouette. Here we use open-source software OpenPose and a pre-trained neural network to estimate the relevant landmarks for overlaying this skeleton. This technology can be used to assess running form and biomechanics from single video recordings. &#10;&#10;OpenPose : https://github.com/CMU-Perceptual-Computing-Lab/openpose&#10;&#10;Thank you for watching and please consider subscribing &#10;Laboratory BioMechanica" id="626" name="Google Shape;626;p57" title="Treadmill Running with OpenPose Markerless Motion Tracking | Deep Learning">
            <a:hlinkClick r:id="rId3"/>
          </p:cNvPr>
          <p:cNvPicPr preferRelativeResize="0"/>
          <p:nvPr/>
        </p:nvPicPr>
        <p:blipFill>
          <a:blip r:embed="rId4">
            <a:alphaModFix/>
          </a:blip>
          <a:stretch>
            <a:fillRect/>
          </a:stretch>
        </p:blipFill>
        <p:spPr>
          <a:xfrm>
            <a:off x="2012413" y="903150"/>
            <a:ext cx="5119172" cy="2880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6"/>
                                        </p:tgtEl>
                                        <p:attrNameLst>
                                          <p:attrName>style.visibility</p:attrName>
                                        </p:attrNameLst>
                                      </p:cBhvr>
                                      <p:to>
                                        <p:strVal val="visible"/>
                                      </p:to>
                                    </p:set>
                                    <p:animEffect filter="fade" transition="in">
                                      <p:cBhvr>
                                        <p:cTn dur="1000"/>
                                        <p:tgtEl>
                                          <p:spTgt spid="6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5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32" name="Google Shape;632;p58"/>
          <p:cNvPicPr preferRelativeResize="0"/>
          <p:nvPr/>
        </p:nvPicPr>
        <p:blipFill>
          <a:blip r:embed="rId3">
            <a:alphaModFix/>
          </a:blip>
          <a:stretch>
            <a:fillRect/>
          </a:stretch>
        </p:blipFill>
        <p:spPr>
          <a:xfrm>
            <a:off x="1648662" y="1076087"/>
            <a:ext cx="5846676" cy="29913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59"/>
          <p:cNvSpPr txBox="1"/>
          <p:nvPr>
            <p:ph type="title"/>
          </p:nvPr>
        </p:nvSpPr>
        <p:spPr>
          <a:xfrm>
            <a:off x="1388625" y="772725"/>
            <a:ext cx="6366900" cy="1863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6000"/>
              <a:t>¿Preguntas?</a:t>
            </a:r>
            <a:endParaRPr sz="6000"/>
          </a:p>
        </p:txBody>
      </p:sp>
      <p:sp>
        <p:nvSpPr>
          <p:cNvPr id="638" name="Google Shape;638;p59"/>
          <p:cNvSpPr txBox="1"/>
          <p:nvPr>
            <p:ph idx="1" type="body"/>
          </p:nvPr>
        </p:nvSpPr>
        <p:spPr>
          <a:xfrm>
            <a:off x="1388625" y="2483700"/>
            <a:ext cx="6366900" cy="1111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s-419" sz="1600">
                <a:solidFill>
                  <a:schemeClr val="dk1"/>
                </a:solidFill>
              </a:rPr>
              <a:t>hussein@cicese.mx</a:t>
            </a:r>
            <a:endParaRPr b="1" sz="1600">
              <a:solidFill>
                <a:schemeClr val="dk1"/>
              </a:solidFill>
            </a:endParaRPr>
          </a:p>
          <a:p>
            <a:pPr indent="0" lvl="0" marL="0" rtl="0" algn="ctr">
              <a:spcBef>
                <a:spcPts val="1200"/>
              </a:spcBef>
              <a:spcAft>
                <a:spcPts val="1200"/>
              </a:spcAft>
              <a:buNone/>
            </a:pPr>
            <a:r>
              <a:t/>
            </a:r>
            <a:endParaRPr b="1" sz="1600">
              <a:solidFill>
                <a:schemeClr val="dk1"/>
              </a:solidFill>
            </a:endParaRPr>
          </a:p>
        </p:txBody>
      </p:sp>
      <p:sp>
        <p:nvSpPr>
          <p:cNvPr id="639" name="Google Shape;639;p5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40" name="Google Shape;640;p59"/>
          <p:cNvPicPr preferRelativeResize="0"/>
          <p:nvPr/>
        </p:nvPicPr>
        <p:blipFill>
          <a:blip r:embed="rId3">
            <a:alphaModFix/>
          </a:blip>
          <a:stretch>
            <a:fillRect/>
          </a:stretch>
        </p:blipFill>
        <p:spPr>
          <a:xfrm>
            <a:off x="7771986" y="3437649"/>
            <a:ext cx="1372013" cy="1705850"/>
          </a:xfrm>
          <a:prstGeom prst="rect">
            <a:avLst/>
          </a:prstGeom>
          <a:noFill/>
          <a:ln>
            <a:noFill/>
          </a:ln>
        </p:spPr>
      </p:pic>
      <p:pic>
        <p:nvPicPr>
          <p:cNvPr id="641" name="Google Shape;641;p59"/>
          <p:cNvPicPr preferRelativeResize="0"/>
          <p:nvPr/>
        </p:nvPicPr>
        <p:blipFill>
          <a:blip r:embed="rId4">
            <a:alphaModFix/>
          </a:blip>
          <a:stretch>
            <a:fillRect/>
          </a:stretch>
        </p:blipFill>
        <p:spPr>
          <a:xfrm>
            <a:off x="0" y="3437650"/>
            <a:ext cx="2273117" cy="17058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mpulso CDSI">
  <a:themeElements>
    <a:clrScheme name="Momentum">
      <a:dk1>
        <a:srgbClr val="94B6BD"/>
      </a:dk1>
      <a:lt1>
        <a:srgbClr val="FFFFFF"/>
      </a:lt1>
      <a:dk2>
        <a:srgbClr val="073763"/>
      </a:dk2>
      <a:lt2>
        <a:srgbClr val="BBBBBB"/>
      </a:lt2>
      <a:accent1>
        <a:srgbClr val="3A4664"/>
      </a:accent1>
      <a:accent2>
        <a:srgbClr val="94B6BD"/>
      </a:accent2>
      <a:accent3>
        <a:srgbClr val="EEEEEE"/>
      </a:accent3>
      <a:accent4>
        <a:srgbClr val="BBBBBB"/>
      </a:accent4>
      <a:accent5>
        <a:srgbClr val="0B5394"/>
      </a:accent5>
      <a:accent6>
        <a:srgbClr val="D9D2E9"/>
      </a:accent6>
      <a:hlink>
        <a:srgbClr val="DD7E6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