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Lst>
  <p:sldSz cy="5143500" cx="9144000"/>
  <p:notesSz cx="6858000" cy="9144000"/>
  <p:embeddedFontLst>
    <p:embeddedFont>
      <p:font typeface="Nunito"/>
      <p:regular r:id="rId81"/>
      <p:bold r:id="rId82"/>
      <p:italic r:id="rId83"/>
      <p:boldItalic r:id="rId84"/>
    </p:embeddedFont>
    <p:embeddedFont>
      <p:font typeface="Maven Pro"/>
      <p:regular r:id="rId85"/>
      <p:bold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Nunito-boldItalic.fntdata"/><Relationship Id="rId83" Type="http://schemas.openxmlformats.org/officeDocument/2006/relationships/font" Target="fonts/Nunito-italic.fntdata"/><Relationship Id="rId42" Type="http://schemas.openxmlformats.org/officeDocument/2006/relationships/slide" Target="slides/slide37.xml"/><Relationship Id="rId86" Type="http://schemas.openxmlformats.org/officeDocument/2006/relationships/font" Target="fonts/MavenPro-bold.fntdata"/><Relationship Id="rId41" Type="http://schemas.openxmlformats.org/officeDocument/2006/relationships/slide" Target="slides/slide36.xml"/><Relationship Id="rId85" Type="http://schemas.openxmlformats.org/officeDocument/2006/relationships/font" Target="fonts/MavenPro-regular.fntdata"/><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font" Target="fonts/Nunito-bold.fntdata"/><Relationship Id="rId81"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b8e2f809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b8e2f809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0ca5513fe0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0ca5513fe0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087ecbd03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1087ecbd03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1102eadf1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1102eadf1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1102eadf1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1102eadf1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1102eadf1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1102eadf1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1102eadf1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1102eadf1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1102eadf1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1102eadf1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1102eadf1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1102eadf1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1102eadf1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1102eadf1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1102eadf1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1102eadf1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1102eadf12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1102eadf1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1102eadf1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1102eadf1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1102eadf12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1102eadf12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1102eadf1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1102eadf1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1102eadf12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1102eadf12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1102eadf12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1102eadf12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1102eadf12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1102eadf12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1102eadf12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1102eadf12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1102eadf12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1102eadf12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1102eadf12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1102eadf12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1102eadf1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1102eadf1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1102eadf12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1102eadf12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1102eadf12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1102eadf12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1102eadf12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1102eadf12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1102eadf12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1102eadf12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1102eadf12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1102eadf12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1102eadf12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1102eadf12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1102eadf12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1102eadf12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1102eadf12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11102eadf12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102eadf12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102eadf12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11102eadf12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11102eadf12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1102eadf12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11102eadf12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1102eadf12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11102eadf12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1102eadf12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11102eadf12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1102eadf12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1102eadf12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1102eadf12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11102eadf12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1102eadf12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1102eadf12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1102eadf12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11102eadf12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1102eadf12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1102eadf12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1102eadf12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1102eadf12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1102eadf12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1102eadf12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11102eadf12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11102eadf12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1102eadf12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1102eadf12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11102eadf12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11102eadf12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1102eadf12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11102eadf12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11102eadf12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11102eadf12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11102eadf12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11102eadf12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1102eadf12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11102eadf12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08287d8898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208287d8898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dk1"/>
                </a:solidFill>
              </a:rPr>
              <a:t>https://www.analyticsvidhya.com/blog/2019/08/3-techniques-extract-features-from-image-data-machine-learning-python/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11102eadf12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11102eadf12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11102eadf12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11102eadf12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11102eadf12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11102eadf12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11102eadf12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11102eadf12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11102eadf12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11102eadf12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11102eadf12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11102eadf12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11102eadf12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11102eadf12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d1d2928e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d1d2928e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d1d2928e5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d1d2928e5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d1d2928e5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d1d2928e5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d1d2928e5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d1d2928e5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d1d2928e5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d1d2928e5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d1d2928e5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d1d2928e5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d1d2928e5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d1d2928e5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d1d2928e5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d1d2928e5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d1d2928e5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d1d2928e5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d1d2928e5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d1d2928e5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d1d2928e51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d1d2928e51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d1d2928e5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d1d2928e51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d1d2928e51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d1d2928e51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d1d2928e51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d1d2928e51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672a399ba0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2672a399ba0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2672a399ba0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2672a399ba0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672a399b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2672a399b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 name="Google Shape;29;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0" name="Google Shape;30;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EFEFEF"/>
              </a:buClr>
              <a:buSzPts val="1600"/>
              <a:buNone/>
              <a:defRPr sz="1600">
                <a:solidFill>
                  <a:srgbClr val="EFEFEF"/>
                </a:solidFill>
              </a:defRPr>
            </a:lvl1pPr>
            <a:lvl2pPr lvl="1">
              <a:lnSpc>
                <a:spcPct val="100000"/>
              </a:lnSpc>
              <a:spcBef>
                <a:spcPts val="0"/>
              </a:spcBef>
              <a:spcAft>
                <a:spcPts val="0"/>
              </a:spcAft>
              <a:buClr>
                <a:srgbClr val="EFEFEF"/>
              </a:buClr>
              <a:buSzPts val="1600"/>
              <a:buNone/>
              <a:defRPr sz="1600">
                <a:solidFill>
                  <a:srgbClr val="EFEFEF"/>
                </a:solidFill>
              </a:defRPr>
            </a:lvl2pPr>
            <a:lvl3pPr lvl="2">
              <a:lnSpc>
                <a:spcPct val="100000"/>
              </a:lnSpc>
              <a:spcBef>
                <a:spcPts val="0"/>
              </a:spcBef>
              <a:spcAft>
                <a:spcPts val="0"/>
              </a:spcAft>
              <a:buClr>
                <a:srgbClr val="EFEFEF"/>
              </a:buClr>
              <a:buSzPts val="1600"/>
              <a:buNone/>
              <a:defRPr sz="1600">
                <a:solidFill>
                  <a:srgbClr val="EFEFEF"/>
                </a:solidFill>
              </a:defRPr>
            </a:lvl3pPr>
            <a:lvl4pPr lvl="3">
              <a:lnSpc>
                <a:spcPct val="100000"/>
              </a:lnSpc>
              <a:spcBef>
                <a:spcPts val="0"/>
              </a:spcBef>
              <a:spcAft>
                <a:spcPts val="0"/>
              </a:spcAft>
              <a:buClr>
                <a:srgbClr val="EFEFEF"/>
              </a:buClr>
              <a:buSzPts val="1600"/>
              <a:buNone/>
              <a:defRPr sz="1600">
                <a:solidFill>
                  <a:srgbClr val="EFEFEF"/>
                </a:solidFill>
              </a:defRPr>
            </a:lvl4pPr>
            <a:lvl5pPr lvl="4">
              <a:lnSpc>
                <a:spcPct val="100000"/>
              </a:lnSpc>
              <a:spcBef>
                <a:spcPts val="0"/>
              </a:spcBef>
              <a:spcAft>
                <a:spcPts val="0"/>
              </a:spcAft>
              <a:buClr>
                <a:srgbClr val="EFEFEF"/>
              </a:buClr>
              <a:buSzPts val="1600"/>
              <a:buNone/>
              <a:defRPr sz="1600">
                <a:solidFill>
                  <a:srgbClr val="EFEFEF"/>
                </a:solidFill>
              </a:defRPr>
            </a:lvl5pPr>
            <a:lvl6pPr lvl="5">
              <a:lnSpc>
                <a:spcPct val="100000"/>
              </a:lnSpc>
              <a:spcBef>
                <a:spcPts val="0"/>
              </a:spcBef>
              <a:spcAft>
                <a:spcPts val="0"/>
              </a:spcAft>
              <a:buClr>
                <a:srgbClr val="EFEFEF"/>
              </a:buClr>
              <a:buSzPts val="1600"/>
              <a:buNone/>
              <a:defRPr sz="1600">
                <a:solidFill>
                  <a:srgbClr val="EFEFEF"/>
                </a:solidFill>
              </a:defRPr>
            </a:lvl6pPr>
            <a:lvl7pPr lvl="6">
              <a:lnSpc>
                <a:spcPct val="100000"/>
              </a:lnSpc>
              <a:spcBef>
                <a:spcPts val="0"/>
              </a:spcBef>
              <a:spcAft>
                <a:spcPts val="0"/>
              </a:spcAft>
              <a:buClr>
                <a:srgbClr val="EFEFEF"/>
              </a:buClr>
              <a:buSzPts val="1600"/>
              <a:buNone/>
              <a:defRPr sz="1600">
                <a:solidFill>
                  <a:srgbClr val="EFEFEF"/>
                </a:solidFill>
              </a:defRPr>
            </a:lvl7pPr>
            <a:lvl8pPr lvl="7">
              <a:lnSpc>
                <a:spcPct val="100000"/>
              </a:lnSpc>
              <a:spcBef>
                <a:spcPts val="0"/>
              </a:spcBef>
              <a:spcAft>
                <a:spcPts val="0"/>
              </a:spcAft>
              <a:buClr>
                <a:srgbClr val="EFEFEF"/>
              </a:buClr>
              <a:buSzPts val="1600"/>
              <a:buNone/>
              <a:defRPr sz="1600">
                <a:solidFill>
                  <a:srgbClr val="EFEFEF"/>
                </a:solidFill>
              </a:defRPr>
            </a:lvl8pPr>
            <a:lvl9pPr lvl="8">
              <a:lnSpc>
                <a:spcPct val="100000"/>
              </a:lnSpc>
              <a:spcBef>
                <a:spcPts val="0"/>
              </a:spcBef>
              <a:spcAft>
                <a:spcPts val="0"/>
              </a:spcAft>
              <a:buClr>
                <a:srgbClr val="EFEFEF"/>
              </a:buClr>
              <a:buSzPts val="1600"/>
              <a:buNone/>
              <a:defRPr sz="1600">
                <a:solidFill>
                  <a:srgbClr val="EFEFEF"/>
                </a:solidFill>
              </a:defRPr>
            </a:lvl9pPr>
          </a:lstStyle>
          <a:p/>
        </p:txBody>
      </p:sp>
      <p:sp>
        <p:nvSpPr>
          <p:cNvPr id="31" name="Google Shape;31;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grpSp>
        <p:nvGrpSpPr>
          <p:cNvPr id="32" name="Google Shape;32;p2"/>
          <p:cNvGrpSpPr/>
          <p:nvPr/>
        </p:nvGrpSpPr>
        <p:grpSpPr>
          <a:xfrm>
            <a:off x="5043503" y="0"/>
            <a:ext cx="3814072" cy="3839102"/>
            <a:chOff x="5043503" y="0"/>
            <a:chExt cx="3814072" cy="3839102"/>
          </a:xfrm>
        </p:grpSpPr>
        <p:sp>
          <p:nvSpPr>
            <p:cNvPr id="33" name="Google Shape;33;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7647812" y="2704283"/>
              <a:ext cx="635219" cy="635219"/>
              <a:chOff x="6725724" y="2701260"/>
              <a:chExt cx="1208101" cy="1208100"/>
            </a:xfrm>
          </p:grpSpPr>
          <p:sp>
            <p:nvSpPr>
              <p:cNvPr id="36" name="Google Shape;36;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7952720" y="179238"/>
              <a:ext cx="873165" cy="873003"/>
              <a:chOff x="7754428" y="208725"/>
              <a:chExt cx="541800" cy="541800"/>
            </a:xfrm>
          </p:grpSpPr>
          <p:sp>
            <p:nvSpPr>
              <p:cNvPr id="41" name="Google Shape;41;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3F3F3"/>
              </a:buClr>
              <a:buSzPts val="3600"/>
              <a:buNone/>
              <a:defRPr sz="3600">
                <a:solidFill>
                  <a:srgbClr val="F3F3F3"/>
                </a:solidFill>
              </a:defRPr>
            </a:lvl1pPr>
            <a:lvl2pPr lvl="1">
              <a:spcBef>
                <a:spcPts val="0"/>
              </a:spcBef>
              <a:spcAft>
                <a:spcPts val="0"/>
              </a:spcAft>
              <a:buClr>
                <a:srgbClr val="F3F3F3"/>
              </a:buClr>
              <a:buSzPts val="3600"/>
              <a:buNone/>
              <a:defRPr sz="3600">
                <a:solidFill>
                  <a:srgbClr val="F3F3F3"/>
                </a:solidFill>
              </a:defRPr>
            </a:lvl2pPr>
            <a:lvl3pPr lvl="2">
              <a:spcBef>
                <a:spcPts val="0"/>
              </a:spcBef>
              <a:spcAft>
                <a:spcPts val="0"/>
              </a:spcAft>
              <a:buClr>
                <a:srgbClr val="F3F3F3"/>
              </a:buClr>
              <a:buSzPts val="3600"/>
              <a:buNone/>
              <a:defRPr sz="3600">
                <a:solidFill>
                  <a:srgbClr val="F3F3F3"/>
                </a:solidFill>
              </a:defRPr>
            </a:lvl3pPr>
            <a:lvl4pPr lvl="3">
              <a:spcBef>
                <a:spcPts val="0"/>
              </a:spcBef>
              <a:spcAft>
                <a:spcPts val="0"/>
              </a:spcAft>
              <a:buClr>
                <a:srgbClr val="F3F3F3"/>
              </a:buClr>
              <a:buSzPts val="3600"/>
              <a:buNone/>
              <a:defRPr sz="3600">
                <a:solidFill>
                  <a:srgbClr val="F3F3F3"/>
                </a:solidFill>
              </a:defRPr>
            </a:lvl4pPr>
            <a:lvl5pPr lvl="4">
              <a:spcBef>
                <a:spcPts val="0"/>
              </a:spcBef>
              <a:spcAft>
                <a:spcPts val="0"/>
              </a:spcAft>
              <a:buClr>
                <a:srgbClr val="F3F3F3"/>
              </a:buClr>
              <a:buSzPts val="3600"/>
              <a:buNone/>
              <a:defRPr sz="3600">
                <a:solidFill>
                  <a:srgbClr val="F3F3F3"/>
                </a:solidFill>
              </a:defRPr>
            </a:lvl5pPr>
            <a:lvl6pPr lvl="5">
              <a:spcBef>
                <a:spcPts val="0"/>
              </a:spcBef>
              <a:spcAft>
                <a:spcPts val="0"/>
              </a:spcAft>
              <a:buClr>
                <a:srgbClr val="F3F3F3"/>
              </a:buClr>
              <a:buSzPts val="3600"/>
              <a:buNone/>
              <a:defRPr sz="3600">
                <a:solidFill>
                  <a:srgbClr val="F3F3F3"/>
                </a:solidFill>
              </a:defRPr>
            </a:lvl6pPr>
            <a:lvl7pPr lvl="6">
              <a:spcBef>
                <a:spcPts val="0"/>
              </a:spcBef>
              <a:spcAft>
                <a:spcPts val="0"/>
              </a:spcAft>
              <a:buClr>
                <a:srgbClr val="F3F3F3"/>
              </a:buClr>
              <a:buSzPts val="3600"/>
              <a:buNone/>
              <a:defRPr sz="3600">
                <a:solidFill>
                  <a:srgbClr val="F3F3F3"/>
                </a:solidFill>
              </a:defRPr>
            </a:lvl7pPr>
            <a:lvl8pPr lvl="7">
              <a:spcBef>
                <a:spcPts val="0"/>
              </a:spcBef>
              <a:spcAft>
                <a:spcPts val="0"/>
              </a:spcAft>
              <a:buClr>
                <a:srgbClr val="F3F3F3"/>
              </a:buClr>
              <a:buSzPts val="3600"/>
              <a:buNone/>
              <a:defRPr sz="3600">
                <a:solidFill>
                  <a:srgbClr val="F3F3F3"/>
                </a:solidFill>
              </a:defRPr>
            </a:lvl8pPr>
            <a:lvl9pPr lvl="8">
              <a:spcBef>
                <a:spcPts val="0"/>
              </a:spcBef>
              <a:spcAft>
                <a:spcPts val="0"/>
              </a:spcAft>
              <a:buClr>
                <a:srgbClr val="F3F3F3"/>
              </a:buClr>
              <a:buSzPts val="3600"/>
              <a:buNone/>
              <a:defRPr sz="3600">
                <a:solidFill>
                  <a:srgbClr val="F3F3F3"/>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FEFEF"/>
              </a:buClr>
              <a:buSzPts val="3600"/>
              <a:buNone/>
              <a:defRPr sz="3600">
                <a:solidFill>
                  <a:srgbClr val="EFEFEF"/>
                </a:solidFill>
              </a:defRPr>
            </a:lvl1pPr>
            <a:lvl2pPr lvl="1">
              <a:spcBef>
                <a:spcPts val="0"/>
              </a:spcBef>
              <a:spcAft>
                <a:spcPts val="0"/>
              </a:spcAft>
              <a:buClr>
                <a:srgbClr val="EFEFEF"/>
              </a:buClr>
              <a:buSzPts val="3600"/>
              <a:buNone/>
              <a:defRPr sz="3600">
                <a:solidFill>
                  <a:srgbClr val="EFEFEF"/>
                </a:solidFill>
              </a:defRPr>
            </a:lvl2pPr>
            <a:lvl3pPr lvl="2">
              <a:spcBef>
                <a:spcPts val="0"/>
              </a:spcBef>
              <a:spcAft>
                <a:spcPts val="0"/>
              </a:spcAft>
              <a:buClr>
                <a:srgbClr val="EFEFEF"/>
              </a:buClr>
              <a:buSzPts val="3600"/>
              <a:buNone/>
              <a:defRPr sz="3600">
                <a:solidFill>
                  <a:srgbClr val="EFEFEF"/>
                </a:solidFill>
              </a:defRPr>
            </a:lvl3pPr>
            <a:lvl4pPr lvl="3">
              <a:spcBef>
                <a:spcPts val="0"/>
              </a:spcBef>
              <a:spcAft>
                <a:spcPts val="0"/>
              </a:spcAft>
              <a:buClr>
                <a:srgbClr val="EFEFEF"/>
              </a:buClr>
              <a:buSzPts val="3600"/>
              <a:buNone/>
              <a:defRPr sz="3600">
                <a:solidFill>
                  <a:srgbClr val="EFEFEF"/>
                </a:solidFill>
              </a:defRPr>
            </a:lvl4pPr>
            <a:lvl5pPr lvl="4">
              <a:spcBef>
                <a:spcPts val="0"/>
              </a:spcBef>
              <a:spcAft>
                <a:spcPts val="0"/>
              </a:spcAft>
              <a:buClr>
                <a:srgbClr val="EFEFEF"/>
              </a:buClr>
              <a:buSzPts val="3600"/>
              <a:buNone/>
              <a:defRPr sz="3600">
                <a:solidFill>
                  <a:srgbClr val="EFEFEF"/>
                </a:solidFill>
              </a:defRPr>
            </a:lvl5pPr>
            <a:lvl6pPr lvl="5">
              <a:spcBef>
                <a:spcPts val="0"/>
              </a:spcBef>
              <a:spcAft>
                <a:spcPts val="0"/>
              </a:spcAft>
              <a:buClr>
                <a:srgbClr val="EFEFEF"/>
              </a:buClr>
              <a:buSzPts val="3600"/>
              <a:buNone/>
              <a:defRPr sz="3600">
                <a:solidFill>
                  <a:srgbClr val="EFEFEF"/>
                </a:solidFill>
              </a:defRPr>
            </a:lvl6pPr>
            <a:lvl7pPr lvl="6">
              <a:spcBef>
                <a:spcPts val="0"/>
              </a:spcBef>
              <a:spcAft>
                <a:spcPts val="0"/>
              </a:spcAft>
              <a:buClr>
                <a:srgbClr val="EFEFEF"/>
              </a:buClr>
              <a:buSzPts val="3600"/>
              <a:buNone/>
              <a:defRPr sz="3600">
                <a:solidFill>
                  <a:srgbClr val="EFEFEF"/>
                </a:solidFill>
              </a:defRPr>
            </a:lvl7pPr>
            <a:lvl8pPr lvl="7">
              <a:spcBef>
                <a:spcPts val="0"/>
              </a:spcBef>
              <a:spcAft>
                <a:spcPts val="0"/>
              </a:spcAft>
              <a:buClr>
                <a:srgbClr val="EFEFEF"/>
              </a:buClr>
              <a:buSzPts val="3600"/>
              <a:buNone/>
              <a:defRPr sz="3600">
                <a:solidFill>
                  <a:srgbClr val="EFEFEF"/>
                </a:solidFill>
              </a:defRPr>
            </a:lvl8pPr>
            <a:lvl9pPr lvl="8">
              <a:spcBef>
                <a:spcPts val="0"/>
              </a:spcBef>
              <a:spcAft>
                <a:spcPts val="0"/>
              </a:spcAft>
              <a:buClr>
                <a:srgbClr val="EFEFEF"/>
              </a:buClr>
              <a:buSzPts val="3600"/>
              <a:buNone/>
              <a:defRPr sz="3600">
                <a:solidFill>
                  <a:srgbClr val="EFEFEF"/>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 Id="rId3"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Relationship Id="rId3"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 Id="rId3"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 Id="rId3" Type="http://schemas.openxmlformats.org/officeDocument/2006/relationships/image" Target="../media/image5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Relationship Id="rId3" Type="http://schemas.openxmlformats.org/officeDocument/2006/relationships/image" Target="../media/image48.png"/><Relationship Id="rId4" Type="http://schemas.openxmlformats.org/officeDocument/2006/relationships/image" Target="../media/image5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7.xml"/><Relationship Id="rId3" Type="http://schemas.openxmlformats.org/officeDocument/2006/relationships/image" Target="../media/image3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8.xml"/><Relationship Id="rId3" Type="http://schemas.openxmlformats.org/officeDocument/2006/relationships/image" Target="../media/image3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4.png"/><Relationship Id="rId4"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2.xml"/><Relationship Id="rId3" Type="http://schemas.openxmlformats.org/officeDocument/2006/relationships/image" Target="../media/image5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3.xml"/><Relationship Id="rId3" Type="http://schemas.openxmlformats.org/officeDocument/2006/relationships/image" Target="../media/image4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4.xml"/><Relationship Id="rId3" Type="http://schemas.openxmlformats.org/officeDocument/2006/relationships/image" Target="../media/image4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5.xml"/><Relationship Id="rId3" Type="http://schemas.openxmlformats.org/officeDocument/2006/relationships/image" Target="../media/image6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6.xml"/><Relationship Id="rId3" Type="http://schemas.openxmlformats.org/officeDocument/2006/relationships/image" Target="../media/image4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7.xml"/><Relationship Id="rId3" Type="http://schemas.openxmlformats.org/officeDocument/2006/relationships/image" Target="../media/image4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4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9.xml"/><Relationship Id="rId3" Type="http://schemas.openxmlformats.org/officeDocument/2006/relationships/image" Target="../media/image5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0.xml"/><Relationship Id="rId3" Type="http://schemas.openxmlformats.org/officeDocument/2006/relationships/image" Target="../media/image4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5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6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54.png"/><Relationship Id="rId4" Type="http://schemas.openxmlformats.org/officeDocument/2006/relationships/image" Target="../media/image44.png"/><Relationship Id="rId5" Type="http://schemas.openxmlformats.org/officeDocument/2006/relationships/image" Target="../media/image41.png"/><Relationship Id="rId6" Type="http://schemas.openxmlformats.org/officeDocument/2006/relationships/image" Target="../media/image55.png"/><Relationship Id="rId7" Type="http://schemas.openxmlformats.org/officeDocument/2006/relationships/hyperlink" Target="https://github.com/husseinlopez/cdsi2024/blob/main/U3_proc-image.ipynb" TargetMode="External"/><Relationship Id="rId8" Type="http://schemas.openxmlformats.org/officeDocument/2006/relationships/image" Target="../media/image5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4.xml"/><Relationship Id="rId3" Type="http://schemas.openxmlformats.org/officeDocument/2006/relationships/image" Target="../media/image5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5.xml"/><Relationship Id="rId3" Type="http://schemas.openxmlformats.org/officeDocument/2006/relationships/image" Target="../media/image53.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Ciencia de Datos para Sensores Inteligentes</a:t>
            </a:r>
            <a:endParaRPr/>
          </a:p>
          <a:p>
            <a:pPr indent="0" lvl="0" marL="0" rtl="0" algn="l">
              <a:lnSpc>
                <a:spcPct val="115000"/>
              </a:lnSpc>
              <a:spcBef>
                <a:spcPts val="0"/>
              </a:spcBef>
              <a:spcAft>
                <a:spcPts val="0"/>
              </a:spcAft>
              <a:buNone/>
            </a:pPr>
            <a:r>
              <a:rPr b="0" lang="es-419" sz="1644">
                <a:solidFill>
                  <a:schemeClr val="dk1"/>
                </a:solidFill>
                <a:latin typeface="Arial"/>
                <a:ea typeface="Arial"/>
                <a:cs typeface="Arial"/>
                <a:sym typeface="Arial"/>
              </a:rPr>
              <a:t>Tópicos Selectos en Sistemas Interactivos</a:t>
            </a:r>
            <a:endParaRPr sz="4044"/>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EFEFEF"/>
                </a:solidFill>
              </a:rPr>
              <a:t>Dr. Irvin Hussein López Nava</a:t>
            </a:r>
            <a:endParaRPr>
              <a:solidFill>
                <a:srgbClr val="EFEFEF"/>
              </a:solidFill>
            </a:endParaRPr>
          </a:p>
          <a:p>
            <a:pPr indent="0" lvl="0" marL="0" rtl="0" algn="l">
              <a:spcBef>
                <a:spcPts val="0"/>
              </a:spcBef>
              <a:spcAft>
                <a:spcPts val="0"/>
              </a:spcAft>
              <a:buNone/>
            </a:pPr>
            <a:r>
              <a:rPr lang="es-419">
                <a:solidFill>
                  <a:srgbClr val="D9D9D9"/>
                </a:solidFill>
              </a:rPr>
              <a:t>CICESE 2025 - I</a:t>
            </a:r>
            <a:endParaRPr>
              <a:solidFill>
                <a:srgbClr val="D9D9D9"/>
              </a:solidFill>
            </a:endParaRPr>
          </a:p>
        </p:txBody>
      </p:sp>
      <p:pic>
        <p:nvPicPr>
          <p:cNvPr id="279" name="Google Shape;279;p13"/>
          <p:cNvPicPr preferRelativeResize="0"/>
          <p:nvPr/>
        </p:nvPicPr>
        <p:blipFill>
          <a:blip r:embed="rId3">
            <a:alphaModFix amt="50000"/>
          </a:blip>
          <a:stretch>
            <a:fillRect/>
          </a:stretch>
        </p:blipFill>
        <p:spPr>
          <a:xfrm>
            <a:off x="6282225" y="1416333"/>
            <a:ext cx="908050" cy="448350"/>
          </a:xfrm>
          <a:prstGeom prst="rect">
            <a:avLst/>
          </a:prstGeom>
          <a:noFill/>
          <a:ln>
            <a:noFill/>
          </a:ln>
        </p:spPr>
      </p:pic>
      <p:pic>
        <p:nvPicPr>
          <p:cNvPr id="280" name="Google Shape;280;p13"/>
          <p:cNvPicPr preferRelativeResize="0"/>
          <p:nvPr/>
        </p:nvPicPr>
        <p:blipFill>
          <a:blip r:embed="rId4">
            <a:alphaModFix amt="75000"/>
          </a:blip>
          <a:stretch>
            <a:fillRect/>
          </a:stretch>
        </p:blipFill>
        <p:spPr>
          <a:xfrm>
            <a:off x="6023125" y="659125"/>
            <a:ext cx="318050" cy="318050"/>
          </a:xfrm>
          <a:prstGeom prst="rect">
            <a:avLst/>
          </a:prstGeom>
          <a:noFill/>
          <a:ln>
            <a:noFill/>
          </a:ln>
        </p:spPr>
      </p:pic>
      <p:pic>
        <p:nvPicPr>
          <p:cNvPr id="281" name="Google Shape;281;p13"/>
          <p:cNvPicPr preferRelativeResize="0"/>
          <p:nvPr/>
        </p:nvPicPr>
        <p:blipFill rotWithShape="1">
          <a:blip r:embed="rId5">
            <a:alphaModFix amt="75000"/>
          </a:blip>
          <a:srcRect b="35620" l="28214" r="28782" t="0"/>
          <a:stretch/>
        </p:blipFill>
        <p:spPr>
          <a:xfrm>
            <a:off x="5568825" y="1580658"/>
            <a:ext cx="227338" cy="2078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solidFill>
                  <a:schemeClr val="dk1"/>
                </a:solidFill>
              </a:rPr>
              <a:t>Unidad 3</a:t>
            </a:r>
            <a:endParaRPr sz="6000">
              <a:solidFill>
                <a:schemeClr val="dk1"/>
              </a:solidFill>
            </a:endParaRPr>
          </a:p>
        </p:txBody>
      </p:sp>
      <p:sp>
        <p:nvSpPr>
          <p:cNvPr id="287" name="Google Shape;287;p14"/>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419" sz="3200"/>
              <a:t>Sensado de imágenes y video</a:t>
            </a:r>
            <a:endParaRPr sz="3200"/>
          </a:p>
        </p:txBody>
      </p:sp>
      <p:sp>
        <p:nvSpPr>
          <p:cNvPr id="288" name="Google Shape;288;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3</a:t>
            </a:r>
            <a:r>
              <a:rPr lang="es-419"/>
              <a:t>.3 Procesamiento de imágenes digitales</a:t>
            </a:r>
            <a:endParaRPr/>
          </a:p>
        </p:txBody>
      </p:sp>
      <p:sp>
        <p:nvSpPr>
          <p:cNvPr id="294" name="Google Shape;294;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Introducción</a:t>
            </a:r>
            <a:endParaRPr/>
          </a:p>
        </p:txBody>
      </p:sp>
      <p:sp>
        <p:nvSpPr>
          <p:cNvPr id="300" name="Google Shape;300;p1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interés en los métodos de procesamiento digital de imágenes proviene de dos áreas de aplicación principales: </a:t>
            </a:r>
            <a:endParaRPr/>
          </a:p>
          <a:p>
            <a:pPr indent="-317500" lvl="0" marL="457200" rtl="0" algn="l">
              <a:spcBef>
                <a:spcPts val="1200"/>
              </a:spcBef>
              <a:spcAft>
                <a:spcPts val="0"/>
              </a:spcAft>
              <a:buSzPts val="1400"/>
              <a:buAutoNum type="arabicPeriod"/>
            </a:pPr>
            <a:r>
              <a:rPr lang="es-419"/>
              <a:t>La mejora de la información “pictórica” para la interpretación humana, y </a:t>
            </a:r>
            <a:endParaRPr/>
          </a:p>
          <a:p>
            <a:pPr indent="-317500" lvl="0" marL="457200" rtl="0" algn="l">
              <a:spcBef>
                <a:spcPts val="0"/>
              </a:spcBef>
              <a:spcAft>
                <a:spcPts val="0"/>
              </a:spcAft>
              <a:buSzPts val="1400"/>
              <a:buAutoNum type="arabicPeriod"/>
            </a:pPr>
            <a:r>
              <a:rPr lang="es-419"/>
              <a:t>El procesamiento para tareas como el almacenamiento, la transmisión, y la extracción de información.</a:t>
            </a:r>
            <a:endParaRPr/>
          </a:p>
        </p:txBody>
      </p:sp>
      <p:sp>
        <p:nvSpPr>
          <p:cNvPr id="301" name="Google Shape;301;p16"/>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Gonzalez, R. C., Woods, R. E., &amp; Masters, B. R. (2009). Digital image processing.</a:t>
            </a:r>
            <a:endParaRPr sz="800">
              <a:solidFill>
                <a:srgbClr val="94B6BD"/>
              </a:solidFill>
            </a:endParaRPr>
          </a:p>
        </p:txBody>
      </p:sp>
      <p:sp>
        <p:nvSpPr>
          <p:cNvPr id="302" name="Google Shape;302;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Imagen digital</a:t>
            </a:r>
            <a:endParaRPr/>
          </a:p>
        </p:txBody>
      </p:sp>
      <p:sp>
        <p:nvSpPr>
          <p:cNvPr id="308" name="Google Shape;308;p1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Una imagen puede definirse como una función bidimensional, </a:t>
            </a:r>
            <a:r>
              <a:rPr i="1" lang="es-419"/>
              <a:t>f(x, y)</a:t>
            </a:r>
            <a:r>
              <a:rPr lang="es-419"/>
              <a:t>, donde </a:t>
            </a:r>
            <a:r>
              <a:rPr i="1" lang="es-419"/>
              <a:t>x</a:t>
            </a:r>
            <a:r>
              <a:rPr lang="es-419"/>
              <a:t> e </a:t>
            </a:r>
            <a:r>
              <a:rPr i="1" lang="es-419"/>
              <a:t>y</a:t>
            </a:r>
            <a:r>
              <a:rPr lang="es-419"/>
              <a:t> son coordenadas espaciales (planas), y la amplitud de </a:t>
            </a:r>
            <a:r>
              <a:rPr i="1" lang="es-419"/>
              <a:t>f</a:t>
            </a:r>
            <a:r>
              <a:rPr lang="es-419"/>
              <a:t> en cualquier par de coordenadas (x, y) se denomina intensidad, o nivel de grises, de la imagen en ese punto. </a:t>
            </a:r>
            <a:endParaRPr/>
          </a:p>
          <a:p>
            <a:pPr indent="0" lvl="0" marL="0" rtl="0" algn="l">
              <a:spcBef>
                <a:spcPts val="1200"/>
              </a:spcBef>
              <a:spcAft>
                <a:spcPts val="0"/>
              </a:spcAft>
              <a:buNone/>
            </a:pPr>
            <a:r>
              <a:rPr lang="es-419"/>
              <a:t>Cuando </a:t>
            </a:r>
            <a:r>
              <a:rPr i="1" lang="es-419"/>
              <a:t>x</a:t>
            </a:r>
            <a:r>
              <a:rPr lang="es-419"/>
              <a:t>, </a:t>
            </a:r>
            <a:r>
              <a:rPr i="1" lang="es-419"/>
              <a:t>y</a:t>
            </a:r>
            <a:r>
              <a:rPr lang="es-419"/>
              <a:t>, y los valores de intensidad de f son cantidades discretas finitas, llamamos a la imagen: </a:t>
            </a:r>
            <a:r>
              <a:rPr b="1" lang="es-419"/>
              <a:t>imagen digital</a:t>
            </a:r>
            <a:r>
              <a:rPr lang="es-419"/>
              <a:t>.</a:t>
            </a:r>
            <a:endParaRPr/>
          </a:p>
          <a:p>
            <a:pPr indent="0" lvl="0" marL="0" rtl="0" algn="l">
              <a:spcBef>
                <a:spcPts val="1200"/>
              </a:spcBef>
              <a:spcAft>
                <a:spcPts val="1200"/>
              </a:spcAft>
              <a:buNone/>
            </a:pPr>
            <a:r>
              <a:rPr lang="es-419"/>
              <a:t>Una imagen digital se compone de un número finito de elementos, cada uno de los cuales tiene una ubicación y un valor determinados. Estos elementos suelen denominarse </a:t>
            </a:r>
            <a:r>
              <a:rPr b="1" lang="es-419"/>
              <a:t>píxeles</a:t>
            </a:r>
            <a:r>
              <a:rPr lang="es-419"/>
              <a:t>.</a:t>
            </a:r>
            <a:endParaRPr/>
          </a:p>
        </p:txBody>
      </p:sp>
      <p:sp>
        <p:nvSpPr>
          <p:cNvPr id="309" name="Google Shape;309;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Inicios</a:t>
            </a:r>
            <a:endParaRPr/>
          </a:p>
        </p:txBody>
      </p:sp>
      <p:sp>
        <p:nvSpPr>
          <p:cNvPr id="315" name="Google Shape;315;p1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Una de las primeras aplicaciones de las imágenes digitales fue en los periódicos, cuando las imágenes se enviaron por primera vez por cable submarino entre Londres y Nueva York.</a:t>
            </a:r>
            <a:endParaRPr/>
          </a:p>
        </p:txBody>
      </p:sp>
      <p:sp>
        <p:nvSpPr>
          <p:cNvPr id="316" name="Google Shape;316;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17" name="Google Shape;317;p18"/>
          <p:cNvPicPr preferRelativeResize="0"/>
          <p:nvPr/>
        </p:nvPicPr>
        <p:blipFill>
          <a:blip r:embed="rId3">
            <a:alphaModFix/>
          </a:blip>
          <a:stretch>
            <a:fillRect/>
          </a:stretch>
        </p:blipFill>
        <p:spPr>
          <a:xfrm>
            <a:off x="3367088" y="2745525"/>
            <a:ext cx="2409825" cy="1600200"/>
          </a:xfrm>
          <a:prstGeom prst="rect">
            <a:avLst/>
          </a:prstGeom>
          <a:noFill/>
          <a:ln>
            <a:noFill/>
          </a:ln>
        </p:spPr>
      </p:pic>
      <p:sp>
        <p:nvSpPr>
          <p:cNvPr id="318" name="Google Shape;318;p18"/>
          <p:cNvSpPr txBox="1"/>
          <p:nvPr/>
        </p:nvSpPr>
        <p:spPr>
          <a:xfrm>
            <a:off x="3419550" y="4303050"/>
            <a:ext cx="230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000">
                <a:solidFill>
                  <a:schemeClr val="accent5"/>
                </a:solidFill>
                <a:latin typeface="Nunito"/>
                <a:ea typeface="Nunito"/>
                <a:cs typeface="Nunito"/>
                <a:sym typeface="Nunito"/>
              </a:rPr>
              <a:t>I</a:t>
            </a:r>
            <a:r>
              <a:rPr lang="es-419" sz="1000">
                <a:solidFill>
                  <a:schemeClr val="accent5"/>
                </a:solidFill>
                <a:latin typeface="Nunito"/>
                <a:ea typeface="Nunito"/>
                <a:cs typeface="Nunito"/>
                <a:sym typeface="Nunito"/>
              </a:rPr>
              <a:t>magen digital producida en 1921 a partir de una cinta codificada por una impresora de telégrafos</a:t>
            </a:r>
            <a:endParaRPr sz="1000">
              <a:solidFill>
                <a:schemeClr val="accent5"/>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9"/>
          <p:cNvSpPr txBox="1"/>
          <p:nvPr>
            <p:ph idx="1" type="body"/>
          </p:nvPr>
        </p:nvSpPr>
        <p:spPr>
          <a:xfrm>
            <a:off x="1303800" y="4138975"/>
            <a:ext cx="5843100" cy="53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770"/>
              <a:buNone/>
            </a:pPr>
            <a:r>
              <a:rPr lang="es-419" sz="1010">
                <a:solidFill>
                  <a:schemeClr val="accent5"/>
                </a:solidFill>
              </a:rPr>
              <a:t>La primera imagen de la luna tomada por una nave espacial estadounidense. El Ranger 7 tomó esta imagen el 31 de julio de 1964 a las 9:09 a. m. EDT, unos 17 minutos antes de impactar en la superficie lunar</a:t>
            </a:r>
            <a:endParaRPr sz="1010">
              <a:solidFill>
                <a:schemeClr val="accent5"/>
              </a:solidFill>
            </a:endParaRPr>
          </a:p>
        </p:txBody>
      </p:sp>
      <p:sp>
        <p:nvSpPr>
          <p:cNvPr id="324" name="Google Shape;324;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25" name="Google Shape;325;p19"/>
          <p:cNvPicPr preferRelativeResize="0"/>
          <p:nvPr/>
        </p:nvPicPr>
        <p:blipFill>
          <a:blip r:embed="rId3">
            <a:alphaModFix/>
          </a:blip>
          <a:stretch>
            <a:fillRect/>
          </a:stretch>
        </p:blipFill>
        <p:spPr>
          <a:xfrm>
            <a:off x="3048874" y="878987"/>
            <a:ext cx="3046251" cy="2928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Clasificación de imágenes</a:t>
            </a:r>
            <a:endParaRPr/>
          </a:p>
        </p:txBody>
      </p:sp>
      <p:sp>
        <p:nvSpPr>
          <p:cNvPr id="331" name="Google Shape;331;p2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imágenes basadas en la radiación del </a:t>
            </a:r>
            <a:r>
              <a:rPr b="1" lang="es-419"/>
              <a:t>espectro electromagnético</a:t>
            </a:r>
            <a:r>
              <a:rPr lang="es-419"/>
              <a:t> son las más familiares, especialmente las de bandas de rayos X, y del espectro visible. </a:t>
            </a:r>
            <a:endParaRPr/>
          </a:p>
          <a:p>
            <a:pPr indent="0" lvl="0" marL="0" rtl="0" algn="l">
              <a:spcBef>
                <a:spcPts val="1200"/>
              </a:spcBef>
              <a:spcAft>
                <a:spcPts val="0"/>
              </a:spcAft>
              <a:buNone/>
            </a:pPr>
            <a:r>
              <a:rPr lang="es-419"/>
              <a:t>Las ondas electromagnéticas (EM) se pueden conceptualizar como la propagación de ondas sinusoidales de diferentes longitudes de onda, o se pueden considerar como una corriente de partículas sin masa, cada una de las cuales viaja en un patrón similar a una onda y se mueve a la velocidad de la luz. </a:t>
            </a:r>
            <a:endParaRPr/>
          </a:p>
          <a:p>
            <a:pPr indent="0" lvl="0" marL="0" rtl="0" algn="l">
              <a:spcBef>
                <a:spcPts val="1200"/>
              </a:spcBef>
              <a:spcAft>
                <a:spcPts val="1200"/>
              </a:spcAft>
              <a:buNone/>
            </a:pPr>
            <a:r>
              <a:rPr lang="es-419"/>
              <a:t>Cada partícula sin masa contiene una cierta cantidad de energía. Cada haz de energía se llama </a:t>
            </a:r>
            <a:r>
              <a:rPr b="1" lang="es-419"/>
              <a:t>fotón</a:t>
            </a:r>
            <a:r>
              <a:rPr lang="es-419"/>
              <a:t>. </a:t>
            </a:r>
            <a:endParaRPr/>
          </a:p>
        </p:txBody>
      </p:sp>
      <p:sp>
        <p:nvSpPr>
          <p:cNvPr id="332" name="Google Shape;332;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1"/>
          <p:cNvSpPr txBox="1"/>
          <p:nvPr>
            <p:ph idx="1" type="body"/>
          </p:nvPr>
        </p:nvSpPr>
        <p:spPr>
          <a:xfrm>
            <a:off x="1303800" y="4138975"/>
            <a:ext cx="5843100" cy="53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770"/>
              <a:buNone/>
            </a:pPr>
            <a:r>
              <a:rPr lang="es-419" sz="1010">
                <a:solidFill>
                  <a:schemeClr val="accent5"/>
                </a:solidFill>
              </a:rPr>
              <a:t>El espectro electromagnético ordenado según la energía por fotón.</a:t>
            </a:r>
            <a:endParaRPr sz="1010">
              <a:solidFill>
                <a:schemeClr val="accent5"/>
              </a:solidFill>
            </a:endParaRPr>
          </a:p>
        </p:txBody>
      </p:sp>
      <p:sp>
        <p:nvSpPr>
          <p:cNvPr id="338" name="Google Shape;338;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39" name="Google Shape;339;p21"/>
          <p:cNvPicPr preferRelativeResize="0"/>
          <p:nvPr/>
        </p:nvPicPr>
        <p:blipFill>
          <a:blip r:embed="rId3">
            <a:alphaModFix/>
          </a:blip>
          <a:stretch>
            <a:fillRect/>
          </a:stretch>
        </p:blipFill>
        <p:spPr>
          <a:xfrm>
            <a:off x="797338" y="1948651"/>
            <a:ext cx="7549326" cy="1214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I</a:t>
            </a:r>
            <a:r>
              <a:rPr lang="es-419" sz="2400">
                <a:solidFill>
                  <a:schemeClr val="dk1"/>
                </a:solidFill>
              </a:rPr>
              <a:t>mágenes de Rayos Gamma</a:t>
            </a:r>
            <a:endParaRPr sz="2400">
              <a:solidFill>
                <a:schemeClr val="dk1"/>
              </a:solidFill>
            </a:endParaRPr>
          </a:p>
        </p:txBody>
      </p:sp>
      <p:sp>
        <p:nvSpPr>
          <p:cNvPr id="345" name="Google Shape;345;p2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principales usos de las imágenes basadas en rayos gamma incluyen la medicina nuclear y las observaciones astronómicas. </a:t>
            </a:r>
            <a:endParaRPr/>
          </a:p>
          <a:p>
            <a:pPr indent="0" lvl="0" marL="0" rtl="0" algn="l">
              <a:spcBef>
                <a:spcPts val="1200"/>
              </a:spcBef>
              <a:spcAft>
                <a:spcPts val="0"/>
              </a:spcAft>
              <a:buNone/>
            </a:pPr>
            <a:r>
              <a:rPr lang="es-419"/>
              <a:t>Los rayos gamma son un tipo de radiación EM, y por tanto constituida por </a:t>
            </a:r>
            <a:r>
              <a:rPr b="1" lang="es-419"/>
              <a:t>fotones</a:t>
            </a:r>
            <a:r>
              <a:rPr lang="es-419"/>
              <a:t>, producida generalmente por elementos radiactivos o por procesos subatómicos como la aniquilación de un par positrón-electrón. </a:t>
            </a:r>
            <a:endParaRPr/>
          </a:p>
          <a:p>
            <a:pPr indent="0" lvl="0" marL="0" rtl="0" algn="l">
              <a:spcBef>
                <a:spcPts val="1200"/>
              </a:spcBef>
              <a:spcAft>
                <a:spcPts val="1200"/>
              </a:spcAft>
              <a:buNone/>
            </a:pPr>
            <a:r>
              <a:rPr lang="es-419"/>
              <a:t>También se genera en fenómenos astrofísicos de gran violencia.</a:t>
            </a:r>
            <a:endParaRPr/>
          </a:p>
        </p:txBody>
      </p:sp>
      <p:sp>
        <p:nvSpPr>
          <p:cNvPr id="346" name="Google Shape;346;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1018"/>
              <a:buNone/>
            </a:pPr>
            <a:r>
              <a:rPr b="1" lang="es-419" sz="1002"/>
              <a:t>Ejemplos de imágenes de rayos gamma</a:t>
            </a:r>
            <a:r>
              <a:rPr lang="es-419" sz="1002"/>
              <a:t>. (a) Gammagrafía ósea. (b) imagen PET. (c) Bucle Cygnus. (d) Radiación gamma (punto brillante) de una válvula de reactor.</a:t>
            </a:r>
            <a:endParaRPr sz="1002"/>
          </a:p>
        </p:txBody>
      </p:sp>
      <p:sp>
        <p:nvSpPr>
          <p:cNvPr id="352" name="Google Shape;352;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53" name="Google Shape;353;p23"/>
          <p:cNvPicPr preferRelativeResize="0"/>
          <p:nvPr/>
        </p:nvPicPr>
        <p:blipFill>
          <a:blip r:embed="rId3">
            <a:alphaModFix/>
          </a:blip>
          <a:stretch>
            <a:fillRect/>
          </a:stretch>
        </p:blipFill>
        <p:spPr>
          <a:xfrm>
            <a:off x="2731075" y="304800"/>
            <a:ext cx="2988556" cy="3834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Imágenes de Rayos X</a:t>
            </a:r>
            <a:endParaRPr sz="2400">
              <a:solidFill>
                <a:schemeClr val="dk1"/>
              </a:solidFill>
            </a:endParaRPr>
          </a:p>
        </p:txBody>
      </p:sp>
      <p:sp>
        <p:nvSpPr>
          <p:cNvPr id="359" name="Google Shape;359;p2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rayos X se encuentran entre las fuentes más antiguas de radiación EM utilizadas para la obtención de imágenes. El uso más conocido de los rayos X es el diagnóstico médico, pero también se utilizan ampliamente en la industria y otras áreas, como la astronomía.</a:t>
            </a:r>
            <a:endParaRPr/>
          </a:p>
          <a:p>
            <a:pPr indent="0" lvl="0" marL="0" rtl="0" algn="l">
              <a:spcBef>
                <a:spcPts val="1200"/>
              </a:spcBef>
              <a:spcAft>
                <a:spcPts val="1200"/>
              </a:spcAft>
              <a:buNone/>
            </a:pPr>
            <a:r>
              <a:rPr lang="es-419"/>
              <a:t>La diferencia fundamental con los rayos gamma es su origen: los rayos X surgen de fenómenos extranucleares, a nivel de la órbita electrónica, fundamentalmente producidos por </a:t>
            </a:r>
            <a:r>
              <a:rPr b="1" lang="es-419"/>
              <a:t>desaceleración </a:t>
            </a:r>
            <a:r>
              <a:rPr lang="es-419"/>
              <a:t>de electrones.</a:t>
            </a:r>
            <a:endParaRPr/>
          </a:p>
        </p:txBody>
      </p:sp>
      <p:sp>
        <p:nvSpPr>
          <p:cNvPr id="360" name="Google Shape;360;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1018"/>
              <a:buNone/>
            </a:pPr>
            <a:r>
              <a:rPr b="1" lang="es-419" sz="1002"/>
              <a:t>Ejemplos de imágenes de rayos X. </a:t>
            </a:r>
            <a:r>
              <a:rPr lang="es-419" sz="1002"/>
              <a:t>a) Radiografía de tórax. (b) Angiografía aórtica. (c) Tomografía axial computarizada de cabeza. (d) Tableros de circuitos. (e) Bucle Cygnus.</a:t>
            </a:r>
            <a:endParaRPr sz="1002"/>
          </a:p>
        </p:txBody>
      </p:sp>
      <p:sp>
        <p:nvSpPr>
          <p:cNvPr id="366" name="Google Shape;366;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67" name="Google Shape;367;p25"/>
          <p:cNvPicPr preferRelativeResize="0"/>
          <p:nvPr/>
        </p:nvPicPr>
        <p:blipFill>
          <a:blip r:embed="rId3">
            <a:alphaModFix/>
          </a:blip>
          <a:stretch>
            <a:fillRect/>
          </a:stretch>
        </p:blipFill>
        <p:spPr>
          <a:xfrm>
            <a:off x="3228075" y="230600"/>
            <a:ext cx="2605484" cy="38341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Imágenes en la banda ultravioleta</a:t>
            </a:r>
            <a:endParaRPr sz="2400">
              <a:solidFill>
                <a:schemeClr val="dk1"/>
              </a:solidFill>
            </a:endParaRPr>
          </a:p>
        </p:txBody>
      </p:sp>
      <p:sp>
        <p:nvSpPr>
          <p:cNvPr id="373" name="Google Shape;373;p2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aplicaciones de la “luz” ultravioleta son variadas, incluyen litografía, inspección industrial, microscopía, láseres, imágenes biológicas, y observaciones astronómicas.</a:t>
            </a:r>
            <a:endParaRPr/>
          </a:p>
          <a:p>
            <a:pPr indent="0" lvl="0" marL="0" rtl="0" algn="l">
              <a:spcBef>
                <a:spcPts val="1200"/>
              </a:spcBef>
              <a:spcAft>
                <a:spcPts val="0"/>
              </a:spcAft>
              <a:buNone/>
            </a:pPr>
            <a:r>
              <a:rPr lang="es-419"/>
              <a:t>La luz ultravioleta se utiliza en la microscopía de </a:t>
            </a:r>
            <a:r>
              <a:rPr b="1" lang="es-419"/>
              <a:t>fluorescencia</a:t>
            </a:r>
            <a:r>
              <a:rPr lang="es-419"/>
              <a:t>. La fluorescencia es un fenómeno descubierto a mediados del siglo XIX, cuando se observó por primera vez que el mineral fluorita emite fluorescencia cuando se le dirige la luz ultravioleta.</a:t>
            </a:r>
            <a:endParaRPr/>
          </a:p>
          <a:p>
            <a:pPr indent="0" lvl="0" marL="0" rtl="0" algn="l">
              <a:spcBef>
                <a:spcPts val="1200"/>
              </a:spcBef>
              <a:spcAft>
                <a:spcPts val="1200"/>
              </a:spcAft>
              <a:buNone/>
            </a:pPr>
            <a:r>
              <a:rPr lang="es-419"/>
              <a:t>La luz ultravioleta no es visible, pero cuando un fotón de radiación ultravioleta choca con un electrón en un átomo de un material fluorescente, eleva el electrón a un nivel de energía superior.</a:t>
            </a:r>
            <a:endParaRPr/>
          </a:p>
        </p:txBody>
      </p:sp>
      <p:sp>
        <p:nvSpPr>
          <p:cNvPr id="374" name="Google Shape;374;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1018"/>
              <a:buNone/>
            </a:pPr>
            <a:r>
              <a:rPr b="1" lang="es-419" sz="1002"/>
              <a:t>Ejemplos de imágenes ultravioleta. </a:t>
            </a:r>
            <a:r>
              <a:rPr lang="es-419" sz="1002"/>
              <a:t>(a) Maíz normal. (b) Maíz infectado por carbón. (c) Bucle Cygnus</a:t>
            </a:r>
            <a:endParaRPr sz="1002"/>
          </a:p>
        </p:txBody>
      </p:sp>
      <p:sp>
        <p:nvSpPr>
          <p:cNvPr id="380" name="Google Shape;380;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81" name="Google Shape;381;p27"/>
          <p:cNvPicPr preferRelativeResize="0"/>
          <p:nvPr/>
        </p:nvPicPr>
        <p:blipFill>
          <a:blip r:embed="rId3">
            <a:alphaModFix/>
          </a:blip>
          <a:stretch>
            <a:fillRect/>
          </a:stretch>
        </p:blipFill>
        <p:spPr>
          <a:xfrm>
            <a:off x="2180613" y="1695987"/>
            <a:ext cx="4782774" cy="1599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Imágenes en las bandas visible e infraroja</a:t>
            </a:r>
            <a:endParaRPr sz="2400">
              <a:solidFill>
                <a:schemeClr val="dk1"/>
              </a:solidFill>
            </a:endParaRPr>
          </a:p>
        </p:txBody>
      </p:sp>
      <p:sp>
        <p:nvSpPr>
          <p:cNvPr id="387" name="Google Shape;387;p2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Teniendo en cuenta que la banda visible del espectro EM es la más familiar, no es sorprendente que las imágenes en esta banda superen a todas las demás en términos de amplitud de aplicación.</a:t>
            </a:r>
            <a:endParaRPr/>
          </a:p>
          <a:p>
            <a:pPr indent="0" lvl="0" marL="0" rtl="0" algn="l">
              <a:spcBef>
                <a:spcPts val="1200"/>
              </a:spcBef>
              <a:spcAft>
                <a:spcPts val="0"/>
              </a:spcAft>
              <a:buNone/>
            </a:pPr>
            <a:r>
              <a:rPr lang="es-419"/>
              <a:t>Si la radiación que tiene una frecuencia en la región visible se refleja en un objeto, e.g., un tazón de fruta, y luego golpea los ojos, esto da lugar a la percepción visual de la escena.</a:t>
            </a:r>
            <a:endParaRPr/>
          </a:p>
          <a:p>
            <a:pPr indent="0" lvl="0" marL="0" rtl="0" algn="l">
              <a:spcBef>
                <a:spcPts val="1200"/>
              </a:spcBef>
              <a:spcAft>
                <a:spcPts val="1200"/>
              </a:spcAft>
              <a:buNone/>
            </a:pPr>
            <a:r>
              <a:rPr lang="es-419"/>
              <a:t>La radiación infrarroja se asocia generalmente con el calor. Es producida por cuerpos que generan calor, aunque a veces puede generarse por algunos diodos emisores de luz y algunos láseres.</a:t>
            </a:r>
            <a:endParaRPr/>
          </a:p>
        </p:txBody>
      </p:sp>
      <p:sp>
        <p:nvSpPr>
          <p:cNvPr id="388" name="Google Shape;388;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lnSpcReduction="20000"/>
          </a:bodyPr>
          <a:lstStyle/>
          <a:p>
            <a:pPr indent="0" lvl="0" marL="0" rtl="0" algn="l">
              <a:lnSpc>
                <a:spcPct val="90000"/>
              </a:lnSpc>
              <a:spcBef>
                <a:spcPts val="0"/>
              </a:spcBef>
              <a:spcAft>
                <a:spcPts val="0"/>
              </a:spcAft>
              <a:buSzPts val="1018"/>
              <a:buNone/>
            </a:pPr>
            <a:r>
              <a:rPr b="1" lang="es-419" sz="1002"/>
              <a:t>Ejemplos de imágenes de microscopía de luz. </a:t>
            </a:r>
            <a:r>
              <a:rPr lang="es-419" sz="1002"/>
              <a:t>(a) Taxol (agente anticancerígeno), magnificado 250 ×. (b) Colesterol: 40 ×. (c) Microprocesador: 60 ×. (d) Película delgada de óxido de níquel: 600 ×. (e) Superficie del CD de audio: 1750 ×. (f) Superconductor orgánico: 450 ×.</a:t>
            </a:r>
            <a:endParaRPr sz="1002"/>
          </a:p>
        </p:txBody>
      </p:sp>
      <p:sp>
        <p:nvSpPr>
          <p:cNvPr id="394" name="Google Shape;394;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95" name="Google Shape;395;p29"/>
          <p:cNvPicPr preferRelativeResize="0"/>
          <p:nvPr/>
        </p:nvPicPr>
        <p:blipFill>
          <a:blip r:embed="rId3">
            <a:alphaModFix/>
          </a:blip>
          <a:stretch>
            <a:fillRect/>
          </a:stretch>
        </p:blipFill>
        <p:spPr>
          <a:xfrm>
            <a:off x="2859813" y="213225"/>
            <a:ext cx="3424363" cy="3834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1018"/>
              <a:buNone/>
            </a:pPr>
            <a:r>
              <a:rPr b="1" lang="es-419" sz="1002"/>
              <a:t>Imágenes satelitales LANDSAT del área de Washington, D.C. </a:t>
            </a:r>
            <a:r>
              <a:rPr lang="es-419" sz="1002"/>
              <a:t>Los números se refieren a las bandas temáticas</a:t>
            </a:r>
            <a:endParaRPr sz="1002"/>
          </a:p>
        </p:txBody>
      </p:sp>
      <p:sp>
        <p:nvSpPr>
          <p:cNvPr id="401" name="Google Shape;401;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02" name="Google Shape;402;p30"/>
          <p:cNvPicPr preferRelativeResize="0"/>
          <p:nvPr/>
        </p:nvPicPr>
        <p:blipFill>
          <a:blip r:embed="rId3">
            <a:alphaModFix/>
          </a:blip>
          <a:stretch>
            <a:fillRect/>
          </a:stretch>
        </p:blipFill>
        <p:spPr>
          <a:xfrm>
            <a:off x="338875" y="978974"/>
            <a:ext cx="5716899" cy="3105474"/>
          </a:xfrm>
          <a:prstGeom prst="rect">
            <a:avLst/>
          </a:prstGeom>
          <a:noFill/>
          <a:ln>
            <a:noFill/>
          </a:ln>
        </p:spPr>
      </p:pic>
      <p:pic>
        <p:nvPicPr>
          <p:cNvPr id="403" name="Google Shape;403;p30"/>
          <p:cNvPicPr preferRelativeResize="0"/>
          <p:nvPr/>
        </p:nvPicPr>
        <p:blipFill>
          <a:blip r:embed="rId4">
            <a:alphaModFix/>
          </a:blip>
          <a:stretch>
            <a:fillRect/>
          </a:stretch>
        </p:blipFill>
        <p:spPr>
          <a:xfrm>
            <a:off x="5375550" y="336025"/>
            <a:ext cx="3624199" cy="1328875"/>
          </a:xfrm>
          <a:prstGeom prst="rect">
            <a:avLst/>
          </a:prstGeom>
          <a:noFill/>
          <a:ln>
            <a:noFill/>
          </a:ln>
        </p:spPr>
      </p:pic>
      <p:sp>
        <p:nvSpPr>
          <p:cNvPr id="404" name="Google Shape;404;p30"/>
          <p:cNvSpPr txBox="1"/>
          <p:nvPr/>
        </p:nvSpPr>
        <p:spPr>
          <a:xfrm>
            <a:off x="5375500" y="1664900"/>
            <a:ext cx="3624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000">
                <a:solidFill>
                  <a:schemeClr val="accent5"/>
                </a:solidFill>
                <a:latin typeface="Nunito"/>
                <a:ea typeface="Nunito"/>
                <a:cs typeface="Nunito"/>
                <a:sym typeface="Nunito"/>
              </a:rPr>
              <a:t>Bandas temáticas del satélite LANDSAT de la NASA.</a:t>
            </a:r>
            <a:endParaRPr sz="1000">
              <a:solidFill>
                <a:schemeClr val="accent5"/>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1018"/>
              <a:buNone/>
            </a:pPr>
            <a:r>
              <a:rPr b="1" lang="es-419" sz="1002"/>
              <a:t>Imágenes satelitales infrarrojas del mundo. </a:t>
            </a:r>
            <a:r>
              <a:rPr lang="es-419" sz="1002"/>
              <a:t>Los pequeños mapas sombreados se proporcionan como referencia.</a:t>
            </a:r>
            <a:endParaRPr sz="1002"/>
          </a:p>
        </p:txBody>
      </p:sp>
      <p:sp>
        <p:nvSpPr>
          <p:cNvPr id="410" name="Google Shape;410;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11" name="Google Shape;411;p31"/>
          <p:cNvPicPr preferRelativeResize="0"/>
          <p:nvPr/>
        </p:nvPicPr>
        <p:blipFill>
          <a:blip r:embed="rId3">
            <a:alphaModFix/>
          </a:blip>
          <a:stretch>
            <a:fillRect/>
          </a:stretch>
        </p:blipFill>
        <p:spPr>
          <a:xfrm>
            <a:off x="1110088" y="213250"/>
            <a:ext cx="2841999" cy="3834176"/>
          </a:xfrm>
          <a:prstGeom prst="rect">
            <a:avLst/>
          </a:prstGeom>
          <a:noFill/>
          <a:ln>
            <a:noFill/>
          </a:ln>
        </p:spPr>
      </p:pic>
      <p:pic>
        <p:nvPicPr>
          <p:cNvPr id="412" name="Google Shape;412;p31"/>
          <p:cNvPicPr preferRelativeResize="0"/>
          <p:nvPr/>
        </p:nvPicPr>
        <p:blipFill>
          <a:blip r:embed="rId4">
            <a:alphaModFix/>
          </a:blip>
          <a:stretch>
            <a:fillRect/>
          </a:stretch>
        </p:blipFill>
        <p:spPr>
          <a:xfrm>
            <a:off x="4139236" y="213250"/>
            <a:ext cx="3894675" cy="3834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Imágenes en la banda de microondas</a:t>
            </a:r>
            <a:endParaRPr sz="2400">
              <a:solidFill>
                <a:schemeClr val="dk1"/>
              </a:solidFill>
            </a:endParaRPr>
          </a:p>
        </p:txBody>
      </p:sp>
      <p:sp>
        <p:nvSpPr>
          <p:cNvPr id="418" name="Google Shape;418;p3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principal aplicación de las imágenes en la banda de microondas es el </a:t>
            </a:r>
            <a:r>
              <a:rPr b="1" lang="es-419"/>
              <a:t>radar</a:t>
            </a:r>
            <a:r>
              <a:rPr lang="es-419"/>
              <a:t>. Un radar tiene la capacidad para recopilar datos sobre prácticamente cualquier región en cualquier momento, independientemente del clima o las condiciones de iluminación ambiental</a:t>
            </a:r>
            <a:r>
              <a:rPr lang="es-419"/>
              <a:t>. En una imagen de radar, solo se puede ver la energía de microondas que se reflejó hacia la antena del radar</a:t>
            </a:r>
            <a:r>
              <a:rPr lang="es-419"/>
              <a:t>.</a:t>
            </a:r>
            <a:endParaRPr/>
          </a:p>
          <a:p>
            <a:pPr indent="0" lvl="0" marL="0" rtl="0" algn="l">
              <a:spcBef>
                <a:spcPts val="1200"/>
              </a:spcBef>
              <a:spcAft>
                <a:spcPts val="1200"/>
              </a:spcAft>
              <a:buNone/>
            </a:pPr>
            <a:r>
              <a:rPr lang="es-419"/>
              <a:t>A diferencia de las ondas de alta frecuencia, que se absorben principalmente en las superficies, las microondas pueden </a:t>
            </a:r>
            <a:r>
              <a:rPr b="1" lang="es-419"/>
              <a:t>penetrar en los materiales</a:t>
            </a:r>
            <a:r>
              <a:rPr lang="es-419"/>
              <a:t> y depositar su energía debajo de la superficie. Este efecto se utiliza para calentar alimentos en hornos de microondas, para calefacción industrial, y diatermia médica.</a:t>
            </a:r>
            <a:endParaRPr/>
          </a:p>
        </p:txBody>
      </p:sp>
      <p:sp>
        <p:nvSpPr>
          <p:cNvPr id="419" name="Google Shape;419;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1018"/>
              <a:buNone/>
            </a:pPr>
            <a:r>
              <a:rPr lang="es-419" sz="1002"/>
              <a:t>Imagen de radar espacial de una región montañosa en el sureste del Tíbet.</a:t>
            </a:r>
            <a:endParaRPr sz="1002"/>
          </a:p>
        </p:txBody>
      </p:sp>
      <p:sp>
        <p:nvSpPr>
          <p:cNvPr id="425" name="Google Shape;425;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26" name="Google Shape;426;p33"/>
          <p:cNvPicPr preferRelativeResize="0"/>
          <p:nvPr/>
        </p:nvPicPr>
        <p:blipFill>
          <a:blip r:embed="rId3">
            <a:alphaModFix/>
          </a:blip>
          <a:stretch>
            <a:fillRect/>
          </a:stretch>
        </p:blipFill>
        <p:spPr>
          <a:xfrm>
            <a:off x="2777366" y="1199325"/>
            <a:ext cx="3589275" cy="2440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Imágenes en la banda de radio</a:t>
            </a:r>
            <a:endParaRPr sz="2400">
              <a:solidFill>
                <a:schemeClr val="dk1"/>
              </a:solidFill>
            </a:endParaRPr>
          </a:p>
        </p:txBody>
      </p:sp>
      <p:sp>
        <p:nvSpPr>
          <p:cNvPr id="432" name="Google Shape;432;p3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Como en el caso de las imágenes en el otro extremo del espectro (rayos gamma), las principales aplicaciones de las imágenes en la banda de radio son la medicina y la astronomía. </a:t>
            </a:r>
            <a:endParaRPr/>
          </a:p>
          <a:p>
            <a:pPr indent="0" lvl="0" marL="0" rtl="0" algn="l">
              <a:spcBef>
                <a:spcPts val="1200"/>
              </a:spcBef>
              <a:spcAft>
                <a:spcPts val="0"/>
              </a:spcAft>
              <a:buNone/>
            </a:pPr>
            <a:r>
              <a:rPr lang="es-419"/>
              <a:t>En medicina, las ondas de radio se utilizan en imágenes por resonancia magnética (MRI). En esta técnica se coloca al paciente en un imán poderoso y pasa ondas de radio a través del cuerpo del individuo en pulsos cortos. </a:t>
            </a:r>
            <a:endParaRPr/>
          </a:p>
          <a:p>
            <a:pPr indent="0" lvl="0" marL="0" rtl="0" algn="l">
              <a:spcBef>
                <a:spcPts val="1200"/>
              </a:spcBef>
              <a:spcAft>
                <a:spcPts val="1200"/>
              </a:spcAft>
              <a:buNone/>
            </a:pPr>
            <a:r>
              <a:rPr lang="es-419"/>
              <a:t>Además, las ondas de radio se utilizan ampliamente para transmitir información a través de distancias en sistemas de comunicación.</a:t>
            </a:r>
            <a:endParaRPr/>
          </a:p>
        </p:txBody>
      </p:sp>
      <p:sp>
        <p:nvSpPr>
          <p:cNvPr id="433" name="Google Shape;433;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1018"/>
              <a:buNone/>
            </a:pPr>
            <a:r>
              <a:rPr lang="es-419" sz="1002"/>
              <a:t>Imágenes de resonancia magnética de una (a) rodilla y (b) columna vertebral humanas.</a:t>
            </a:r>
            <a:endParaRPr sz="1002"/>
          </a:p>
        </p:txBody>
      </p:sp>
      <p:sp>
        <p:nvSpPr>
          <p:cNvPr id="439" name="Google Shape;439;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40" name="Google Shape;440;p35"/>
          <p:cNvPicPr preferRelativeResize="0"/>
          <p:nvPr/>
        </p:nvPicPr>
        <p:blipFill>
          <a:blip r:embed="rId3">
            <a:alphaModFix/>
          </a:blip>
          <a:stretch>
            <a:fillRect/>
          </a:stretch>
        </p:blipFill>
        <p:spPr>
          <a:xfrm>
            <a:off x="2047063" y="1172576"/>
            <a:ext cx="5049874" cy="2390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Comparativa</a:t>
            </a:r>
            <a:endParaRPr sz="2400">
              <a:solidFill>
                <a:schemeClr val="dk1"/>
              </a:solidFill>
            </a:endParaRPr>
          </a:p>
        </p:txBody>
      </p:sp>
      <p:sp>
        <p:nvSpPr>
          <p:cNvPr id="446" name="Google Shape;446;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47" name="Google Shape;447;p36"/>
          <p:cNvPicPr preferRelativeResize="0"/>
          <p:nvPr/>
        </p:nvPicPr>
        <p:blipFill>
          <a:blip r:embed="rId3">
            <a:alphaModFix/>
          </a:blip>
          <a:stretch>
            <a:fillRect/>
          </a:stretch>
        </p:blipFill>
        <p:spPr>
          <a:xfrm>
            <a:off x="1140100" y="1936925"/>
            <a:ext cx="6863801" cy="1563925"/>
          </a:xfrm>
          <a:prstGeom prst="rect">
            <a:avLst/>
          </a:prstGeom>
          <a:noFill/>
          <a:ln>
            <a:noFill/>
          </a:ln>
        </p:spPr>
      </p:pic>
      <p:sp>
        <p:nvSpPr>
          <p:cNvPr id="448" name="Google Shape;448;p36"/>
          <p:cNvSpPr txBox="1"/>
          <p:nvPr/>
        </p:nvSpPr>
        <p:spPr>
          <a:xfrm>
            <a:off x="1140100" y="3679900"/>
            <a:ext cx="6863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000">
                <a:solidFill>
                  <a:schemeClr val="accent5"/>
                </a:solidFill>
                <a:latin typeface="Nunito"/>
                <a:ea typeface="Nunito"/>
                <a:cs typeface="Nunito"/>
                <a:sym typeface="Nunito"/>
              </a:rPr>
              <a:t>Imágenes de la estrella </a:t>
            </a:r>
            <a:r>
              <a:rPr i="1" lang="es-419" sz="1000">
                <a:solidFill>
                  <a:schemeClr val="accent5"/>
                </a:solidFill>
                <a:latin typeface="Nunito"/>
                <a:ea typeface="Nunito"/>
                <a:cs typeface="Nunito"/>
                <a:sym typeface="Nunito"/>
              </a:rPr>
              <a:t>Crab Pulsar</a:t>
            </a:r>
            <a:r>
              <a:rPr lang="es-419" sz="1000">
                <a:solidFill>
                  <a:schemeClr val="accent5"/>
                </a:solidFill>
                <a:latin typeface="Nunito"/>
                <a:ea typeface="Nunito"/>
                <a:cs typeface="Nunito"/>
                <a:sym typeface="Nunito"/>
              </a:rPr>
              <a:t> (en el centro de cada imagen) cubriendo el espectro electromagnético</a:t>
            </a:r>
            <a:endParaRPr sz="1000">
              <a:solidFill>
                <a:schemeClr val="accent5"/>
              </a:solidFill>
              <a:latin typeface="Nunito"/>
              <a:ea typeface="Nunito"/>
              <a:cs typeface="Nunito"/>
              <a:sym typeface="Nuni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Otras modalidades de imágenes</a:t>
            </a:r>
            <a:endParaRPr sz="2400">
              <a:solidFill>
                <a:schemeClr val="dk1"/>
              </a:solidFill>
            </a:endParaRPr>
          </a:p>
        </p:txBody>
      </p:sp>
      <p:sp>
        <p:nvSpPr>
          <p:cNvPr id="454" name="Google Shape;454;p3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Si bien las imágenes en el espectro electromagnético dominan, existen otras modalidades de imágenes que también son importantes. </a:t>
            </a:r>
            <a:endParaRPr/>
          </a:p>
          <a:p>
            <a:pPr indent="0" lvl="0" marL="0" rtl="0" algn="l">
              <a:spcBef>
                <a:spcPts val="1200"/>
              </a:spcBef>
              <a:spcAft>
                <a:spcPts val="0"/>
              </a:spcAft>
              <a:buNone/>
            </a:pPr>
            <a:r>
              <a:rPr lang="es-419"/>
              <a:t>La generación de imágenes que utiliza "sonido" encuentran aplicación en la exploración geológica, la industria y la medicina. </a:t>
            </a:r>
            <a:endParaRPr/>
          </a:p>
          <a:p>
            <a:pPr indent="0" lvl="0" marL="0" rtl="0" algn="l">
              <a:spcBef>
                <a:spcPts val="1200"/>
              </a:spcBef>
              <a:spcAft>
                <a:spcPts val="1200"/>
              </a:spcAft>
              <a:buNone/>
            </a:pPr>
            <a:r>
              <a:rPr lang="es-419"/>
              <a:t>Aunque las imágenes por ultrasonido se utilizan de forma rutinaria en la fabricación, las aplicaciones más conocidas de esta técnica son en medicina, especialmente en obstetricia, donde se toman imágenes de los fetos para determinar la salud de su desarrollo.</a:t>
            </a:r>
            <a:endParaRPr/>
          </a:p>
        </p:txBody>
      </p:sp>
      <p:sp>
        <p:nvSpPr>
          <p:cNvPr id="455" name="Google Shape;455;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8"/>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1018"/>
              <a:buNone/>
            </a:pPr>
            <a:r>
              <a:rPr b="1" lang="es-419" sz="1002"/>
              <a:t>Ejemplos de imágenes de ultrasonido</a:t>
            </a:r>
            <a:r>
              <a:rPr lang="es-419" sz="1002"/>
              <a:t>. (a) Un feto. (b) Otra vista del feto. (c) Tiroides. (d) Capas musculares que muestran lesión.</a:t>
            </a:r>
            <a:endParaRPr sz="1002"/>
          </a:p>
        </p:txBody>
      </p:sp>
      <p:sp>
        <p:nvSpPr>
          <p:cNvPr id="461" name="Google Shape;461;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62" name="Google Shape;462;p38"/>
          <p:cNvPicPr preferRelativeResize="0"/>
          <p:nvPr/>
        </p:nvPicPr>
        <p:blipFill>
          <a:blip r:embed="rId3">
            <a:alphaModFix/>
          </a:blip>
          <a:stretch>
            <a:fillRect/>
          </a:stretch>
        </p:blipFill>
        <p:spPr>
          <a:xfrm>
            <a:off x="2379099" y="651625"/>
            <a:ext cx="4385799" cy="33175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Elementos de la percepción visual</a:t>
            </a:r>
            <a:endParaRPr/>
          </a:p>
        </p:txBody>
      </p:sp>
      <p:sp>
        <p:nvSpPr>
          <p:cNvPr id="468" name="Google Shape;468;p3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Aunque el campo del procesamiento de imágenes digitales se basa en las matemáticas, la intuición y el análisis humano a menudo desempeña un papel en la elección de una técnica frente a otra, y esta elección a menudo se basa en juicios visuales subjetivos.</a:t>
            </a:r>
            <a:endParaRPr/>
          </a:p>
          <a:p>
            <a:pPr indent="0" lvl="0" marL="0" rtl="0" algn="l">
              <a:spcBef>
                <a:spcPts val="1200"/>
              </a:spcBef>
              <a:spcAft>
                <a:spcPts val="1200"/>
              </a:spcAft>
              <a:buNone/>
            </a:pPr>
            <a:r>
              <a:rPr lang="es-419"/>
              <a:t>Por lo tanto, es apropiado desarrollar una comprensión de las características básicas de la percepción visual humana como un primer paso. En particular, en la mecánica elemental de cómo los humanos forman y perciben las imágenes.</a:t>
            </a:r>
            <a:endParaRPr/>
          </a:p>
        </p:txBody>
      </p:sp>
      <p:sp>
        <p:nvSpPr>
          <p:cNvPr id="469" name="Google Shape;469;p3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Gonzalez, R. C., Woods, R. E., &amp; Masters, B. R. (2009). Digital image processing.</a:t>
            </a:r>
            <a:endParaRPr sz="800">
              <a:solidFill>
                <a:srgbClr val="94B6BD"/>
              </a:solidFill>
            </a:endParaRPr>
          </a:p>
        </p:txBody>
      </p:sp>
      <p:sp>
        <p:nvSpPr>
          <p:cNvPr id="470" name="Google Shape;470;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Estructura del ojo humano</a:t>
            </a:r>
            <a:endParaRPr sz="2400">
              <a:solidFill>
                <a:schemeClr val="dk1"/>
              </a:solidFill>
            </a:endParaRPr>
          </a:p>
        </p:txBody>
      </p:sp>
      <p:sp>
        <p:nvSpPr>
          <p:cNvPr id="476" name="Google Shape;476;p4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El </a:t>
            </a:r>
            <a:r>
              <a:rPr b="1" lang="es-419"/>
              <a:t>ojo</a:t>
            </a:r>
            <a:r>
              <a:rPr lang="es-419"/>
              <a:t> es casi una esfera (con un diámetro de unos 20 mm) rodeada por tres membranas: la cubierta externa de la córnea y la esclerótica; la coroides; y la retina. </a:t>
            </a:r>
            <a:endParaRPr/>
          </a:p>
          <a:p>
            <a:pPr indent="0" lvl="0" marL="0" rtl="0" algn="l">
              <a:spcBef>
                <a:spcPts val="1200"/>
              </a:spcBef>
              <a:spcAft>
                <a:spcPts val="0"/>
              </a:spcAft>
              <a:buNone/>
            </a:pPr>
            <a:r>
              <a:rPr lang="es-419"/>
              <a:t>La </a:t>
            </a:r>
            <a:r>
              <a:rPr b="1" lang="es-419"/>
              <a:t>córnea</a:t>
            </a:r>
            <a:r>
              <a:rPr lang="es-419"/>
              <a:t> es un tejido resistente y transparente que cubre la superficie anterior del ojo. Continua a la córnea, la esclerótica es una membrana opaca que encierra el resto del globo óptico.</a:t>
            </a:r>
            <a:endParaRPr/>
          </a:p>
          <a:p>
            <a:pPr indent="0" lvl="0" marL="0" rtl="0" algn="l">
              <a:spcBef>
                <a:spcPts val="1200"/>
              </a:spcBef>
              <a:spcAft>
                <a:spcPts val="1200"/>
              </a:spcAft>
              <a:buNone/>
            </a:pPr>
            <a:r>
              <a:rPr lang="es-419"/>
              <a:t>La </a:t>
            </a:r>
            <a:r>
              <a:rPr b="1" lang="es-419"/>
              <a:t>coroides</a:t>
            </a:r>
            <a:r>
              <a:rPr lang="es-419"/>
              <a:t> se encuentra directamente debajo de la esclerótica. La capa coroidea está muy pigmentada, lo que ayuda a reducir la cantidad de luz extraña que ingresa al ojo y la retrodispersión dentro del globo óptico. En su extremo anterior, la coroides se divide en el cuerpo ciliar y el </a:t>
            </a:r>
            <a:r>
              <a:rPr b="1" lang="es-419"/>
              <a:t>iris</a:t>
            </a:r>
            <a:r>
              <a:rPr lang="es-419"/>
              <a:t>. Este último se contrae o expande para controlar la cantidad de luz que ingresa al ojo.</a:t>
            </a:r>
            <a:endParaRPr/>
          </a:p>
        </p:txBody>
      </p:sp>
      <p:sp>
        <p:nvSpPr>
          <p:cNvPr id="477" name="Google Shape;477;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000"/>
              <a:t>Diagrama simplificado de una sección transversal del ojo humano.</a:t>
            </a:r>
            <a:endParaRPr sz="1000"/>
          </a:p>
        </p:txBody>
      </p:sp>
      <p:sp>
        <p:nvSpPr>
          <p:cNvPr id="483" name="Google Shape;483;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84" name="Google Shape;484;p41"/>
          <p:cNvPicPr preferRelativeResize="0"/>
          <p:nvPr/>
        </p:nvPicPr>
        <p:blipFill>
          <a:blip r:embed="rId3">
            <a:alphaModFix/>
          </a:blip>
          <a:stretch>
            <a:fillRect/>
          </a:stretch>
        </p:blipFill>
        <p:spPr>
          <a:xfrm>
            <a:off x="3001912" y="632375"/>
            <a:ext cx="3140175" cy="31851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Estructura del ojo humano</a:t>
            </a:r>
            <a:endParaRPr sz="2400">
              <a:solidFill>
                <a:schemeClr val="dk1"/>
              </a:solidFill>
            </a:endParaRPr>
          </a:p>
        </p:txBody>
      </p:sp>
      <p:sp>
        <p:nvSpPr>
          <p:cNvPr id="490" name="Google Shape;490;p4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abertura central del iris (la </a:t>
            </a:r>
            <a:r>
              <a:rPr b="1" lang="es-419"/>
              <a:t>pupila</a:t>
            </a:r>
            <a:r>
              <a:rPr lang="es-419"/>
              <a:t>) varía en diámetro de aproximadamente 2 a 8 mm. La parte frontal del iris contiene el pigmento visible del ojo, mientras que la parte posterior contiene un pigmento negro.</a:t>
            </a:r>
            <a:endParaRPr/>
          </a:p>
          <a:p>
            <a:pPr indent="0" lvl="0" marL="0" rtl="0" algn="l">
              <a:spcBef>
                <a:spcPts val="1200"/>
              </a:spcBef>
              <a:spcAft>
                <a:spcPts val="1200"/>
              </a:spcAft>
              <a:buNone/>
            </a:pPr>
            <a:r>
              <a:rPr lang="es-419"/>
              <a:t>El </a:t>
            </a:r>
            <a:r>
              <a:rPr b="1" lang="es-419"/>
              <a:t>cristalino </a:t>
            </a:r>
            <a:r>
              <a:rPr lang="es-419"/>
              <a:t>consta de capas concéntricas de células fibrosas y está suspendido por fibras que se adhieren al cuerpo ciliar. Absorbe aproximadamente el 8 % del espectro de luz visible, con una mayor absorción en longitudes de onda más cortas. Tanto la luz infrarroja como la ultravioleta son absorbidas por las proteínas del cristalino y, en cantidades excesivas, pueden dañar el ojo.</a:t>
            </a:r>
            <a:endParaRPr/>
          </a:p>
        </p:txBody>
      </p:sp>
      <p:sp>
        <p:nvSpPr>
          <p:cNvPr id="491" name="Google Shape;491;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Estructura del ojo humano</a:t>
            </a:r>
            <a:endParaRPr sz="2400">
              <a:solidFill>
                <a:schemeClr val="dk1"/>
              </a:solidFill>
            </a:endParaRPr>
          </a:p>
        </p:txBody>
      </p:sp>
      <p:sp>
        <p:nvSpPr>
          <p:cNvPr id="497" name="Google Shape;497;p43"/>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La membrana interna del ojo es la </a:t>
            </a:r>
            <a:r>
              <a:rPr b="1" lang="es-419"/>
              <a:t>retina</a:t>
            </a:r>
            <a:r>
              <a:rPr lang="es-419"/>
              <a:t>, que recubre el interior de toda la porción posterior de la pared. Cuando el ojo está enfocado, la luz de un objeto se refleja en la retina. La visión de patrones es proporcionada por receptores de luz discretos distribuidos sobre la superficie de la retina. Hay dos tipos de receptores: conos y bastones.</a:t>
            </a:r>
            <a:endParaRPr/>
          </a:p>
          <a:p>
            <a:pPr indent="0" lvl="0" marL="0" rtl="0" algn="l">
              <a:spcBef>
                <a:spcPts val="1200"/>
              </a:spcBef>
              <a:spcAft>
                <a:spcPts val="0"/>
              </a:spcAft>
              <a:buNone/>
            </a:pPr>
            <a:r>
              <a:rPr lang="es-419"/>
              <a:t>Hay entre 6 y 7 millones de </a:t>
            </a:r>
            <a:r>
              <a:rPr b="1" lang="es-419"/>
              <a:t>conos</a:t>
            </a:r>
            <a:r>
              <a:rPr lang="es-419"/>
              <a:t> en cada ojo. Ubicados en la porción central de la retina, llamada fóvea, y son muy sensibles al color. Los humanos pueden resolver detalles finos porque cada cono está </a:t>
            </a:r>
            <a:r>
              <a:rPr lang="es-419"/>
              <a:t>c</a:t>
            </a:r>
            <a:r>
              <a:rPr lang="es-419"/>
              <a:t>onectado a su propio extremo nervioso.</a:t>
            </a:r>
            <a:endParaRPr/>
          </a:p>
          <a:p>
            <a:pPr indent="0" lvl="0" marL="0" rtl="0" algn="l">
              <a:spcBef>
                <a:spcPts val="1200"/>
              </a:spcBef>
              <a:spcAft>
                <a:spcPts val="1200"/>
              </a:spcAft>
              <a:buNone/>
            </a:pPr>
            <a:r>
              <a:rPr lang="es-419"/>
              <a:t>El número de </a:t>
            </a:r>
            <a:r>
              <a:rPr b="1" lang="es-419"/>
              <a:t>bastones</a:t>
            </a:r>
            <a:r>
              <a:rPr lang="es-419"/>
              <a:t> es mucho mayor: unos 75 a 150 millones se distribuyen por la retina. Capturan una imagen general del campo de visión.</a:t>
            </a:r>
            <a:endParaRPr/>
          </a:p>
        </p:txBody>
      </p:sp>
      <p:sp>
        <p:nvSpPr>
          <p:cNvPr id="498" name="Google Shape;498;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Formación de imagen en el ojo</a:t>
            </a:r>
            <a:endParaRPr sz="2400">
              <a:solidFill>
                <a:schemeClr val="dk1"/>
              </a:solidFill>
            </a:endParaRPr>
          </a:p>
        </p:txBody>
      </p:sp>
      <p:sp>
        <p:nvSpPr>
          <p:cNvPr id="504" name="Google Shape;504;p4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En una cámara fotográfica ordinaria, la lente tiene una distancia focal fija. El enfoque a varias distancias se logra variando la distancia entre la lente y el plano de imagen.</a:t>
            </a:r>
            <a:endParaRPr/>
          </a:p>
          <a:p>
            <a:pPr indent="0" lvl="0" marL="0" rtl="0" algn="l">
              <a:spcBef>
                <a:spcPts val="1200"/>
              </a:spcBef>
              <a:spcAft>
                <a:spcPts val="0"/>
              </a:spcAft>
              <a:buNone/>
            </a:pPr>
            <a:r>
              <a:rPr lang="es-419"/>
              <a:t>En el ojo humano, lo contrario; la distancia entre el centro de la lente y el sensor de imagen (la retina) es fija, y la distancia focal necesaria para lograr el enfoque adecuado se obtiene variando la forma de la lente. Las fibras en el cuerpo ciliar logran esto aplanando o engrosando el cristalino para objetos distantes o cercanos, respectivamente.</a:t>
            </a:r>
            <a:endParaRPr/>
          </a:p>
          <a:p>
            <a:pPr indent="0" lvl="0" marL="0" rtl="0" algn="l">
              <a:spcBef>
                <a:spcPts val="1200"/>
              </a:spcBef>
              <a:spcAft>
                <a:spcPts val="1200"/>
              </a:spcAft>
              <a:buNone/>
            </a:pPr>
            <a:r>
              <a:rPr lang="es-419"/>
              <a:t>La percepción tiene lugar por la excitación relativa de los receptores de luz, que transforman la energía radiante en impulsos eléctricos que finalmente son decodificados por el cerebro.</a:t>
            </a:r>
            <a:endParaRPr/>
          </a:p>
        </p:txBody>
      </p:sp>
      <p:sp>
        <p:nvSpPr>
          <p:cNvPr id="505" name="Google Shape;505;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000"/>
              <a:t>Representación gráfica del ojo mirando una palmera. El punto C es el centro focal de la lente.</a:t>
            </a:r>
            <a:endParaRPr sz="1000"/>
          </a:p>
        </p:txBody>
      </p:sp>
      <p:sp>
        <p:nvSpPr>
          <p:cNvPr id="511" name="Google Shape;511;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12" name="Google Shape;512;p45"/>
          <p:cNvPicPr preferRelativeResize="0"/>
          <p:nvPr/>
        </p:nvPicPr>
        <p:blipFill>
          <a:blip r:embed="rId3">
            <a:alphaModFix/>
          </a:blip>
          <a:stretch>
            <a:fillRect/>
          </a:stretch>
        </p:blipFill>
        <p:spPr>
          <a:xfrm>
            <a:off x="1469238" y="1519916"/>
            <a:ext cx="6205525" cy="17988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Adaptación y discriminación del brillo</a:t>
            </a:r>
            <a:endParaRPr sz="2400">
              <a:solidFill>
                <a:schemeClr val="dk1"/>
              </a:solidFill>
            </a:endParaRPr>
          </a:p>
        </p:txBody>
      </p:sp>
      <p:sp>
        <p:nvSpPr>
          <p:cNvPr id="518" name="Google Shape;518;p4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rango de niveles de intensidad de la luz a los que el sistema visual humano puede adaptarse es enorme, del orden de 10</a:t>
            </a:r>
            <a:r>
              <a:rPr baseline="30000" lang="es-419"/>
              <a:t>10</a:t>
            </a:r>
            <a:r>
              <a:rPr lang="es-419"/>
              <a:t>. La evidencia experimental indica que el brillo subjetivo (intensidad percibida por el sistema visual humano) es una función logarítmica de la intensidad de la luz que incide en el ojo.</a:t>
            </a:r>
            <a:endParaRPr/>
          </a:p>
          <a:p>
            <a:pPr indent="0" lvl="0" marL="0" rtl="0" algn="l">
              <a:spcBef>
                <a:spcPts val="1200"/>
              </a:spcBef>
              <a:spcAft>
                <a:spcPts val="1200"/>
              </a:spcAft>
              <a:buNone/>
            </a:pPr>
            <a:r>
              <a:rPr lang="es-419"/>
              <a:t>Dos fenómenos demuestran que el brillo percibido no es una simple función de la intensidad. La primera se basa en el hecho de que el sistema visual tiende a sobrepasar el límite de regiones de diferentes intensidades. El segundo fenómeno, llamado </a:t>
            </a:r>
            <a:r>
              <a:rPr b="1" lang="es-419"/>
              <a:t>contraste simultáneo</a:t>
            </a:r>
            <a:r>
              <a:rPr lang="es-419"/>
              <a:t>, es que el brillo percibido de una región no depende solo de su intensidad.</a:t>
            </a:r>
            <a:endParaRPr/>
          </a:p>
        </p:txBody>
      </p:sp>
      <p:sp>
        <p:nvSpPr>
          <p:cNvPr id="519" name="Google Shape;519;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Ilustración del efecto de banda de Mach</a:t>
            </a:r>
            <a:r>
              <a:rPr lang="es-419" sz="1000"/>
              <a:t>. La intensidad percibida no es una simple función de la intensidad real.</a:t>
            </a:r>
            <a:endParaRPr sz="1000"/>
          </a:p>
        </p:txBody>
      </p:sp>
      <p:sp>
        <p:nvSpPr>
          <p:cNvPr id="525" name="Google Shape;525;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26" name="Google Shape;526;p47"/>
          <p:cNvPicPr preferRelativeResize="0"/>
          <p:nvPr/>
        </p:nvPicPr>
        <p:blipFill>
          <a:blip r:embed="rId3">
            <a:alphaModFix/>
          </a:blip>
          <a:stretch>
            <a:fillRect/>
          </a:stretch>
        </p:blipFill>
        <p:spPr>
          <a:xfrm>
            <a:off x="3180226" y="796050"/>
            <a:ext cx="2783550" cy="30910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8"/>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Ejemplos de contraste simultáneo. </a:t>
            </a:r>
            <a:r>
              <a:rPr lang="es-419" sz="1000"/>
              <a:t>Todos los cuadrados interiores tienen la misma intensidad, pero aparecen progresivamente más oscuros a medida que el fondo se vuelve más claro.</a:t>
            </a:r>
            <a:endParaRPr sz="1000"/>
          </a:p>
        </p:txBody>
      </p:sp>
      <p:sp>
        <p:nvSpPr>
          <p:cNvPr id="532" name="Google Shape;532;p4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33" name="Google Shape;533;p48"/>
          <p:cNvPicPr preferRelativeResize="0"/>
          <p:nvPr/>
        </p:nvPicPr>
        <p:blipFill>
          <a:blip r:embed="rId3">
            <a:alphaModFix/>
          </a:blip>
          <a:stretch>
            <a:fillRect/>
          </a:stretch>
        </p:blipFill>
        <p:spPr>
          <a:xfrm>
            <a:off x="1951437" y="1544103"/>
            <a:ext cx="5241124" cy="17505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000"/>
              <a:t>Algunas ilusiones ópticas conocidas</a:t>
            </a:r>
            <a:endParaRPr sz="1000"/>
          </a:p>
        </p:txBody>
      </p:sp>
      <p:sp>
        <p:nvSpPr>
          <p:cNvPr id="539" name="Google Shape;539;p4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40" name="Google Shape;540;p49"/>
          <p:cNvPicPr preferRelativeResize="0"/>
          <p:nvPr/>
        </p:nvPicPr>
        <p:blipFill>
          <a:blip r:embed="rId3">
            <a:alphaModFix/>
          </a:blip>
          <a:stretch>
            <a:fillRect/>
          </a:stretch>
        </p:blipFill>
        <p:spPr>
          <a:xfrm>
            <a:off x="2911663" y="650600"/>
            <a:ext cx="3320675" cy="33206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luz y el espectro electromagnético</a:t>
            </a:r>
            <a:endParaRPr/>
          </a:p>
        </p:txBody>
      </p:sp>
      <p:sp>
        <p:nvSpPr>
          <p:cNvPr id="546" name="Google Shape;546;p5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1666, Sir Isaac Newton descubrió que cuando un rayo de luz solar pasa a través de un prisma de vidrio, el rayo de luz que emerge no es blanco sino que consiste en un espectro continuo de colores que van desde el violeta en un extremo hasta el rojo en el otro. </a:t>
            </a:r>
            <a:endParaRPr/>
          </a:p>
          <a:p>
            <a:pPr indent="0" lvl="0" marL="0" rtl="0" algn="l">
              <a:spcBef>
                <a:spcPts val="1200"/>
              </a:spcBef>
              <a:spcAft>
                <a:spcPts val="1200"/>
              </a:spcAft>
              <a:buNone/>
            </a:pPr>
            <a:r>
              <a:rPr lang="es-419"/>
              <a:t>La luz es un tipo de radiación EM que puede ser detectada por el ojo. Los colores percibidos en un objeto están determinados por la naturaleza de la luz reflejada por el objeto. La luz que no tiene color se llama luz monocromática (o acromática). El único atributo de la luz monocromática es su intensidad.</a:t>
            </a:r>
            <a:endParaRPr/>
          </a:p>
        </p:txBody>
      </p:sp>
      <p:sp>
        <p:nvSpPr>
          <p:cNvPr id="547" name="Google Shape;547;p50"/>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Gonzalez, R. C., Woods, R. E., &amp; Masters, B. R. (2009). Digital image processing.</a:t>
            </a:r>
            <a:endParaRPr sz="800">
              <a:solidFill>
                <a:srgbClr val="94B6BD"/>
              </a:solidFill>
            </a:endParaRPr>
          </a:p>
        </p:txBody>
      </p:sp>
      <p:sp>
        <p:nvSpPr>
          <p:cNvPr id="548" name="Google Shape;548;p5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El espectro electromagnético.</a:t>
            </a:r>
            <a:r>
              <a:rPr lang="es-419" sz="1000"/>
              <a:t> El espectro visible se muestra ampliado para facilitar las explicaciones, pero tenga en cuenta que abarca un rango muy estrecho del espectro EM total.</a:t>
            </a:r>
            <a:endParaRPr sz="1000"/>
          </a:p>
        </p:txBody>
      </p:sp>
      <p:sp>
        <p:nvSpPr>
          <p:cNvPr id="554" name="Google Shape;554;p5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55" name="Google Shape;555;p51"/>
          <p:cNvPicPr preferRelativeResize="0"/>
          <p:nvPr/>
        </p:nvPicPr>
        <p:blipFill>
          <a:blip r:embed="rId3">
            <a:alphaModFix/>
          </a:blip>
          <a:stretch>
            <a:fillRect/>
          </a:stretch>
        </p:blipFill>
        <p:spPr>
          <a:xfrm>
            <a:off x="1908362" y="881275"/>
            <a:ext cx="5327274" cy="30287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Luz monocromática vs cromática</a:t>
            </a:r>
            <a:endParaRPr sz="2400">
              <a:solidFill>
                <a:schemeClr val="dk1"/>
              </a:solidFill>
            </a:endParaRPr>
          </a:p>
        </p:txBody>
      </p:sp>
      <p:sp>
        <p:nvSpPr>
          <p:cNvPr id="561" name="Google Shape;561;p5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rango de valores de la </a:t>
            </a:r>
            <a:r>
              <a:rPr b="1" lang="es-419"/>
              <a:t>luz monocromática</a:t>
            </a:r>
            <a:r>
              <a:rPr lang="es-419"/>
              <a:t> desde el negro hasta el blanco suele denominarse escala de grises.</a:t>
            </a:r>
            <a:endParaRPr/>
          </a:p>
          <a:p>
            <a:pPr indent="0" lvl="0" marL="0" rtl="0" algn="l">
              <a:spcBef>
                <a:spcPts val="1200"/>
              </a:spcBef>
              <a:spcAft>
                <a:spcPts val="1200"/>
              </a:spcAft>
              <a:buNone/>
            </a:pPr>
            <a:r>
              <a:rPr lang="es-419"/>
              <a:t>La </a:t>
            </a:r>
            <a:r>
              <a:rPr b="1" lang="es-419"/>
              <a:t>luz cromática</a:t>
            </a:r>
            <a:r>
              <a:rPr lang="es-419"/>
              <a:t> (color) abarca el espectro de energía electromagnética desde aproximadamente 0,43 a 0,79 mm. Además de la frecuencia, se utilizan otras tres cantidades para describir una fuente de luz cromática: resplandor, luminancia y brillo. El </a:t>
            </a:r>
            <a:r>
              <a:rPr b="1" lang="es-419"/>
              <a:t>resplandor</a:t>
            </a:r>
            <a:r>
              <a:rPr lang="es-419"/>
              <a:t> es la cantidad total de energía que fluye desde la fuente de luz y, por lo general, se mide en vatios (W). La </a:t>
            </a:r>
            <a:r>
              <a:rPr b="1" lang="es-419">
                <a:solidFill>
                  <a:schemeClr val="accent5"/>
                </a:solidFill>
              </a:rPr>
              <a:t>luminancia</a:t>
            </a:r>
            <a:r>
              <a:rPr lang="es-419"/>
              <a:t>, medida en lúmenes (lm), da una </a:t>
            </a:r>
            <a:r>
              <a:rPr lang="es-419"/>
              <a:t>medida de la cantidad de energía que un observador percibe de una fuente de luz. El </a:t>
            </a:r>
            <a:r>
              <a:rPr b="1" lang="es-419">
                <a:solidFill>
                  <a:schemeClr val="accent5"/>
                </a:solidFill>
              </a:rPr>
              <a:t>brillo</a:t>
            </a:r>
            <a:r>
              <a:rPr lang="es-419"/>
              <a:t> es un descriptor subjetivo de la percepción de la luz.</a:t>
            </a:r>
            <a:endParaRPr/>
          </a:p>
        </p:txBody>
      </p:sp>
      <p:sp>
        <p:nvSpPr>
          <p:cNvPr id="562" name="Google Shape;562;p5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Sensado y adquisición de imágenes</a:t>
            </a:r>
            <a:endParaRPr/>
          </a:p>
        </p:txBody>
      </p:sp>
      <p:sp>
        <p:nvSpPr>
          <p:cNvPr id="568" name="Google Shape;568;p53"/>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mayoría de las imágenes son generadas por la combinación de una fuente de "iluminación" y la reflexión o absorción de energía de esa fuente por los elementos de la "escena" que se está representando. </a:t>
            </a:r>
            <a:endParaRPr/>
          </a:p>
          <a:p>
            <a:pPr indent="0" lvl="0" marL="0" rtl="0" algn="l">
              <a:spcBef>
                <a:spcPts val="1200"/>
              </a:spcBef>
              <a:spcAft>
                <a:spcPts val="1200"/>
              </a:spcAft>
              <a:buNone/>
            </a:pPr>
            <a:r>
              <a:rPr lang="es-419"/>
              <a:t>La iluminación puede provenir de cualquier fuente de energía electromagnética, como un sistema de radar, infrarrojo o rayos X. Según la naturaleza de la fuente, la energía de iluminación se refleja o se transmite a través de los objetos. Un ejemplo es la luz reflejada desde una superficie plana. Otro ejemplo es cuando los rayos X atraviesan el cuerpo de un paciente con el propósito de generar una imagen de diagnóstico.</a:t>
            </a:r>
            <a:endParaRPr/>
          </a:p>
        </p:txBody>
      </p:sp>
      <p:sp>
        <p:nvSpPr>
          <p:cNvPr id="569" name="Google Shape;569;p53"/>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Gonzalez, R. C., Woods, R. E., &amp; Masters, B. R. (2009). Digital image processing.</a:t>
            </a:r>
            <a:endParaRPr sz="800">
              <a:solidFill>
                <a:srgbClr val="94B6BD"/>
              </a:solidFill>
            </a:endParaRPr>
          </a:p>
        </p:txBody>
      </p:sp>
      <p:sp>
        <p:nvSpPr>
          <p:cNvPr id="570" name="Google Shape;570;p5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4"/>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000"/>
              <a:t>(a) Elemento sensor único. (b) Sensor de línea. (c) Sensor de matriz.</a:t>
            </a:r>
            <a:endParaRPr sz="1000"/>
          </a:p>
        </p:txBody>
      </p:sp>
      <p:sp>
        <p:nvSpPr>
          <p:cNvPr id="576" name="Google Shape;576;p5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77" name="Google Shape;577;p54"/>
          <p:cNvPicPr preferRelativeResize="0"/>
          <p:nvPr/>
        </p:nvPicPr>
        <p:blipFill>
          <a:blip r:embed="rId3">
            <a:alphaModFix/>
          </a:blip>
          <a:stretch>
            <a:fillRect/>
          </a:stretch>
        </p:blipFill>
        <p:spPr>
          <a:xfrm>
            <a:off x="2816337" y="336075"/>
            <a:ext cx="3511326" cy="36872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000"/>
              <a:t>Combinación de un solo elemento de detección con movimiento mecánico para generar una imagen 2-D</a:t>
            </a:r>
            <a:endParaRPr sz="1000"/>
          </a:p>
        </p:txBody>
      </p:sp>
      <p:sp>
        <p:nvSpPr>
          <p:cNvPr id="583" name="Google Shape;583;p5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84" name="Google Shape;584;p55"/>
          <p:cNvPicPr preferRelativeResize="0"/>
          <p:nvPr/>
        </p:nvPicPr>
        <p:blipFill>
          <a:blip r:embed="rId3">
            <a:alphaModFix/>
          </a:blip>
          <a:stretch>
            <a:fillRect/>
          </a:stretch>
        </p:blipFill>
        <p:spPr>
          <a:xfrm>
            <a:off x="3167288" y="1737475"/>
            <a:ext cx="2809426" cy="1829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000"/>
              <a:t>(a) Adquisición de imágenes utilizando una tira de sensor lineal. (b) Adquisición de imágenes utilizando una tira de sensor circular.</a:t>
            </a:r>
            <a:endParaRPr sz="1000"/>
          </a:p>
        </p:txBody>
      </p:sp>
      <p:sp>
        <p:nvSpPr>
          <p:cNvPr id="590" name="Google Shape;590;p5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91" name="Google Shape;591;p56"/>
          <p:cNvPicPr preferRelativeResize="0"/>
          <p:nvPr/>
        </p:nvPicPr>
        <p:blipFill>
          <a:blip r:embed="rId3">
            <a:alphaModFix/>
          </a:blip>
          <a:stretch>
            <a:fillRect/>
          </a:stretch>
        </p:blipFill>
        <p:spPr>
          <a:xfrm>
            <a:off x="2126114" y="587350"/>
            <a:ext cx="4891775" cy="31357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s-419" sz="1000"/>
              <a:t>Un ejemplo de adquisición de imágenes digitales</a:t>
            </a:r>
            <a:r>
              <a:rPr lang="es-419" sz="1000"/>
              <a:t>. (a) Fuente de iluminación (energía). (b) Una escena. (c) Sistema de imágenes. (d) Proyección de la escena sobre el plano de la imagen. (e) Imagen digitalizada.</a:t>
            </a:r>
            <a:endParaRPr sz="1000"/>
          </a:p>
        </p:txBody>
      </p:sp>
      <p:sp>
        <p:nvSpPr>
          <p:cNvPr id="597" name="Google Shape;597;p5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98" name="Google Shape;598;p57"/>
          <p:cNvPicPr preferRelativeResize="0"/>
          <p:nvPr/>
        </p:nvPicPr>
        <p:blipFill>
          <a:blip r:embed="rId3">
            <a:alphaModFix/>
          </a:blip>
          <a:stretch>
            <a:fillRect/>
          </a:stretch>
        </p:blipFill>
        <p:spPr>
          <a:xfrm>
            <a:off x="1650450" y="580513"/>
            <a:ext cx="5843100" cy="329126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Muestreo y cuantificación de imágenes</a:t>
            </a:r>
            <a:endParaRPr/>
          </a:p>
        </p:txBody>
      </p:sp>
      <p:sp>
        <p:nvSpPr>
          <p:cNvPr id="604" name="Google Shape;604;p5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Existen numerosas formas de adquirir imágenes, pero el objetivo en todas es el mismo: generar imágenes digitales a partir de datos detectados. </a:t>
            </a:r>
            <a:endParaRPr/>
          </a:p>
          <a:p>
            <a:pPr indent="0" lvl="0" marL="0" rtl="0" algn="l">
              <a:spcBef>
                <a:spcPts val="1200"/>
              </a:spcBef>
              <a:spcAft>
                <a:spcPts val="0"/>
              </a:spcAft>
              <a:buNone/>
            </a:pPr>
            <a:r>
              <a:rPr lang="es-419"/>
              <a:t>La salida de la mayoría de los sensores es una forma de onda de voltaje continuo cuya amplitud y comportamiento espacial están relacionados con el </a:t>
            </a:r>
            <a:r>
              <a:rPr b="1" lang="es-419"/>
              <a:t>fenómeno físico</a:t>
            </a:r>
            <a:r>
              <a:rPr lang="es-419"/>
              <a:t> que se detecta. </a:t>
            </a:r>
            <a:endParaRPr/>
          </a:p>
          <a:p>
            <a:pPr indent="0" lvl="0" marL="0" rtl="0" algn="l">
              <a:spcBef>
                <a:spcPts val="1200"/>
              </a:spcBef>
              <a:spcAft>
                <a:spcPts val="1200"/>
              </a:spcAft>
              <a:buNone/>
            </a:pPr>
            <a:r>
              <a:rPr lang="es-419"/>
              <a:t>Para crear una imagen digital, se necesita convertir los datos detectados continuos a un formato digital. Esto requiere dos procesos: muestreo y cuantificación.</a:t>
            </a:r>
            <a:endParaRPr/>
          </a:p>
        </p:txBody>
      </p:sp>
      <p:sp>
        <p:nvSpPr>
          <p:cNvPr id="605" name="Google Shape;605;p5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Gonzalez, R. C., Woods, R. E., &amp; Masters, B. R. (2009). Digital image processing.</a:t>
            </a:r>
            <a:endParaRPr sz="800">
              <a:solidFill>
                <a:srgbClr val="94B6BD"/>
              </a:solidFill>
            </a:endParaRPr>
          </a:p>
        </p:txBody>
      </p:sp>
      <p:sp>
        <p:nvSpPr>
          <p:cNvPr id="606" name="Google Shape;606;p5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000"/>
              <a:t>(a) Imagen continua proyectada en una matriz de sensores. (b) Resultado del muestreo y cuantificación de imágenes.</a:t>
            </a:r>
            <a:endParaRPr sz="1000"/>
          </a:p>
        </p:txBody>
      </p:sp>
      <p:sp>
        <p:nvSpPr>
          <p:cNvPr id="612" name="Google Shape;612;p5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13" name="Google Shape;613;p59"/>
          <p:cNvPicPr preferRelativeResize="0"/>
          <p:nvPr/>
        </p:nvPicPr>
        <p:blipFill>
          <a:blip r:embed="rId3">
            <a:alphaModFix/>
          </a:blip>
          <a:stretch>
            <a:fillRect/>
          </a:stretch>
        </p:blipFill>
        <p:spPr>
          <a:xfrm>
            <a:off x="2284397" y="1097375"/>
            <a:ext cx="4575199" cy="26439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Representación de imágenes digitales</a:t>
            </a:r>
            <a:endParaRPr sz="2400">
              <a:solidFill>
                <a:schemeClr val="dk1"/>
              </a:solidFill>
            </a:endParaRPr>
          </a:p>
        </p:txBody>
      </p:sp>
      <p:sp>
        <p:nvSpPr>
          <p:cNvPr id="619" name="Google Shape;619;p6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Sea </a:t>
            </a:r>
            <a:r>
              <a:rPr i="1" lang="es-419"/>
              <a:t>f(s, t)</a:t>
            </a:r>
            <a:r>
              <a:rPr lang="es-419"/>
              <a:t> una función de una imagen continua con dos variables continuas, </a:t>
            </a:r>
            <a:r>
              <a:rPr i="1" lang="es-419"/>
              <a:t>s</a:t>
            </a:r>
            <a:r>
              <a:rPr lang="es-419"/>
              <a:t> y </a:t>
            </a:r>
            <a:r>
              <a:rPr i="1" lang="es-419"/>
              <a:t>t</a:t>
            </a:r>
            <a:r>
              <a:rPr lang="es-419"/>
              <a:t>. Se convierte esta función en una imagen digital mediante </a:t>
            </a:r>
            <a:r>
              <a:rPr b="1" lang="es-419">
                <a:solidFill>
                  <a:schemeClr val="accent5"/>
                </a:solidFill>
              </a:rPr>
              <a:t>muestreo</a:t>
            </a:r>
            <a:r>
              <a:rPr lang="es-419"/>
              <a:t> y </a:t>
            </a:r>
            <a:r>
              <a:rPr b="1" lang="es-419">
                <a:solidFill>
                  <a:schemeClr val="accent5"/>
                </a:solidFill>
              </a:rPr>
              <a:t>cuantificación</a:t>
            </a:r>
            <a:r>
              <a:rPr lang="es-419"/>
              <a:t>.</a:t>
            </a:r>
            <a:endParaRPr/>
          </a:p>
          <a:p>
            <a:pPr indent="0" lvl="0" marL="0" rtl="0" algn="l">
              <a:spcBef>
                <a:spcPts val="1200"/>
              </a:spcBef>
              <a:spcAft>
                <a:spcPts val="1200"/>
              </a:spcAft>
              <a:buNone/>
            </a:pPr>
            <a:r>
              <a:rPr lang="es-419"/>
              <a:t>En general, el valor de una imagen digital en cualquier coordenada (x, y) se denota por </a:t>
            </a:r>
            <a:r>
              <a:rPr i="1" lang="es-419"/>
              <a:t>f(x,y)</a:t>
            </a:r>
            <a:r>
              <a:rPr lang="es-419"/>
              <a:t>, donde </a:t>
            </a:r>
            <a:r>
              <a:rPr i="1" lang="es-419"/>
              <a:t>x</a:t>
            </a:r>
            <a:r>
              <a:rPr lang="es-419"/>
              <a:t> e </a:t>
            </a:r>
            <a:r>
              <a:rPr i="1" lang="es-419"/>
              <a:t>y</a:t>
            </a:r>
            <a:r>
              <a:rPr lang="es-419"/>
              <a:t> son números enteros. Cuando necesitamos referirnos a coordenadas específicas </a:t>
            </a:r>
            <a:r>
              <a:rPr i="1" lang="es-419"/>
              <a:t>(i, j)</a:t>
            </a:r>
            <a:r>
              <a:rPr lang="es-419"/>
              <a:t>, se usa la notación </a:t>
            </a:r>
            <a:r>
              <a:rPr i="1" lang="es-419"/>
              <a:t>f(i,j)</a:t>
            </a:r>
            <a:r>
              <a:rPr lang="es-419"/>
              <a:t>, donde los argumentos son números enteros. La sección del plano real que abarcan las coordenadas de una imagen se denomina dominio espacial, con </a:t>
            </a:r>
            <a:r>
              <a:rPr i="1" lang="es-419"/>
              <a:t>x</a:t>
            </a:r>
            <a:r>
              <a:rPr lang="es-419"/>
              <a:t> e </a:t>
            </a:r>
            <a:r>
              <a:rPr i="1" lang="es-419"/>
              <a:t>y</a:t>
            </a:r>
            <a:r>
              <a:rPr lang="es-419"/>
              <a:t> siendo referidas como variables espaciales o coordenadas espaciales.</a:t>
            </a:r>
            <a:endParaRPr/>
          </a:p>
        </p:txBody>
      </p:sp>
      <p:sp>
        <p:nvSpPr>
          <p:cNvPr id="620" name="Google Shape;620;p6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419" sz="1000"/>
              <a:t>(a) Imagen trazada como una superficie. (b) Imagen mostrada como una matriz de intensidad visual. (c) Imagen que se muestra como una matriz numérica 2-D. (Los números 0, 0,5 y 1 representan negro, gris y blanco, respectivamente).</a:t>
            </a:r>
            <a:endParaRPr sz="1000"/>
          </a:p>
        </p:txBody>
      </p:sp>
      <p:sp>
        <p:nvSpPr>
          <p:cNvPr id="626" name="Google Shape;626;p6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27" name="Google Shape;627;p61"/>
          <p:cNvPicPr preferRelativeResize="0"/>
          <p:nvPr/>
        </p:nvPicPr>
        <p:blipFill>
          <a:blip r:embed="rId3">
            <a:alphaModFix/>
          </a:blip>
          <a:stretch>
            <a:fillRect/>
          </a:stretch>
        </p:blipFill>
        <p:spPr>
          <a:xfrm>
            <a:off x="2682638" y="244250"/>
            <a:ext cx="3778722" cy="38341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62"/>
          <p:cNvSpPr txBox="1"/>
          <p:nvPr>
            <p:ph idx="1" type="body"/>
          </p:nvPr>
        </p:nvSpPr>
        <p:spPr>
          <a:xfrm>
            <a:off x="1303800" y="4138975"/>
            <a:ext cx="5843100" cy="534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s-419" sz="1000"/>
              <a:t>Convención de coordenadas utilizada para representar imágenes digitales</a:t>
            </a:r>
            <a:r>
              <a:rPr lang="es-419" sz="1000"/>
              <a:t>. Debido a que los valores de las coordenadas son números enteros, existe una correspondencia uno a uno entre </a:t>
            </a:r>
            <a:r>
              <a:rPr i="1" lang="es-419" sz="1000"/>
              <a:t>x</a:t>
            </a:r>
            <a:r>
              <a:rPr lang="es-419" sz="1000"/>
              <a:t> e </a:t>
            </a:r>
            <a:r>
              <a:rPr i="1" lang="es-419" sz="1000"/>
              <a:t>y</a:t>
            </a:r>
            <a:r>
              <a:rPr lang="es-419" sz="1000"/>
              <a:t>, y las filas (r) y las columnas (c) de una matriz.</a:t>
            </a:r>
            <a:endParaRPr sz="1000"/>
          </a:p>
        </p:txBody>
      </p:sp>
      <p:sp>
        <p:nvSpPr>
          <p:cNvPr id="633" name="Google Shape;633;p6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34" name="Google Shape;634;p62"/>
          <p:cNvPicPr preferRelativeResize="0"/>
          <p:nvPr/>
        </p:nvPicPr>
        <p:blipFill>
          <a:blip r:embed="rId3">
            <a:alphaModFix/>
          </a:blip>
          <a:stretch>
            <a:fillRect/>
          </a:stretch>
        </p:blipFill>
        <p:spPr>
          <a:xfrm>
            <a:off x="2841712" y="1281102"/>
            <a:ext cx="3460576" cy="22494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6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40" name="Google Shape;640;p63"/>
          <p:cNvPicPr preferRelativeResize="0"/>
          <p:nvPr/>
        </p:nvPicPr>
        <p:blipFill>
          <a:blip r:embed="rId3">
            <a:alphaModFix/>
          </a:blip>
          <a:stretch>
            <a:fillRect/>
          </a:stretch>
        </p:blipFill>
        <p:spPr>
          <a:xfrm>
            <a:off x="152400" y="1140288"/>
            <a:ext cx="8839202" cy="314910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Representación de imágenes digitales</a:t>
            </a:r>
            <a:endParaRPr sz="2400">
              <a:solidFill>
                <a:schemeClr val="dk1"/>
              </a:solidFill>
            </a:endParaRPr>
          </a:p>
        </p:txBody>
      </p:sp>
      <p:sp>
        <p:nvSpPr>
          <p:cNvPr id="646" name="Google Shape;646;p6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ocasiones</a:t>
            </a:r>
            <a:r>
              <a:rPr lang="es-419"/>
              <a:t>, el rango de valores que abarca la escala de grises se denomina </a:t>
            </a:r>
            <a:r>
              <a:rPr b="1" lang="es-419"/>
              <a:t>rango dinámico</a:t>
            </a:r>
            <a:r>
              <a:rPr lang="es-419"/>
              <a:t>, un término que se usa de diferentes maneras en diferentes campos. </a:t>
            </a:r>
            <a:endParaRPr/>
          </a:p>
          <a:p>
            <a:pPr indent="0" lvl="0" marL="0" rtl="0" algn="l">
              <a:spcBef>
                <a:spcPts val="1200"/>
              </a:spcBef>
              <a:spcAft>
                <a:spcPts val="0"/>
              </a:spcAft>
              <a:buNone/>
            </a:pPr>
            <a:r>
              <a:rPr lang="es-419"/>
              <a:t>Aquí, se define el rango dinámico de un sistema de imágenes como la relación entre la intensidad máxima medible y el nivel mínimo de intensidad detectable en el sistema.</a:t>
            </a:r>
            <a:endParaRPr/>
          </a:p>
          <a:p>
            <a:pPr indent="0" lvl="0" marL="0" rtl="0" algn="l">
              <a:spcBef>
                <a:spcPts val="1200"/>
              </a:spcBef>
              <a:spcAft>
                <a:spcPts val="1200"/>
              </a:spcAft>
              <a:buNone/>
            </a:pPr>
            <a:r>
              <a:rPr lang="es-419"/>
              <a:t>Por regla general, el límite superior está determinado por la </a:t>
            </a:r>
            <a:r>
              <a:rPr b="1" lang="es-419">
                <a:solidFill>
                  <a:schemeClr val="accent5"/>
                </a:solidFill>
              </a:rPr>
              <a:t>saturación</a:t>
            </a:r>
            <a:r>
              <a:rPr lang="es-419"/>
              <a:t> y el límite inferior por el </a:t>
            </a:r>
            <a:r>
              <a:rPr b="1" lang="es-419">
                <a:solidFill>
                  <a:schemeClr val="accent5"/>
                </a:solidFill>
              </a:rPr>
              <a:t>ruido</a:t>
            </a:r>
            <a:r>
              <a:rPr lang="es-419"/>
              <a:t>, aunque el ruido también puede estar presente en intensidades más ligeras.</a:t>
            </a:r>
            <a:endParaRPr/>
          </a:p>
        </p:txBody>
      </p:sp>
      <p:sp>
        <p:nvSpPr>
          <p:cNvPr id="647" name="Google Shape;647;p6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5"/>
          <p:cNvSpPr txBox="1"/>
          <p:nvPr>
            <p:ph idx="1" type="body"/>
          </p:nvPr>
        </p:nvSpPr>
        <p:spPr>
          <a:xfrm>
            <a:off x="1303800" y="4138975"/>
            <a:ext cx="7147200" cy="72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Una imagen que muestra saturación y ruido. </a:t>
            </a:r>
            <a:r>
              <a:rPr lang="es-419" sz="1000"/>
              <a:t>La saturación es el valor más alto del cual se recortan todos los valores de intensidad (observe cómo toda el área saturada tiene un nivel de intensidad alto y constante). El ruido visible en este caso aparece como un patrón de textura granulada. El fondo oscuro es más ruidoso, pero el ruido es difícil de ver.</a:t>
            </a:r>
            <a:endParaRPr sz="1000"/>
          </a:p>
        </p:txBody>
      </p:sp>
      <p:sp>
        <p:nvSpPr>
          <p:cNvPr id="653" name="Google Shape;653;p6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54" name="Google Shape;654;p65"/>
          <p:cNvPicPr preferRelativeResize="0"/>
          <p:nvPr/>
        </p:nvPicPr>
        <p:blipFill>
          <a:blip r:embed="rId3">
            <a:alphaModFix/>
          </a:blip>
          <a:stretch>
            <a:fillRect/>
          </a:stretch>
        </p:blipFill>
        <p:spPr>
          <a:xfrm>
            <a:off x="2146363" y="590775"/>
            <a:ext cx="4851276" cy="33523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Resolución espacial y de intensidad</a:t>
            </a:r>
            <a:endParaRPr sz="2400">
              <a:solidFill>
                <a:schemeClr val="dk1"/>
              </a:solidFill>
            </a:endParaRPr>
          </a:p>
        </p:txBody>
      </p:sp>
      <p:sp>
        <p:nvSpPr>
          <p:cNvPr id="660" name="Google Shape;660;p6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t>
            </a:r>
            <a:r>
              <a:rPr lang="es-419"/>
              <a:t>a </a:t>
            </a:r>
            <a:r>
              <a:rPr b="1" lang="es-419"/>
              <a:t>resolución espacial</a:t>
            </a:r>
            <a:r>
              <a:rPr lang="es-419"/>
              <a:t> es una medida del más mínimo detalle perceptible en una imagen. Cuantitativamente, se puede establecer de varias maneras, con pares de líneas por unidad de distancia, y puntos (píxeles) por unidad de distancia.</a:t>
            </a:r>
            <a:endParaRPr/>
          </a:p>
          <a:p>
            <a:pPr indent="0" lvl="0" marL="0" rtl="0" algn="l">
              <a:spcBef>
                <a:spcPts val="1200"/>
              </a:spcBef>
              <a:spcAft>
                <a:spcPts val="1200"/>
              </a:spcAft>
              <a:buNone/>
            </a:pPr>
            <a:r>
              <a:rPr lang="es-419"/>
              <a:t>La </a:t>
            </a:r>
            <a:r>
              <a:rPr b="1" lang="es-419"/>
              <a:t>resolución de intensidad</a:t>
            </a:r>
            <a:r>
              <a:rPr lang="es-419"/>
              <a:t> se refiere de manera similar al cambio perceptible más pequeño en el nivel de intensidad. A diferencia de la resolución espacial, que debe basarse en una unidad de distancia para que sea significativa, es una práctica común referirse a la cantidad de bits utilizados para cuantificar la intensidad como "resolución de intensidad".</a:t>
            </a:r>
            <a:endParaRPr/>
          </a:p>
        </p:txBody>
      </p:sp>
      <p:sp>
        <p:nvSpPr>
          <p:cNvPr id="661" name="Google Shape;661;p6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6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67" name="Google Shape;667;p67"/>
          <p:cNvPicPr preferRelativeResize="0"/>
          <p:nvPr/>
        </p:nvPicPr>
        <p:blipFill>
          <a:blip r:embed="rId3">
            <a:alphaModFix/>
          </a:blip>
          <a:stretch>
            <a:fillRect/>
          </a:stretch>
        </p:blipFill>
        <p:spPr>
          <a:xfrm>
            <a:off x="2654913" y="213650"/>
            <a:ext cx="3834175" cy="3834175"/>
          </a:xfrm>
          <a:prstGeom prst="rect">
            <a:avLst/>
          </a:prstGeom>
          <a:noFill/>
          <a:ln>
            <a:noFill/>
          </a:ln>
        </p:spPr>
      </p:pic>
      <p:sp>
        <p:nvSpPr>
          <p:cNvPr id="668" name="Google Shape;668;p6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Efectos de la reducción de la resolución espacial.</a:t>
            </a:r>
            <a:r>
              <a:rPr lang="es-419" sz="1000"/>
              <a:t> Las imágenes que se muestran están en: (a) 930 ppp o dpi, (b) 300 ppp (c) 150 ppp y (d) 72 ppp.</a:t>
            </a:r>
            <a:endParaRPr sz="10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74" name="Google Shape;674;p68"/>
          <p:cNvSpPr txBox="1"/>
          <p:nvPr>
            <p:ph idx="1" type="body"/>
          </p:nvPr>
        </p:nvSpPr>
        <p:spPr>
          <a:xfrm>
            <a:off x="1303800" y="4138975"/>
            <a:ext cx="6465000" cy="597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419" sz="1000"/>
              <a:t>Efectos de la reducción de la resolución de intensidad. </a:t>
            </a:r>
            <a:r>
              <a:rPr lang="es-419" sz="1000"/>
              <a:t>(a) 774 × 640, imagen de 256 niveles, (b)-(h) imágenes mostradas en 128, 64, 32, 16, 8, 4 y 2 niveles de intensidad, manteniendo constante la resolución espacial.</a:t>
            </a:r>
            <a:endParaRPr sz="1000"/>
          </a:p>
        </p:txBody>
      </p:sp>
      <p:pic>
        <p:nvPicPr>
          <p:cNvPr id="675" name="Google Shape;675;p68"/>
          <p:cNvPicPr preferRelativeResize="0"/>
          <p:nvPr/>
        </p:nvPicPr>
        <p:blipFill>
          <a:blip r:embed="rId3">
            <a:alphaModFix/>
          </a:blip>
          <a:stretch>
            <a:fillRect/>
          </a:stretch>
        </p:blipFill>
        <p:spPr>
          <a:xfrm>
            <a:off x="1375138" y="167725"/>
            <a:ext cx="3197428" cy="3834174"/>
          </a:xfrm>
          <a:prstGeom prst="rect">
            <a:avLst/>
          </a:prstGeom>
          <a:noFill/>
          <a:ln>
            <a:noFill/>
          </a:ln>
        </p:spPr>
      </p:pic>
      <p:pic>
        <p:nvPicPr>
          <p:cNvPr id="676" name="Google Shape;676;p68"/>
          <p:cNvPicPr preferRelativeResize="0"/>
          <p:nvPr/>
        </p:nvPicPr>
        <p:blipFill>
          <a:blip r:embed="rId4">
            <a:alphaModFix/>
          </a:blip>
          <a:stretch>
            <a:fillRect/>
          </a:stretch>
        </p:blipFill>
        <p:spPr>
          <a:xfrm>
            <a:off x="4572565" y="167725"/>
            <a:ext cx="3196289" cy="38341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6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82" name="Google Shape;682;p6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000"/>
              <a:t>(a) Imagen con bajo nivel de detalle. (b) Imagen con un nivel de detalle medio. (c) Imagen con una cantidad relativamente grande de detalles.</a:t>
            </a:r>
            <a:endParaRPr sz="1000"/>
          </a:p>
        </p:txBody>
      </p:sp>
      <p:pic>
        <p:nvPicPr>
          <p:cNvPr id="683" name="Google Shape;683;p69"/>
          <p:cNvPicPr preferRelativeResize="0"/>
          <p:nvPr/>
        </p:nvPicPr>
        <p:blipFill>
          <a:blip r:embed="rId3">
            <a:alphaModFix/>
          </a:blip>
          <a:stretch>
            <a:fillRect/>
          </a:stretch>
        </p:blipFill>
        <p:spPr>
          <a:xfrm>
            <a:off x="152400" y="787675"/>
            <a:ext cx="8839204" cy="290899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7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89" name="Google Shape;689;p7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000"/>
              <a:t>Curvas de isopreferencia (resolución espacial y de intensidad) representativas de las tres imágenes anteriores.</a:t>
            </a:r>
            <a:endParaRPr sz="1000"/>
          </a:p>
        </p:txBody>
      </p:sp>
      <p:pic>
        <p:nvPicPr>
          <p:cNvPr id="690" name="Google Shape;690;p70"/>
          <p:cNvPicPr preferRelativeResize="0"/>
          <p:nvPr/>
        </p:nvPicPr>
        <p:blipFill>
          <a:blip r:embed="rId3">
            <a:alphaModFix/>
          </a:blip>
          <a:stretch>
            <a:fillRect/>
          </a:stretch>
        </p:blipFill>
        <p:spPr>
          <a:xfrm>
            <a:off x="3650525" y="971125"/>
            <a:ext cx="1842950" cy="2824101"/>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7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Herramientas matemáticas básicas</a:t>
            </a:r>
            <a:endParaRPr/>
          </a:p>
        </p:txBody>
      </p:sp>
      <p:sp>
        <p:nvSpPr>
          <p:cNvPr id="696" name="Google Shape;696;p7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Una operación por elementos que involucra una o más imágenes se lleva a cabo píxel por píxel. Recordar que las imágenes se pueden ver como matrices. </a:t>
            </a:r>
            <a:endParaRPr/>
          </a:p>
          <a:p>
            <a:pPr indent="0" lvl="0" marL="0" rtl="0" algn="l">
              <a:spcBef>
                <a:spcPts val="1200"/>
              </a:spcBef>
              <a:spcAft>
                <a:spcPts val="1200"/>
              </a:spcAft>
              <a:buNone/>
            </a:pPr>
            <a:r>
              <a:rPr lang="es-419"/>
              <a:t>Hay muchas situaciones en las que las operaciones entre imágenes se realizan utilizando la teoría de matrices. Se debe hacer una clara distinción entre operaciones por elementos y matriciales. Por ejemplo, considere las siguientes 2*2 imágenes (matrices):</a:t>
            </a:r>
            <a:endParaRPr/>
          </a:p>
        </p:txBody>
      </p:sp>
      <p:sp>
        <p:nvSpPr>
          <p:cNvPr id="697" name="Google Shape;697;p71"/>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Gonzalez, R. C., Woods, R. E., &amp; Masters, B. R. (2009). Digital image processing.</a:t>
            </a:r>
            <a:endParaRPr sz="800">
              <a:solidFill>
                <a:srgbClr val="94B6BD"/>
              </a:solidFill>
            </a:endParaRPr>
          </a:p>
        </p:txBody>
      </p:sp>
      <p:sp>
        <p:nvSpPr>
          <p:cNvPr id="698" name="Google Shape;698;p7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99" name="Google Shape;699;p71"/>
          <p:cNvPicPr preferRelativeResize="0"/>
          <p:nvPr/>
        </p:nvPicPr>
        <p:blipFill>
          <a:blip r:embed="rId3">
            <a:alphaModFix/>
          </a:blip>
          <a:stretch>
            <a:fillRect/>
          </a:stretch>
        </p:blipFill>
        <p:spPr>
          <a:xfrm>
            <a:off x="3885500" y="3570425"/>
            <a:ext cx="1867100" cy="5362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72"/>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Producto por elementos y producto de matrices</a:t>
            </a:r>
            <a:endParaRPr sz="2400">
              <a:solidFill>
                <a:schemeClr val="dk1"/>
              </a:solidFill>
            </a:endParaRPr>
          </a:p>
        </p:txBody>
      </p:sp>
      <p:sp>
        <p:nvSpPr>
          <p:cNvPr id="705" name="Google Shape;705;p7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producto por elementos (a menudo indicado con el símbolo ⊙ o ⊗) de estas dos imágenes 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419"/>
              <a:t>Es decir, el producto por elementos se obtiene multiplicando pares de píxeles correspondientes. Por otro lado, el producto de matrices de las imágenes se forma usando las reglas de la multiplicación de matrices:</a:t>
            </a:r>
            <a:endParaRPr/>
          </a:p>
        </p:txBody>
      </p:sp>
      <p:sp>
        <p:nvSpPr>
          <p:cNvPr id="706" name="Google Shape;706;p7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707" name="Google Shape;707;p72"/>
          <p:cNvPicPr preferRelativeResize="0"/>
          <p:nvPr/>
        </p:nvPicPr>
        <p:blipFill>
          <a:blip r:embed="rId3">
            <a:alphaModFix/>
          </a:blip>
          <a:stretch>
            <a:fillRect/>
          </a:stretch>
        </p:blipFill>
        <p:spPr>
          <a:xfrm>
            <a:off x="3504350" y="2269050"/>
            <a:ext cx="2629400" cy="591350"/>
          </a:xfrm>
          <a:prstGeom prst="rect">
            <a:avLst/>
          </a:prstGeom>
          <a:noFill/>
          <a:ln>
            <a:noFill/>
          </a:ln>
        </p:spPr>
      </p:pic>
      <p:pic>
        <p:nvPicPr>
          <p:cNvPr id="708" name="Google Shape;708;p72"/>
          <p:cNvPicPr preferRelativeResize="0"/>
          <p:nvPr/>
        </p:nvPicPr>
        <p:blipFill>
          <a:blip r:embed="rId4">
            <a:alphaModFix/>
          </a:blip>
          <a:stretch>
            <a:fillRect/>
          </a:stretch>
        </p:blipFill>
        <p:spPr>
          <a:xfrm>
            <a:off x="2857943" y="3753275"/>
            <a:ext cx="3922219" cy="5913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Operaciones aritméticas</a:t>
            </a:r>
            <a:endParaRPr sz="2400">
              <a:solidFill>
                <a:schemeClr val="dk1"/>
              </a:solidFill>
            </a:endParaRPr>
          </a:p>
        </p:txBody>
      </p:sp>
      <p:sp>
        <p:nvSpPr>
          <p:cNvPr id="714" name="Google Shape;714;p73"/>
          <p:cNvSpPr txBox="1"/>
          <p:nvPr>
            <p:ph idx="1" type="body"/>
          </p:nvPr>
        </p:nvSpPr>
        <p:spPr>
          <a:xfrm>
            <a:off x="1303800" y="1761450"/>
            <a:ext cx="7030500" cy="282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operaciones aritméticas entre dos imágenes </a:t>
            </a:r>
            <a:r>
              <a:rPr i="1" lang="es-419"/>
              <a:t>f(x, y)</a:t>
            </a:r>
            <a:r>
              <a:rPr lang="es-419"/>
              <a:t> y </a:t>
            </a:r>
            <a:r>
              <a:rPr i="1" lang="es-419"/>
              <a:t>g(x, y)</a:t>
            </a:r>
            <a:r>
              <a:rPr lang="es-419"/>
              <a:t> se denotan como</a:t>
            </a:r>
            <a:endParaRPr/>
          </a:p>
          <a:p>
            <a:pPr indent="0" lvl="0" marL="0" rtl="0" algn="l">
              <a:spcBef>
                <a:spcPts val="1200"/>
              </a:spcBef>
              <a:spcAft>
                <a:spcPts val="0"/>
              </a:spcAft>
              <a:buNone/>
            </a:pPr>
            <a:r>
              <a:t/>
            </a:r>
            <a:endParaRPr/>
          </a:p>
          <a:p>
            <a:pPr indent="0" lvl="0" marL="0" rtl="0" algn="l">
              <a:spcBef>
                <a:spcPts val="1200"/>
              </a:spcBef>
              <a:spcAft>
                <a:spcPts val="0"/>
              </a:spcAft>
              <a:buNone/>
            </a:pPr>
            <a:br>
              <a:rPr lang="es-419"/>
            </a:br>
            <a:endParaRPr/>
          </a:p>
          <a:p>
            <a:pPr indent="0" lvl="0" marL="0" rtl="0" algn="l">
              <a:spcBef>
                <a:spcPts val="1200"/>
              </a:spcBef>
              <a:spcAft>
                <a:spcPts val="1200"/>
              </a:spcAft>
              <a:buNone/>
            </a:pPr>
            <a:r>
              <a:rPr lang="es-419"/>
              <a:t>Estas operaciones se realizan entre los pares de píxeles correspondientes en </a:t>
            </a:r>
            <a:r>
              <a:rPr i="1" lang="es-419"/>
              <a:t>f</a:t>
            </a:r>
            <a:r>
              <a:rPr lang="es-419"/>
              <a:t> y </a:t>
            </a:r>
            <a:r>
              <a:rPr i="1" lang="es-419"/>
              <a:t>g</a:t>
            </a:r>
            <a:r>
              <a:rPr lang="es-419"/>
              <a:t> para </a:t>
            </a:r>
            <a:r>
              <a:rPr i="1" lang="es-419"/>
              <a:t>x = 0, 1, 2, …, M-1</a:t>
            </a:r>
            <a:r>
              <a:rPr lang="es-419"/>
              <a:t>, y </a:t>
            </a:r>
            <a:r>
              <a:rPr i="1" lang="es-419"/>
              <a:t>y = 0, 1, 2, …, N-1.</a:t>
            </a:r>
            <a:r>
              <a:rPr lang="es-419"/>
              <a:t> </a:t>
            </a:r>
            <a:r>
              <a:rPr i="1" lang="es-419"/>
              <a:t>M</a:t>
            </a:r>
            <a:r>
              <a:rPr lang="es-419"/>
              <a:t> y </a:t>
            </a:r>
            <a:r>
              <a:rPr i="1" lang="es-419"/>
              <a:t>N</a:t>
            </a:r>
            <a:r>
              <a:rPr lang="es-419"/>
              <a:t> son los tamaños de fila y columna de las imágenes; </a:t>
            </a:r>
            <a:r>
              <a:rPr i="1" lang="es-419"/>
              <a:t>s, d, p</a:t>
            </a:r>
            <a:r>
              <a:rPr lang="es-419"/>
              <a:t> y </a:t>
            </a:r>
            <a:r>
              <a:rPr i="1" lang="es-419"/>
              <a:t>v</a:t>
            </a:r>
            <a:r>
              <a:rPr lang="es-419"/>
              <a:t> también son imágenes de tamaño M×N. La aritmética de imágenes involucra imágenes del mismo tamaño.</a:t>
            </a:r>
            <a:endParaRPr/>
          </a:p>
        </p:txBody>
      </p:sp>
      <p:sp>
        <p:nvSpPr>
          <p:cNvPr id="715" name="Google Shape;715;p7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716" name="Google Shape;716;p73"/>
          <p:cNvPicPr preferRelativeResize="0"/>
          <p:nvPr/>
        </p:nvPicPr>
        <p:blipFill>
          <a:blip r:embed="rId3">
            <a:alphaModFix/>
          </a:blip>
          <a:stretch>
            <a:fillRect/>
          </a:stretch>
        </p:blipFill>
        <p:spPr>
          <a:xfrm>
            <a:off x="3902275" y="2156125"/>
            <a:ext cx="1833550" cy="10368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7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722" name="Google Shape;722;p74"/>
          <p:cNvSpPr txBox="1"/>
          <p:nvPr>
            <p:ph idx="1" type="body"/>
          </p:nvPr>
        </p:nvSpPr>
        <p:spPr>
          <a:xfrm>
            <a:off x="1303800" y="4138975"/>
            <a:ext cx="6931500" cy="630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419" sz="1000"/>
              <a:t>Uso de la adición de imágenes (promedio) para la reducción de ruido.</a:t>
            </a:r>
            <a:r>
              <a:rPr lang="es-419" sz="1000"/>
              <a:t> </a:t>
            </a:r>
            <a:r>
              <a:rPr lang="es-419" sz="1000"/>
              <a:t>(a) Imagen del Galaxy Pair NGC 3314 corrompida por ruido gaussiano aditivo. (b)-(f) Resultado de promediar 5, 10, 20, 50 y 1,00 imágenes ruidosas, respectivamente. Todas las imágenes tienen un tamaño de 566×598 píxeles.</a:t>
            </a:r>
            <a:endParaRPr sz="1000"/>
          </a:p>
        </p:txBody>
      </p:sp>
      <p:pic>
        <p:nvPicPr>
          <p:cNvPr id="723" name="Google Shape;723;p74"/>
          <p:cNvPicPr preferRelativeResize="0"/>
          <p:nvPr/>
        </p:nvPicPr>
        <p:blipFill>
          <a:blip r:embed="rId3">
            <a:alphaModFix/>
          </a:blip>
          <a:stretch>
            <a:fillRect/>
          </a:stretch>
        </p:blipFill>
        <p:spPr>
          <a:xfrm>
            <a:off x="1854525" y="254500"/>
            <a:ext cx="5434944" cy="383417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7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729" name="Google Shape;729;p75"/>
          <p:cNvSpPr txBox="1"/>
          <p:nvPr>
            <p:ph idx="1" type="body"/>
          </p:nvPr>
        </p:nvSpPr>
        <p:spPr>
          <a:xfrm>
            <a:off x="1303800" y="4138975"/>
            <a:ext cx="6931500" cy="7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Comparar imágenes usando la resta (</a:t>
            </a:r>
            <a:r>
              <a:rPr b="1" i="1" lang="es-419" sz="1000"/>
              <a:t>subtraction</a:t>
            </a:r>
            <a:r>
              <a:rPr b="1" lang="es-419" sz="1000"/>
              <a:t>)</a:t>
            </a:r>
            <a:r>
              <a:rPr lang="es-419" sz="1000"/>
              <a:t>. (a) Imagen infrarroja del área de Washington, D.C. (b) Imagen resultante de poner a cero el bit menos significativo de cada píxel en (a). (c) Diferencia de las dos imágenes, escalada al rango [0, 255] para mayor claridad.</a:t>
            </a:r>
            <a:endParaRPr sz="1000"/>
          </a:p>
        </p:txBody>
      </p:sp>
      <p:pic>
        <p:nvPicPr>
          <p:cNvPr id="730" name="Google Shape;730;p75"/>
          <p:cNvPicPr preferRelativeResize="0"/>
          <p:nvPr/>
        </p:nvPicPr>
        <p:blipFill>
          <a:blip r:embed="rId3">
            <a:alphaModFix/>
          </a:blip>
          <a:stretch>
            <a:fillRect/>
          </a:stretch>
        </p:blipFill>
        <p:spPr>
          <a:xfrm>
            <a:off x="1505487" y="1323300"/>
            <a:ext cx="6133026" cy="20696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7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736" name="Google Shape;736;p76"/>
          <p:cNvSpPr txBox="1"/>
          <p:nvPr>
            <p:ph idx="1" type="body"/>
          </p:nvPr>
        </p:nvSpPr>
        <p:spPr>
          <a:xfrm>
            <a:off x="1303800" y="4138975"/>
            <a:ext cx="6931500" cy="7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Comparar imágenes usando la resta (</a:t>
            </a:r>
            <a:r>
              <a:rPr b="1" i="1" lang="es-419" sz="1000"/>
              <a:t>subtraction</a:t>
            </a:r>
            <a:r>
              <a:rPr b="1" lang="es-419" sz="1000"/>
              <a:t>)</a:t>
            </a:r>
            <a:r>
              <a:rPr lang="es-419" sz="1000"/>
              <a:t>. </a:t>
            </a:r>
            <a:r>
              <a:rPr lang="es-419" sz="1000"/>
              <a:t>(a) Diferencia entre las imágenes de 930 dpi y 72 dpi. (b) Diferencia entre las imágenes de 930 dpi y 150 dpi. (c) Diferencia entre las imágenes de 930 dpi y 300 dpi.</a:t>
            </a:r>
            <a:endParaRPr sz="1000"/>
          </a:p>
        </p:txBody>
      </p:sp>
      <p:pic>
        <p:nvPicPr>
          <p:cNvPr id="737" name="Google Shape;737;p76"/>
          <p:cNvPicPr preferRelativeResize="0"/>
          <p:nvPr/>
        </p:nvPicPr>
        <p:blipFill>
          <a:blip r:embed="rId3">
            <a:alphaModFix/>
          </a:blip>
          <a:stretch>
            <a:fillRect/>
          </a:stretch>
        </p:blipFill>
        <p:spPr>
          <a:xfrm>
            <a:off x="1580850" y="1375374"/>
            <a:ext cx="5982301" cy="19908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7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743" name="Google Shape;743;p77"/>
          <p:cNvSpPr txBox="1"/>
          <p:nvPr>
            <p:ph idx="1" type="body"/>
          </p:nvPr>
        </p:nvSpPr>
        <p:spPr>
          <a:xfrm>
            <a:off x="1303800" y="4138975"/>
            <a:ext cx="6931500" cy="7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Comparar imágenes usando la resta (</a:t>
            </a:r>
            <a:r>
              <a:rPr b="1" i="1" lang="es-419" sz="1000"/>
              <a:t>subtraction</a:t>
            </a:r>
            <a:r>
              <a:rPr b="1" lang="es-419" sz="1000"/>
              <a:t>)</a:t>
            </a:r>
            <a:r>
              <a:rPr lang="es-419" sz="1000"/>
              <a:t>. </a:t>
            </a:r>
            <a:r>
              <a:rPr lang="es-419" sz="1000"/>
              <a:t>Angiografía por sustracción digital. (a) Imagen de máscara. (b) Una imagen en vivo. (c) Diferencia entre (a) y (b). (d) Imagen de diferencia mejorada.</a:t>
            </a:r>
            <a:endParaRPr sz="1000"/>
          </a:p>
        </p:txBody>
      </p:sp>
      <p:pic>
        <p:nvPicPr>
          <p:cNvPr id="744" name="Google Shape;744;p77"/>
          <p:cNvPicPr preferRelativeResize="0"/>
          <p:nvPr/>
        </p:nvPicPr>
        <p:blipFill>
          <a:blip r:embed="rId3">
            <a:alphaModFix/>
          </a:blip>
          <a:stretch>
            <a:fillRect/>
          </a:stretch>
        </p:blipFill>
        <p:spPr>
          <a:xfrm>
            <a:off x="3075974" y="775600"/>
            <a:ext cx="2992050" cy="297265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7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750" name="Google Shape;750;p78"/>
          <p:cNvSpPr txBox="1"/>
          <p:nvPr>
            <p:ph idx="1" type="body"/>
          </p:nvPr>
        </p:nvSpPr>
        <p:spPr>
          <a:xfrm>
            <a:off x="1303800" y="4138975"/>
            <a:ext cx="6931500" cy="7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Usar la multiplicación y división de imágenes para corregir el sombreado y enmascarar</a:t>
            </a:r>
            <a:r>
              <a:rPr lang="es-419" sz="1000"/>
              <a:t>:</a:t>
            </a:r>
            <a:r>
              <a:rPr lang="es-419" sz="1000"/>
              <a:t> </a:t>
            </a:r>
            <a:r>
              <a:rPr lang="es-419" sz="1000"/>
              <a:t>Corrección de sombreado. (a) Patrón de prueba sombreado. (b) Patrón de sombreado estimado. (c) Producto de (a) por el recíproco de (b).</a:t>
            </a:r>
            <a:endParaRPr sz="1000"/>
          </a:p>
        </p:txBody>
      </p:sp>
      <p:pic>
        <p:nvPicPr>
          <p:cNvPr id="751" name="Google Shape;751;p78"/>
          <p:cNvPicPr preferRelativeResize="0"/>
          <p:nvPr/>
        </p:nvPicPr>
        <p:blipFill>
          <a:blip r:embed="rId3">
            <a:alphaModFix/>
          </a:blip>
          <a:stretch>
            <a:fillRect/>
          </a:stretch>
        </p:blipFill>
        <p:spPr>
          <a:xfrm>
            <a:off x="1447151" y="1467998"/>
            <a:ext cx="6249701" cy="19667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7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757" name="Google Shape;757;p79"/>
          <p:cNvSpPr txBox="1"/>
          <p:nvPr>
            <p:ph idx="1" type="body"/>
          </p:nvPr>
        </p:nvSpPr>
        <p:spPr>
          <a:xfrm>
            <a:off x="1303800" y="4138975"/>
            <a:ext cx="6931500" cy="7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Usar la multiplicación y división de imágenes para corregir el sombreado y enmascarar</a:t>
            </a:r>
            <a:r>
              <a:rPr lang="es-419" sz="1000"/>
              <a:t>: </a:t>
            </a:r>
            <a:r>
              <a:rPr lang="es-419" sz="1000"/>
              <a:t>(a) Imagen de rayos X dental digital. (b) Máscara ROI para aislar dientes con empastes (el blanco corresponde a 1 y el negro corresponde a 0). (c) Producto de (a) y (b).</a:t>
            </a:r>
            <a:endParaRPr sz="1000"/>
          </a:p>
        </p:txBody>
      </p:sp>
      <p:pic>
        <p:nvPicPr>
          <p:cNvPr id="758" name="Google Shape;758;p79"/>
          <p:cNvPicPr preferRelativeResize="0"/>
          <p:nvPr/>
        </p:nvPicPr>
        <p:blipFill>
          <a:blip r:embed="rId3">
            <a:alphaModFix/>
          </a:blip>
          <a:stretch>
            <a:fillRect/>
          </a:stretch>
        </p:blipFill>
        <p:spPr>
          <a:xfrm>
            <a:off x="1141112" y="1447250"/>
            <a:ext cx="6861775" cy="18095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8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Operaciones lógicas y de conjuntos</a:t>
            </a:r>
            <a:endParaRPr sz="2400">
              <a:solidFill>
                <a:schemeClr val="dk1"/>
              </a:solidFill>
            </a:endParaRPr>
          </a:p>
        </p:txBody>
      </p:sp>
      <p:sp>
        <p:nvSpPr>
          <p:cNvPr id="764" name="Google Shape;764;p8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765" name="Google Shape;765;p80"/>
          <p:cNvPicPr preferRelativeResize="0"/>
          <p:nvPr/>
        </p:nvPicPr>
        <p:blipFill>
          <a:blip r:embed="rId3">
            <a:alphaModFix/>
          </a:blip>
          <a:stretch>
            <a:fillRect/>
          </a:stretch>
        </p:blipFill>
        <p:spPr>
          <a:xfrm>
            <a:off x="2228737" y="1876575"/>
            <a:ext cx="4686525" cy="257252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8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771" name="Google Shape;771;p81"/>
          <p:cNvSpPr txBox="1"/>
          <p:nvPr>
            <p:ph idx="1" type="body"/>
          </p:nvPr>
        </p:nvSpPr>
        <p:spPr>
          <a:xfrm>
            <a:off x="1303800" y="4138975"/>
            <a:ext cx="6931500" cy="7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Operaciones de conjuntos que involucran imágenes en escala de grises. </a:t>
            </a:r>
            <a:r>
              <a:rPr lang="es-419" sz="1000"/>
              <a:t>(a) Imagen original. ( b ) Negativo de imagen obtenido mediante complementación de conjuntos en escala de grises. (c) La unión de la imagen (a) y una imagen constante.</a:t>
            </a:r>
            <a:endParaRPr sz="1000"/>
          </a:p>
        </p:txBody>
      </p:sp>
      <p:pic>
        <p:nvPicPr>
          <p:cNvPr id="772" name="Google Shape;772;p81"/>
          <p:cNvPicPr preferRelativeResize="0"/>
          <p:nvPr/>
        </p:nvPicPr>
        <p:blipFill>
          <a:blip r:embed="rId3">
            <a:alphaModFix/>
          </a:blip>
          <a:stretch>
            <a:fillRect/>
          </a:stretch>
        </p:blipFill>
        <p:spPr>
          <a:xfrm>
            <a:off x="2726276" y="990375"/>
            <a:ext cx="3691451" cy="239822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8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778" name="Google Shape;778;p82"/>
          <p:cNvSpPr txBox="1"/>
          <p:nvPr>
            <p:ph idx="1" type="body"/>
          </p:nvPr>
        </p:nvSpPr>
        <p:spPr>
          <a:xfrm>
            <a:off x="1303800" y="4138975"/>
            <a:ext cx="6931500" cy="7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000"/>
              <a:t>Ilustración de operaciones lógicas que involucran píxeles de primer plano (blancos). </a:t>
            </a:r>
            <a:r>
              <a:rPr lang="es-419" sz="1000"/>
              <a:t>El negro representa los 0 binarios y los 1 binarios blancos. Las líneas discontinuas se muestran solo como referencia. No son parte del resultado.</a:t>
            </a:r>
            <a:endParaRPr sz="1000"/>
          </a:p>
        </p:txBody>
      </p:sp>
      <p:pic>
        <p:nvPicPr>
          <p:cNvPr id="779" name="Google Shape;779;p82"/>
          <p:cNvPicPr preferRelativeResize="0"/>
          <p:nvPr/>
        </p:nvPicPr>
        <p:blipFill>
          <a:blip r:embed="rId3">
            <a:alphaModFix/>
          </a:blip>
          <a:stretch>
            <a:fillRect/>
          </a:stretch>
        </p:blipFill>
        <p:spPr>
          <a:xfrm>
            <a:off x="3312476" y="597975"/>
            <a:ext cx="2519051" cy="32865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8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Transformaciones geométricas</a:t>
            </a:r>
            <a:endParaRPr sz="2400">
              <a:solidFill>
                <a:schemeClr val="dk1"/>
              </a:solidFill>
            </a:endParaRPr>
          </a:p>
        </p:txBody>
      </p:sp>
      <p:sp>
        <p:nvSpPr>
          <p:cNvPr id="785" name="Google Shape;785;p8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786" name="Google Shape;786;p83"/>
          <p:cNvPicPr preferRelativeResize="0"/>
          <p:nvPr/>
        </p:nvPicPr>
        <p:blipFill>
          <a:blip r:embed="rId3">
            <a:alphaModFix/>
          </a:blip>
          <a:stretch>
            <a:fillRect/>
          </a:stretch>
        </p:blipFill>
        <p:spPr>
          <a:xfrm>
            <a:off x="2886500" y="1701675"/>
            <a:ext cx="3371004" cy="3240823"/>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84"/>
          <p:cNvSpPr txBox="1"/>
          <p:nvPr>
            <p:ph type="title"/>
          </p:nvPr>
        </p:nvSpPr>
        <p:spPr>
          <a:xfrm>
            <a:off x="1303800" y="598575"/>
            <a:ext cx="74811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Rotación de imagen e interpolación de intensidad</a:t>
            </a:r>
            <a:endParaRPr sz="2400">
              <a:solidFill>
                <a:schemeClr val="dk1"/>
              </a:solidFill>
            </a:endParaRPr>
          </a:p>
        </p:txBody>
      </p:sp>
      <p:sp>
        <p:nvSpPr>
          <p:cNvPr id="792" name="Google Shape;792;p8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793" name="Google Shape;793;p84"/>
          <p:cNvPicPr preferRelativeResize="0"/>
          <p:nvPr/>
        </p:nvPicPr>
        <p:blipFill>
          <a:blip r:embed="rId3">
            <a:alphaModFix/>
          </a:blip>
          <a:stretch>
            <a:fillRect/>
          </a:stretch>
        </p:blipFill>
        <p:spPr>
          <a:xfrm>
            <a:off x="2060563" y="1657900"/>
            <a:ext cx="5022864" cy="32408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8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Image</a:t>
            </a:r>
            <a:r>
              <a:rPr lang="es-419"/>
              <a:t> Processing Libraries in Python</a:t>
            </a:r>
            <a:endParaRPr/>
          </a:p>
        </p:txBody>
      </p:sp>
      <p:sp>
        <p:nvSpPr>
          <p:cNvPr id="799" name="Google Shape;799;p8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800" name="Google Shape;800;p8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OpenCV</a:t>
            </a:r>
            <a:endParaRPr/>
          </a:p>
          <a:p>
            <a:pPr indent="-317500" lvl="0" marL="457200" rtl="0" algn="l">
              <a:spcBef>
                <a:spcPts val="0"/>
              </a:spcBef>
              <a:spcAft>
                <a:spcPts val="0"/>
              </a:spcAft>
              <a:buSzPts val="1400"/>
              <a:buChar char="●"/>
            </a:pPr>
            <a:r>
              <a:rPr lang="es-419"/>
              <a:t>Scikit-Image</a:t>
            </a:r>
            <a:endParaRPr/>
          </a:p>
          <a:p>
            <a:pPr indent="-317500" lvl="0" marL="457200" rtl="0" algn="l">
              <a:spcBef>
                <a:spcPts val="0"/>
              </a:spcBef>
              <a:spcAft>
                <a:spcPts val="0"/>
              </a:spcAft>
              <a:buSzPts val="1400"/>
              <a:buChar char="●"/>
            </a:pPr>
            <a:r>
              <a:rPr lang="es-419"/>
              <a:t>SciPy</a:t>
            </a:r>
            <a:endParaRPr/>
          </a:p>
          <a:p>
            <a:pPr indent="-317500" lvl="0" marL="457200" rtl="0" algn="l">
              <a:spcBef>
                <a:spcPts val="0"/>
              </a:spcBef>
              <a:spcAft>
                <a:spcPts val="0"/>
              </a:spcAft>
              <a:buSzPts val="1400"/>
              <a:buChar char="●"/>
            </a:pPr>
            <a:r>
              <a:rPr lang="es-419"/>
              <a:t>Pillow/PIL</a:t>
            </a:r>
            <a:endParaRPr/>
          </a:p>
          <a:p>
            <a:pPr indent="-317500" lvl="0" marL="457200" rtl="0" algn="l">
              <a:spcBef>
                <a:spcPts val="0"/>
              </a:spcBef>
              <a:spcAft>
                <a:spcPts val="0"/>
              </a:spcAft>
              <a:buSzPts val="1400"/>
              <a:buChar char="●"/>
            </a:pPr>
            <a:r>
              <a:rPr lang="es-419"/>
              <a:t>NumPy</a:t>
            </a:r>
            <a:endParaRPr/>
          </a:p>
          <a:p>
            <a:pPr indent="-317500" lvl="0" marL="457200" rtl="0" algn="l">
              <a:spcBef>
                <a:spcPts val="0"/>
              </a:spcBef>
              <a:spcAft>
                <a:spcPts val="0"/>
              </a:spcAft>
              <a:buSzPts val="1400"/>
              <a:buChar char="●"/>
            </a:pPr>
            <a:r>
              <a:rPr lang="es-419"/>
              <a:t>Mahotas</a:t>
            </a:r>
            <a:endParaRPr/>
          </a:p>
          <a:p>
            <a:pPr indent="-317500" lvl="0" marL="457200" rtl="0" algn="l">
              <a:spcBef>
                <a:spcPts val="0"/>
              </a:spcBef>
              <a:spcAft>
                <a:spcPts val="0"/>
              </a:spcAft>
              <a:buSzPts val="1400"/>
              <a:buChar char="●"/>
            </a:pPr>
            <a:r>
              <a:rPr lang="es-419"/>
              <a:t>SimpleITK</a:t>
            </a:r>
            <a:endParaRPr/>
          </a:p>
          <a:p>
            <a:pPr indent="-317500" lvl="0" marL="457200" rtl="0" algn="l">
              <a:spcBef>
                <a:spcPts val="0"/>
              </a:spcBef>
              <a:spcAft>
                <a:spcPts val="0"/>
              </a:spcAft>
              <a:buSzPts val="1400"/>
              <a:buChar char="●"/>
            </a:pPr>
            <a:r>
              <a:rPr lang="es-419"/>
              <a:t>Pgmagick</a:t>
            </a:r>
            <a:endParaRPr/>
          </a:p>
        </p:txBody>
      </p:sp>
      <p:sp>
        <p:nvSpPr>
          <p:cNvPr id="801" name="Google Shape;801;p85"/>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https://neptune.ai/blog/image-processing-python-libraries-for-machine-learning</a:t>
            </a:r>
            <a:endParaRPr sz="800">
              <a:solidFill>
                <a:srgbClr val="94B6BD"/>
              </a:solidFill>
            </a:endParaRPr>
          </a:p>
        </p:txBody>
      </p:sp>
      <p:pic>
        <p:nvPicPr>
          <p:cNvPr id="802" name="Google Shape;802;p85"/>
          <p:cNvPicPr preferRelativeResize="0"/>
          <p:nvPr/>
        </p:nvPicPr>
        <p:blipFill>
          <a:blip r:embed="rId3">
            <a:alphaModFix/>
          </a:blip>
          <a:stretch>
            <a:fillRect/>
          </a:stretch>
        </p:blipFill>
        <p:spPr>
          <a:xfrm>
            <a:off x="5236300" y="1294170"/>
            <a:ext cx="1725250" cy="1075250"/>
          </a:xfrm>
          <a:prstGeom prst="rect">
            <a:avLst/>
          </a:prstGeom>
          <a:noFill/>
          <a:ln>
            <a:noFill/>
          </a:ln>
        </p:spPr>
      </p:pic>
      <p:pic>
        <p:nvPicPr>
          <p:cNvPr id="803" name="Google Shape;803;p85"/>
          <p:cNvPicPr preferRelativeResize="0"/>
          <p:nvPr/>
        </p:nvPicPr>
        <p:blipFill>
          <a:blip r:embed="rId4">
            <a:alphaModFix/>
          </a:blip>
          <a:stretch>
            <a:fillRect/>
          </a:stretch>
        </p:blipFill>
        <p:spPr>
          <a:xfrm>
            <a:off x="6727994" y="2444094"/>
            <a:ext cx="2119951" cy="519475"/>
          </a:xfrm>
          <a:prstGeom prst="rect">
            <a:avLst/>
          </a:prstGeom>
          <a:noFill/>
          <a:ln>
            <a:noFill/>
          </a:ln>
        </p:spPr>
      </p:pic>
      <p:pic>
        <p:nvPicPr>
          <p:cNvPr id="804" name="Google Shape;804;p85"/>
          <p:cNvPicPr preferRelativeResize="0"/>
          <p:nvPr/>
        </p:nvPicPr>
        <p:blipFill>
          <a:blip r:embed="rId5">
            <a:alphaModFix/>
          </a:blip>
          <a:stretch>
            <a:fillRect/>
          </a:stretch>
        </p:blipFill>
        <p:spPr>
          <a:xfrm>
            <a:off x="5085425" y="2850719"/>
            <a:ext cx="1477000" cy="738500"/>
          </a:xfrm>
          <a:prstGeom prst="rect">
            <a:avLst/>
          </a:prstGeom>
          <a:noFill/>
          <a:ln>
            <a:noFill/>
          </a:ln>
        </p:spPr>
      </p:pic>
      <p:pic>
        <p:nvPicPr>
          <p:cNvPr id="805" name="Google Shape;805;p85"/>
          <p:cNvPicPr preferRelativeResize="0"/>
          <p:nvPr/>
        </p:nvPicPr>
        <p:blipFill>
          <a:blip r:embed="rId6">
            <a:alphaModFix/>
          </a:blip>
          <a:stretch>
            <a:fillRect/>
          </a:stretch>
        </p:blipFill>
        <p:spPr>
          <a:xfrm>
            <a:off x="6172225" y="3768694"/>
            <a:ext cx="2343750" cy="473450"/>
          </a:xfrm>
          <a:prstGeom prst="rect">
            <a:avLst/>
          </a:prstGeom>
          <a:noFill/>
          <a:ln>
            <a:noFill/>
          </a:ln>
        </p:spPr>
      </p:pic>
      <p:pic>
        <p:nvPicPr>
          <p:cNvPr id="806" name="Google Shape;806;p85">
            <a:hlinkClick r:id="rId7"/>
          </p:cNvPr>
          <p:cNvPicPr preferRelativeResize="0"/>
          <p:nvPr/>
        </p:nvPicPr>
        <p:blipFill>
          <a:blip r:embed="rId8">
            <a:alphaModFix/>
          </a:blip>
          <a:stretch>
            <a:fillRect/>
          </a:stretch>
        </p:blipFill>
        <p:spPr>
          <a:xfrm>
            <a:off x="0" y="4242150"/>
            <a:ext cx="957684" cy="9013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8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812" name="Google Shape;812;p86"/>
          <p:cNvPicPr preferRelativeResize="0"/>
          <p:nvPr/>
        </p:nvPicPr>
        <p:blipFill>
          <a:blip r:embed="rId3">
            <a:alphaModFix/>
          </a:blip>
          <a:stretch>
            <a:fillRect/>
          </a:stretch>
        </p:blipFill>
        <p:spPr>
          <a:xfrm>
            <a:off x="1422637" y="1415575"/>
            <a:ext cx="6298726" cy="2312350"/>
          </a:xfrm>
          <a:prstGeom prst="rect">
            <a:avLst/>
          </a:prstGeom>
          <a:noFill/>
          <a:ln>
            <a:noFill/>
          </a:ln>
        </p:spPr>
      </p:pic>
      <p:sp>
        <p:nvSpPr>
          <p:cNvPr id="813" name="Google Shape;813;p86"/>
          <p:cNvSpPr/>
          <p:nvPr/>
        </p:nvSpPr>
        <p:spPr>
          <a:xfrm>
            <a:off x="5679875" y="1601350"/>
            <a:ext cx="1529400" cy="25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87"/>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t>¿Preguntas?</a:t>
            </a:r>
            <a:endParaRPr sz="6000"/>
          </a:p>
        </p:txBody>
      </p:sp>
      <p:sp>
        <p:nvSpPr>
          <p:cNvPr id="819" name="Google Shape;819;p87"/>
          <p:cNvSpPr txBox="1"/>
          <p:nvPr>
            <p:ph idx="1" type="body"/>
          </p:nvPr>
        </p:nvSpPr>
        <p:spPr>
          <a:xfrm>
            <a:off x="1388625" y="24837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419" sz="1600">
                <a:solidFill>
                  <a:schemeClr val="dk1"/>
                </a:solidFill>
              </a:rPr>
              <a:t>hussein@cicese.mx</a:t>
            </a:r>
            <a:endParaRPr b="1" sz="1600">
              <a:solidFill>
                <a:schemeClr val="dk1"/>
              </a:solidFill>
            </a:endParaRPr>
          </a:p>
          <a:p>
            <a:pPr indent="0" lvl="0" marL="0" rtl="0" algn="ctr">
              <a:spcBef>
                <a:spcPts val="1200"/>
              </a:spcBef>
              <a:spcAft>
                <a:spcPts val="1200"/>
              </a:spcAft>
              <a:buNone/>
            </a:pPr>
            <a:r>
              <a:t/>
            </a:r>
            <a:endParaRPr b="1" sz="1600">
              <a:solidFill>
                <a:schemeClr val="dk1"/>
              </a:solidFill>
            </a:endParaRPr>
          </a:p>
        </p:txBody>
      </p:sp>
      <p:sp>
        <p:nvSpPr>
          <p:cNvPr id="820" name="Google Shape;820;p8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821" name="Google Shape;821;p87"/>
          <p:cNvPicPr preferRelativeResize="0"/>
          <p:nvPr/>
        </p:nvPicPr>
        <p:blipFill>
          <a:blip r:embed="rId3">
            <a:alphaModFix/>
          </a:blip>
          <a:stretch>
            <a:fillRect/>
          </a:stretch>
        </p:blipFill>
        <p:spPr>
          <a:xfrm>
            <a:off x="7771986" y="3437649"/>
            <a:ext cx="1372013" cy="1705850"/>
          </a:xfrm>
          <a:prstGeom prst="rect">
            <a:avLst/>
          </a:prstGeom>
          <a:noFill/>
          <a:ln>
            <a:noFill/>
          </a:ln>
        </p:spPr>
      </p:pic>
      <p:pic>
        <p:nvPicPr>
          <p:cNvPr id="822" name="Google Shape;822;p87"/>
          <p:cNvPicPr preferRelativeResize="0"/>
          <p:nvPr/>
        </p:nvPicPr>
        <p:blipFill>
          <a:blip r:embed="rId4">
            <a:alphaModFix/>
          </a:blip>
          <a:stretch>
            <a:fillRect/>
          </a:stretch>
        </p:blipFill>
        <p:spPr>
          <a:xfrm>
            <a:off x="0" y="3437650"/>
            <a:ext cx="2273117" cy="170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mpulso CDSI">
  <a:themeElements>
    <a:clrScheme name="Momentum">
      <a:dk1>
        <a:srgbClr val="94B6BD"/>
      </a:dk1>
      <a:lt1>
        <a:srgbClr val="FFFFFF"/>
      </a:lt1>
      <a:dk2>
        <a:srgbClr val="073763"/>
      </a:dk2>
      <a:lt2>
        <a:srgbClr val="BBBBBB"/>
      </a:lt2>
      <a:accent1>
        <a:srgbClr val="3A4664"/>
      </a:accent1>
      <a:accent2>
        <a:srgbClr val="94B6BD"/>
      </a:accent2>
      <a:accent3>
        <a:srgbClr val="EEEEEE"/>
      </a:accent3>
      <a:accent4>
        <a:srgbClr val="BBBBBB"/>
      </a:accent4>
      <a:accent5>
        <a:srgbClr val="0B5394"/>
      </a:accent5>
      <a:accent6>
        <a:srgbClr val="D9D2E9"/>
      </a:accent6>
      <a:hlink>
        <a:srgbClr val="DD7E6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