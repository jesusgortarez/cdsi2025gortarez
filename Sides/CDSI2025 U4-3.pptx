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Thin"/>
      <p:regular r:id="rId42"/>
      <p:bold r:id="rId43"/>
      <p:italic r:id="rId44"/>
      <p:boldItalic r:id="rId45"/>
    </p:embeddedFont>
    <p:embeddedFont>
      <p:font typeface="Roboto Medium"/>
      <p:regular r:id="rId46"/>
      <p:bold r:id="rId47"/>
      <p:italic r:id="rId48"/>
      <p:boldItalic r:id="rId49"/>
    </p:embeddedFont>
    <p:embeddedFont>
      <p:font typeface="Roboto"/>
      <p:regular r:id="rId50"/>
      <p:bold r:id="rId51"/>
      <p:italic r:id="rId52"/>
      <p:boldItalic r:id="rId53"/>
    </p:embeddedFont>
    <p:embeddedFont>
      <p:font typeface="Nunito"/>
      <p:regular r:id="rId54"/>
      <p:bold r:id="rId55"/>
      <p:italic r:id="rId56"/>
      <p:boldItalic r:id="rId57"/>
    </p:embeddedFont>
    <p:embeddedFont>
      <p:font typeface="Maven Pro"/>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Thin-regular.fntdata"/><Relationship Id="rId41" Type="http://schemas.openxmlformats.org/officeDocument/2006/relationships/slide" Target="slides/slide36.xml"/><Relationship Id="rId44" Type="http://schemas.openxmlformats.org/officeDocument/2006/relationships/font" Target="fonts/RobotoThin-italic.fntdata"/><Relationship Id="rId43" Type="http://schemas.openxmlformats.org/officeDocument/2006/relationships/font" Target="fonts/RobotoThin-bold.fntdata"/><Relationship Id="rId46" Type="http://schemas.openxmlformats.org/officeDocument/2006/relationships/font" Target="fonts/RobotoMedium-regular.fntdata"/><Relationship Id="rId45" Type="http://schemas.openxmlformats.org/officeDocument/2006/relationships/font" Target="fonts/RobotoTh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Nunito-bold.fntdata"/><Relationship Id="rId10" Type="http://schemas.openxmlformats.org/officeDocument/2006/relationships/slide" Target="slides/slide5.xml"/><Relationship Id="rId54" Type="http://schemas.openxmlformats.org/officeDocument/2006/relationships/font" Target="fonts/Nunito-regular.fntdata"/><Relationship Id="rId13" Type="http://schemas.openxmlformats.org/officeDocument/2006/relationships/slide" Target="slides/slide8.xml"/><Relationship Id="rId57" Type="http://schemas.openxmlformats.org/officeDocument/2006/relationships/font" Target="fonts/Nunito-boldItalic.fntdata"/><Relationship Id="rId12" Type="http://schemas.openxmlformats.org/officeDocument/2006/relationships/slide" Target="slides/slide7.xml"/><Relationship Id="rId56" Type="http://schemas.openxmlformats.org/officeDocument/2006/relationships/font" Target="fonts/Nunito-italic.fntdata"/><Relationship Id="rId15" Type="http://schemas.openxmlformats.org/officeDocument/2006/relationships/slide" Target="slides/slide10.xml"/><Relationship Id="rId59" Type="http://schemas.openxmlformats.org/officeDocument/2006/relationships/font" Target="fonts/MavenPro-bold.fntdata"/><Relationship Id="rId14" Type="http://schemas.openxmlformats.org/officeDocument/2006/relationships/slide" Target="slides/slide9.xml"/><Relationship Id="rId58" Type="http://schemas.openxmlformats.org/officeDocument/2006/relationships/font" Target="fonts/MavenPr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44d91205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44d9120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44d91205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144d91205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44d91205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44d91205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44d9120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44d9120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144d91205e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144d91205e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44d91205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44d91205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44d91205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44d91205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144d91205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144d91205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La estacionalidad evidente descarta las series (d), (h) e (i). </a:t>
            </a:r>
            <a:endParaRPr/>
          </a:p>
          <a:p>
            <a:pPr indent="0" lvl="0" marL="0" rtl="0" algn="l">
              <a:spcBef>
                <a:spcPts val="0"/>
              </a:spcBef>
              <a:spcAft>
                <a:spcPts val="0"/>
              </a:spcAft>
              <a:buNone/>
            </a:pPr>
            <a:r>
              <a:rPr lang="es-419"/>
              <a:t>Las tendencias y los niveles cambiantes descartan las series (a), (c), (e), (f) e (i). </a:t>
            </a:r>
            <a:endParaRPr/>
          </a:p>
          <a:p>
            <a:pPr indent="0" lvl="0" marL="0" rtl="0" algn="l">
              <a:spcBef>
                <a:spcPts val="0"/>
              </a:spcBef>
              <a:spcAft>
                <a:spcPts val="0"/>
              </a:spcAft>
              <a:buNone/>
            </a:pPr>
            <a:r>
              <a:rPr lang="es-419"/>
              <a:t>El aumento de la varianza también descarta (i). </a:t>
            </a:r>
            <a:endParaRPr/>
          </a:p>
          <a:p>
            <a:pPr indent="0" lvl="0" marL="0" rtl="0" algn="l">
              <a:spcBef>
                <a:spcPts val="0"/>
              </a:spcBef>
              <a:spcAft>
                <a:spcPts val="0"/>
              </a:spcAft>
              <a:buNone/>
            </a:pPr>
            <a:r>
              <a:rPr lang="es-419"/>
              <a:t>Eso deja solo (b) y (g) como series estacionarias.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44d91205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44d91205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144d91205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144d91205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44d91205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44d91205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44d91205e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44d91205e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144d91205e_1_2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144d91205e_1_2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144d91205e_1_2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144d91205e_1_2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144d91205e_1_2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144d91205e_1_2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144d91205e_1_2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144d91205e_1_2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144d91205e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144d91205e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144d91205e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144d91205e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144d91205e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144d91205e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144d91205e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1144d91205e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144d91205e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144d91205e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144d91205e_1_2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144d91205e_1_2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144d91205e_1_2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144d91205e_1_2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144d91205e_1_2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144d91205e_1_2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144d91205e_1_2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144d91205e_1_2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44d91205e_1_2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44d91205e_1_2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144d91205e_1_2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144d91205e_1_2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144d91205e_1_2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144d91205e_1_2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44d91205e_1_2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44d91205e_1_2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12cb3e91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112cb3e91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6923b4de12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6923b4de12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https://www.kaggle.com/code/vidhuran07/speech-emotion-recognition-ipynb/notebook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6923b4de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6923b4de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Minijuego de mario party: seguir el ritmo, patr</a:t>
            </a:r>
            <a:r>
              <a:rPr lang="es-419"/>
              <a:t>ón de color (canció?), quien quiere ser millonario (ABCD), deporte (batear con fuerza), alcanzar un objetivo, dinosaurio de google que corre,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b74ee3fc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b74ee3fc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25.gif"/><Relationship Id="rId4" Type="http://schemas.openxmlformats.org/officeDocument/2006/relationships/image" Target="../media/image24.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27.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4</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inercial</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4</a:t>
            </a:r>
            <a:r>
              <a:rPr lang="es-419"/>
              <a:t>.4 Extracción de </a:t>
            </a:r>
            <a:r>
              <a:rPr i="1" lang="es-419"/>
              <a:t>features</a:t>
            </a:r>
            <a:r>
              <a:rPr lang="es-419"/>
              <a:t> de series temporales</a:t>
            </a:r>
            <a:endParaRPr/>
          </a:p>
        </p:txBody>
      </p:sp>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Time-series</a:t>
            </a:r>
            <a:endParaRPr/>
          </a:p>
        </p:txBody>
      </p:sp>
      <p:sp>
        <p:nvSpPr>
          <p:cNvPr id="300" name="Google Shape;300;p1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matemáticas, una </a:t>
            </a:r>
            <a:r>
              <a:rPr b="1" lang="es-419"/>
              <a:t>serie de tiempo</a:t>
            </a:r>
            <a:r>
              <a:rPr lang="es-419"/>
              <a:t> (</a:t>
            </a:r>
            <a:r>
              <a:rPr i="1" lang="es-419"/>
              <a:t>time-series</a:t>
            </a:r>
            <a:r>
              <a:rPr lang="es-419"/>
              <a:t>) es una serie de puntos de datos indexados (enumerados o graficados) con un orden temporal. </a:t>
            </a:r>
            <a:endParaRPr/>
          </a:p>
          <a:p>
            <a:pPr indent="0" lvl="0" marL="0" rtl="0" algn="l">
              <a:spcBef>
                <a:spcPts val="1200"/>
              </a:spcBef>
              <a:spcAft>
                <a:spcPts val="0"/>
              </a:spcAft>
              <a:buNone/>
            </a:pPr>
            <a:r>
              <a:rPr lang="es-419"/>
              <a:t>Más comúnmente, es una secuencia tomada en puntos sucesivos igualmente espaciados en el tiempo. Por lo tanto, es una secuencia de datos en </a:t>
            </a:r>
            <a:r>
              <a:rPr b="1" lang="es-419"/>
              <a:t>tiempo discreto</a:t>
            </a:r>
            <a:r>
              <a:rPr lang="es-419"/>
              <a:t>. </a:t>
            </a:r>
            <a:endParaRPr/>
          </a:p>
          <a:p>
            <a:pPr indent="0" lvl="0" marL="0" rtl="0" algn="l">
              <a:spcBef>
                <a:spcPts val="1200"/>
              </a:spcBef>
              <a:spcAft>
                <a:spcPts val="1200"/>
              </a:spcAft>
              <a:buNone/>
            </a:pPr>
            <a:r>
              <a:rPr lang="es-419"/>
              <a:t>Se utilizan en estadística, procesamiento de señales, reconocimiento de patrones, economía, pronóstico del tiempo, predicción de terremotos, señales fisiológicas, astronomía, y en cualquier dominio de la ciencia aplicada y la ingeniería que </a:t>
            </a:r>
            <a:r>
              <a:rPr lang="es-419"/>
              <a:t>involucren</a:t>
            </a:r>
            <a:r>
              <a:rPr lang="es-419"/>
              <a:t> </a:t>
            </a:r>
            <a:r>
              <a:rPr b="1" lang="es-419">
                <a:solidFill>
                  <a:schemeClr val="accent5"/>
                </a:solidFill>
              </a:rPr>
              <a:t>mediciones temporales</a:t>
            </a:r>
            <a:r>
              <a:rPr lang="es-419"/>
              <a:t>.</a:t>
            </a:r>
            <a:endParaRPr/>
          </a:p>
        </p:txBody>
      </p:sp>
      <p:sp>
        <p:nvSpPr>
          <p:cNvPr id="301" name="Google Shape;301;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Enfoque de ventana deslizante para modelar series de tiempo</a:t>
            </a:r>
            <a:endParaRPr/>
          </a:p>
        </p:txBody>
      </p:sp>
      <p:sp>
        <p:nvSpPr>
          <p:cNvPr id="307" name="Google Shape;307;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08" name="Google Shape;308;p17"/>
          <p:cNvPicPr preferRelativeResize="0"/>
          <p:nvPr/>
        </p:nvPicPr>
        <p:blipFill>
          <a:blip r:embed="rId3">
            <a:alphaModFix/>
          </a:blip>
          <a:stretch>
            <a:fillRect/>
          </a:stretch>
        </p:blipFill>
        <p:spPr>
          <a:xfrm>
            <a:off x="2251124" y="1626280"/>
            <a:ext cx="4581574" cy="1890950"/>
          </a:xfrm>
          <a:prstGeom prst="rect">
            <a:avLst/>
          </a:prstGeom>
          <a:noFill/>
          <a:ln>
            <a:noFill/>
          </a:ln>
        </p:spPr>
      </p:pic>
      <p:sp>
        <p:nvSpPr>
          <p:cNvPr id="309" name="Google Shape;309;p17"/>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Laptev, N., Yosinski, J., Li, L. E., &amp; Smyl, S. (2017, August). Time-series extreme event forecasting with neural networks at uber. </a:t>
            </a:r>
            <a:br>
              <a:rPr lang="es-419" sz="800">
                <a:solidFill>
                  <a:srgbClr val="94B6BD"/>
                </a:solidFill>
              </a:rPr>
            </a:br>
            <a:r>
              <a:rPr lang="es-419" sz="800">
                <a:solidFill>
                  <a:srgbClr val="94B6BD"/>
                </a:solidFill>
              </a:rPr>
              <a:t>In International conference on machine learning (Vol. 34, pp. 1-5)</a:t>
            </a:r>
            <a:endParaRPr sz="800">
              <a:solidFill>
                <a:srgbClr val="94B6B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Time-series analysis</a:t>
            </a:r>
            <a:endParaRPr sz="2400">
              <a:solidFill>
                <a:schemeClr val="accent2"/>
              </a:solidFill>
            </a:endParaRPr>
          </a:p>
        </p:txBody>
      </p:sp>
      <p:sp>
        <p:nvSpPr>
          <p:cNvPr id="315" name="Google Shape;315;p18"/>
          <p:cNvSpPr txBox="1"/>
          <p:nvPr>
            <p:ph idx="1" type="body"/>
          </p:nvPr>
        </p:nvSpPr>
        <p:spPr>
          <a:xfrm>
            <a:off x="1303800" y="1761450"/>
            <a:ext cx="3996600" cy="27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t>El </a:t>
            </a:r>
            <a:r>
              <a:rPr b="1" lang="es-419" sz="1400"/>
              <a:t>análisis</a:t>
            </a:r>
            <a:r>
              <a:rPr b="1" lang="es-419" sz="1400"/>
              <a:t> de series de tiempo</a:t>
            </a:r>
            <a:r>
              <a:rPr lang="es-419" sz="1400"/>
              <a:t> c</a:t>
            </a:r>
            <a:r>
              <a:rPr lang="es-419" sz="1400"/>
              <a:t>omprende métodos para analizar datos de series temporales con el fin de extraer </a:t>
            </a:r>
            <a:r>
              <a:rPr b="1" lang="es-419" sz="1400">
                <a:solidFill>
                  <a:schemeClr val="accent5"/>
                </a:solidFill>
              </a:rPr>
              <a:t>estadísticas significativas</a:t>
            </a:r>
            <a:r>
              <a:rPr lang="es-419" sz="1400"/>
              <a:t> y otras características de los datos. </a:t>
            </a:r>
            <a:endParaRPr sz="1400"/>
          </a:p>
          <a:p>
            <a:pPr indent="0" lvl="0" marL="0" rtl="0" algn="l">
              <a:spcBef>
                <a:spcPts val="1200"/>
              </a:spcBef>
              <a:spcAft>
                <a:spcPts val="1200"/>
              </a:spcAft>
              <a:buNone/>
            </a:pPr>
            <a:r>
              <a:rPr lang="es-419" sz="1400"/>
              <a:t>El </a:t>
            </a:r>
            <a:r>
              <a:rPr b="1" lang="es-419" sz="1400"/>
              <a:t>pronóstico</a:t>
            </a:r>
            <a:r>
              <a:rPr lang="es-419" sz="1400"/>
              <a:t> (</a:t>
            </a:r>
            <a:r>
              <a:rPr i="1" lang="es-419" sz="1400"/>
              <a:t>forecasting</a:t>
            </a:r>
            <a:r>
              <a:rPr lang="es-419" sz="1400"/>
              <a:t>) </a:t>
            </a:r>
            <a:r>
              <a:rPr b="1" lang="es-419" sz="1400"/>
              <a:t>de series de tiempo</a:t>
            </a:r>
            <a:r>
              <a:rPr lang="es-419" sz="1400"/>
              <a:t> es el uso de un modelo para predecir valores futuros basados en valores observados previamente. </a:t>
            </a:r>
            <a:endParaRPr sz="1400"/>
          </a:p>
        </p:txBody>
      </p:sp>
      <p:sp>
        <p:nvSpPr>
          <p:cNvPr id="316" name="Google Shape;316;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7" name="Google Shape;317;p18"/>
          <p:cNvPicPr preferRelativeResize="0"/>
          <p:nvPr/>
        </p:nvPicPr>
        <p:blipFill>
          <a:blip r:embed="rId3">
            <a:alphaModFix/>
          </a:blip>
          <a:stretch>
            <a:fillRect/>
          </a:stretch>
        </p:blipFill>
        <p:spPr>
          <a:xfrm>
            <a:off x="5629800" y="2182300"/>
            <a:ext cx="2821250" cy="17811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a:solidFill>
                  <a:schemeClr val="accent2"/>
                </a:solidFill>
              </a:rPr>
              <a:t>Time-series analysis</a:t>
            </a:r>
            <a:endParaRPr>
              <a:solidFill>
                <a:schemeClr val="accent2"/>
              </a:solidFill>
            </a:endParaRPr>
          </a:p>
        </p:txBody>
      </p:sp>
      <p:sp>
        <p:nvSpPr>
          <p:cNvPr id="323" name="Google Shape;323;p1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Si bien el </a:t>
            </a:r>
            <a:r>
              <a:rPr b="1" lang="es-419"/>
              <a:t>análisis de regresión</a:t>
            </a:r>
            <a:r>
              <a:rPr lang="es-419"/>
              <a:t> se emplea a menudo para probar las relaciones entre una o más series de tiempo diferentes, este tipo de análisis no suele denominarse "análisis de series de tiempo", que se refiere en particular a las relaciones entre diferentes puntos en el tiempo dentro de una sola serie. </a:t>
            </a:r>
            <a:endParaRPr/>
          </a:p>
          <a:p>
            <a:pPr indent="0" lvl="0" marL="0" rtl="0" algn="l">
              <a:spcBef>
                <a:spcPts val="1200"/>
              </a:spcBef>
              <a:spcAft>
                <a:spcPts val="1200"/>
              </a:spcAft>
              <a:buNone/>
            </a:pPr>
            <a:r>
              <a:rPr lang="es-419"/>
              <a:t>El </a:t>
            </a:r>
            <a:r>
              <a:rPr b="1" lang="es-419"/>
              <a:t>análisis de series temporales interrumpidas</a:t>
            </a:r>
            <a:r>
              <a:rPr lang="es-419"/>
              <a:t> se utiliza para detectar cambios en la evolución de una serie temporal desde antes hasta después de alguna intervención que pueda afectar a la variable subyacente.</a:t>
            </a:r>
            <a:endParaRPr/>
          </a:p>
        </p:txBody>
      </p:sp>
      <p:sp>
        <p:nvSpPr>
          <p:cNvPr id="324" name="Google Shape;324;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Time-series analysis</a:t>
            </a:r>
            <a:endParaRPr/>
          </a:p>
        </p:txBody>
      </p:sp>
      <p:sp>
        <p:nvSpPr>
          <p:cNvPr id="330" name="Google Shape;330;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grpSp>
        <p:nvGrpSpPr>
          <p:cNvPr id="331" name="Google Shape;331;p20"/>
          <p:cNvGrpSpPr/>
          <p:nvPr/>
        </p:nvGrpSpPr>
        <p:grpSpPr>
          <a:xfrm>
            <a:off x="1994672" y="3129097"/>
            <a:ext cx="5648756" cy="364350"/>
            <a:chOff x="1593000" y="2322568"/>
            <a:chExt cx="5957975" cy="643500"/>
          </a:xfrm>
        </p:grpSpPr>
        <p:sp>
          <p:nvSpPr>
            <p:cNvPr id="332" name="Google Shape;332;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Clasificación</a:t>
              </a:r>
              <a:endParaRPr sz="1000">
                <a:solidFill>
                  <a:srgbClr val="FFFFFF"/>
                </a:solidFill>
                <a:latin typeface="Roboto"/>
                <a:ea typeface="Roboto"/>
                <a:cs typeface="Roboto"/>
                <a:sym typeface="Roboto"/>
              </a:endParaRPr>
            </a:p>
          </p:txBody>
        </p:sp>
        <p:sp>
          <p:nvSpPr>
            <p:cNvPr id="336" name="Google Shape;336;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338" name="Google Shape;338;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e.g. sign classification</a:t>
              </a:r>
              <a:endParaRPr sz="800">
                <a:solidFill>
                  <a:srgbClr val="0B7140"/>
                </a:solidFill>
                <a:latin typeface="Roboto"/>
                <a:ea typeface="Roboto"/>
                <a:cs typeface="Roboto"/>
                <a:sym typeface="Roboto"/>
              </a:endParaRPr>
            </a:p>
          </p:txBody>
        </p:sp>
      </p:grpSp>
      <p:grpSp>
        <p:nvGrpSpPr>
          <p:cNvPr id="339" name="Google Shape;339;p20"/>
          <p:cNvGrpSpPr/>
          <p:nvPr/>
        </p:nvGrpSpPr>
        <p:grpSpPr>
          <a:xfrm>
            <a:off x="1994672" y="2758295"/>
            <a:ext cx="5648756" cy="364350"/>
            <a:chOff x="1593000" y="2322568"/>
            <a:chExt cx="5957975" cy="643500"/>
          </a:xfrm>
        </p:grpSpPr>
        <p:sp>
          <p:nvSpPr>
            <p:cNvPr id="340" name="Google Shape;340;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Predicción y pronóstico</a:t>
              </a:r>
              <a:endParaRPr sz="1000">
                <a:solidFill>
                  <a:srgbClr val="FFFFFF"/>
                </a:solidFill>
                <a:latin typeface="Roboto"/>
                <a:ea typeface="Roboto"/>
                <a:cs typeface="Roboto"/>
                <a:sym typeface="Roboto"/>
              </a:endParaRPr>
            </a:p>
          </p:txBody>
        </p:sp>
        <p:sp>
          <p:nvSpPr>
            <p:cNvPr id="344" name="Google Shape;344;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346" name="Google Shape;346;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e.g. weather forecasting</a:t>
              </a:r>
              <a:endParaRPr sz="800">
                <a:solidFill>
                  <a:srgbClr val="0B7140"/>
                </a:solidFill>
                <a:latin typeface="Roboto"/>
                <a:ea typeface="Roboto"/>
                <a:cs typeface="Roboto"/>
                <a:sym typeface="Roboto"/>
              </a:endParaRPr>
            </a:p>
          </p:txBody>
        </p:sp>
      </p:grpSp>
      <p:grpSp>
        <p:nvGrpSpPr>
          <p:cNvPr id="347" name="Google Shape;347;p20"/>
          <p:cNvGrpSpPr/>
          <p:nvPr/>
        </p:nvGrpSpPr>
        <p:grpSpPr>
          <a:xfrm>
            <a:off x="1994672" y="2387478"/>
            <a:ext cx="5648756" cy="364350"/>
            <a:chOff x="1593000" y="2322568"/>
            <a:chExt cx="5957975" cy="643500"/>
          </a:xfrm>
        </p:grpSpPr>
        <p:sp>
          <p:nvSpPr>
            <p:cNvPr id="348" name="Google Shape;348;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Aproximación de función</a:t>
              </a:r>
              <a:endParaRPr sz="1000">
                <a:solidFill>
                  <a:srgbClr val="FFFFFF"/>
                </a:solidFill>
                <a:latin typeface="Roboto"/>
                <a:ea typeface="Roboto"/>
                <a:cs typeface="Roboto"/>
                <a:sym typeface="Roboto"/>
              </a:endParaRPr>
            </a:p>
          </p:txBody>
        </p:sp>
        <p:sp>
          <p:nvSpPr>
            <p:cNvPr id="352" name="Google Shape;352;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354" name="Google Shape;354;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Polynomial or rational functions</a:t>
              </a:r>
              <a:endParaRPr sz="800">
                <a:solidFill>
                  <a:srgbClr val="0B7140"/>
                </a:solidFill>
                <a:latin typeface="Roboto"/>
                <a:ea typeface="Roboto"/>
                <a:cs typeface="Roboto"/>
                <a:sym typeface="Roboto"/>
              </a:endParaRPr>
            </a:p>
          </p:txBody>
        </p:sp>
      </p:grpSp>
      <p:grpSp>
        <p:nvGrpSpPr>
          <p:cNvPr id="355" name="Google Shape;355;p20"/>
          <p:cNvGrpSpPr/>
          <p:nvPr/>
        </p:nvGrpSpPr>
        <p:grpSpPr>
          <a:xfrm>
            <a:off x="1994672" y="2016681"/>
            <a:ext cx="5648756" cy="364350"/>
            <a:chOff x="1593000" y="2322568"/>
            <a:chExt cx="5957975" cy="643500"/>
          </a:xfrm>
        </p:grpSpPr>
        <p:sp>
          <p:nvSpPr>
            <p:cNvPr id="356" name="Google Shape;356;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s-419" sz="1000">
                  <a:solidFill>
                    <a:srgbClr val="FFFFFF"/>
                  </a:solidFill>
                  <a:latin typeface="Roboto Medium"/>
                  <a:ea typeface="Roboto Medium"/>
                  <a:cs typeface="Roboto Medium"/>
                  <a:sym typeface="Roboto Medium"/>
                </a:rPr>
                <a:t>Curve fitting</a:t>
              </a:r>
              <a:endParaRPr i="1" sz="1000">
                <a:solidFill>
                  <a:srgbClr val="FFFFFF"/>
                </a:solidFill>
                <a:latin typeface="Roboto"/>
                <a:ea typeface="Roboto"/>
                <a:cs typeface="Roboto"/>
                <a:sym typeface="Roboto"/>
              </a:endParaRPr>
            </a:p>
          </p:txBody>
        </p:sp>
        <p:sp>
          <p:nvSpPr>
            <p:cNvPr id="360" name="Google Shape;360;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362" name="Google Shape;362;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00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Extrapolation</a:t>
              </a:r>
              <a:endParaRPr sz="800">
                <a:solidFill>
                  <a:srgbClr val="0B7140"/>
                </a:solidFill>
                <a:latin typeface="Roboto"/>
                <a:ea typeface="Roboto"/>
                <a:cs typeface="Roboto"/>
                <a:sym typeface="Roboto"/>
              </a:endParaRPr>
            </a:p>
            <a:p>
              <a:pPr indent="-279400" lvl="0" marL="457200" rtl="0" algn="l">
                <a:lnSpc>
                  <a:spcPct val="100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Interpolation</a:t>
              </a:r>
              <a:endParaRPr sz="800">
                <a:solidFill>
                  <a:srgbClr val="0B7140"/>
                </a:solidFill>
                <a:latin typeface="Roboto"/>
                <a:ea typeface="Roboto"/>
                <a:cs typeface="Roboto"/>
                <a:sym typeface="Roboto"/>
              </a:endParaRPr>
            </a:p>
          </p:txBody>
        </p:sp>
      </p:grpSp>
      <p:grpSp>
        <p:nvGrpSpPr>
          <p:cNvPr id="363" name="Google Shape;363;p20"/>
          <p:cNvGrpSpPr/>
          <p:nvPr/>
        </p:nvGrpSpPr>
        <p:grpSpPr>
          <a:xfrm>
            <a:off x="1994672" y="1645875"/>
            <a:ext cx="5648756" cy="364350"/>
            <a:chOff x="1593000" y="2322568"/>
            <a:chExt cx="5957975" cy="643500"/>
          </a:xfrm>
        </p:grpSpPr>
        <p:sp>
          <p:nvSpPr>
            <p:cNvPr id="364" name="Google Shape;364;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Análisis exploratorio</a:t>
              </a:r>
              <a:endParaRPr sz="1000">
                <a:solidFill>
                  <a:srgbClr val="FFFFFF"/>
                </a:solidFill>
                <a:latin typeface="Roboto"/>
                <a:ea typeface="Roboto"/>
                <a:cs typeface="Roboto"/>
                <a:sym typeface="Roboto"/>
              </a:endParaRPr>
            </a:p>
          </p:txBody>
        </p:sp>
        <p:sp>
          <p:nvSpPr>
            <p:cNvPr id="368" name="Google Shape;368;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370" name="Google Shape;370;p20"/>
            <p:cNvSpPr/>
            <p:nvPr/>
          </p:nvSpPr>
          <p:spPr>
            <a:xfrm>
              <a:off x="4342971" y="2323706"/>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00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Autocorrelation</a:t>
              </a:r>
              <a:endParaRPr sz="800">
                <a:solidFill>
                  <a:srgbClr val="0B7140"/>
                </a:solidFill>
                <a:latin typeface="Roboto"/>
                <a:ea typeface="Roboto"/>
                <a:cs typeface="Roboto"/>
                <a:sym typeface="Roboto"/>
              </a:endParaRPr>
            </a:p>
            <a:p>
              <a:pPr indent="-279400" lvl="0" marL="457200" rtl="0" algn="l">
                <a:lnSpc>
                  <a:spcPct val="100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Spectral analysis</a:t>
              </a:r>
              <a:endParaRPr sz="800">
                <a:solidFill>
                  <a:srgbClr val="0B7140"/>
                </a:solidFill>
                <a:latin typeface="Roboto"/>
                <a:ea typeface="Roboto"/>
                <a:cs typeface="Roboto"/>
                <a:sym typeface="Roboto"/>
              </a:endParaRPr>
            </a:p>
          </p:txBody>
        </p:sp>
      </p:grpSp>
      <p:grpSp>
        <p:nvGrpSpPr>
          <p:cNvPr id="371" name="Google Shape;371;p20"/>
          <p:cNvGrpSpPr/>
          <p:nvPr/>
        </p:nvGrpSpPr>
        <p:grpSpPr>
          <a:xfrm>
            <a:off x="1994672" y="3869386"/>
            <a:ext cx="5648756" cy="363964"/>
            <a:chOff x="1593000" y="2322568"/>
            <a:chExt cx="5957975" cy="643500"/>
          </a:xfrm>
        </p:grpSpPr>
        <p:sp>
          <p:nvSpPr>
            <p:cNvPr id="372" name="Google Shape;372;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Segmentación</a:t>
              </a:r>
              <a:endParaRPr sz="1000">
                <a:solidFill>
                  <a:srgbClr val="FFFFFF"/>
                </a:solidFill>
                <a:latin typeface="Roboto"/>
                <a:ea typeface="Roboto"/>
                <a:cs typeface="Roboto"/>
                <a:sym typeface="Roboto"/>
              </a:endParaRPr>
            </a:p>
          </p:txBody>
        </p:sp>
        <p:sp>
          <p:nvSpPr>
            <p:cNvPr id="376" name="Google Shape;376;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378" name="Google Shape;378;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Etiquetado (</a:t>
              </a:r>
              <a:r>
                <a:rPr i="1" lang="es-419" sz="800">
                  <a:solidFill>
                    <a:srgbClr val="0B7140"/>
                  </a:solidFill>
                  <a:latin typeface="Roboto"/>
                  <a:ea typeface="Roboto"/>
                  <a:cs typeface="Roboto"/>
                  <a:sym typeface="Roboto"/>
                </a:rPr>
                <a:t>labeling</a:t>
              </a:r>
              <a:r>
                <a:rPr lang="es-419" sz="800">
                  <a:solidFill>
                    <a:srgbClr val="0B7140"/>
                  </a:solidFill>
                  <a:latin typeface="Roboto"/>
                  <a:ea typeface="Roboto"/>
                  <a:cs typeface="Roboto"/>
                  <a:sym typeface="Roboto"/>
                </a:rPr>
                <a:t>)</a:t>
              </a:r>
              <a:endParaRPr sz="800">
                <a:solidFill>
                  <a:srgbClr val="0B7140"/>
                </a:solidFill>
                <a:latin typeface="Roboto"/>
                <a:ea typeface="Roboto"/>
                <a:cs typeface="Roboto"/>
                <a:sym typeface="Roboto"/>
              </a:endParaRPr>
            </a:p>
          </p:txBody>
        </p:sp>
      </p:grpSp>
      <p:grpSp>
        <p:nvGrpSpPr>
          <p:cNvPr id="379" name="Google Shape;379;p20"/>
          <p:cNvGrpSpPr/>
          <p:nvPr/>
        </p:nvGrpSpPr>
        <p:grpSpPr>
          <a:xfrm>
            <a:off x="1994672" y="3498944"/>
            <a:ext cx="5648756" cy="363964"/>
            <a:chOff x="1593000" y="2322568"/>
            <a:chExt cx="5957975" cy="643500"/>
          </a:xfrm>
        </p:grpSpPr>
        <p:sp>
          <p:nvSpPr>
            <p:cNvPr id="380" name="Google Shape;380;p20"/>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0"/>
            <p:cNvSpPr/>
            <p:nvPr/>
          </p:nvSpPr>
          <p:spPr>
            <a:xfrm flipH="1">
              <a:off x="2283025" y="2322575"/>
              <a:ext cx="1844400" cy="642600"/>
            </a:xfrm>
            <a:prstGeom prst="rect">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0"/>
            <p:cNvSpPr/>
            <p:nvPr/>
          </p:nvSpPr>
          <p:spPr>
            <a:xfrm rot="-5400000">
              <a:off x="3501574" y="1934671"/>
              <a:ext cx="643356" cy="1419149"/>
            </a:xfrm>
            <a:prstGeom prst="flowChartOffpageConnector">
              <a:avLst/>
            </a:prstGeom>
            <a:solidFill>
              <a:srgbClr val="0B71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1000">
                  <a:solidFill>
                    <a:srgbClr val="FFFFFF"/>
                  </a:solidFill>
                  <a:latin typeface="Roboto Medium"/>
                  <a:ea typeface="Roboto Medium"/>
                  <a:cs typeface="Roboto Medium"/>
                  <a:sym typeface="Roboto Medium"/>
                </a:rPr>
                <a:t>Estimación </a:t>
              </a:r>
              <a:endParaRPr sz="1000">
                <a:solidFill>
                  <a:srgbClr val="FFFFFF"/>
                </a:solidFill>
                <a:latin typeface="Roboto"/>
                <a:ea typeface="Roboto"/>
                <a:cs typeface="Roboto"/>
                <a:sym typeface="Roboto"/>
              </a:endParaRPr>
            </a:p>
          </p:txBody>
        </p:sp>
        <p:sp>
          <p:nvSpPr>
            <p:cNvPr id="384" name="Google Shape;384;p20"/>
            <p:cNvSpPr/>
            <p:nvPr/>
          </p:nvSpPr>
          <p:spPr>
            <a:xfrm>
              <a:off x="1593000" y="2322568"/>
              <a:ext cx="690000" cy="642300"/>
            </a:xfrm>
            <a:prstGeom prst="rect">
              <a:avLst/>
            </a:prstGeom>
            <a:solidFill>
              <a:srgbClr val="0B7743"/>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0"/>
            <p:cNvSpPr/>
            <p:nvPr/>
          </p:nvSpPr>
          <p:spPr>
            <a:xfrm>
              <a:off x="1593000" y="2322575"/>
              <a:ext cx="690000" cy="642600"/>
            </a:xfrm>
            <a:prstGeom prst="rect">
              <a:avLst/>
            </a:prstGeom>
            <a:solidFill>
              <a:srgbClr val="0C81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386" name="Google Shape;386;p20"/>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B7140"/>
                </a:buClr>
                <a:buSzPts val="800"/>
                <a:buFont typeface="Roboto"/>
                <a:buChar char="●"/>
              </a:pPr>
              <a:r>
                <a:rPr lang="es-419" sz="800">
                  <a:solidFill>
                    <a:srgbClr val="0B7140"/>
                  </a:solidFill>
                  <a:latin typeface="Roboto"/>
                  <a:ea typeface="Roboto"/>
                  <a:cs typeface="Roboto"/>
                  <a:sym typeface="Roboto"/>
                </a:rPr>
                <a:t>Filtros de Kalman</a:t>
              </a:r>
              <a:endParaRPr sz="800">
                <a:solidFill>
                  <a:srgbClr val="0B7140"/>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Time-series data</a:t>
            </a:r>
            <a:endParaRPr sz="2400">
              <a:solidFill>
                <a:schemeClr val="accent2"/>
              </a:solidFill>
            </a:endParaRPr>
          </a:p>
        </p:txBody>
      </p:sp>
      <p:sp>
        <p:nvSpPr>
          <p:cNvPr id="392" name="Google Shape;392;p2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a:t>
            </a:r>
            <a:r>
              <a:rPr b="1" lang="es-419"/>
              <a:t>datos de series de tiempo</a:t>
            </a:r>
            <a:r>
              <a:rPr lang="es-419"/>
              <a:t> tienen un ordenamiento temporal natural. </a:t>
            </a:r>
            <a:endParaRPr/>
          </a:p>
          <a:p>
            <a:pPr indent="-317500" lvl="0" marL="457200" rtl="0" algn="l">
              <a:spcBef>
                <a:spcPts val="1200"/>
              </a:spcBef>
              <a:spcAft>
                <a:spcPts val="0"/>
              </a:spcAft>
              <a:buSzPts val="1400"/>
              <a:buChar char="●"/>
            </a:pPr>
            <a:r>
              <a:rPr lang="es-419"/>
              <a:t>Esto hace que el análisis de series de tiempo sea distinto de los </a:t>
            </a:r>
            <a:r>
              <a:rPr b="1" lang="es-419">
                <a:solidFill>
                  <a:schemeClr val="accent5"/>
                </a:solidFill>
              </a:rPr>
              <a:t>estudios transversales</a:t>
            </a:r>
            <a:r>
              <a:rPr lang="es-419"/>
              <a:t>, en los que no hay un orden natural de las observaciones (e.g., explicar los salarios de las personas respecto a su nivel de estudio, donde los datos de los individuos pueden ingresarse en cualquier orden). </a:t>
            </a:r>
            <a:endParaRPr/>
          </a:p>
          <a:p>
            <a:pPr indent="-317500" lvl="0" marL="457200" rtl="0" algn="l">
              <a:spcBef>
                <a:spcPts val="0"/>
              </a:spcBef>
              <a:spcAft>
                <a:spcPts val="0"/>
              </a:spcAft>
              <a:buSzPts val="1400"/>
              <a:buChar char="●"/>
            </a:pPr>
            <a:r>
              <a:rPr lang="es-419"/>
              <a:t>También es distinto al </a:t>
            </a:r>
            <a:r>
              <a:rPr b="1" lang="es-419">
                <a:solidFill>
                  <a:schemeClr val="accent5"/>
                </a:solidFill>
              </a:rPr>
              <a:t>análisis de datos espaciales</a:t>
            </a:r>
            <a:r>
              <a:rPr lang="es-419"/>
              <a:t> donde las observaciones se relacionan con ubicaciones o posiciones (e.g., contabilizar los precios de la vivienda por ubicación, así como las características intrínsecas de las casas). </a:t>
            </a:r>
            <a:endParaRPr/>
          </a:p>
        </p:txBody>
      </p:sp>
      <p:sp>
        <p:nvSpPr>
          <p:cNvPr id="393" name="Google Shape;393;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data</a:t>
            </a:r>
            <a:endParaRPr/>
          </a:p>
        </p:txBody>
      </p:sp>
      <p:sp>
        <p:nvSpPr>
          <p:cNvPr id="399" name="Google Shape;399;p2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 </a:t>
            </a:r>
            <a:r>
              <a:rPr b="1" lang="es-419"/>
              <a:t>modelo estocástico</a:t>
            </a:r>
            <a:r>
              <a:rPr lang="es-419"/>
              <a:t> para una serie de tiempo generalmente reflejará el hecho de que las observaciones cercanas en el tiempo estarán más estrechamente relacionadas que las observaciones más alejadas. </a:t>
            </a:r>
            <a:endParaRPr/>
          </a:p>
          <a:p>
            <a:pPr indent="0" lvl="0" marL="0" rtl="0" algn="l">
              <a:spcBef>
                <a:spcPts val="1200"/>
              </a:spcBef>
              <a:spcAft>
                <a:spcPts val="1200"/>
              </a:spcAft>
              <a:buNone/>
            </a:pPr>
            <a:r>
              <a:rPr lang="es-419"/>
              <a:t>Además, los </a:t>
            </a:r>
            <a:r>
              <a:rPr b="1" lang="es-419"/>
              <a:t>modelos de series de tiempo</a:t>
            </a:r>
            <a:r>
              <a:rPr lang="es-419"/>
              <a:t> a menudo harán uso del orden natural unidireccional del tiempo, de modo que los valores para un período dado se expresarán como derivados de alguna manera de valores pasados, en lugar de valores futuros.</a:t>
            </a:r>
            <a:endParaRPr/>
          </a:p>
        </p:txBody>
      </p:sp>
      <p:sp>
        <p:nvSpPr>
          <p:cNvPr id="400" name="Google Shape;400;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Ejemplos de series de tiempo</a:t>
            </a:r>
            <a:endParaRPr/>
          </a:p>
        </p:txBody>
      </p:sp>
      <p:sp>
        <p:nvSpPr>
          <p:cNvPr id="406" name="Google Shape;406;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07" name="Google Shape;407;p23"/>
          <p:cNvPicPr preferRelativeResize="0"/>
          <p:nvPr/>
        </p:nvPicPr>
        <p:blipFill>
          <a:blip r:embed="rId3">
            <a:alphaModFix/>
          </a:blip>
          <a:stretch>
            <a:fillRect/>
          </a:stretch>
        </p:blipFill>
        <p:spPr>
          <a:xfrm>
            <a:off x="2334174" y="634450"/>
            <a:ext cx="4475650" cy="3356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factors</a:t>
            </a:r>
            <a:endParaRPr/>
          </a:p>
        </p:txBody>
      </p:sp>
      <p:sp>
        <p:nvSpPr>
          <p:cNvPr id="413" name="Google Shape;413;p24"/>
          <p:cNvSpPr txBox="1"/>
          <p:nvPr>
            <p:ph idx="1" type="body"/>
          </p:nvPr>
        </p:nvSpPr>
        <p:spPr>
          <a:xfrm>
            <a:off x="1303800" y="1837650"/>
            <a:ext cx="7030500" cy="2618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a:t>Tendencia</a:t>
            </a:r>
            <a:r>
              <a:rPr lang="es-419"/>
              <a:t> (</a:t>
            </a:r>
            <a:r>
              <a:rPr i="1" lang="es-419"/>
              <a:t>trend</a:t>
            </a:r>
            <a:r>
              <a:rPr lang="es-419"/>
              <a:t>): el movimiento general o la dirección general de los datos, ignorando cualquier efecto a corto plazo, como variaciones cíclicas o estacionales. </a:t>
            </a:r>
            <a:endParaRPr/>
          </a:p>
          <a:p>
            <a:pPr indent="-311150" lvl="0" marL="457200" rtl="0" algn="l">
              <a:spcBef>
                <a:spcPts val="1200"/>
              </a:spcBef>
              <a:spcAft>
                <a:spcPts val="0"/>
              </a:spcAft>
              <a:buSzPts val="1300"/>
              <a:buChar char="●"/>
            </a:pPr>
            <a:r>
              <a:rPr lang="es-419" sz="1300"/>
              <a:t>La tendencia de matriculación en una universidad puede estar en aumento constante durante los últimos 100 años. Esta tendencia puede estar presente a pesar de tener años a la baja en la inscripción seguidos de años de rápido crecimiento. </a:t>
            </a:r>
            <a:endParaRPr sz="1300"/>
          </a:p>
          <a:p>
            <a:pPr indent="0" lvl="0" marL="0" rtl="0" algn="l">
              <a:spcBef>
                <a:spcPts val="1200"/>
              </a:spcBef>
              <a:spcAft>
                <a:spcPts val="0"/>
              </a:spcAft>
              <a:buNone/>
            </a:pPr>
            <a:r>
              <a:rPr b="1" lang="es-419"/>
              <a:t>Movimientos cíclicos</a:t>
            </a:r>
            <a:r>
              <a:rPr lang="es-419"/>
              <a:t>: patrones de oscilación relativamente largos en los datos. Estos ciclos pueden tardar muchos años en desarrollarse. </a:t>
            </a:r>
            <a:endParaRPr/>
          </a:p>
          <a:p>
            <a:pPr indent="-311150" lvl="0" marL="457200" rtl="0" algn="l">
              <a:spcBef>
                <a:spcPts val="1200"/>
              </a:spcBef>
              <a:spcAft>
                <a:spcPts val="0"/>
              </a:spcAft>
              <a:buSzPts val="1300"/>
              <a:buChar char="●"/>
            </a:pPr>
            <a:r>
              <a:rPr lang="es-419" sz="1300"/>
              <a:t>Hay varios ciclos en la economía empresarial, algunos de 6 años, otros de medio siglo o más. </a:t>
            </a:r>
            <a:endParaRPr sz="1300"/>
          </a:p>
        </p:txBody>
      </p:sp>
      <p:sp>
        <p:nvSpPr>
          <p:cNvPr id="414" name="Google Shape;414;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factors</a:t>
            </a:r>
            <a:endParaRPr/>
          </a:p>
        </p:txBody>
      </p:sp>
      <p:sp>
        <p:nvSpPr>
          <p:cNvPr id="420" name="Google Shape;420;p25"/>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Variación estacional</a:t>
            </a:r>
            <a:r>
              <a:rPr lang="es-419"/>
              <a:t>: patrones predecibles de altibajos que ocurren dentro de un solo año y se repiten año tras año. </a:t>
            </a:r>
            <a:endParaRPr/>
          </a:p>
          <a:p>
            <a:pPr indent="-311150" lvl="0" marL="457200" rtl="0" algn="l">
              <a:spcBef>
                <a:spcPts val="1200"/>
              </a:spcBef>
              <a:spcAft>
                <a:spcPts val="0"/>
              </a:spcAft>
              <a:buSzPts val="1300"/>
              <a:buChar char="●"/>
            </a:pPr>
            <a:r>
              <a:rPr lang="es-419" sz="1300"/>
              <a:t>Las temperaturas suelen mostrar variaciones estacionales, cayendo en otoño e invierno y volviendo a subir en primavera y verano. </a:t>
            </a:r>
            <a:endParaRPr sz="1300"/>
          </a:p>
          <a:p>
            <a:pPr indent="0" lvl="0" marL="0" rtl="0" algn="l">
              <a:spcBef>
                <a:spcPts val="1200"/>
              </a:spcBef>
              <a:spcAft>
                <a:spcPts val="1200"/>
              </a:spcAft>
              <a:buNone/>
            </a:pPr>
            <a:r>
              <a:rPr b="1" lang="es-419"/>
              <a:t>Ruido</a:t>
            </a:r>
            <a:r>
              <a:rPr lang="es-419"/>
              <a:t>: Cada conjunto de datos tiene ruido. Estas son fluctuaciones aleatorias o variaciones debidas a factores no controlados.</a:t>
            </a:r>
            <a:endParaRPr/>
          </a:p>
        </p:txBody>
      </p:sp>
      <p:sp>
        <p:nvSpPr>
          <p:cNvPr id="421" name="Google Shape;421;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Time-series factors</a:t>
            </a:r>
            <a:endParaRPr/>
          </a:p>
        </p:txBody>
      </p:sp>
      <p:sp>
        <p:nvSpPr>
          <p:cNvPr id="427" name="Google Shape;427;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28" name="Google Shape;428;p26"/>
          <p:cNvPicPr preferRelativeResize="0"/>
          <p:nvPr/>
        </p:nvPicPr>
        <p:blipFill>
          <a:blip r:embed="rId3">
            <a:alphaModFix/>
          </a:blip>
          <a:stretch>
            <a:fillRect/>
          </a:stretch>
        </p:blipFill>
        <p:spPr>
          <a:xfrm>
            <a:off x="1401399" y="1241350"/>
            <a:ext cx="2909999" cy="2422074"/>
          </a:xfrm>
          <a:prstGeom prst="rect">
            <a:avLst/>
          </a:prstGeom>
          <a:noFill/>
          <a:ln>
            <a:noFill/>
          </a:ln>
        </p:spPr>
      </p:pic>
      <p:pic>
        <p:nvPicPr>
          <p:cNvPr id="429" name="Google Shape;429;p26"/>
          <p:cNvPicPr preferRelativeResize="0"/>
          <p:nvPr/>
        </p:nvPicPr>
        <p:blipFill rotWithShape="1">
          <a:blip r:embed="rId4">
            <a:alphaModFix/>
          </a:blip>
          <a:srcRect b="16578" l="6216" r="6233" t="25150"/>
          <a:stretch/>
        </p:blipFill>
        <p:spPr>
          <a:xfrm>
            <a:off x="4825475" y="1747425"/>
            <a:ext cx="3302875" cy="16486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5" name="Google Shape;435;p27"/>
          <p:cNvSpPr/>
          <p:nvPr/>
        </p:nvSpPr>
        <p:spPr>
          <a:xfrm>
            <a:off x="4244150" y="600200"/>
            <a:ext cx="1313700" cy="306900"/>
          </a:xfrm>
          <a:prstGeom prst="rect">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800">
                <a:solidFill>
                  <a:srgbClr val="FFFFFF"/>
                </a:solidFill>
                <a:latin typeface="Maven Pro"/>
                <a:ea typeface="Maven Pro"/>
                <a:cs typeface="Maven Pro"/>
                <a:sym typeface="Maven Pro"/>
              </a:rPr>
              <a:t>Time-series patterns</a:t>
            </a:r>
            <a:endParaRPr b="1" sz="1200">
              <a:solidFill>
                <a:srgbClr val="FFFFFF"/>
              </a:solidFill>
              <a:latin typeface="Maven Pro"/>
              <a:ea typeface="Maven Pro"/>
              <a:cs typeface="Maven Pro"/>
              <a:sym typeface="Maven Pro"/>
            </a:endParaRPr>
          </a:p>
        </p:txBody>
      </p:sp>
      <p:sp>
        <p:nvSpPr>
          <p:cNvPr id="436" name="Google Shape;436;p27"/>
          <p:cNvSpPr/>
          <p:nvPr/>
        </p:nvSpPr>
        <p:spPr>
          <a:xfrm>
            <a:off x="2837494" y="1179520"/>
            <a:ext cx="1066200" cy="306900"/>
          </a:xfrm>
          <a:prstGeom prst="rect">
            <a:avLst/>
          </a:prstGeom>
          <a:solidFill>
            <a:srgbClr val="0B77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800">
                <a:solidFill>
                  <a:srgbClr val="FFFFFF"/>
                </a:solidFill>
                <a:latin typeface="Maven Pro"/>
                <a:ea typeface="Maven Pro"/>
                <a:cs typeface="Maven Pro"/>
                <a:sym typeface="Maven Pro"/>
              </a:rPr>
              <a:t>Regular</a:t>
            </a:r>
            <a:endParaRPr b="1" sz="800">
              <a:solidFill>
                <a:srgbClr val="FFFFFF"/>
              </a:solidFill>
              <a:latin typeface="Maven Pro"/>
              <a:ea typeface="Maven Pro"/>
              <a:cs typeface="Maven Pro"/>
              <a:sym typeface="Maven Pro"/>
            </a:endParaRPr>
          </a:p>
        </p:txBody>
      </p:sp>
      <p:sp>
        <p:nvSpPr>
          <p:cNvPr id="437" name="Google Shape;437;p27"/>
          <p:cNvSpPr/>
          <p:nvPr/>
        </p:nvSpPr>
        <p:spPr>
          <a:xfrm>
            <a:off x="5770489" y="1179520"/>
            <a:ext cx="1066200" cy="306900"/>
          </a:xfrm>
          <a:prstGeom prst="rect">
            <a:avLst/>
          </a:prstGeom>
          <a:solidFill>
            <a:srgbClr val="0B77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419" sz="800">
                <a:solidFill>
                  <a:srgbClr val="FFFFFF"/>
                </a:solidFill>
                <a:latin typeface="Maven Pro"/>
                <a:ea typeface="Maven Pro"/>
                <a:cs typeface="Maven Pro"/>
                <a:sym typeface="Maven Pro"/>
              </a:rPr>
              <a:t>Irregular</a:t>
            </a:r>
            <a:endParaRPr b="1" sz="1200">
              <a:solidFill>
                <a:srgbClr val="FFFFFF"/>
              </a:solidFill>
              <a:latin typeface="Maven Pro"/>
              <a:ea typeface="Maven Pro"/>
              <a:cs typeface="Maven Pro"/>
              <a:sym typeface="Maven Pro"/>
            </a:endParaRPr>
          </a:p>
        </p:txBody>
      </p:sp>
      <p:sp>
        <p:nvSpPr>
          <p:cNvPr id="438" name="Google Shape;438;p27"/>
          <p:cNvSpPr/>
          <p:nvPr/>
        </p:nvSpPr>
        <p:spPr>
          <a:xfrm>
            <a:off x="6356473" y="1714209"/>
            <a:ext cx="1066200" cy="3069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800">
                <a:solidFill>
                  <a:srgbClr val="FFFFFF"/>
                </a:solidFill>
                <a:latin typeface="Maven Pro"/>
                <a:ea typeface="Maven Pro"/>
                <a:cs typeface="Maven Pro"/>
                <a:sym typeface="Maven Pro"/>
              </a:rPr>
              <a:t>Intermitent</a:t>
            </a:r>
            <a:endParaRPr sz="1200">
              <a:solidFill>
                <a:srgbClr val="FFFFFF"/>
              </a:solidFill>
              <a:latin typeface="Maven Pro"/>
              <a:ea typeface="Maven Pro"/>
              <a:cs typeface="Maven Pro"/>
              <a:sym typeface="Maven Pro"/>
            </a:endParaRPr>
          </a:p>
        </p:txBody>
      </p:sp>
      <p:sp>
        <p:nvSpPr>
          <p:cNvPr id="439" name="Google Shape;439;p27"/>
          <p:cNvSpPr/>
          <p:nvPr/>
        </p:nvSpPr>
        <p:spPr>
          <a:xfrm>
            <a:off x="5184556" y="1714209"/>
            <a:ext cx="1066200" cy="3069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800">
                <a:solidFill>
                  <a:srgbClr val="FFFFFF"/>
                </a:solidFill>
                <a:latin typeface="Maven Pro"/>
                <a:ea typeface="Maven Pro"/>
                <a:cs typeface="Maven Pro"/>
                <a:sym typeface="Maven Pro"/>
              </a:rPr>
              <a:t>Fluctuating</a:t>
            </a:r>
            <a:endParaRPr sz="1200">
              <a:solidFill>
                <a:srgbClr val="FFFFFF"/>
              </a:solidFill>
              <a:latin typeface="Maven Pro"/>
              <a:ea typeface="Maven Pro"/>
              <a:cs typeface="Maven Pro"/>
              <a:sym typeface="Maven Pro"/>
            </a:endParaRPr>
          </a:p>
        </p:txBody>
      </p:sp>
      <p:sp>
        <p:nvSpPr>
          <p:cNvPr id="440" name="Google Shape;440;p27"/>
          <p:cNvSpPr/>
          <p:nvPr/>
        </p:nvSpPr>
        <p:spPr>
          <a:xfrm>
            <a:off x="3953716" y="1714209"/>
            <a:ext cx="1066200" cy="3069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800">
                <a:solidFill>
                  <a:srgbClr val="FFFFFF"/>
                </a:solidFill>
                <a:latin typeface="Maven Pro"/>
                <a:ea typeface="Maven Pro"/>
                <a:cs typeface="Maven Pro"/>
                <a:sym typeface="Maven Pro"/>
              </a:rPr>
              <a:t>Seasonal</a:t>
            </a:r>
            <a:endParaRPr sz="1200">
              <a:solidFill>
                <a:srgbClr val="FFFFFF"/>
              </a:solidFill>
              <a:latin typeface="Maven Pro"/>
              <a:ea typeface="Maven Pro"/>
              <a:cs typeface="Maven Pro"/>
              <a:sym typeface="Maven Pro"/>
            </a:endParaRPr>
          </a:p>
        </p:txBody>
      </p:sp>
      <p:sp>
        <p:nvSpPr>
          <p:cNvPr id="441" name="Google Shape;441;p27"/>
          <p:cNvSpPr/>
          <p:nvPr/>
        </p:nvSpPr>
        <p:spPr>
          <a:xfrm>
            <a:off x="1721324" y="1714209"/>
            <a:ext cx="1066200" cy="3069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800">
                <a:solidFill>
                  <a:srgbClr val="FFFFFF"/>
                </a:solidFill>
                <a:latin typeface="Roboto"/>
                <a:ea typeface="Roboto"/>
                <a:cs typeface="Roboto"/>
                <a:sym typeface="Roboto"/>
              </a:rPr>
              <a:t>Stationary</a:t>
            </a:r>
            <a:endParaRPr sz="1200">
              <a:solidFill>
                <a:srgbClr val="FFFFFF"/>
              </a:solidFill>
            </a:endParaRPr>
          </a:p>
        </p:txBody>
      </p:sp>
      <p:cxnSp>
        <p:nvCxnSpPr>
          <p:cNvPr id="442" name="Google Shape;442;p27"/>
          <p:cNvCxnSpPr>
            <a:stCxn id="435" idx="2"/>
            <a:endCxn id="437" idx="0"/>
          </p:cNvCxnSpPr>
          <p:nvPr/>
        </p:nvCxnSpPr>
        <p:spPr>
          <a:xfrm flipH="1" rot="-5400000">
            <a:off x="5466050" y="342050"/>
            <a:ext cx="272400" cy="1402500"/>
          </a:xfrm>
          <a:prstGeom prst="bentConnector3">
            <a:avLst>
              <a:gd fmla="val 50004" name="adj1"/>
            </a:avLst>
          </a:prstGeom>
          <a:noFill/>
          <a:ln cap="flat" cmpd="sng" w="9525">
            <a:solidFill>
              <a:srgbClr val="C2C2C2"/>
            </a:solidFill>
            <a:prstDash val="solid"/>
            <a:round/>
            <a:headEnd len="sm" w="sm" type="none"/>
            <a:tailEnd len="sm" w="sm" type="none"/>
          </a:ln>
        </p:spPr>
      </p:cxnSp>
      <p:cxnSp>
        <p:nvCxnSpPr>
          <p:cNvPr id="443" name="Google Shape;443;p27"/>
          <p:cNvCxnSpPr>
            <a:stCxn id="436" idx="0"/>
            <a:endCxn id="435" idx="2"/>
          </p:cNvCxnSpPr>
          <p:nvPr/>
        </p:nvCxnSpPr>
        <p:spPr>
          <a:xfrm rot="-5400000">
            <a:off x="3999544" y="278170"/>
            <a:ext cx="272400" cy="1530300"/>
          </a:xfrm>
          <a:prstGeom prst="bentConnector3">
            <a:avLst>
              <a:gd fmla="val 50004" name="adj1"/>
            </a:avLst>
          </a:prstGeom>
          <a:noFill/>
          <a:ln cap="flat" cmpd="sng" w="9525">
            <a:solidFill>
              <a:srgbClr val="C2C2C2"/>
            </a:solidFill>
            <a:prstDash val="solid"/>
            <a:round/>
            <a:headEnd len="sm" w="sm" type="none"/>
            <a:tailEnd len="sm" w="sm" type="none"/>
          </a:ln>
        </p:spPr>
      </p:cxnSp>
      <p:cxnSp>
        <p:nvCxnSpPr>
          <p:cNvPr id="444" name="Google Shape;444;p27"/>
          <p:cNvCxnSpPr>
            <a:stCxn id="436" idx="2"/>
            <a:endCxn id="440" idx="0"/>
          </p:cNvCxnSpPr>
          <p:nvPr/>
        </p:nvCxnSpPr>
        <p:spPr>
          <a:xfrm flipH="1" rot="-5400000">
            <a:off x="3814894" y="1042120"/>
            <a:ext cx="227700" cy="1116300"/>
          </a:xfrm>
          <a:prstGeom prst="bentConnector3">
            <a:avLst>
              <a:gd fmla="val 50009" name="adj1"/>
            </a:avLst>
          </a:prstGeom>
          <a:noFill/>
          <a:ln cap="flat" cmpd="sng" w="9525">
            <a:solidFill>
              <a:srgbClr val="C2C2C2"/>
            </a:solidFill>
            <a:prstDash val="solid"/>
            <a:round/>
            <a:headEnd len="sm" w="sm" type="none"/>
            <a:tailEnd len="sm" w="sm" type="none"/>
          </a:ln>
        </p:spPr>
      </p:cxnSp>
      <p:cxnSp>
        <p:nvCxnSpPr>
          <p:cNvPr id="445" name="Google Shape;445;p27"/>
          <p:cNvCxnSpPr>
            <a:stCxn id="441" idx="0"/>
            <a:endCxn id="436" idx="2"/>
          </p:cNvCxnSpPr>
          <p:nvPr/>
        </p:nvCxnSpPr>
        <p:spPr>
          <a:xfrm rot="-5400000">
            <a:off x="2698724" y="1042209"/>
            <a:ext cx="227700" cy="1116300"/>
          </a:xfrm>
          <a:prstGeom prst="bentConnector3">
            <a:avLst>
              <a:gd fmla="val 50009" name="adj1"/>
            </a:avLst>
          </a:prstGeom>
          <a:noFill/>
          <a:ln cap="flat" cmpd="sng" w="9525">
            <a:solidFill>
              <a:srgbClr val="C2C2C2"/>
            </a:solidFill>
            <a:prstDash val="solid"/>
            <a:round/>
            <a:headEnd len="sm" w="sm" type="none"/>
            <a:tailEnd len="sm" w="sm" type="none"/>
          </a:ln>
        </p:spPr>
      </p:cxnSp>
      <p:cxnSp>
        <p:nvCxnSpPr>
          <p:cNvPr id="446" name="Google Shape;446;p27"/>
          <p:cNvCxnSpPr>
            <a:stCxn id="437" idx="2"/>
            <a:endCxn id="438" idx="0"/>
          </p:cNvCxnSpPr>
          <p:nvPr/>
        </p:nvCxnSpPr>
        <p:spPr>
          <a:xfrm flipH="1" rot="-5400000">
            <a:off x="6482689" y="1307320"/>
            <a:ext cx="227700" cy="585900"/>
          </a:xfrm>
          <a:prstGeom prst="bentConnector3">
            <a:avLst>
              <a:gd fmla="val 50008" name="adj1"/>
            </a:avLst>
          </a:prstGeom>
          <a:noFill/>
          <a:ln cap="flat" cmpd="sng" w="9525">
            <a:solidFill>
              <a:srgbClr val="C2C2C2"/>
            </a:solidFill>
            <a:prstDash val="solid"/>
            <a:round/>
            <a:headEnd len="sm" w="sm" type="none"/>
            <a:tailEnd len="sm" w="sm" type="none"/>
          </a:ln>
        </p:spPr>
      </p:cxnSp>
      <p:cxnSp>
        <p:nvCxnSpPr>
          <p:cNvPr id="447" name="Google Shape;447;p27"/>
          <p:cNvCxnSpPr>
            <a:stCxn id="439" idx="0"/>
            <a:endCxn id="437" idx="2"/>
          </p:cNvCxnSpPr>
          <p:nvPr/>
        </p:nvCxnSpPr>
        <p:spPr>
          <a:xfrm rot="-5400000">
            <a:off x="5896756" y="1307409"/>
            <a:ext cx="227700" cy="585900"/>
          </a:xfrm>
          <a:prstGeom prst="bentConnector3">
            <a:avLst>
              <a:gd fmla="val 50008" name="adj1"/>
            </a:avLst>
          </a:prstGeom>
          <a:noFill/>
          <a:ln cap="flat" cmpd="sng" w="9525">
            <a:solidFill>
              <a:srgbClr val="C2C2C2"/>
            </a:solidFill>
            <a:prstDash val="solid"/>
            <a:round/>
            <a:headEnd len="sm" w="sm" type="none"/>
            <a:tailEnd len="sm" w="sm" type="none"/>
          </a:ln>
        </p:spPr>
      </p:cxnSp>
      <p:sp>
        <p:nvSpPr>
          <p:cNvPr id="448" name="Google Shape;448;p27"/>
          <p:cNvSpPr/>
          <p:nvPr/>
        </p:nvSpPr>
        <p:spPr>
          <a:xfrm>
            <a:off x="2840714" y="1714209"/>
            <a:ext cx="1066200" cy="306900"/>
          </a:xfrm>
          <a:prstGeom prst="rect">
            <a:avLst/>
          </a:prstGeom>
          <a:solidFill>
            <a:srgbClr val="0E94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800">
                <a:solidFill>
                  <a:srgbClr val="FFFFFF"/>
                </a:solidFill>
                <a:latin typeface="Maven Pro"/>
                <a:ea typeface="Maven Pro"/>
                <a:cs typeface="Maven Pro"/>
                <a:sym typeface="Maven Pro"/>
              </a:rPr>
              <a:t>Stationary</a:t>
            </a:r>
            <a:endParaRPr sz="1200">
              <a:solidFill>
                <a:srgbClr val="FFFFFF"/>
              </a:solidFill>
              <a:latin typeface="Maven Pro"/>
              <a:ea typeface="Maven Pro"/>
              <a:cs typeface="Maven Pro"/>
              <a:sym typeface="Maven Pro"/>
            </a:endParaRPr>
          </a:p>
        </p:txBody>
      </p:sp>
      <p:pic>
        <p:nvPicPr>
          <p:cNvPr id="449" name="Google Shape;449;p27"/>
          <p:cNvPicPr preferRelativeResize="0"/>
          <p:nvPr/>
        </p:nvPicPr>
        <p:blipFill>
          <a:blip r:embed="rId3">
            <a:alphaModFix/>
          </a:blip>
          <a:stretch>
            <a:fillRect/>
          </a:stretch>
        </p:blipFill>
        <p:spPr>
          <a:xfrm>
            <a:off x="1750538" y="2136900"/>
            <a:ext cx="1007786" cy="710800"/>
          </a:xfrm>
          <a:prstGeom prst="rect">
            <a:avLst/>
          </a:prstGeom>
          <a:noFill/>
          <a:ln>
            <a:noFill/>
          </a:ln>
        </p:spPr>
      </p:pic>
      <p:pic>
        <p:nvPicPr>
          <p:cNvPr id="450" name="Google Shape;450;p27"/>
          <p:cNvPicPr preferRelativeResize="0"/>
          <p:nvPr/>
        </p:nvPicPr>
        <p:blipFill>
          <a:blip r:embed="rId4">
            <a:alphaModFix/>
          </a:blip>
          <a:stretch>
            <a:fillRect/>
          </a:stretch>
        </p:blipFill>
        <p:spPr>
          <a:xfrm>
            <a:off x="2837500" y="2136907"/>
            <a:ext cx="1066200" cy="710800"/>
          </a:xfrm>
          <a:prstGeom prst="rect">
            <a:avLst/>
          </a:prstGeom>
          <a:noFill/>
          <a:ln>
            <a:noFill/>
          </a:ln>
        </p:spPr>
      </p:pic>
      <p:pic>
        <p:nvPicPr>
          <p:cNvPr id="451" name="Google Shape;451;p27"/>
          <p:cNvPicPr preferRelativeResize="0"/>
          <p:nvPr/>
        </p:nvPicPr>
        <p:blipFill>
          <a:blip r:embed="rId5">
            <a:alphaModFix/>
          </a:blip>
          <a:stretch>
            <a:fillRect/>
          </a:stretch>
        </p:blipFill>
        <p:spPr>
          <a:xfrm>
            <a:off x="3953725" y="2136900"/>
            <a:ext cx="1066200" cy="710800"/>
          </a:xfrm>
          <a:prstGeom prst="rect">
            <a:avLst/>
          </a:prstGeom>
          <a:noFill/>
          <a:ln>
            <a:noFill/>
          </a:ln>
        </p:spPr>
      </p:pic>
      <p:pic>
        <p:nvPicPr>
          <p:cNvPr id="452" name="Google Shape;452;p27"/>
          <p:cNvPicPr preferRelativeResize="0"/>
          <p:nvPr/>
        </p:nvPicPr>
        <p:blipFill>
          <a:blip r:embed="rId6">
            <a:alphaModFix/>
          </a:blip>
          <a:stretch>
            <a:fillRect/>
          </a:stretch>
        </p:blipFill>
        <p:spPr>
          <a:xfrm>
            <a:off x="5215774" y="2136900"/>
            <a:ext cx="1003749" cy="710800"/>
          </a:xfrm>
          <a:prstGeom prst="rect">
            <a:avLst/>
          </a:prstGeom>
          <a:noFill/>
          <a:ln>
            <a:noFill/>
          </a:ln>
        </p:spPr>
      </p:pic>
      <p:pic>
        <p:nvPicPr>
          <p:cNvPr id="453" name="Google Shape;453;p27"/>
          <p:cNvPicPr preferRelativeResize="0"/>
          <p:nvPr/>
        </p:nvPicPr>
        <p:blipFill>
          <a:blip r:embed="rId7">
            <a:alphaModFix/>
          </a:blip>
          <a:stretch>
            <a:fillRect/>
          </a:stretch>
        </p:blipFill>
        <p:spPr>
          <a:xfrm>
            <a:off x="6401812" y="2136900"/>
            <a:ext cx="975513" cy="710800"/>
          </a:xfrm>
          <a:prstGeom prst="rect">
            <a:avLst/>
          </a:prstGeom>
          <a:noFill/>
          <a:ln>
            <a:noFill/>
          </a:ln>
        </p:spPr>
      </p:pic>
      <p:sp>
        <p:nvSpPr>
          <p:cNvPr id="454" name="Google Shape;454;p27"/>
          <p:cNvSpPr txBox="1"/>
          <p:nvPr/>
        </p:nvSpPr>
        <p:spPr>
          <a:xfrm>
            <a:off x="5215750" y="2963500"/>
            <a:ext cx="10038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Time series fluctuates very strongly around level (deviation &gt; 50% around mean)</a:t>
            </a:r>
            <a:endParaRPr sz="700">
              <a:latin typeface="Nunito"/>
              <a:ea typeface="Nunito"/>
              <a:cs typeface="Nunito"/>
              <a:sym typeface="Nunito"/>
            </a:endParaRPr>
          </a:p>
        </p:txBody>
      </p:sp>
      <p:sp>
        <p:nvSpPr>
          <p:cNvPr id="455" name="Google Shape;455;p27"/>
          <p:cNvSpPr txBox="1"/>
          <p:nvPr/>
        </p:nvSpPr>
        <p:spPr>
          <a:xfrm>
            <a:off x="6387675" y="2963500"/>
            <a:ext cx="100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The number of periods with zero records is high (30%-40%)</a:t>
            </a:r>
            <a:endParaRPr sz="700">
              <a:latin typeface="Nunito"/>
              <a:ea typeface="Nunito"/>
              <a:cs typeface="Nunito"/>
              <a:sym typeface="Nunito"/>
            </a:endParaRPr>
          </a:p>
        </p:txBody>
      </p:sp>
      <p:sp>
        <p:nvSpPr>
          <p:cNvPr id="456" name="Google Shape;456;p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57" name="Google Shape;457;p27"/>
          <p:cNvSpPr txBox="1"/>
          <p:nvPr/>
        </p:nvSpPr>
        <p:spPr>
          <a:xfrm>
            <a:off x="1752525" y="2963500"/>
            <a:ext cx="1003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Time series is influenced by level &amp; random fluctuations</a:t>
            </a:r>
            <a:endParaRPr sz="700">
              <a:latin typeface="Nunito"/>
              <a:ea typeface="Nunito"/>
              <a:cs typeface="Nunito"/>
              <a:sym typeface="Nunito"/>
            </a:endParaRPr>
          </a:p>
          <a:p>
            <a:pPr indent="0" lvl="0" marL="0" rtl="0" algn="ctr">
              <a:spcBef>
                <a:spcPts val="0"/>
              </a:spcBef>
              <a:spcAft>
                <a:spcPts val="0"/>
              </a:spcAft>
              <a:buNone/>
            </a:pPr>
            <a:r>
              <a:t/>
            </a:r>
            <a:endParaRPr i="1" sz="700">
              <a:latin typeface="Nunito"/>
              <a:ea typeface="Nunito"/>
              <a:cs typeface="Nunito"/>
              <a:sym typeface="Nunito"/>
            </a:endParaRPr>
          </a:p>
          <a:p>
            <a:pPr indent="0" lvl="0" marL="0" rtl="0" algn="ctr">
              <a:spcBef>
                <a:spcPts val="0"/>
              </a:spcBef>
              <a:spcAft>
                <a:spcPts val="0"/>
              </a:spcAft>
              <a:buNone/>
            </a:pPr>
            <a:r>
              <a:rPr i="1" lang="es-419" sz="700">
                <a:latin typeface="Nunito"/>
                <a:ea typeface="Nunito"/>
                <a:cs typeface="Nunito"/>
                <a:sym typeface="Nunito"/>
              </a:rPr>
              <a:t>Y</a:t>
            </a:r>
            <a:r>
              <a:rPr baseline="-25000" i="1" lang="es-419" sz="700">
                <a:latin typeface="Nunito"/>
                <a:ea typeface="Nunito"/>
                <a:cs typeface="Nunito"/>
                <a:sym typeface="Nunito"/>
              </a:rPr>
              <a:t>T</a:t>
            </a:r>
            <a:r>
              <a:rPr i="1" lang="es-419" sz="700">
                <a:latin typeface="Nunito"/>
                <a:ea typeface="Nunito"/>
                <a:cs typeface="Nunito"/>
                <a:sym typeface="Nunito"/>
              </a:rPr>
              <a:t> = f(E</a:t>
            </a:r>
            <a:r>
              <a:rPr baseline="-25000" i="1" lang="es-419" sz="700">
                <a:latin typeface="Nunito"/>
                <a:ea typeface="Nunito"/>
                <a:cs typeface="Nunito"/>
                <a:sym typeface="Nunito"/>
              </a:rPr>
              <a:t>T</a:t>
            </a:r>
            <a:r>
              <a:rPr i="1" lang="es-419" sz="700">
                <a:latin typeface="Nunito"/>
                <a:ea typeface="Nunito"/>
                <a:cs typeface="Nunito"/>
                <a:sym typeface="Nunito"/>
              </a:rPr>
              <a:t>)</a:t>
            </a:r>
            <a:endParaRPr i="1" sz="700">
              <a:latin typeface="Nunito"/>
              <a:ea typeface="Nunito"/>
              <a:cs typeface="Nunito"/>
              <a:sym typeface="Nunito"/>
            </a:endParaRPr>
          </a:p>
        </p:txBody>
      </p:sp>
      <p:sp>
        <p:nvSpPr>
          <p:cNvPr id="458" name="Google Shape;458;p27"/>
          <p:cNvSpPr txBox="1"/>
          <p:nvPr/>
        </p:nvSpPr>
        <p:spPr>
          <a:xfrm>
            <a:off x="2868725" y="2963500"/>
            <a:ext cx="1003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Time series is influenced by level, season &amp; random fluctuations</a:t>
            </a:r>
            <a:endParaRPr sz="700">
              <a:latin typeface="Nunito"/>
              <a:ea typeface="Nunito"/>
              <a:cs typeface="Nunito"/>
              <a:sym typeface="Nunito"/>
            </a:endParaRPr>
          </a:p>
          <a:p>
            <a:pPr indent="0" lvl="0" marL="0" rtl="0" algn="ctr">
              <a:spcBef>
                <a:spcPts val="0"/>
              </a:spcBef>
              <a:spcAft>
                <a:spcPts val="0"/>
              </a:spcAft>
              <a:buNone/>
            </a:pPr>
            <a:r>
              <a:t/>
            </a:r>
            <a:endParaRPr i="1" sz="700">
              <a:latin typeface="Nunito"/>
              <a:ea typeface="Nunito"/>
              <a:cs typeface="Nunito"/>
              <a:sym typeface="Nunito"/>
            </a:endParaRPr>
          </a:p>
          <a:p>
            <a:pPr indent="0" lvl="0" marL="0" rtl="0" algn="ctr">
              <a:spcBef>
                <a:spcPts val="0"/>
              </a:spcBef>
              <a:spcAft>
                <a:spcPts val="0"/>
              </a:spcAft>
              <a:buNone/>
            </a:pPr>
            <a:r>
              <a:rPr i="1" lang="es-419" sz="700">
                <a:latin typeface="Nunito"/>
                <a:ea typeface="Nunito"/>
                <a:cs typeface="Nunito"/>
                <a:sym typeface="Nunito"/>
              </a:rPr>
              <a:t>Y</a:t>
            </a:r>
            <a:r>
              <a:rPr baseline="-25000" i="1" lang="es-419" sz="700">
                <a:latin typeface="Nunito"/>
                <a:ea typeface="Nunito"/>
                <a:cs typeface="Nunito"/>
                <a:sym typeface="Nunito"/>
              </a:rPr>
              <a:t>T</a:t>
            </a:r>
            <a:r>
              <a:rPr i="1" lang="es-419" sz="700">
                <a:latin typeface="Nunito"/>
                <a:ea typeface="Nunito"/>
                <a:cs typeface="Nunito"/>
                <a:sym typeface="Nunito"/>
              </a:rPr>
              <a:t> = f(E</a:t>
            </a:r>
            <a:r>
              <a:rPr baseline="-25000" i="1" lang="es-419" sz="700">
                <a:latin typeface="Nunito"/>
                <a:ea typeface="Nunito"/>
                <a:cs typeface="Nunito"/>
                <a:sym typeface="Nunito"/>
              </a:rPr>
              <a:t>T</a:t>
            </a:r>
            <a:r>
              <a:rPr i="1" lang="es-419" sz="700">
                <a:latin typeface="Nunito"/>
                <a:ea typeface="Nunito"/>
                <a:cs typeface="Nunito"/>
                <a:sym typeface="Nunito"/>
              </a:rPr>
              <a:t>, S</a:t>
            </a:r>
            <a:r>
              <a:rPr baseline="-25000" i="1" lang="es-419" sz="700">
                <a:latin typeface="Nunito"/>
                <a:ea typeface="Nunito"/>
                <a:cs typeface="Nunito"/>
                <a:sym typeface="Nunito"/>
              </a:rPr>
              <a:t>T</a:t>
            </a:r>
            <a:r>
              <a:rPr i="1" lang="es-419" sz="700">
                <a:latin typeface="Nunito"/>
                <a:ea typeface="Nunito"/>
                <a:cs typeface="Nunito"/>
                <a:sym typeface="Nunito"/>
              </a:rPr>
              <a:t>)</a:t>
            </a:r>
            <a:endParaRPr sz="700">
              <a:latin typeface="Nunito"/>
              <a:ea typeface="Nunito"/>
              <a:cs typeface="Nunito"/>
              <a:sym typeface="Nunito"/>
            </a:endParaRPr>
          </a:p>
        </p:txBody>
      </p:sp>
      <p:sp>
        <p:nvSpPr>
          <p:cNvPr id="459" name="Google Shape;459;p27"/>
          <p:cNvSpPr txBox="1"/>
          <p:nvPr/>
        </p:nvSpPr>
        <p:spPr>
          <a:xfrm>
            <a:off x="3984925" y="2963500"/>
            <a:ext cx="1003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Time series is influenced by trend, from level and random fluctuations</a:t>
            </a:r>
            <a:endParaRPr sz="700">
              <a:latin typeface="Nunito"/>
              <a:ea typeface="Nunito"/>
              <a:cs typeface="Nunito"/>
              <a:sym typeface="Nunito"/>
            </a:endParaRPr>
          </a:p>
          <a:p>
            <a:pPr indent="0" lvl="0" marL="0" rtl="0" algn="ctr">
              <a:spcBef>
                <a:spcPts val="0"/>
              </a:spcBef>
              <a:spcAft>
                <a:spcPts val="0"/>
              </a:spcAft>
              <a:buNone/>
            </a:pPr>
            <a:r>
              <a:t/>
            </a:r>
            <a:endParaRPr sz="700">
              <a:latin typeface="Nunito"/>
              <a:ea typeface="Nunito"/>
              <a:cs typeface="Nunito"/>
              <a:sym typeface="Nunito"/>
            </a:endParaRPr>
          </a:p>
          <a:p>
            <a:pPr indent="0" lvl="0" marL="0" rtl="0" algn="ctr">
              <a:spcBef>
                <a:spcPts val="0"/>
              </a:spcBef>
              <a:spcAft>
                <a:spcPts val="0"/>
              </a:spcAft>
              <a:buNone/>
            </a:pPr>
            <a:r>
              <a:rPr i="1" lang="es-419" sz="700">
                <a:latin typeface="Nunito"/>
                <a:ea typeface="Nunito"/>
                <a:cs typeface="Nunito"/>
                <a:sym typeface="Nunito"/>
              </a:rPr>
              <a:t>Y</a:t>
            </a:r>
            <a:r>
              <a:rPr baseline="-25000" i="1" lang="es-419" sz="700">
                <a:latin typeface="Nunito"/>
                <a:ea typeface="Nunito"/>
                <a:cs typeface="Nunito"/>
                <a:sym typeface="Nunito"/>
              </a:rPr>
              <a:t>T</a:t>
            </a:r>
            <a:r>
              <a:rPr i="1" lang="es-419" sz="700">
                <a:latin typeface="Nunito"/>
                <a:ea typeface="Nunito"/>
                <a:cs typeface="Nunito"/>
                <a:sym typeface="Nunito"/>
              </a:rPr>
              <a:t> = f(E</a:t>
            </a:r>
            <a:r>
              <a:rPr baseline="-25000" i="1" lang="es-419" sz="700">
                <a:latin typeface="Nunito"/>
                <a:ea typeface="Nunito"/>
                <a:cs typeface="Nunito"/>
                <a:sym typeface="Nunito"/>
              </a:rPr>
              <a:t>T</a:t>
            </a:r>
            <a:r>
              <a:rPr i="1" lang="es-419" sz="700">
                <a:latin typeface="Nunito"/>
                <a:ea typeface="Nunito"/>
                <a:cs typeface="Nunito"/>
                <a:sym typeface="Nunito"/>
              </a:rPr>
              <a:t>, S</a:t>
            </a:r>
            <a:r>
              <a:rPr baseline="-25000" i="1" lang="es-419" sz="700">
                <a:latin typeface="Nunito"/>
                <a:ea typeface="Nunito"/>
                <a:cs typeface="Nunito"/>
                <a:sym typeface="Nunito"/>
              </a:rPr>
              <a:t>T</a:t>
            </a:r>
            <a:r>
              <a:rPr i="1" lang="es-419" sz="700">
                <a:latin typeface="Nunito"/>
                <a:ea typeface="Nunito"/>
                <a:cs typeface="Nunito"/>
                <a:sym typeface="Nunito"/>
              </a:rPr>
              <a:t>, T</a:t>
            </a:r>
            <a:r>
              <a:rPr baseline="-25000" i="1" lang="es-419" sz="700">
                <a:latin typeface="Nunito"/>
                <a:ea typeface="Nunito"/>
                <a:cs typeface="Nunito"/>
                <a:sym typeface="Nunito"/>
              </a:rPr>
              <a:t>T</a:t>
            </a:r>
            <a:r>
              <a:rPr i="1" lang="es-419" sz="700">
                <a:latin typeface="Nunito"/>
                <a:ea typeface="Nunito"/>
                <a:cs typeface="Nunito"/>
                <a:sym typeface="Nunito"/>
              </a:rPr>
              <a:t>)</a:t>
            </a:r>
            <a:endParaRPr sz="700">
              <a:latin typeface="Nunito"/>
              <a:ea typeface="Nunito"/>
              <a:cs typeface="Nunito"/>
              <a:sym typeface="Nunito"/>
            </a:endParaRPr>
          </a:p>
        </p:txBody>
      </p:sp>
      <p:sp>
        <p:nvSpPr>
          <p:cNvPr id="460" name="Google Shape;460;p27"/>
          <p:cNvSpPr/>
          <p:nvPr/>
        </p:nvSpPr>
        <p:spPr>
          <a:xfrm rot="-5400000">
            <a:off x="3333675" y="2349775"/>
            <a:ext cx="74700" cy="3237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7"/>
          <p:cNvSpPr txBox="1"/>
          <p:nvPr/>
        </p:nvSpPr>
        <p:spPr>
          <a:xfrm>
            <a:off x="1873825" y="41417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700">
                <a:latin typeface="Nunito"/>
                <a:ea typeface="Nunito"/>
                <a:cs typeface="Nunito"/>
                <a:sym typeface="Nunito"/>
              </a:rPr>
              <a:t>Combination of individual components:</a:t>
            </a:r>
            <a:endParaRPr sz="700">
              <a:latin typeface="Nunito"/>
              <a:ea typeface="Nunito"/>
              <a:cs typeface="Nunito"/>
              <a:sym typeface="Nunito"/>
            </a:endParaRPr>
          </a:p>
          <a:p>
            <a:pPr indent="0" lvl="0" marL="0" rtl="0" algn="ctr">
              <a:spcBef>
                <a:spcPts val="0"/>
              </a:spcBef>
              <a:spcAft>
                <a:spcPts val="0"/>
              </a:spcAft>
              <a:buNone/>
            </a:pPr>
            <a:r>
              <a:rPr i="1" lang="es-419" sz="700">
                <a:latin typeface="Nunito"/>
                <a:ea typeface="Nunito"/>
                <a:cs typeface="Nunito"/>
                <a:sym typeface="Nunito"/>
              </a:rPr>
              <a:t>Y</a:t>
            </a:r>
            <a:r>
              <a:rPr baseline="-25000" i="1" lang="es-419" sz="700">
                <a:latin typeface="Nunito"/>
                <a:ea typeface="Nunito"/>
                <a:cs typeface="Nunito"/>
                <a:sym typeface="Nunito"/>
              </a:rPr>
              <a:t>T</a:t>
            </a:r>
            <a:r>
              <a:rPr i="1" lang="es-419" sz="700">
                <a:latin typeface="Nunito"/>
                <a:ea typeface="Nunito"/>
                <a:cs typeface="Nunito"/>
                <a:sym typeface="Nunito"/>
              </a:rPr>
              <a:t> = f(E</a:t>
            </a:r>
            <a:r>
              <a:rPr baseline="-25000" i="1" lang="es-419" sz="700">
                <a:latin typeface="Nunito"/>
                <a:ea typeface="Nunito"/>
                <a:cs typeface="Nunito"/>
                <a:sym typeface="Nunito"/>
              </a:rPr>
              <a:t>T</a:t>
            </a:r>
            <a:r>
              <a:rPr i="1" lang="es-419" sz="700">
                <a:latin typeface="Nunito"/>
                <a:ea typeface="Nunito"/>
                <a:cs typeface="Nunito"/>
                <a:sym typeface="Nunito"/>
              </a:rPr>
              <a:t>, S</a:t>
            </a:r>
            <a:r>
              <a:rPr baseline="-25000" i="1" lang="es-419" sz="700">
                <a:latin typeface="Nunito"/>
                <a:ea typeface="Nunito"/>
                <a:cs typeface="Nunito"/>
                <a:sym typeface="Nunito"/>
              </a:rPr>
              <a:t>T</a:t>
            </a:r>
            <a:r>
              <a:rPr i="1" lang="es-419" sz="700">
                <a:latin typeface="Nunito"/>
                <a:ea typeface="Nunito"/>
                <a:cs typeface="Nunito"/>
                <a:sym typeface="Nunito"/>
              </a:rPr>
              <a:t>, T</a:t>
            </a:r>
            <a:r>
              <a:rPr baseline="-25000" i="1" lang="es-419" sz="700">
                <a:latin typeface="Nunito"/>
                <a:ea typeface="Nunito"/>
                <a:cs typeface="Nunito"/>
                <a:sym typeface="Nunito"/>
              </a:rPr>
              <a:t>T</a:t>
            </a:r>
            <a:r>
              <a:rPr i="1" lang="es-419" sz="700">
                <a:latin typeface="Nunito"/>
                <a:ea typeface="Nunito"/>
                <a:cs typeface="Nunito"/>
                <a:sym typeface="Nunito"/>
              </a:rPr>
              <a:t>)</a:t>
            </a:r>
            <a:endParaRPr sz="7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Missing value treatments</a:t>
            </a:r>
            <a:endParaRPr/>
          </a:p>
        </p:txBody>
      </p:sp>
      <p:sp>
        <p:nvSpPr>
          <p:cNvPr id="467" name="Google Shape;467;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68" name="Google Shape;468;p2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https://www.machinelearningplus.com/time-series/time-series-analysis-python/</a:t>
            </a:r>
            <a:endParaRPr sz="800">
              <a:solidFill>
                <a:srgbClr val="94B6BD"/>
              </a:solidFill>
            </a:endParaRPr>
          </a:p>
        </p:txBody>
      </p:sp>
      <p:sp>
        <p:nvSpPr>
          <p:cNvPr id="469" name="Google Shape;469;p28"/>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Cuando hay pérdida de datos durante la captura se pueden realizar varias acciones. La primera de ellas es completar esos períodos con cero. En segundo lugar, reemplazar los valores faltantes con la media de la serie. Otra solución rápida y ‘sucia’ es replicar el valor anterior. Algunas alternativas que son más efectivas son:</a:t>
            </a:r>
            <a:endParaRPr/>
          </a:p>
          <a:p>
            <a:pPr indent="-317500" lvl="0" marL="457200" rtl="0" algn="l">
              <a:spcBef>
                <a:spcPts val="1200"/>
              </a:spcBef>
              <a:spcAft>
                <a:spcPts val="0"/>
              </a:spcAft>
              <a:buSzPts val="1400"/>
              <a:buChar char="●"/>
            </a:pPr>
            <a:r>
              <a:rPr lang="es-419"/>
              <a:t>Backward Fill</a:t>
            </a:r>
            <a:endParaRPr/>
          </a:p>
          <a:p>
            <a:pPr indent="-317500" lvl="0" marL="457200" rtl="0" algn="l">
              <a:spcBef>
                <a:spcPts val="0"/>
              </a:spcBef>
              <a:spcAft>
                <a:spcPts val="0"/>
              </a:spcAft>
              <a:buSzPts val="1400"/>
              <a:buChar char="●"/>
            </a:pPr>
            <a:r>
              <a:rPr lang="es-419"/>
              <a:t>Linear Interpolation</a:t>
            </a:r>
            <a:endParaRPr/>
          </a:p>
          <a:p>
            <a:pPr indent="-317500" lvl="0" marL="457200" rtl="0" algn="l">
              <a:spcBef>
                <a:spcPts val="0"/>
              </a:spcBef>
              <a:spcAft>
                <a:spcPts val="0"/>
              </a:spcAft>
              <a:buSzPts val="1400"/>
              <a:buChar char="●"/>
            </a:pPr>
            <a:r>
              <a:rPr lang="es-419"/>
              <a:t>Quadratic interpolation</a:t>
            </a:r>
            <a:endParaRPr/>
          </a:p>
          <a:p>
            <a:pPr indent="-317500" lvl="0" marL="457200" rtl="0" algn="l">
              <a:spcBef>
                <a:spcPts val="0"/>
              </a:spcBef>
              <a:spcAft>
                <a:spcPts val="0"/>
              </a:spcAft>
              <a:buSzPts val="1400"/>
              <a:buChar char="●"/>
            </a:pPr>
            <a:r>
              <a:rPr lang="es-419"/>
              <a:t>Mean of nearest neighbors</a:t>
            </a:r>
            <a:endParaRPr/>
          </a:p>
          <a:p>
            <a:pPr indent="-317500" lvl="0" marL="457200" rtl="0" algn="l">
              <a:spcBef>
                <a:spcPts val="0"/>
              </a:spcBef>
              <a:spcAft>
                <a:spcPts val="0"/>
              </a:spcAft>
              <a:buSzPts val="1400"/>
              <a:buChar char="●"/>
            </a:pPr>
            <a:r>
              <a:rPr lang="es-419"/>
              <a:t>Mean of seasonal counterparts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5" name="Google Shape;475;p2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https://www.machinelearningplus.com/time-series/time-series-analysis-python/</a:t>
            </a:r>
            <a:endParaRPr sz="800">
              <a:solidFill>
                <a:srgbClr val="94B6BD"/>
              </a:solidFill>
            </a:endParaRPr>
          </a:p>
        </p:txBody>
      </p:sp>
      <p:pic>
        <p:nvPicPr>
          <p:cNvPr id="476" name="Google Shape;476;p29"/>
          <p:cNvPicPr preferRelativeResize="0"/>
          <p:nvPr/>
        </p:nvPicPr>
        <p:blipFill>
          <a:blip r:embed="rId3">
            <a:alphaModFix/>
          </a:blip>
          <a:stretch>
            <a:fillRect/>
          </a:stretch>
        </p:blipFill>
        <p:spPr>
          <a:xfrm>
            <a:off x="3041267" y="370375"/>
            <a:ext cx="3061474" cy="3657725"/>
          </a:xfrm>
          <a:prstGeom prst="rect">
            <a:avLst/>
          </a:prstGeom>
          <a:noFill/>
          <a:ln>
            <a:noFill/>
          </a:ln>
        </p:spPr>
      </p:pic>
      <p:sp>
        <p:nvSpPr>
          <p:cNvPr id="477" name="Google Shape;477;p2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Missing value treatments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Smoothing time-series</a:t>
            </a:r>
            <a:endParaRPr/>
          </a:p>
        </p:txBody>
      </p:sp>
      <p:sp>
        <p:nvSpPr>
          <p:cNvPr id="483" name="Google Shape;483;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84" name="Google Shape;484;p3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https://www.machinelearningplus.com/time-series/time-series-analysis-python/</a:t>
            </a:r>
            <a:endParaRPr sz="800">
              <a:solidFill>
                <a:srgbClr val="94B6BD"/>
              </a:solidFill>
            </a:endParaRPr>
          </a:p>
        </p:txBody>
      </p:sp>
      <p:sp>
        <p:nvSpPr>
          <p:cNvPr id="485" name="Google Shape;485;p30"/>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suavizado de una serie de tiempo puede ser útil:</a:t>
            </a:r>
            <a:endParaRPr/>
          </a:p>
          <a:p>
            <a:pPr indent="-317500" lvl="0" marL="457200" rtl="0" algn="l">
              <a:spcBef>
                <a:spcPts val="1200"/>
              </a:spcBef>
              <a:spcAft>
                <a:spcPts val="0"/>
              </a:spcAft>
              <a:buSzPts val="1400"/>
              <a:buChar char="●"/>
            </a:pPr>
            <a:r>
              <a:rPr lang="es-419"/>
              <a:t>Reducir</a:t>
            </a:r>
            <a:r>
              <a:rPr lang="es-419"/>
              <a:t> el efecto del ruido en una señal.</a:t>
            </a:r>
            <a:endParaRPr/>
          </a:p>
          <a:p>
            <a:pPr indent="-317500" lvl="0" marL="457200" rtl="0" algn="l">
              <a:spcBef>
                <a:spcPts val="0"/>
              </a:spcBef>
              <a:spcAft>
                <a:spcPts val="0"/>
              </a:spcAft>
              <a:buSzPts val="1400"/>
              <a:buChar char="●"/>
            </a:pPr>
            <a:r>
              <a:rPr lang="es-419"/>
              <a:t>Explicar la serie original, como referencia.</a:t>
            </a:r>
            <a:endParaRPr/>
          </a:p>
          <a:p>
            <a:pPr indent="-317500" lvl="0" marL="457200" rtl="0" algn="l">
              <a:spcBef>
                <a:spcPts val="0"/>
              </a:spcBef>
              <a:spcAft>
                <a:spcPts val="0"/>
              </a:spcAft>
              <a:buSzPts val="1400"/>
              <a:buChar char="●"/>
            </a:pPr>
            <a:r>
              <a:rPr lang="es-419"/>
              <a:t>Visualizar mejor la tendencia implícita.</a:t>
            </a:r>
            <a:endParaRPr/>
          </a:p>
          <a:p>
            <a:pPr indent="0" lvl="0" marL="0" rtl="0" algn="l">
              <a:spcBef>
                <a:spcPts val="1200"/>
              </a:spcBef>
              <a:spcAft>
                <a:spcPts val="0"/>
              </a:spcAft>
              <a:buNone/>
            </a:pPr>
            <a:r>
              <a:rPr lang="es-419"/>
              <a:t>Algunos de los métodos más usados son:</a:t>
            </a:r>
            <a:endParaRPr/>
          </a:p>
          <a:p>
            <a:pPr indent="-317500" lvl="0" marL="457200" rtl="0" algn="l">
              <a:spcBef>
                <a:spcPts val="1200"/>
              </a:spcBef>
              <a:spcAft>
                <a:spcPts val="0"/>
              </a:spcAft>
              <a:buSzPts val="1400"/>
              <a:buChar char="●"/>
            </a:pPr>
            <a:r>
              <a:rPr lang="es-419"/>
              <a:t>Moving average</a:t>
            </a:r>
            <a:endParaRPr/>
          </a:p>
          <a:p>
            <a:pPr indent="-317500" lvl="0" marL="457200" rtl="0" algn="l">
              <a:spcBef>
                <a:spcPts val="0"/>
              </a:spcBef>
              <a:spcAft>
                <a:spcPts val="0"/>
              </a:spcAft>
              <a:buSzPts val="1400"/>
              <a:buChar char="●"/>
            </a:pPr>
            <a:r>
              <a:rPr lang="es-419"/>
              <a:t>LOESS smoothing (regresión localizada)</a:t>
            </a:r>
            <a:endParaRPr/>
          </a:p>
          <a:p>
            <a:pPr indent="-317500" lvl="0" marL="457200" rtl="0" algn="l">
              <a:spcBef>
                <a:spcPts val="0"/>
              </a:spcBef>
              <a:spcAft>
                <a:spcPts val="0"/>
              </a:spcAft>
              <a:buSzPts val="1400"/>
              <a:buChar char="●"/>
            </a:pPr>
            <a:r>
              <a:rPr lang="es-419"/>
              <a:t>LOWESS smoothing (regresión ponderada localmente)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91" name="Google Shape;491;p3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https://www.machinelearningplus.com/time-series/time-series-analysis-python/</a:t>
            </a:r>
            <a:endParaRPr sz="800">
              <a:solidFill>
                <a:srgbClr val="94B6BD"/>
              </a:solidFill>
            </a:endParaRPr>
          </a:p>
        </p:txBody>
      </p:sp>
      <p:sp>
        <p:nvSpPr>
          <p:cNvPr id="492" name="Google Shape;492;p3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Smoothing time-series</a:t>
            </a:r>
            <a:endParaRPr/>
          </a:p>
        </p:txBody>
      </p:sp>
      <p:pic>
        <p:nvPicPr>
          <p:cNvPr id="493" name="Google Shape;493;p31"/>
          <p:cNvPicPr preferRelativeResize="0"/>
          <p:nvPr/>
        </p:nvPicPr>
        <p:blipFill>
          <a:blip r:embed="rId3">
            <a:alphaModFix/>
          </a:blip>
          <a:stretch>
            <a:fillRect/>
          </a:stretch>
        </p:blipFill>
        <p:spPr>
          <a:xfrm>
            <a:off x="3153762" y="808650"/>
            <a:ext cx="2836475" cy="3033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Time-series features</a:t>
            </a:r>
            <a:endParaRPr/>
          </a:p>
        </p:txBody>
      </p:sp>
      <p:sp>
        <p:nvSpPr>
          <p:cNvPr id="499" name="Google Shape;499;p32"/>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Las métricas o características extraídas a partir de series temporales pueden ser usadas para tareas de clasificación o regresión. Algunas de estas son:</a:t>
            </a:r>
            <a:endParaRPr/>
          </a:p>
          <a:p>
            <a:pPr indent="-317500" lvl="0" marL="457200" rtl="0" algn="l">
              <a:spcBef>
                <a:spcPts val="1200"/>
              </a:spcBef>
              <a:spcAft>
                <a:spcPts val="0"/>
              </a:spcAft>
              <a:buSzPts val="1400"/>
              <a:buChar char="●"/>
            </a:pPr>
            <a:r>
              <a:rPr lang="es-419"/>
              <a:t>Medidas lineales univariadas</a:t>
            </a:r>
            <a:endParaRPr/>
          </a:p>
          <a:p>
            <a:pPr indent="-304800" lvl="1" marL="914400" rtl="0" algn="l">
              <a:spcBef>
                <a:spcPts val="0"/>
              </a:spcBef>
              <a:spcAft>
                <a:spcPts val="0"/>
              </a:spcAft>
              <a:buSzPts val="1200"/>
              <a:buChar char="○"/>
            </a:pPr>
            <a:r>
              <a:rPr lang="es-419"/>
              <a:t>Moment</a:t>
            </a:r>
            <a:endParaRPr/>
          </a:p>
          <a:p>
            <a:pPr indent="-304800" lvl="1" marL="914400" rtl="0" algn="l">
              <a:spcBef>
                <a:spcPts val="0"/>
              </a:spcBef>
              <a:spcAft>
                <a:spcPts val="0"/>
              </a:spcAft>
              <a:buSzPts val="1200"/>
              <a:buChar char="○"/>
            </a:pPr>
            <a:r>
              <a:rPr lang="es-419"/>
              <a:t>Spectral band power</a:t>
            </a:r>
            <a:endParaRPr/>
          </a:p>
          <a:p>
            <a:pPr indent="-304800" lvl="1" marL="914400" rtl="0" algn="l">
              <a:spcBef>
                <a:spcPts val="0"/>
              </a:spcBef>
              <a:spcAft>
                <a:spcPts val="0"/>
              </a:spcAft>
              <a:buSzPts val="1200"/>
              <a:buChar char="○"/>
            </a:pPr>
            <a:r>
              <a:rPr lang="es-419"/>
              <a:t>Spectral edge frequency</a:t>
            </a:r>
            <a:endParaRPr/>
          </a:p>
          <a:p>
            <a:pPr indent="-304800" lvl="1" marL="914400" rtl="0" algn="l">
              <a:spcBef>
                <a:spcPts val="0"/>
              </a:spcBef>
              <a:spcAft>
                <a:spcPts val="0"/>
              </a:spcAft>
              <a:buSzPts val="1200"/>
              <a:buChar char="○"/>
            </a:pPr>
            <a:r>
              <a:rPr lang="es-419"/>
              <a:t>Accumulated Energy </a:t>
            </a:r>
            <a:endParaRPr/>
          </a:p>
          <a:p>
            <a:pPr indent="-304800" lvl="1" marL="914400" rtl="0" algn="l">
              <a:spcBef>
                <a:spcPts val="0"/>
              </a:spcBef>
              <a:spcAft>
                <a:spcPts val="0"/>
              </a:spcAft>
              <a:buSzPts val="1200"/>
              <a:buChar char="○"/>
            </a:pPr>
            <a:r>
              <a:rPr lang="es-419"/>
              <a:t>Characteristics of the autocorrelation function</a:t>
            </a:r>
            <a:endParaRPr/>
          </a:p>
          <a:p>
            <a:pPr indent="-304800" lvl="1" marL="914400" rtl="0" algn="l">
              <a:spcBef>
                <a:spcPts val="0"/>
              </a:spcBef>
              <a:spcAft>
                <a:spcPts val="0"/>
              </a:spcAft>
              <a:buSzPts val="1200"/>
              <a:buChar char="○"/>
            </a:pPr>
            <a:r>
              <a:rPr lang="es-419"/>
              <a:t>Hjorth parameters</a:t>
            </a:r>
            <a:endParaRPr/>
          </a:p>
          <a:p>
            <a:pPr indent="-304800" lvl="1" marL="914400" rtl="0" algn="l">
              <a:spcBef>
                <a:spcPts val="0"/>
              </a:spcBef>
              <a:spcAft>
                <a:spcPts val="0"/>
              </a:spcAft>
              <a:buSzPts val="1200"/>
              <a:buChar char="○"/>
            </a:pPr>
            <a:r>
              <a:rPr lang="es-419"/>
              <a:t>FFT parameters</a:t>
            </a:r>
            <a:endParaRPr/>
          </a:p>
          <a:p>
            <a:pPr indent="-304800" lvl="1" marL="914400" rtl="0" algn="l">
              <a:spcBef>
                <a:spcPts val="0"/>
              </a:spcBef>
              <a:spcAft>
                <a:spcPts val="0"/>
              </a:spcAft>
              <a:buSzPts val="1200"/>
              <a:buChar char="○"/>
            </a:pPr>
            <a:r>
              <a:rPr lang="es-419"/>
              <a:t>Autoregressive model parameters</a:t>
            </a:r>
            <a:endParaRPr/>
          </a:p>
          <a:p>
            <a:pPr indent="-304800" lvl="1" marL="914400" rtl="0" algn="l">
              <a:spcBef>
                <a:spcPts val="0"/>
              </a:spcBef>
              <a:spcAft>
                <a:spcPts val="0"/>
              </a:spcAft>
              <a:buSzPts val="1200"/>
              <a:buChar char="○"/>
            </a:pPr>
            <a:r>
              <a:rPr lang="es-419"/>
              <a:t>Mann–Kendall test</a:t>
            </a:r>
            <a:endParaRPr/>
          </a:p>
        </p:txBody>
      </p:sp>
      <p:sp>
        <p:nvSpPr>
          <p:cNvPr id="500" name="Google Shape;500;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Time-series features</a:t>
            </a:r>
            <a:endParaRPr sz="2400">
              <a:solidFill>
                <a:schemeClr val="accent2"/>
              </a:solidFill>
            </a:endParaRPr>
          </a:p>
        </p:txBody>
      </p:sp>
      <p:sp>
        <p:nvSpPr>
          <p:cNvPr id="506" name="Google Shape;506;p33"/>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s-419"/>
              <a:t>Medidas no-lineales univariadas</a:t>
            </a:r>
            <a:endParaRPr/>
          </a:p>
          <a:p>
            <a:pPr indent="-304800" lvl="1" marL="914400" rtl="0" algn="l">
              <a:spcBef>
                <a:spcPts val="0"/>
              </a:spcBef>
              <a:spcAft>
                <a:spcPts val="0"/>
              </a:spcAft>
              <a:buSzPts val="1200"/>
              <a:buChar char="○"/>
            </a:pPr>
            <a:r>
              <a:rPr lang="es-419"/>
              <a:t>Measures based on the correlation sum</a:t>
            </a:r>
            <a:endParaRPr/>
          </a:p>
          <a:p>
            <a:pPr indent="-304800" lvl="1" marL="914400" rtl="0" algn="l">
              <a:spcBef>
                <a:spcPts val="0"/>
              </a:spcBef>
              <a:spcAft>
                <a:spcPts val="0"/>
              </a:spcAft>
              <a:buSzPts val="1200"/>
              <a:buChar char="○"/>
            </a:pPr>
            <a:r>
              <a:rPr lang="es-419"/>
              <a:t>Correlation dimension, correlation integral, correlation density, correlation entropy</a:t>
            </a:r>
            <a:endParaRPr/>
          </a:p>
          <a:p>
            <a:pPr indent="-304800" lvl="1" marL="914400" rtl="0" algn="l">
              <a:spcBef>
                <a:spcPts val="0"/>
              </a:spcBef>
              <a:spcAft>
                <a:spcPts val="0"/>
              </a:spcAft>
              <a:buSzPts val="1200"/>
              <a:buChar char="○"/>
            </a:pPr>
            <a:r>
              <a:rPr lang="es-419"/>
              <a:t>Approximate entropy, sample entropy, Fourier entropy, wavelet entropy, dispersion entropy, fluctuation dispersion entropy, Rényi entropy</a:t>
            </a:r>
            <a:endParaRPr/>
          </a:p>
          <a:p>
            <a:pPr indent="-304800" lvl="1" marL="914400" rtl="0" algn="l">
              <a:spcBef>
                <a:spcPts val="0"/>
              </a:spcBef>
              <a:spcAft>
                <a:spcPts val="0"/>
              </a:spcAft>
              <a:buSzPts val="1200"/>
              <a:buChar char="○"/>
            </a:pPr>
            <a:r>
              <a:rPr lang="es-419"/>
              <a:t>Higher-order methods</a:t>
            </a:r>
            <a:endParaRPr/>
          </a:p>
          <a:p>
            <a:pPr indent="-304800" lvl="1" marL="914400" rtl="0" algn="l">
              <a:spcBef>
                <a:spcPts val="0"/>
              </a:spcBef>
              <a:spcAft>
                <a:spcPts val="0"/>
              </a:spcAft>
              <a:buSzPts val="1200"/>
              <a:buChar char="○"/>
            </a:pPr>
            <a:r>
              <a:rPr lang="es-419"/>
              <a:t>Marginal predictability</a:t>
            </a:r>
            <a:endParaRPr/>
          </a:p>
          <a:p>
            <a:pPr indent="-304800" lvl="1" marL="914400" rtl="0" algn="l">
              <a:spcBef>
                <a:spcPts val="0"/>
              </a:spcBef>
              <a:spcAft>
                <a:spcPts val="0"/>
              </a:spcAft>
              <a:buSzPts val="1200"/>
              <a:buChar char="○"/>
            </a:pPr>
            <a:r>
              <a:rPr lang="es-419"/>
              <a:t>Dynamical similarity index</a:t>
            </a:r>
            <a:endParaRPr/>
          </a:p>
          <a:p>
            <a:pPr indent="-304800" lvl="1" marL="914400" rtl="0" algn="l">
              <a:spcBef>
                <a:spcPts val="0"/>
              </a:spcBef>
              <a:spcAft>
                <a:spcPts val="0"/>
              </a:spcAft>
              <a:buSzPts val="1200"/>
              <a:buChar char="○"/>
            </a:pPr>
            <a:r>
              <a:rPr lang="es-419"/>
              <a:t>State space dissimilarity measures</a:t>
            </a:r>
            <a:endParaRPr/>
          </a:p>
          <a:p>
            <a:pPr indent="-304800" lvl="1" marL="914400" rtl="0" algn="l">
              <a:spcBef>
                <a:spcPts val="0"/>
              </a:spcBef>
              <a:spcAft>
                <a:spcPts val="0"/>
              </a:spcAft>
              <a:buSzPts val="1200"/>
              <a:buChar char="○"/>
            </a:pPr>
            <a:r>
              <a:rPr lang="es-419"/>
              <a:t>Lyapunov exponent</a:t>
            </a:r>
            <a:endParaRPr/>
          </a:p>
          <a:p>
            <a:pPr indent="-304800" lvl="1" marL="914400" rtl="0" algn="l">
              <a:spcBef>
                <a:spcPts val="0"/>
              </a:spcBef>
              <a:spcAft>
                <a:spcPts val="0"/>
              </a:spcAft>
              <a:buSzPts val="1200"/>
              <a:buChar char="○"/>
            </a:pPr>
            <a:r>
              <a:rPr lang="es-419"/>
              <a:t>Permutation methods</a:t>
            </a:r>
            <a:endParaRPr/>
          </a:p>
          <a:p>
            <a:pPr indent="-304800" lvl="1" marL="914400" rtl="0" algn="l">
              <a:spcBef>
                <a:spcPts val="0"/>
              </a:spcBef>
              <a:spcAft>
                <a:spcPts val="0"/>
              </a:spcAft>
              <a:buSzPts val="1200"/>
              <a:buChar char="○"/>
            </a:pPr>
            <a:r>
              <a:rPr lang="es-419"/>
              <a:t>Local flow</a:t>
            </a:r>
            <a:endParaRPr/>
          </a:p>
        </p:txBody>
      </p:sp>
      <p:sp>
        <p:nvSpPr>
          <p:cNvPr id="507" name="Google Shape;507;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features</a:t>
            </a:r>
            <a:endParaRPr/>
          </a:p>
        </p:txBody>
      </p:sp>
      <p:sp>
        <p:nvSpPr>
          <p:cNvPr id="513" name="Google Shape;513;p34"/>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Otras m</a:t>
            </a:r>
            <a:r>
              <a:rPr lang="es-419"/>
              <a:t>edidas univariadas</a:t>
            </a:r>
            <a:endParaRPr/>
          </a:p>
          <a:p>
            <a:pPr indent="-304800" lvl="1" marL="914400" rtl="0" algn="l">
              <a:spcBef>
                <a:spcPts val="0"/>
              </a:spcBef>
              <a:spcAft>
                <a:spcPts val="0"/>
              </a:spcAft>
              <a:buSzPts val="1200"/>
              <a:buChar char="○"/>
            </a:pPr>
            <a:r>
              <a:rPr lang="es-419"/>
              <a:t>Algorithmic complexity</a:t>
            </a:r>
            <a:endParaRPr/>
          </a:p>
          <a:p>
            <a:pPr indent="-304800" lvl="1" marL="914400" rtl="0" algn="l">
              <a:spcBef>
                <a:spcPts val="0"/>
              </a:spcBef>
              <a:spcAft>
                <a:spcPts val="0"/>
              </a:spcAft>
              <a:buSzPts val="1200"/>
              <a:buChar char="○"/>
            </a:pPr>
            <a:r>
              <a:rPr lang="es-419"/>
              <a:t>Kolmogorov complexity estimates</a:t>
            </a:r>
            <a:endParaRPr/>
          </a:p>
          <a:p>
            <a:pPr indent="-304800" lvl="1" marL="914400" rtl="0" algn="l">
              <a:spcBef>
                <a:spcPts val="0"/>
              </a:spcBef>
              <a:spcAft>
                <a:spcPts val="0"/>
              </a:spcAft>
              <a:buSzPts val="1200"/>
              <a:buChar char="○"/>
            </a:pPr>
            <a:r>
              <a:rPr lang="es-419"/>
              <a:t>Hidden Markov Model states</a:t>
            </a:r>
            <a:endParaRPr/>
          </a:p>
          <a:p>
            <a:pPr indent="-304800" lvl="1" marL="914400" rtl="0" algn="l">
              <a:spcBef>
                <a:spcPts val="0"/>
              </a:spcBef>
              <a:spcAft>
                <a:spcPts val="0"/>
              </a:spcAft>
              <a:buSzPts val="1200"/>
              <a:buChar char="○"/>
            </a:pPr>
            <a:r>
              <a:rPr lang="es-419"/>
              <a:t>Rough path signature</a:t>
            </a:r>
            <a:endParaRPr/>
          </a:p>
          <a:p>
            <a:pPr indent="-304800" lvl="1" marL="914400" rtl="0" algn="l">
              <a:spcBef>
                <a:spcPts val="0"/>
              </a:spcBef>
              <a:spcAft>
                <a:spcPts val="0"/>
              </a:spcAft>
              <a:buSzPts val="1200"/>
              <a:buChar char="○"/>
            </a:pPr>
            <a:r>
              <a:rPr lang="es-419"/>
              <a:t>Surrogate time series and surrogate correction</a:t>
            </a:r>
            <a:endParaRPr/>
          </a:p>
          <a:p>
            <a:pPr indent="-304800" lvl="1" marL="914400" rtl="0" algn="l">
              <a:spcBef>
                <a:spcPts val="0"/>
              </a:spcBef>
              <a:spcAft>
                <a:spcPts val="0"/>
              </a:spcAft>
              <a:buSzPts val="1200"/>
              <a:buChar char="○"/>
            </a:pPr>
            <a:r>
              <a:rPr lang="es-419"/>
              <a:t>Loss of recurrence (degree of non-stationarity)</a:t>
            </a:r>
            <a:endParaRPr/>
          </a:p>
        </p:txBody>
      </p:sp>
      <p:sp>
        <p:nvSpPr>
          <p:cNvPr id="514" name="Google Shape;514;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features</a:t>
            </a:r>
            <a:endParaRPr/>
          </a:p>
        </p:txBody>
      </p:sp>
      <p:sp>
        <p:nvSpPr>
          <p:cNvPr id="520" name="Google Shape;520;p35"/>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Medidas lineales bivariadas</a:t>
            </a:r>
            <a:endParaRPr/>
          </a:p>
          <a:p>
            <a:pPr indent="-304800" lvl="1" marL="914400" rtl="0" algn="l">
              <a:spcBef>
                <a:spcPts val="0"/>
              </a:spcBef>
              <a:spcAft>
                <a:spcPts val="0"/>
              </a:spcAft>
              <a:buSzPts val="1200"/>
              <a:buChar char="○"/>
            </a:pPr>
            <a:r>
              <a:rPr lang="es-419"/>
              <a:t>Maximum linear cross-correlation</a:t>
            </a:r>
            <a:endParaRPr/>
          </a:p>
          <a:p>
            <a:pPr indent="-304800" lvl="1" marL="914400" rtl="0" algn="l">
              <a:spcBef>
                <a:spcPts val="0"/>
              </a:spcBef>
              <a:spcAft>
                <a:spcPts val="0"/>
              </a:spcAft>
              <a:buSzPts val="1200"/>
              <a:buChar char="○"/>
            </a:pPr>
            <a:r>
              <a:rPr lang="es-419"/>
              <a:t>Linear Coherence (signal processing)</a:t>
            </a:r>
            <a:endParaRPr/>
          </a:p>
          <a:p>
            <a:pPr indent="-317500" lvl="0" marL="457200" rtl="0" algn="l">
              <a:spcBef>
                <a:spcPts val="0"/>
              </a:spcBef>
              <a:spcAft>
                <a:spcPts val="0"/>
              </a:spcAft>
              <a:buSzPts val="1400"/>
              <a:buChar char="●"/>
            </a:pPr>
            <a:r>
              <a:rPr lang="es-419"/>
              <a:t>Medidas no-lineales bivariadas</a:t>
            </a:r>
            <a:endParaRPr/>
          </a:p>
          <a:p>
            <a:pPr indent="-304800" lvl="1" marL="914400" rtl="0" algn="l">
              <a:spcBef>
                <a:spcPts val="0"/>
              </a:spcBef>
              <a:spcAft>
                <a:spcPts val="0"/>
              </a:spcAft>
              <a:buSzPts val="1200"/>
              <a:buChar char="○"/>
            </a:pPr>
            <a:r>
              <a:rPr lang="es-419"/>
              <a:t>Non-linear interdependence</a:t>
            </a:r>
            <a:endParaRPr/>
          </a:p>
          <a:p>
            <a:pPr indent="-304800" lvl="1" marL="914400" rtl="0" algn="l">
              <a:spcBef>
                <a:spcPts val="0"/>
              </a:spcBef>
              <a:spcAft>
                <a:spcPts val="0"/>
              </a:spcAft>
              <a:buSzPts val="1200"/>
              <a:buChar char="○"/>
            </a:pPr>
            <a:r>
              <a:rPr lang="es-419"/>
              <a:t>Dynamical Entrainment</a:t>
            </a:r>
            <a:endParaRPr/>
          </a:p>
          <a:p>
            <a:pPr indent="-304800" lvl="1" marL="914400" rtl="0" algn="l">
              <a:spcBef>
                <a:spcPts val="0"/>
              </a:spcBef>
              <a:spcAft>
                <a:spcPts val="0"/>
              </a:spcAft>
              <a:buSzPts val="1200"/>
              <a:buChar char="○"/>
            </a:pPr>
            <a:r>
              <a:rPr lang="es-419"/>
              <a:t>Measures for Phase synchronization</a:t>
            </a:r>
            <a:endParaRPr/>
          </a:p>
          <a:p>
            <a:pPr indent="-304800" lvl="1" marL="914400" rtl="0" algn="l">
              <a:spcBef>
                <a:spcPts val="0"/>
              </a:spcBef>
              <a:spcAft>
                <a:spcPts val="0"/>
              </a:spcAft>
              <a:buSzPts val="1200"/>
              <a:buChar char="○"/>
            </a:pPr>
            <a:r>
              <a:rPr lang="es-419"/>
              <a:t>Measures for Phase locking</a:t>
            </a:r>
            <a:endParaRPr/>
          </a:p>
        </p:txBody>
      </p:sp>
      <p:sp>
        <p:nvSpPr>
          <p:cNvPr id="521" name="Google Shape;521;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Time-series features</a:t>
            </a:r>
            <a:endParaRPr/>
          </a:p>
        </p:txBody>
      </p:sp>
      <p:sp>
        <p:nvSpPr>
          <p:cNvPr id="527" name="Google Shape;527;p36"/>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Medidas de similaridad</a:t>
            </a:r>
            <a:endParaRPr/>
          </a:p>
          <a:p>
            <a:pPr indent="-304800" lvl="1" marL="914400" rtl="0" algn="l">
              <a:spcBef>
                <a:spcPts val="0"/>
              </a:spcBef>
              <a:spcAft>
                <a:spcPts val="0"/>
              </a:spcAft>
              <a:buSzPts val="1200"/>
              <a:buChar char="○"/>
            </a:pPr>
            <a:r>
              <a:rPr lang="es-419"/>
              <a:t>Dynamic Time Warping</a:t>
            </a:r>
            <a:endParaRPr/>
          </a:p>
          <a:p>
            <a:pPr indent="-304800" lvl="1" marL="914400" rtl="0" algn="l">
              <a:spcBef>
                <a:spcPts val="0"/>
              </a:spcBef>
              <a:spcAft>
                <a:spcPts val="0"/>
              </a:spcAft>
              <a:buSzPts val="1200"/>
              <a:buChar char="○"/>
            </a:pPr>
            <a:r>
              <a:rPr lang="es-419"/>
              <a:t>Newey–West estimator</a:t>
            </a:r>
            <a:endParaRPr/>
          </a:p>
          <a:p>
            <a:pPr indent="-304800" lvl="1" marL="914400" rtl="0" algn="l">
              <a:spcBef>
                <a:spcPts val="0"/>
              </a:spcBef>
              <a:spcAft>
                <a:spcPts val="0"/>
              </a:spcAft>
              <a:buSzPts val="1200"/>
              <a:buChar char="○"/>
            </a:pPr>
            <a:r>
              <a:rPr lang="es-419"/>
              <a:t>Prais–Winsten transformation</a:t>
            </a:r>
            <a:endParaRPr/>
          </a:p>
          <a:p>
            <a:pPr indent="-304800" lvl="1" marL="914400" rtl="0" algn="l">
              <a:spcBef>
                <a:spcPts val="0"/>
              </a:spcBef>
              <a:spcAft>
                <a:spcPts val="0"/>
              </a:spcAft>
              <a:buSzPts val="1200"/>
              <a:buChar char="○"/>
            </a:pPr>
            <a:r>
              <a:rPr lang="es-419"/>
              <a:t>Data as Vectors in a Metrizable Space: Minkowski distance, Mahalanobis distance</a:t>
            </a:r>
            <a:endParaRPr/>
          </a:p>
          <a:p>
            <a:pPr indent="-304800" lvl="1" marL="914400" rtl="0" algn="l">
              <a:spcBef>
                <a:spcPts val="0"/>
              </a:spcBef>
              <a:spcAft>
                <a:spcPts val="0"/>
              </a:spcAft>
              <a:buSzPts val="1200"/>
              <a:buChar char="○"/>
            </a:pPr>
            <a:r>
              <a:rPr lang="es-419"/>
              <a:t>Data as time series with envelopes: Global standard deviation, Local standard deviation: Windowed standard deviation</a:t>
            </a:r>
            <a:endParaRPr/>
          </a:p>
          <a:p>
            <a:pPr indent="-304800" lvl="1" marL="914400" rtl="0" algn="l">
              <a:spcBef>
                <a:spcPts val="0"/>
              </a:spcBef>
              <a:spcAft>
                <a:spcPts val="0"/>
              </a:spcAft>
              <a:buSzPts val="1200"/>
              <a:buChar char="○"/>
            </a:pPr>
            <a:r>
              <a:rPr lang="es-419"/>
              <a:t>Data interpreted as stochastic series: Pearson product-moment correlation coefficient, Spearman's rank correlation coefficient</a:t>
            </a:r>
            <a:endParaRPr/>
          </a:p>
          <a:p>
            <a:pPr indent="-304800" lvl="1" marL="914400" rtl="0" algn="l">
              <a:spcBef>
                <a:spcPts val="0"/>
              </a:spcBef>
              <a:spcAft>
                <a:spcPts val="0"/>
              </a:spcAft>
              <a:buSzPts val="1200"/>
              <a:buChar char="○"/>
            </a:pPr>
            <a:r>
              <a:rPr lang="es-419"/>
              <a:t>Data interpreted as a probability distribution function: Kolmogorov–Smirnov test, Cramér–von Mises criterion</a:t>
            </a:r>
            <a:endParaRPr/>
          </a:p>
        </p:txBody>
      </p:sp>
      <p:sp>
        <p:nvSpPr>
          <p:cNvPr id="528" name="Google Shape;528;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a:t>
            </a:r>
            <a:r>
              <a:rPr lang="es-419"/>
              <a:t>eature extraction process</a:t>
            </a:r>
            <a:endParaRPr/>
          </a:p>
        </p:txBody>
      </p:sp>
      <p:sp>
        <p:nvSpPr>
          <p:cNvPr id="534" name="Google Shape;534;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35" name="Google Shape;535;p37"/>
          <p:cNvPicPr preferRelativeResize="0"/>
          <p:nvPr/>
        </p:nvPicPr>
        <p:blipFill>
          <a:blip r:embed="rId3">
            <a:alphaModFix/>
          </a:blip>
          <a:stretch>
            <a:fillRect/>
          </a:stretch>
        </p:blipFill>
        <p:spPr>
          <a:xfrm>
            <a:off x="1534000" y="1827425"/>
            <a:ext cx="6076001" cy="2400125"/>
          </a:xfrm>
          <a:prstGeom prst="rect">
            <a:avLst/>
          </a:prstGeom>
          <a:noFill/>
          <a:ln>
            <a:noFill/>
          </a:ln>
        </p:spPr>
      </p:pic>
      <p:sp>
        <p:nvSpPr>
          <p:cNvPr id="536" name="Google Shape;536;p3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https://tsfel.readthedocs.io/en/latest/descriptions/get_started.html</a:t>
            </a:r>
            <a:endParaRPr sz="800">
              <a:solidFill>
                <a:srgbClr val="94B6B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TSFEL library</a:t>
            </a:r>
            <a:endParaRPr/>
          </a:p>
        </p:txBody>
      </p:sp>
      <p:sp>
        <p:nvSpPr>
          <p:cNvPr id="542" name="Google Shape;542;p38"/>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Time Series Feature Extraction Library (TSFEL para abreviar) es un paquete de Python para la extracción de características </a:t>
            </a:r>
            <a:r>
              <a:rPr lang="es-419"/>
              <a:t>en</a:t>
            </a:r>
            <a:r>
              <a:rPr lang="es-419"/>
              <a:t> datos de series temporales. TSFEL extrae automáticamente más de 60 características diferentes en los dominios estadístico, temporal y espectral. </a:t>
            </a:r>
            <a:endParaRPr/>
          </a:p>
          <a:p>
            <a:pPr indent="-311150" lvl="0" marL="457200" rtl="0" algn="l">
              <a:spcBef>
                <a:spcPts val="1200"/>
              </a:spcBef>
              <a:spcAft>
                <a:spcPts val="0"/>
              </a:spcAft>
              <a:buSzPts val="1300"/>
              <a:buChar char="●"/>
            </a:pPr>
            <a:r>
              <a:rPr lang="es-419" sz="1300"/>
              <a:t>Implementación intuitiva, rápida y reproducible.</a:t>
            </a:r>
            <a:endParaRPr sz="1300"/>
          </a:p>
          <a:p>
            <a:pPr indent="-311150" lvl="0" marL="457200" rtl="0" algn="l">
              <a:spcBef>
                <a:spcPts val="0"/>
              </a:spcBef>
              <a:spcAft>
                <a:spcPts val="0"/>
              </a:spcAft>
              <a:buSzPts val="1300"/>
              <a:buChar char="●"/>
            </a:pPr>
            <a:r>
              <a:rPr lang="es-419" sz="1300"/>
              <a:t>Evaluación de la complejidad computacional.</a:t>
            </a:r>
            <a:endParaRPr sz="1300"/>
          </a:p>
          <a:p>
            <a:pPr indent="-311150" lvl="0" marL="457200" rtl="0" algn="l">
              <a:spcBef>
                <a:spcPts val="0"/>
              </a:spcBef>
              <a:spcAft>
                <a:spcPts val="0"/>
              </a:spcAft>
              <a:buSzPts val="1300"/>
              <a:buChar char="●"/>
            </a:pPr>
            <a:r>
              <a:rPr lang="es-419" sz="1300"/>
              <a:t>Documentación completa.</a:t>
            </a:r>
            <a:endParaRPr sz="1300"/>
          </a:p>
          <a:p>
            <a:pPr indent="-311150" lvl="0" marL="457200" rtl="0" algn="l">
              <a:spcBef>
                <a:spcPts val="0"/>
              </a:spcBef>
              <a:spcAft>
                <a:spcPts val="0"/>
              </a:spcAft>
              <a:buSzPts val="1300"/>
              <a:buChar char="●"/>
            </a:pPr>
            <a:r>
              <a:rPr lang="es-419" sz="1300"/>
              <a:t>Unidades probadas individualmente.</a:t>
            </a:r>
            <a:endParaRPr sz="1300"/>
          </a:p>
          <a:p>
            <a:pPr indent="-311150" lvl="0" marL="457200" rtl="0" algn="l">
              <a:spcBef>
                <a:spcPts val="0"/>
              </a:spcBef>
              <a:spcAft>
                <a:spcPts val="0"/>
              </a:spcAft>
              <a:buSzPts val="1300"/>
              <a:buChar char="●"/>
            </a:pPr>
            <a:r>
              <a:rPr lang="es-419" sz="1300"/>
              <a:t>Escalable.</a:t>
            </a:r>
            <a:endParaRPr sz="1300"/>
          </a:p>
        </p:txBody>
      </p:sp>
      <p:sp>
        <p:nvSpPr>
          <p:cNvPr id="543" name="Google Shape;543;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4" name="Google Shape;544;p38"/>
          <p:cNvPicPr preferRelativeResize="0"/>
          <p:nvPr/>
        </p:nvPicPr>
        <p:blipFill>
          <a:blip r:embed="rId3">
            <a:alphaModFix/>
          </a:blip>
          <a:stretch>
            <a:fillRect/>
          </a:stretch>
        </p:blipFill>
        <p:spPr>
          <a:xfrm>
            <a:off x="7645974" y="792799"/>
            <a:ext cx="805075" cy="805075"/>
          </a:xfrm>
          <a:prstGeom prst="rect">
            <a:avLst/>
          </a:prstGeom>
          <a:noFill/>
          <a:ln>
            <a:noFill/>
          </a:ln>
        </p:spPr>
      </p:pic>
      <p:sp>
        <p:nvSpPr>
          <p:cNvPr id="545" name="Google Shape;545;p3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https://tsfel.readthedocs.io/en/latest/index.html</a:t>
            </a:r>
            <a:endParaRPr sz="800">
              <a:solidFill>
                <a:srgbClr val="94B6B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1" name="Google Shape;551;p3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https://tsfel.readthedocs.io/en/latest/descriptions/feature_list.html</a:t>
            </a:r>
            <a:endParaRPr sz="800">
              <a:solidFill>
                <a:srgbClr val="94B6BD"/>
              </a:solidFill>
            </a:endParaRPr>
          </a:p>
        </p:txBody>
      </p:sp>
      <p:pic>
        <p:nvPicPr>
          <p:cNvPr id="552" name="Google Shape;552;p39"/>
          <p:cNvPicPr preferRelativeResize="0"/>
          <p:nvPr/>
        </p:nvPicPr>
        <p:blipFill>
          <a:blip r:embed="rId3">
            <a:alphaModFix/>
          </a:blip>
          <a:stretch>
            <a:fillRect/>
          </a:stretch>
        </p:blipFill>
        <p:spPr>
          <a:xfrm>
            <a:off x="1733175" y="232550"/>
            <a:ext cx="2795925" cy="4213437"/>
          </a:xfrm>
          <a:prstGeom prst="rect">
            <a:avLst/>
          </a:prstGeom>
          <a:noFill/>
          <a:ln>
            <a:noFill/>
          </a:ln>
        </p:spPr>
      </p:pic>
      <p:pic>
        <p:nvPicPr>
          <p:cNvPr id="553" name="Google Shape;553;p39"/>
          <p:cNvPicPr preferRelativeResize="0"/>
          <p:nvPr/>
        </p:nvPicPr>
        <p:blipFill>
          <a:blip r:embed="rId4">
            <a:alphaModFix/>
          </a:blip>
          <a:stretch>
            <a:fillRect/>
          </a:stretch>
        </p:blipFill>
        <p:spPr>
          <a:xfrm>
            <a:off x="4529100" y="301475"/>
            <a:ext cx="2888800" cy="4075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9" name="Google Shape;559;p40"/>
          <p:cNvSpPr/>
          <p:nvPr/>
        </p:nvSpPr>
        <p:spPr>
          <a:xfrm>
            <a:off x="2089650" y="571500"/>
            <a:ext cx="4964700" cy="20424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sz="900">
                <a:latin typeface="Nunito"/>
                <a:ea typeface="Nunito"/>
                <a:cs typeface="Nunito"/>
                <a:sym typeface="Nunito"/>
              </a:rPr>
              <a:t>pip install tsfel</a:t>
            </a:r>
            <a:endParaRPr sz="900">
              <a:latin typeface="Nunito"/>
              <a:ea typeface="Nunito"/>
              <a:cs typeface="Nunito"/>
              <a:sym typeface="Nunito"/>
            </a:endParaRPr>
          </a:p>
          <a:p>
            <a:pPr indent="0" lvl="0" marL="0" rtl="0" algn="l">
              <a:spcBef>
                <a:spcPts val="0"/>
              </a:spcBef>
              <a:spcAft>
                <a:spcPts val="0"/>
              </a:spcAft>
              <a:buNone/>
            </a:pPr>
            <a:r>
              <a:t/>
            </a:r>
            <a:endParaRPr sz="900">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import tsfel</a:t>
            </a:r>
            <a:endParaRPr sz="900">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import pandas as pd</a:t>
            </a:r>
            <a:endParaRPr sz="900">
              <a:latin typeface="Nunito"/>
              <a:ea typeface="Nunito"/>
              <a:cs typeface="Nunito"/>
              <a:sym typeface="Nunito"/>
            </a:endParaRPr>
          </a:p>
          <a:p>
            <a:pPr indent="0" lvl="0" marL="0" rtl="0" algn="l">
              <a:spcBef>
                <a:spcPts val="0"/>
              </a:spcBef>
              <a:spcAft>
                <a:spcPts val="0"/>
              </a:spcAft>
              <a:buNone/>
            </a:pPr>
            <a:r>
              <a:t/>
            </a:r>
            <a:endParaRPr sz="900">
              <a:latin typeface="Nunito"/>
              <a:ea typeface="Nunito"/>
              <a:cs typeface="Nunito"/>
              <a:sym typeface="Nunito"/>
            </a:endParaRPr>
          </a:p>
          <a:p>
            <a:pPr indent="0" lvl="0" marL="0" rtl="0" algn="l">
              <a:spcBef>
                <a:spcPts val="0"/>
              </a:spcBef>
              <a:spcAft>
                <a:spcPts val="0"/>
              </a:spcAft>
              <a:buNone/>
            </a:pPr>
            <a:r>
              <a:rPr lang="es-419" sz="900">
                <a:solidFill>
                  <a:schemeClr val="dk1"/>
                </a:solidFill>
                <a:latin typeface="Nunito"/>
                <a:ea typeface="Nunito"/>
                <a:cs typeface="Nunito"/>
                <a:sym typeface="Nunito"/>
              </a:rPr>
              <a:t># load dataset</a:t>
            </a:r>
            <a:endParaRPr sz="900">
              <a:solidFill>
                <a:schemeClr val="dk1"/>
              </a:solidFill>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df = pd.read_csv('iris.csv')</a:t>
            </a:r>
            <a:endParaRPr sz="900">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df.head()</a:t>
            </a:r>
            <a:endParaRPr sz="900">
              <a:latin typeface="Nunito"/>
              <a:ea typeface="Nunito"/>
              <a:cs typeface="Nunito"/>
              <a:sym typeface="Nunito"/>
            </a:endParaRPr>
          </a:p>
          <a:p>
            <a:pPr indent="0" lvl="0" marL="0" rtl="0" algn="l">
              <a:spcBef>
                <a:spcPts val="0"/>
              </a:spcBef>
              <a:spcAft>
                <a:spcPts val="0"/>
              </a:spcAft>
              <a:buNone/>
            </a:pPr>
            <a:r>
              <a:t/>
            </a:r>
            <a:endParaRPr sz="900">
              <a:latin typeface="Nunito"/>
              <a:ea typeface="Nunito"/>
              <a:cs typeface="Nunito"/>
              <a:sym typeface="Nunito"/>
            </a:endParaRPr>
          </a:p>
          <a:p>
            <a:pPr indent="0" lvl="0" marL="0" rtl="0" algn="l">
              <a:spcBef>
                <a:spcPts val="0"/>
              </a:spcBef>
              <a:spcAft>
                <a:spcPts val="0"/>
              </a:spcAft>
              <a:buNone/>
            </a:pPr>
            <a:r>
              <a:rPr lang="es-419" sz="900">
                <a:solidFill>
                  <a:schemeClr val="accent2"/>
                </a:solidFill>
                <a:latin typeface="Nunito"/>
                <a:ea typeface="Nunito"/>
                <a:cs typeface="Nunito"/>
                <a:sym typeface="Nunito"/>
              </a:rPr>
              <a:t># Retrieves a pre-defined feature configuration file to extract all available features</a:t>
            </a:r>
            <a:endParaRPr sz="900">
              <a:solidFill>
                <a:schemeClr val="accent2"/>
              </a:solidFill>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cfg = tsfel.get_features_by_domain("temporal") </a:t>
            </a:r>
            <a:r>
              <a:rPr lang="es-419" sz="900">
                <a:solidFill>
                  <a:schemeClr val="dk1"/>
                </a:solidFill>
                <a:latin typeface="Nunito"/>
                <a:ea typeface="Nunito"/>
                <a:cs typeface="Nunito"/>
                <a:sym typeface="Nunito"/>
              </a:rPr>
              <a:t>#"statistical", "temporal", "spectral"</a:t>
            </a:r>
            <a:endParaRPr sz="900">
              <a:solidFill>
                <a:schemeClr val="dk1"/>
              </a:solidFill>
              <a:latin typeface="Nunito"/>
              <a:ea typeface="Nunito"/>
              <a:cs typeface="Nunito"/>
              <a:sym typeface="Nunito"/>
            </a:endParaRPr>
          </a:p>
          <a:p>
            <a:pPr indent="0" lvl="0" marL="0" rtl="0" algn="l">
              <a:spcBef>
                <a:spcPts val="0"/>
              </a:spcBef>
              <a:spcAft>
                <a:spcPts val="0"/>
              </a:spcAft>
              <a:buNone/>
            </a:pPr>
            <a:r>
              <a:t/>
            </a:r>
            <a:endParaRPr sz="900">
              <a:latin typeface="Nunito"/>
              <a:ea typeface="Nunito"/>
              <a:cs typeface="Nunito"/>
              <a:sym typeface="Nunito"/>
            </a:endParaRPr>
          </a:p>
          <a:p>
            <a:pPr indent="0" lvl="0" marL="0" rtl="0" algn="l">
              <a:spcBef>
                <a:spcPts val="0"/>
              </a:spcBef>
              <a:spcAft>
                <a:spcPts val="0"/>
              </a:spcAft>
              <a:buNone/>
            </a:pPr>
            <a:r>
              <a:rPr lang="es-419" sz="900">
                <a:solidFill>
                  <a:schemeClr val="dk1"/>
                </a:solidFill>
                <a:latin typeface="Nunito"/>
                <a:ea typeface="Nunito"/>
                <a:cs typeface="Nunito"/>
                <a:sym typeface="Nunito"/>
              </a:rPr>
              <a:t># Extract features</a:t>
            </a:r>
            <a:endParaRPr sz="900">
              <a:solidFill>
                <a:schemeClr val="dk1"/>
              </a:solidFill>
              <a:latin typeface="Nunito"/>
              <a:ea typeface="Nunito"/>
              <a:cs typeface="Nunito"/>
              <a:sym typeface="Nunito"/>
            </a:endParaRPr>
          </a:p>
          <a:p>
            <a:pPr indent="0" lvl="0" marL="0" rtl="0" algn="l">
              <a:spcBef>
                <a:spcPts val="0"/>
              </a:spcBef>
              <a:spcAft>
                <a:spcPts val="0"/>
              </a:spcAft>
              <a:buNone/>
            </a:pPr>
            <a:r>
              <a:rPr lang="es-419" sz="900">
                <a:latin typeface="Nunito"/>
                <a:ea typeface="Nunito"/>
                <a:cs typeface="Nunito"/>
                <a:sym typeface="Nunito"/>
              </a:rPr>
              <a:t>X = tsfel.time_series_features_extractor(cfg, df["sepal_length"])</a:t>
            </a:r>
            <a:endParaRPr sz="900">
              <a:latin typeface="Nunito"/>
              <a:ea typeface="Nunito"/>
              <a:cs typeface="Nunito"/>
              <a:sym typeface="Nunito"/>
            </a:endParaRPr>
          </a:p>
        </p:txBody>
      </p:sp>
      <p:pic>
        <p:nvPicPr>
          <p:cNvPr id="560" name="Google Shape;560;p40"/>
          <p:cNvPicPr preferRelativeResize="0"/>
          <p:nvPr/>
        </p:nvPicPr>
        <p:blipFill>
          <a:blip r:embed="rId3">
            <a:alphaModFix/>
          </a:blip>
          <a:stretch>
            <a:fillRect/>
          </a:stretch>
        </p:blipFill>
        <p:spPr>
          <a:xfrm>
            <a:off x="3433174" y="2818275"/>
            <a:ext cx="2277675" cy="847025"/>
          </a:xfrm>
          <a:prstGeom prst="rect">
            <a:avLst/>
          </a:prstGeom>
          <a:noFill/>
          <a:ln>
            <a:noFill/>
          </a:ln>
        </p:spPr>
      </p:pic>
      <p:pic>
        <p:nvPicPr>
          <p:cNvPr id="561" name="Google Shape;561;p40"/>
          <p:cNvPicPr preferRelativeResize="0"/>
          <p:nvPr/>
        </p:nvPicPr>
        <p:blipFill>
          <a:blip r:embed="rId4">
            <a:alphaModFix/>
          </a:blip>
          <a:stretch>
            <a:fillRect/>
          </a:stretch>
        </p:blipFill>
        <p:spPr>
          <a:xfrm>
            <a:off x="933061" y="3869675"/>
            <a:ext cx="7277901" cy="507875"/>
          </a:xfrm>
          <a:prstGeom prst="rect">
            <a:avLst/>
          </a:prstGeom>
          <a:noFill/>
          <a:ln>
            <a:noFill/>
          </a:ln>
        </p:spPr>
      </p:pic>
      <p:sp>
        <p:nvSpPr>
          <p:cNvPr id="562" name="Google Shape;562;p4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https://github.com/husseinlopez/cdsi2022</a:t>
            </a:r>
            <a:endParaRPr sz="800">
              <a:solidFill>
                <a:srgbClr val="94B6BD"/>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68" name="Google Shape;568;p41"/>
          <p:cNvPicPr preferRelativeResize="0"/>
          <p:nvPr/>
        </p:nvPicPr>
        <p:blipFill>
          <a:blip r:embed="rId3">
            <a:alphaModFix/>
          </a:blip>
          <a:stretch>
            <a:fillRect/>
          </a:stretch>
        </p:blipFill>
        <p:spPr>
          <a:xfrm>
            <a:off x="2776875" y="650702"/>
            <a:ext cx="3590250" cy="1334975"/>
          </a:xfrm>
          <a:prstGeom prst="rect">
            <a:avLst/>
          </a:prstGeom>
          <a:noFill/>
          <a:ln>
            <a:noFill/>
          </a:ln>
        </p:spPr>
      </p:pic>
      <p:pic>
        <p:nvPicPr>
          <p:cNvPr id="569" name="Google Shape;569;p41"/>
          <p:cNvPicPr preferRelativeResize="0"/>
          <p:nvPr/>
        </p:nvPicPr>
        <p:blipFill>
          <a:blip r:embed="rId4">
            <a:alphaModFix/>
          </a:blip>
          <a:stretch>
            <a:fillRect/>
          </a:stretch>
        </p:blipFill>
        <p:spPr>
          <a:xfrm>
            <a:off x="2340549" y="2091875"/>
            <a:ext cx="4462924" cy="2231476"/>
          </a:xfrm>
          <a:prstGeom prst="rect">
            <a:avLst/>
          </a:prstGeom>
          <a:noFill/>
          <a:ln>
            <a:noFill/>
          </a:ln>
        </p:spPr>
      </p:pic>
      <p:sp>
        <p:nvSpPr>
          <p:cNvPr id="570" name="Google Shape;570;p4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https://tsfel.readthedocs.io/en/latest/descriptions/modules/tsfel.feature_extraction.html</a:t>
            </a:r>
            <a:endParaRPr sz="800">
              <a:solidFill>
                <a:srgbClr val="94B6BD"/>
              </a:solidFill>
            </a:endParaRPr>
          </a:p>
          <a:p>
            <a:pPr indent="0" lvl="0" marL="0" rtl="0" algn="r">
              <a:spcBef>
                <a:spcPts val="0"/>
              </a:spcBef>
              <a:spcAft>
                <a:spcPts val="0"/>
              </a:spcAft>
              <a:buNone/>
            </a:pPr>
            <a:r>
              <a:rPr lang="es-419" sz="800">
                <a:solidFill>
                  <a:srgbClr val="94B6BD"/>
                </a:solidFill>
              </a:rPr>
              <a:t>https://tsfel.readthedocs.io/en/latest/_modules/tsfel/feature_extraction/features.html</a:t>
            </a:r>
            <a:endParaRPr sz="800">
              <a:solidFill>
                <a:srgbClr val="94B6BD"/>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Sliding window</a:t>
            </a:r>
            <a:endParaRPr/>
          </a:p>
        </p:txBody>
      </p:sp>
      <p:sp>
        <p:nvSpPr>
          <p:cNvPr id="576" name="Google Shape;576;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77" name="Google Shape;577;p42"/>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 técnica de la ventana deslizante es un método para encontrar </a:t>
            </a:r>
            <a:r>
              <a:rPr b="1" lang="es-419"/>
              <a:t>subarreglos</a:t>
            </a:r>
            <a:r>
              <a:rPr lang="es-419"/>
              <a:t> en un matriz que satisface las condiciones dadas. Es aplicado también en vectores o series de tiempo.</a:t>
            </a:r>
            <a:endParaRPr/>
          </a:p>
          <a:p>
            <a:pPr indent="0" lvl="0" marL="0" rtl="0" algn="l">
              <a:spcBef>
                <a:spcPts val="1200"/>
              </a:spcBef>
              <a:spcAft>
                <a:spcPts val="0"/>
              </a:spcAft>
              <a:buNone/>
            </a:pPr>
            <a:r>
              <a:rPr lang="es-419"/>
              <a:t>Se mantiene un subconjunto de elementos como la ventana, dentro de la cual se puede buscar un solución para tal subarreglo, e.g. calcular características (</a:t>
            </a:r>
            <a:r>
              <a:rPr i="1" lang="es-419"/>
              <a:t>features</a:t>
            </a:r>
            <a:r>
              <a:rPr lang="es-419"/>
              <a:t>) locales. </a:t>
            </a:r>
            <a:endParaRPr/>
          </a:p>
          <a:p>
            <a:pPr indent="0" lvl="0" marL="0" rtl="0" algn="l">
              <a:spcBef>
                <a:spcPts val="1200"/>
              </a:spcBef>
              <a:spcAft>
                <a:spcPts val="1200"/>
              </a:spcAft>
              <a:buNone/>
            </a:pPr>
            <a:r>
              <a:rPr lang="es-419"/>
              <a:t>Posteriormente se recorre la ventana para incluir otros elementos de los datos. Incluso se puede cambiar el tamaño en cada paso. Si hay repetición de elementos se conoce como traslape (</a:t>
            </a:r>
            <a:r>
              <a:rPr i="1" lang="es-419"/>
              <a:t>overlap</a:t>
            </a:r>
            <a:r>
              <a:rPr lang="es-419"/>
              <a:t>).</a:t>
            </a:r>
            <a:endParaRPr/>
          </a:p>
        </p:txBody>
      </p:sp>
      <p:sp>
        <p:nvSpPr>
          <p:cNvPr id="578" name="Google Shape;578;p4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https://www.analyticsvidhya.com/blog/2019/12/6-powerful-feature-engineering-techniques-time-series/</a:t>
            </a:r>
            <a:endParaRPr sz="800">
              <a:solidFill>
                <a:srgbClr val="94B6BD"/>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Comparativa de una imagen y una serie de tiempo</a:t>
            </a:r>
            <a:endParaRPr/>
          </a:p>
        </p:txBody>
      </p:sp>
      <p:sp>
        <p:nvSpPr>
          <p:cNvPr id="584" name="Google Shape;584;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85" name="Google Shape;585;p43"/>
          <p:cNvPicPr preferRelativeResize="0"/>
          <p:nvPr/>
        </p:nvPicPr>
        <p:blipFill>
          <a:blip r:embed="rId3">
            <a:alphaModFix/>
          </a:blip>
          <a:stretch>
            <a:fillRect/>
          </a:stretch>
        </p:blipFill>
        <p:spPr>
          <a:xfrm>
            <a:off x="4572001" y="1456163"/>
            <a:ext cx="3538125" cy="1713049"/>
          </a:xfrm>
          <a:prstGeom prst="rect">
            <a:avLst/>
          </a:prstGeom>
          <a:noFill/>
          <a:ln>
            <a:noFill/>
          </a:ln>
        </p:spPr>
      </p:pic>
      <p:pic>
        <p:nvPicPr>
          <p:cNvPr id="586" name="Google Shape;586;p43"/>
          <p:cNvPicPr preferRelativeResize="0"/>
          <p:nvPr/>
        </p:nvPicPr>
        <p:blipFill>
          <a:blip r:embed="rId4">
            <a:alphaModFix/>
          </a:blip>
          <a:stretch>
            <a:fillRect/>
          </a:stretch>
        </p:blipFill>
        <p:spPr>
          <a:xfrm>
            <a:off x="2023500" y="932850"/>
            <a:ext cx="1873950" cy="27596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Sliding window </a:t>
            </a:r>
            <a:endParaRPr/>
          </a:p>
        </p:txBody>
      </p:sp>
      <p:sp>
        <p:nvSpPr>
          <p:cNvPr id="592" name="Google Shape;592;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3" name="Google Shape;593;p44"/>
          <p:cNvPicPr preferRelativeResize="0"/>
          <p:nvPr/>
        </p:nvPicPr>
        <p:blipFill>
          <a:blip r:embed="rId3">
            <a:alphaModFix/>
          </a:blip>
          <a:stretch>
            <a:fillRect/>
          </a:stretch>
        </p:blipFill>
        <p:spPr>
          <a:xfrm>
            <a:off x="2846437" y="775875"/>
            <a:ext cx="3451125" cy="29581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5"/>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4</a:t>
            </a:r>
            <a:r>
              <a:rPr lang="es-419"/>
              <a:t>.5 Ejemplo</a:t>
            </a:r>
            <a:endParaRPr/>
          </a:p>
        </p:txBody>
      </p:sp>
      <p:sp>
        <p:nvSpPr>
          <p:cNvPr id="599" name="Google Shape;599;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Notebook - Github</a:t>
            </a:r>
            <a:endParaRPr/>
          </a:p>
        </p:txBody>
      </p:sp>
      <p:sp>
        <p:nvSpPr>
          <p:cNvPr id="605" name="Google Shape;605;p4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sz="1800"/>
              <a:t>https://github.com/husseinlopez/cdsi2025/blob/main/U4_example-activity.ipynb</a:t>
            </a:r>
            <a:endParaRPr sz="1800"/>
          </a:p>
          <a:p>
            <a:pPr indent="0" lvl="0" marL="0" rtl="0" algn="ctr">
              <a:spcBef>
                <a:spcPts val="1200"/>
              </a:spcBef>
              <a:spcAft>
                <a:spcPts val="0"/>
              </a:spcAft>
              <a:buNone/>
            </a:pPr>
            <a:r>
              <a:t/>
            </a:r>
            <a:endParaRPr sz="1800"/>
          </a:p>
          <a:p>
            <a:pPr indent="0" lvl="0" marL="0" rtl="0" algn="ctr">
              <a:spcBef>
                <a:spcPts val="1200"/>
              </a:spcBef>
              <a:spcAft>
                <a:spcPts val="1200"/>
              </a:spcAft>
              <a:buNone/>
            </a:pPr>
            <a:r>
              <a:rPr lang="es-419" sz="1800"/>
              <a:t>Dataset:</a:t>
            </a:r>
            <a:br>
              <a:rPr lang="es-419" sz="1800"/>
            </a:br>
            <a:r>
              <a:rPr lang="es-419" sz="1800"/>
              <a:t>https://www.kaggle.com/datasets/owenagius/inertia-sensors-for-human-activity-recognition</a:t>
            </a:r>
            <a:endParaRPr sz="1800"/>
          </a:p>
        </p:txBody>
      </p:sp>
      <p:sp>
        <p:nvSpPr>
          <p:cNvPr id="606" name="Google Shape;606;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12" name="Google Shape;612;p47"/>
          <p:cNvSpPr txBox="1"/>
          <p:nvPr>
            <p:ph type="title"/>
          </p:nvPr>
        </p:nvSpPr>
        <p:spPr>
          <a:xfrm>
            <a:off x="1303800" y="598575"/>
            <a:ext cx="4816500" cy="14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500"/>
              <a:t>Juego serio para rehabilitación</a:t>
            </a:r>
            <a:endParaRPr sz="2500"/>
          </a:p>
        </p:txBody>
      </p:sp>
      <p:grpSp>
        <p:nvGrpSpPr>
          <p:cNvPr id="613" name="Google Shape;613;p47"/>
          <p:cNvGrpSpPr/>
          <p:nvPr/>
        </p:nvGrpSpPr>
        <p:grpSpPr>
          <a:xfrm>
            <a:off x="435152" y="1962400"/>
            <a:ext cx="8276921" cy="547168"/>
            <a:chOff x="1787786" y="2322568"/>
            <a:chExt cx="5763070" cy="643500"/>
          </a:xfrm>
        </p:grpSpPr>
        <p:sp>
          <p:nvSpPr>
            <p:cNvPr id="614" name="Google Shape;614;p47"/>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7"/>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7"/>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7"/>
            <p:cNvSpPr/>
            <p:nvPr/>
          </p:nvSpPr>
          <p:spPr>
            <a:xfrm>
              <a:off x="2169678" y="2399952"/>
              <a:ext cx="8799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Escenario</a:t>
              </a:r>
              <a:endParaRPr sz="900">
                <a:solidFill>
                  <a:schemeClr val="dk2"/>
                </a:solidFill>
                <a:latin typeface="Roboto"/>
                <a:ea typeface="Roboto"/>
                <a:cs typeface="Roboto"/>
                <a:sym typeface="Roboto"/>
              </a:endParaRPr>
            </a:p>
          </p:txBody>
        </p:sp>
        <p:sp>
          <p:nvSpPr>
            <p:cNvPr id="618" name="Google Shape;618;p47"/>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01</a:t>
              </a:r>
              <a:endParaRPr sz="2400">
                <a:solidFill>
                  <a:srgbClr val="FFFFFF"/>
                </a:solidFill>
                <a:latin typeface="Roboto Thin"/>
                <a:ea typeface="Roboto Thin"/>
                <a:cs typeface="Roboto Thin"/>
                <a:sym typeface="Roboto Thin"/>
              </a:endParaRPr>
            </a:p>
          </p:txBody>
        </p:sp>
        <p:sp>
          <p:nvSpPr>
            <p:cNvPr id="619" name="Google Shape;619;p47"/>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El escenario consiste en el desarrollo de un juego orientado a la rehabilitaci</a:t>
              </a:r>
              <a:r>
                <a:rPr lang="es-419" sz="800">
                  <a:solidFill>
                    <a:schemeClr val="dk2"/>
                  </a:solidFill>
                  <a:latin typeface="Roboto"/>
                  <a:ea typeface="Roboto"/>
                  <a:cs typeface="Roboto"/>
                  <a:sym typeface="Roboto"/>
                </a:rPr>
                <a:t>ón de</a:t>
              </a:r>
              <a:r>
                <a:rPr lang="es-419" sz="800">
                  <a:solidFill>
                    <a:schemeClr val="dk2"/>
                  </a:solidFill>
                  <a:latin typeface="Roboto"/>
                  <a:ea typeface="Roboto"/>
                  <a:cs typeface="Roboto"/>
                  <a:sym typeface="Roboto"/>
                </a:rPr>
                <a:t> una de las extremidades superiores.</a:t>
              </a:r>
              <a:endParaRPr sz="800">
                <a:solidFill>
                  <a:schemeClr val="dk2"/>
                </a:solidFill>
                <a:latin typeface="Roboto"/>
                <a:ea typeface="Roboto"/>
                <a:cs typeface="Roboto"/>
                <a:sym typeface="Roboto"/>
              </a:endParaRPr>
            </a:p>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El dispositivo de sensado podr</a:t>
              </a:r>
              <a:r>
                <a:rPr lang="es-419" sz="800">
                  <a:solidFill>
                    <a:schemeClr val="dk2"/>
                  </a:solidFill>
                  <a:latin typeface="Roboto"/>
                  <a:ea typeface="Roboto"/>
                  <a:cs typeface="Roboto"/>
                  <a:sym typeface="Roboto"/>
                </a:rPr>
                <a:t>á ser un IMU o bien, leer directamente de los sensores inerciales de un teléfono inteligente.</a:t>
              </a:r>
              <a:endParaRPr sz="800">
                <a:solidFill>
                  <a:schemeClr val="dk2"/>
                </a:solidFill>
                <a:latin typeface="Roboto"/>
                <a:ea typeface="Roboto"/>
                <a:cs typeface="Roboto"/>
                <a:sym typeface="Roboto"/>
              </a:endParaRPr>
            </a:p>
          </p:txBody>
        </p:sp>
      </p:grpSp>
      <p:grpSp>
        <p:nvGrpSpPr>
          <p:cNvPr id="620" name="Google Shape;620;p47"/>
          <p:cNvGrpSpPr/>
          <p:nvPr/>
        </p:nvGrpSpPr>
        <p:grpSpPr>
          <a:xfrm>
            <a:off x="435152" y="2519250"/>
            <a:ext cx="8276921" cy="547168"/>
            <a:chOff x="1787786" y="2322568"/>
            <a:chExt cx="5763070" cy="643500"/>
          </a:xfrm>
        </p:grpSpPr>
        <p:sp>
          <p:nvSpPr>
            <p:cNvPr id="621" name="Google Shape;621;p47"/>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7"/>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7"/>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7"/>
            <p:cNvSpPr/>
            <p:nvPr/>
          </p:nvSpPr>
          <p:spPr>
            <a:xfrm>
              <a:off x="2169678" y="2399952"/>
              <a:ext cx="10011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Diseño de juego</a:t>
              </a:r>
              <a:endParaRPr sz="900">
                <a:solidFill>
                  <a:schemeClr val="dk2"/>
                </a:solidFill>
                <a:latin typeface="Roboto"/>
                <a:ea typeface="Roboto"/>
                <a:cs typeface="Roboto"/>
                <a:sym typeface="Roboto"/>
              </a:endParaRPr>
            </a:p>
          </p:txBody>
        </p:sp>
        <p:sp>
          <p:nvSpPr>
            <p:cNvPr id="625" name="Google Shape;625;p47"/>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02</a:t>
              </a:r>
              <a:endParaRPr sz="2400">
                <a:solidFill>
                  <a:srgbClr val="FFFFFF"/>
                </a:solidFill>
                <a:latin typeface="Roboto Thin"/>
                <a:ea typeface="Roboto Thin"/>
                <a:cs typeface="Roboto Thin"/>
                <a:sym typeface="Roboto Thin"/>
              </a:endParaRPr>
            </a:p>
          </p:txBody>
        </p:sp>
        <p:sp>
          <p:nvSpPr>
            <p:cNvPr id="626" name="Google Shape;626;p47"/>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Deberá diseñarse e implementarse un videojuego en el que se tengan que medir al menos dos movimientos, e.g., movimientos en las cuatro posiciones cardinales, movimientos con dos niveles de velocidad, etc.</a:t>
              </a:r>
              <a:endParaRPr sz="800">
                <a:solidFill>
                  <a:schemeClr val="dk2"/>
                </a:solidFill>
                <a:latin typeface="Roboto"/>
                <a:ea typeface="Roboto"/>
                <a:cs typeface="Roboto"/>
                <a:sym typeface="Roboto"/>
              </a:endParaRPr>
            </a:p>
          </p:txBody>
        </p:sp>
      </p:grpSp>
      <p:grpSp>
        <p:nvGrpSpPr>
          <p:cNvPr id="627" name="Google Shape;627;p47"/>
          <p:cNvGrpSpPr/>
          <p:nvPr/>
        </p:nvGrpSpPr>
        <p:grpSpPr>
          <a:xfrm>
            <a:off x="435152" y="3076112"/>
            <a:ext cx="8276921" cy="547168"/>
            <a:chOff x="1787786" y="2322568"/>
            <a:chExt cx="5763070" cy="643500"/>
          </a:xfrm>
        </p:grpSpPr>
        <p:sp>
          <p:nvSpPr>
            <p:cNvPr id="628" name="Google Shape;628;p47"/>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7"/>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7"/>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7"/>
            <p:cNvSpPr/>
            <p:nvPr/>
          </p:nvSpPr>
          <p:spPr>
            <a:xfrm>
              <a:off x="2169678" y="2399938"/>
              <a:ext cx="9240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s-419" sz="900">
                  <a:solidFill>
                    <a:schemeClr val="dk2"/>
                  </a:solidFill>
                  <a:latin typeface="Roboto"/>
                  <a:ea typeface="Roboto"/>
                  <a:cs typeface="Roboto"/>
                  <a:sym typeface="Roboto"/>
                </a:rPr>
                <a:t>Recolección de datos</a:t>
              </a:r>
              <a:endParaRPr b="1" sz="900">
                <a:solidFill>
                  <a:schemeClr val="dk2"/>
                </a:solidFill>
                <a:latin typeface="Roboto"/>
                <a:ea typeface="Roboto"/>
                <a:cs typeface="Roboto"/>
                <a:sym typeface="Roboto"/>
              </a:endParaRPr>
            </a:p>
          </p:txBody>
        </p:sp>
        <p:sp>
          <p:nvSpPr>
            <p:cNvPr id="632" name="Google Shape;632;p47"/>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03</a:t>
              </a:r>
              <a:endParaRPr sz="2400">
                <a:solidFill>
                  <a:srgbClr val="FFFFFF"/>
                </a:solidFill>
                <a:latin typeface="Roboto Thin"/>
                <a:ea typeface="Roboto Thin"/>
                <a:cs typeface="Roboto Thin"/>
                <a:sym typeface="Roboto Thin"/>
              </a:endParaRPr>
            </a:p>
          </p:txBody>
        </p:sp>
        <p:sp>
          <p:nvSpPr>
            <p:cNvPr id="633" name="Google Shape;633;p47"/>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Podrán considerarse  datos crudos (aceleración lineal, velocidad angular), o datos estimados de orientación (ángulos de Euler), según el juego serio implementado., en tiempo real caracterizando cuidadosamente los movimientos.</a:t>
              </a:r>
              <a:endParaRPr sz="800">
                <a:solidFill>
                  <a:schemeClr val="dk2"/>
                </a:solidFill>
                <a:latin typeface="Roboto"/>
                <a:ea typeface="Roboto"/>
                <a:cs typeface="Roboto"/>
                <a:sym typeface="Roboto"/>
              </a:endParaRPr>
            </a:p>
          </p:txBody>
        </p:sp>
      </p:grpSp>
      <p:grpSp>
        <p:nvGrpSpPr>
          <p:cNvPr id="634" name="Google Shape;634;p47"/>
          <p:cNvGrpSpPr/>
          <p:nvPr/>
        </p:nvGrpSpPr>
        <p:grpSpPr>
          <a:xfrm>
            <a:off x="433540" y="3632962"/>
            <a:ext cx="8276921" cy="547168"/>
            <a:chOff x="1787786" y="2322568"/>
            <a:chExt cx="5763070" cy="643500"/>
          </a:xfrm>
        </p:grpSpPr>
        <p:sp>
          <p:nvSpPr>
            <p:cNvPr id="635" name="Google Shape;635;p47"/>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7"/>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7"/>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7"/>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Modelo de decisión</a:t>
              </a:r>
              <a:endParaRPr sz="900">
                <a:solidFill>
                  <a:schemeClr val="dk2"/>
                </a:solidFill>
                <a:latin typeface="Roboto"/>
                <a:ea typeface="Roboto"/>
                <a:cs typeface="Roboto"/>
                <a:sym typeface="Roboto"/>
              </a:endParaRPr>
            </a:p>
          </p:txBody>
        </p:sp>
        <p:sp>
          <p:nvSpPr>
            <p:cNvPr id="639" name="Google Shape;639;p47"/>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04</a:t>
              </a:r>
              <a:endParaRPr sz="2400">
                <a:solidFill>
                  <a:srgbClr val="FFFFFF"/>
                </a:solidFill>
                <a:latin typeface="Roboto Thin"/>
                <a:ea typeface="Roboto Thin"/>
                <a:cs typeface="Roboto Thin"/>
                <a:sym typeface="Roboto Thin"/>
              </a:endParaRPr>
            </a:p>
          </p:txBody>
        </p:sp>
        <p:sp>
          <p:nvSpPr>
            <p:cNvPr id="640" name="Google Shape;640;p47"/>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Se deberá programar un modelo para asociar los movimientos a los objetivos a alcanzar, generando una respuesta o nivel de completitud. Reportar los resultados de las pruebas individuales.</a:t>
              </a:r>
              <a:endParaRPr sz="800">
                <a:solidFill>
                  <a:schemeClr val="dk2"/>
                </a:solidFill>
                <a:latin typeface="Roboto"/>
                <a:ea typeface="Roboto"/>
                <a:cs typeface="Roboto"/>
                <a:sym typeface="Roboto"/>
              </a:endParaRPr>
            </a:p>
          </p:txBody>
        </p:sp>
      </p:grpSp>
      <p:grpSp>
        <p:nvGrpSpPr>
          <p:cNvPr id="641" name="Google Shape;641;p47"/>
          <p:cNvGrpSpPr/>
          <p:nvPr/>
        </p:nvGrpSpPr>
        <p:grpSpPr>
          <a:xfrm>
            <a:off x="433540" y="4189812"/>
            <a:ext cx="8276921" cy="547168"/>
            <a:chOff x="1787786" y="2322568"/>
            <a:chExt cx="5763070" cy="643500"/>
          </a:xfrm>
        </p:grpSpPr>
        <p:sp>
          <p:nvSpPr>
            <p:cNvPr id="642" name="Google Shape;642;p47"/>
            <p:cNvSpPr/>
            <p:nvPr/>
          </p:nvSpPr>
          <p:spPr>
            <a:xfrm>
              <a:off x="3049656" y="2322568"/>
              <a:ext cx="45012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7"/>
            <p:cNvSpPr/>
            <p:nvPr/>
          </p:nvSpPr>
          <p:spPr>
            <a:xfrm flipH="1">
              <a:off x="2169754" y="2322568"/>
              <a:ext cx="879900" cy="642600"/>
            </a:xfrm>
            <a:prstGeom prst="rect">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p:nvPr/>
          </p:nvSpPr>
          <p:spPr>
            <a:xfrm rot="-5400000">
              <a:off x="2681046" y="2371515"/>
              <a:ext cx="643361" cy="545467"/>
            </a:xfrm>
            <a:prstGeom prst="flowChartOffpageConnector">
              <a:avLst/>
            </a:prstGeom>
            <a:solidFill>
              <a:srgbClr val="CCD4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p:nvPr/>
          </p:nvSpPr>
          <p:spPr>
            <a:xfrm>
              <a:off x="2169669" y="2399938"/>
              <a:ext cx="9636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419" sz="900">
                  <a:solidFill>
                    <a:schemeClr val="dk2"/>
                  </a:solidFill>
                  <a:latin typeface="Roboto Medium"/>
                  <a:ea typeface="Roboto Medium"/>
                  <a:cs typeface="Roboto Medium"/>
                  <a:sym typeface="Roboto Medium"/>
                </a:rPr>
                <a:t>Validación externa</a:t>
              </a:r>
              <a:endParaRPr sz="900">
                <a:solidFill>
                  <a:schemeClr val="dk2"/>
                </a:solidFill>
                <a:latin typeface="Roboto"/>
                <a:ea typeface="Roboto"/>
                <a:cs typeface="Roboto"/>
                <a:sym typeface="Roboto"/>
              </a:endParaRPr>
            </a:p>
          </p:txBody>
        </p:sp>
        <p:sp>
          <p:nvSpPr>
            <p:cNvPr id="646" name="Google Shape;646;p47"/>
            <p:cNvSpPr/>
            <p:nvPr/>
          </p:nvSpPr>
          <p:spPr>
            <a:xfrm>
              <a:off x="1787786" y="2322568"/>
              <a:ext cx="381900" cy="642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419" sz="2400">
                  <a:solidFill>
                    <a:srgbClr val="FFFFFF"/>
                  </a:solidFill>
                  <a:latin typeface="Roboto Thin"/>
                  <a:ea typeface="Roboto Thin"/>
                  <a:cs typeface="Roboto Thin"/>
                  <a:sym typeface="Roboto Thin"/>
                </a:rPr>
                <a:t>05</a:t>
              </a:r>
              <a:endParaRPr sz="2400">
                <a:solidFill>
                  <a:srgbClr val="FFFFFF"/>
                </a:solidFill>
                <a:latin typeface="Roboto Thin"/>
                <a:ea typeface="Roboto Thin"/>
                <a:cs typeface="Roboto Thin"/>
                <a:sym typeface="Roboto Thin"/>
              </a:endParaRPr>
            </a:p>
          </p:txBody>
        </p:sp>
        <p:sp>
          <p:nvSpPr>
            <p:cNvPr id="647" name="Google Shape;647;p47"/>
            <p:cNvSpPr/>
            <p:nvPr/>
          </p:nvSpPr>
          <p:spPr>
            <a:xfrm>
              <a:off x="3170775" y="2323744"/>
              <a:ext cx="4380000" cy="642300"/>
            </a:xfrm>
            <a:prstGeom prst="rect">
              <a:avLst/>
            </a:prstGeom>
            <a:noFill/>
            <a:ln>
              <a:noFill/>
            </a:ln>
          </p:spPr>
          <p:txBody>
            <a:bodyPr anchorCtr="0" anchor="ctr" bIns="91425" lIns="91425" spcFirstLastPara="1" rIns="91425" wrap="square" tIns="91425">
              <a:noAutofit/>
            </a:bodyPr>
            <a:lstStyle/>
            <a:p>
              <a:pPr indent="-140801" lvl="0" marL="360000" rtl="0" algn="l">
                <a:lnSpc>
                  <a:spcPct val="115000"/>
                </a:lnSpc>
                <a:spcBef>
                  <a:spcPts val="0"/>
                </a:spcBef>
                <a:spcAft>
                  <a:spcPts val="0"/>
                </a:spcAft>
                <a:buClr>
                  <a:schemeClr val="dk2"/>
                </a:buClr>
                <a:buSzPts val="800"/>
                <a:buFont typeface="Roboto"/>
                <a:buChar char="●"/>
              </a:pPr>
              <a:r>
                <a:rPr lang="es-419" sz="800">
                  <a:solidFill>
                    <a:schemeClr val="dk2"/>
                  </a:solidFill>
                  <a:latin typeface="Roboto"/>
                  <a:ea typeface="Roboto"/>
                  <a:cs typeface="Roboto"/>
                  <a:sym typeface="Roboto"/>
                </a:rPr>
                <a:t>Compartir el juego para su evaluación.</a:t>
              </a:r>
              <a:endParaRPr sz="800">
                <a:solidFill>
                  <a:schemeClr val="dk2"/>
                </a:solidFill>
                <a:latin typeface="Roboto"/>
                <a:ea typeface="Roboto"/>
                <a:cs typeface="Roboto"/>
                <a:sym typeface="Roboto"/>
              </a:endParaRPr>
            </a:p>
          </p:txBody>
        </p:sp>
      </p:grpSp>
      <p:pic>
        <p:nvPicPr>
          <p:cNvPr id="648" name="Google Shape;648;p47"/>
          <p:cNvPicPr preferRelativeResize="0"/>
          <p:nvPr/>
        </p:nvPicPr>
        <p:blipFill>
          <a:blip r:embed="rId3">
            <a:alphaModFix/>
          </a:blip>
          <a:stretch>
            <a:fillRect/>
          </a:stretch>
        </p:blipFill>
        <p:spPr>
          <a:xfrm>
            <a:off x="6377650" y="398400"/>
            <a:ext cx="2332800" cy="1412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48"/>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54" name="Google Shape;654;p48"/>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55" name="Google Shape;655;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6" name="Google Shape;656;p48"/>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57" name="Google Shape;657;p48"/>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