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y="5143500" cx="9144000"/>
  <p:notesSz cx="6858000" cy="9144000"/>
  <p:embeddedFontLst>
    <p:embeddedFont>
      <p:font typeface="Roboto"/>
      <p:regular r:id="rId59"/>
      <p:bold r:id="rId60"/>
      <p:italic r:id="rId61"/>
      <p:boldItalic r:id="rId62"/>
    </p:embeddedFont>
    <p:embeddedFont>
      <p:font typeface="Nunito"/>
      <p:regular r:id="rId63"/>
      <p:bold r:id="rId64"/>
      <p:italic r:id="rId65"/>
      <p:boldItalic r:id="rId66"/>
    </p:embeddedFont>
    <p:embeddedFont>
      <p:font typeface="Maven Pro"/>
      <p:regular r:id="rId67"/>
      <p:bold r:id="rId6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018EBB-3189-4D5A-83DB-4861202957B6}">
  <a:tblStyle styleId="{5D018EBB-3189-4D5A-83DB-4861202957B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boldItalic.fntdata"/><Relationship Id="rId61" Type="http://schemas.openxmlformats.org/officeDocument/2006/relationships/font" Target="fonts/Roboto-italic.fntdata"/><Relationship Id="rId20" Type="http://schemas.openxmlformats.org/officeDocument/2006/relationships/slide" Target="slides/slide14.xml"/><Relationship Id="rId64" Type="http://schemas.openxmlformats.org/officeDocument/2006/relationships/font" Target="fonts/Nunito-bold.fntdata"/><Relationship Id="rId63" Type="http://schemas.openxmlformats.org/officeDocument/2006/relationships/font" Target="fonts/Nunito-regular.fntdata"/><Relationship Id="rId22" Type="http://schemas.openxmlformats.org/officeDocument/2006/relationships/slide" Target="slides/slide16.xml"/><Relationship Id="rId66" Type="http://schemas.openxmlformats.org/officeDocument/2006/relationships/font" Target="fonts/Nunito-boldItalic.fntdata"/><Relationship Id="rId21" Type="http://schemas.openxmlformats.org/officeDocument/2006/relationships/slide" Target="slides/slide15.xml"/><Relationship Id="rId65" Type="http://schemas.openxmlformats.org/officeDocument/2006/relationships/font" Target="fonts/Nunito-italic.fntdata"/><Relationship Id="rId24" Type="http://schemas.openxmlformats.org/officeDocument/2006/relationships/slide" Target="slides/slide18.xml"/><Relationship Id="rId68" Type="http://schemas.openxmlformats.org/officeDocument/2006/relationships/font" Target="fonts/MavenPro-bold.fntdata"/><Relationship Id="rId23" Type="http://schemas.openxmlformats.org/officeDocument/2006/relationships/slide" Target="slides/slide17.xml"/><Relationship Id="rId67" Type="http://schemas.openxmlformats.org/officeDocument/2006/relationships/font" Target="fonts/MavenPro-regular.fntdata"/><Relationship Id="rId60" Type="http://schemas.openxmlformats.org/officeDocument/2006/relationships/font" Target="fonts/Roboto-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Roboto-regular.fntdata"/><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ontiersin.org/articles/10.3389/fcomp.2021.557608/ful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5.2: </a:t>
            </a:r>
            <a:r>
              <a:rPr lang="es-419" u="sng">
                <a:solidFill>
                  <a:schemeClr val="hlink"/>
                </a:solidFill>
                <a:hlinkClick r:id="rId2"/>
              </a:rPr>
              <a:t>https://www.frontiersin.org/articles/10.3389/fcomp.2021.557608/full</a:t>
            </a:r>
            <a:r>
              <a:rPr lang="es-419"/>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d9711704c0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d9711704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0ca5513fe0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0ca5513fe0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35f40c38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35f40c38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60fb202f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60fb202f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1160fb202f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1160fb202f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161c918c63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1161c918c63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160fb202f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160fb202f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161c918c63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161c918c63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1161c918c63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1161c918c63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161c918c63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1161c918c63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1161c918c63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1161c918c63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161c918c63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161c918c63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1161c918c63_0_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1161c918c63_0_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6b9ce94328adbd5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6b9ce94328adbd5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161c918c63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161c918c63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6b9ce94328adbd58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6b9ce94328adbd58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161c918c63_0_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161c918c63_0_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6b9ce94328adbd58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6b9ce94328adbd58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6b9ce94328adbd58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6b9ce94328adbd58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161c918c63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161c918c63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6b9ce94328adbd58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6b9ce94328adbd58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161c918c63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161c918c63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6b9ce94328adbd58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6b9ce94328adbd58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6b9ce94328adbd58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6b9ce94328adbd58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6b9ce94328adbd58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6b9ce94328adbd58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6b9ce94328adbd58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6b9ce94328adbd58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6b9ce94328adbd58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6b9ce94328adbd58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1161c918c63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1161c918c63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160fb202f0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160fb202f0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160fb202f0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160fb202f0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1160fb202f0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1160fb202f0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160fb202f0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1160fb202f0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160fb202f0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160fb202f0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60fb202f0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60fb202f0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160fb202f0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160fb202f0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1160fb202f0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1160fb202f0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160fb202f0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160fb202f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1160fb202f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1160fb202f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1160fb202f0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1160fb202f0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160fb202f0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1160fb202f0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160fb202f0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1160fb202f0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1160fb202f0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1160fb202f0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1160fb202f0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1160fb202f0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1160fb202f0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1160fb202f0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1160fb202f0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1160fb202f0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1160fb202f0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1160fb202f0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1160fb202f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1160fb202f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d9711704c0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d9711704c0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2d9711704c0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2d9711704c0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bab6f567d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2bab6f567d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image" Target="../media/image3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hyperlink" Target="https://es.wikipedia.org/wiki/Estern%C3%B3n" TargetMode="External"/><Relationship Id="rId4" Type="http://schemas.openxmlformats.org/officeDocument/2006/relationships/hyperlink" Target="https://es.wikipedia.org/wiki/Clav%C3%ADcula" TargetMode="External"/><Relationship Id="rId5" Type="http://schemas.openxmlformats.org/officeDocument/2006/relationships/hyperlink" Target="https://es.wikipedia.org/wiki/Axila" TargetMode="External"/><Relationship Id="rId6" Type="http://schemas.openxmlformats.org/officeDocument/2006/relationships/image" Target="../media/image6.png"/><Relationship Id="rId7"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30.png"/><Relationship Id="rId6"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1.xml"/><Relationship Id="rId3" Type="http://schemas.openxmlformats.org/officeDocument/2006/relationships/image" Target="../media/image3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2.xml"/><Relationship Id="rId3" Type="http://schemas.openxmlformats.org/officeDocument/2006/relationships/image" Target="../media/image25.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79" name="Google Shape;279;p13"/>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0" name="Google Shape;280;p13"/>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1" name="Google Shape;281;p13"/>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5</a:t>
            </a:r>
            <a:endParaRPr sz="6000">
              <a:solidFill>
                <a:schemeClr val="dk1"/>
              </a:solidFill>
            </a:endParaRPr>
          </a:p>
        </p:txBody>
      </p:sp>
      <p:sp>
        <p:nvSpPr>
          <p:cNvPr id="287" name="Google Shape;287;p14"/>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s-419" sz="3200"/>
              <a:t>Sensado fisiológico</a:t>
            </a:r>
            <a:endParaRPr sz="3200"/>
          </a:p>
        </p:txBody>
      </p:sp>
      <p:sp>
        <p:nvSpPr>
          <p:cNvPr id="288" name="Google Shape;288;p1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5"/>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2400"/>
              <a:t>LECTURA</a:t>
            </a:r>
            <a:endParaRPr sz="2400"/>
          </a:p>
        </p:txBody>
      </p:sp>
      <p:sp>
        <p:nvSpPr>
          <p:cNvPr id="294" name="Google Shape;294;p15"/>
          <p:cNvSpPr txBox="1"/>
          <p:nvPr>
            <p:ph idx="1" type="body"/>
          </p:nvPr>
        </p:nvSpPr>
        <p:spPr>
          <a:xfrm>
            <a:off x="922800" y="1669975"/>
            <a:ext cx="3312000" cy="29142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sz="1400"/>
              <a:t>He, R., Liu, H., Niu, Y., Zhang, H., Genin, G. M., &amp; Xu, F. (2022). </a:t>
            </a:r>
            <a:r>
              <a:rPr b="1" lang="es-419" sz="1400"/>
              <a:t>Flexible miniaturized sensor technologies for long-term physiological monitoring.</a:t>
            </a:r>
            <a:r>
              <a:rPr lang="es-419" sz="1400"/>
              <a:t> npj Flexible Electronics, 6(1), 20.</a:t>
            </a:r>
            <a:endParaRPr sz="1400"/>
          </a:p>
          <a:p>
            <a:pPr indent="0" lvl="0" marL="0" rtl="0" algn="l">
              <a:spcBef>
                <a:spcPts val="1200"/>
              </a:spcBef>
              <a:spcAft>
                <a:spcPts val="1200"/>
              </a:spcAft>
              <a:buNone/>
            </a:pPr>
            <a:r>
              <a:rPr lang="es-419" sz="1400"/>
              <a:t>Kazanskiy, N. L., Khonina, S. N., &amp; Butt, M. A. (2024). </a:t>
            </a:r>
            <a:r>
              <a:rPr b="1" lang="es-419" sz="1400"/>
              <a:t>A review on flexible wearables-Recent developments in non-invasive continuous health monitoring. </a:t>
            </a:r>
            <a:r>
              <a:rPr lang="es-419" sz="1400"/>
              <a:t>Sensors and Actuators A: Physical, 114993.</a:t>
            </a:r>
            <a:endParaRPr sz="1400"/>
          </a:p>
        </p:txBody>
      </p:sp>
      <p:pic>
        <p:nvPicPr>
          <p:cNvPr id="295" name="Google Shape;295;p15"/>
          <p:cNvPicPr preferRelativeResize="0"/>
          <p:nvPr/>
        </p:nvPicPr>
        <p:blipFill rotWithShape="1">
          <a:blip r:embed="rId3">
            <a:alphaModFix/>
          </a:blip>
          <a:srcRect b="0" l="32845" r="0" t="0"/>
          <a:stretch/>
        </p:blipFill>
        <p:spPr>
          <a:xfrm>
            <a:off x="4612500" y="0"/>
            <a:ext cx="4531499" cy="5064469"/>
          </a:xfrm>
          <a:prstGeom prst="rect">
            <a:avLst/>
          </a:prstGeom>
          <a:noFill/>
          <a:ln>
            <a:noFill/>
          </a:ln>
        </p:spPr>
      </p:pic>
      <p:sp>
        <p:nvSpPr>
          <p:cNvPr id="296" name="Google Shape;296;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297" name="Google Shape;297;p15"/>
          <p:cNvPicPr preferRelativeResize="0"/>
          <p:nvPr/>
        </p:nvPicPr>
        <p:blipFill rotWithShape="1">
          <a:blip r:embed="rId4">
            <a:alphaModFix/>
          </a:blip>
          <a:srcRect b="0" l="35668" r="5570" t="0"/>
          <a:stretch/>
        </p:blipFill>
        <p:spPr>
          <a:xfrm>
            <a:off x="4612500" y="0"/>
            <a:ext cx="4531502" cy="51434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6"/>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5</a:t>
            </a:r>
            <a:r>
              <a:rPr lang="es-419"/>
              <a:t>.3 Señales fisiológicas (bioseñales)</a:t>
            </a:r>
            <a:endParaRPr/>
          </a:p>
        </p:txBody>
      </p:sp>
      <p:sp>
        <p:nvSpPr>
          <p:cNvPr id="303" name="Google Shape;303;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Señales fisiológicas</a:t>
            </a:r>
            <a:endParaRPr/>
          </a:p>
        </p:txBody>
      </p:sp>
      <p:sp>
        <p:nvSpPr>
          <p:cNvPr id="309" name="Google Shape;309;p1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Lecturas o mediciones producidas por el proceso fisiológico de los seres humanos, e.g., frecuencia cardíaca (electrocardiograma o señal de ECG/EKG), frecuencia y contenido respiratorio (capnograma), conductancia de la piel (actividad electrodérmica o señal EDA), corriente muscular ( electromiografía o señal EMG), actividad eléctrica cerebral (electroencefalografía o señal EEG).</a:t>
            </a:r>
            <a:endParaRPr/>
          </a:p>
        </p:txBody>
      </p:sp>
      <p:sp>
        <p:nvSpPr>
          <p:cNvPr id="310" name="Google Shape;310;p1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Fu, Y., Leong, H. V., Ngai, G., &amp; Chan, S. (2016). Non-Intrusive Health-Monitoring Devices. In Encyclopedia of E-Health and Telemedicine (pp. 711-721). IGI Global</a:t>
            </a:r>
            <a:endParaRPr sz="800">
              <a:solidFill>
                <a:srgbClr val="94B6BD"/>
              </a:solidFill>
            </a:endParaRPr>
          </a:p>
        </p:txBody>
      </p:sp>
      <p:sp>
        <p:nvSpPr>
          <p:cNvPr id="311" name="Google Shape;311;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Electrograma</a:t>
            </a:r>
            <a:endParaRPr/>
          </a:p>
        </p:txBody>
      </p:sp>
      <p:sp>
        <p:nvSpPr>
          <p:cNvPr id="317" name="Google Shape;317;p1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E</a:t>
            </a:r>
            <a:r>
              <a:rPr lang="es-419"/>
              <a:t>s un registro de la actividad eléctrica de órganos como el cerebro y el corazón, medido mediante el control de los cambios en el potencial eléctrico.</a:t>
            </a:r>
            <a:endParaRPr/>
          </a:p>
        </p:txBody>
      </p:sp>
      <p:sp>
        <p:nvSpPr>
          <p:cNvPr id="318" name="Google Shape;318;p1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https://www.collinsdictionary.com/dictionary/english/electrogram</a:t>
            </a:r>
            <a:endParaRPr sz="800">
              <a:solidFill>
                <a:srgbClr val="94B6BD"/>
              </a:solidFill>
            </a:endParaRPr>
          </a:p>
        </p:txBody>
      </p:sp>
      <p:sp>
        <p:nvSpPr>
          <p:cNvPr id="319" name="Google Shape;319;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grpSp>
        <p:nvGrpSpPr>
          <p:cNvPr id="320" name="Google Shape;320;p18"/>
          <p:cNvGrpSpPr/>
          <p:nvPr/>
        </p:nvGrpSpPr>
        <p:grpSpPr>
          <a:xfrm>
            <a:off x="3429567" y="3118136"/>
            <a:ext cx="1142438" cy="841095"/>
            <a:chOff x="2744109" y="1597469"/>
            <a:chExt cx="1827900" cy="2399700"/>
          </a:xfrm>
        </p:grpSpPr>
        <p:sp>
          <p:nvSpPr>
            <p:cNvPr id="321" name="Google Shape;321;p18"/>
            <p:cNvSpPr/>
            <p:nvPr/>
          </p:nvSpPr>
          <p:spPr>
            <a:xfrm rot="5400000">
              <a:off x="2458209" y="1883369"/>
              <a:ext cx="2399700" cy="1827900"/>
            </a:xfrm>
            <a:prstGeom prst="rightArrowCallout">
              <a:avLst>
                <a:gd fmla="val 9283" name="adj1"/>
                <a:gd fmla="val 13570" name="adj2"/>
                <a:gd fmla="val 16082" name="adj3"/>
                <a:gd fmla="val 81236" name="adj4"/>
              </a:avLst>
            </a:prstGeom>
            <a:solidFill>
              <a:srgbClr val="0944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322" name="Google Shape;322;p18"/>
            <p:cNvSpPr/>
            <p:nvPr/>
          </p:nvSpPr>
          <p:spPr>
            <a:xfrm flipH="1" rot="10800000">
              <a:off x="2834043" y="1687411"/>
              <a:ext cx="1649400" cy="1769700"/>
            </a:xfrm>
            <a:prstGeom prst="snip1Rect">
              <a:avLst>
                <a:gd fmla="val 0" name="adj"/>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323" name="Google Shape;323;p18"/>
            <p:cNvSpPr txBox="1"/>
            <p:nvPr/>
          </p:nvSpPr>
          <p:spPr>
            <a:xfrm>
              <a:off x="2966450" y="1795520"/>
              <a:ext cx="1383000" cy="14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419" sz="800">
                  <a:solidFill>
                    <a:srgbClr val="FFFFFF"/>
                  </a:solidFill>
                  <a:latin typeface="Roboto"/>
                  <a:ea typeface="Roboto"/>
                  <a:cs typeface="Roboto"/>
                  <a:sym typeface="Roboto"/>
                </a:rPr>
                <a:t>Hearth</a:t>
              </a:r>
              <a:endParaRPr b="1" sz="800">
                <a:solidFill>
                  <a:srgbClr val="FFFFFF"/>
                </a:solidFill>
                <a:latin typeface="Roboto"/>
                <a:ea typeface="Roboto"/>
                <a:cs typeface="Roboto"/>
                <a:sym typeface="Roboto"/>
              </a:endParaRPr>
            </a:p>
            <a:p>
              <a:pPr indent="0" lvl="0" marL="0" rtl="0" algn="ctr">
                <a:lnSpc>
                  <a:spcPct val="115000"/>
                </a:lnSpc>
                <a:spcBef>
                  <a:spcPts val="0"/>
                </a:spcBef>
                <a:spcAft>
                  <a:spcPts val="0"/>
                </a:spcAft>
                <a:buNone/>
              </a:pPr>
              <a:r>
                <a:t/>
              </a:r>
              <a:endParaRPr sz="500">
                <a:solidFill>
                  <a:srgbClr val="FFFFFF"/>
                </a:solidFill>
                <a:latin typeface="Roboto"/>
                <a:ea typeface="Roboto"/>
                <a:cs typeface="Roboto"/>
                <a:sym typeface="Roboto"/>
              </a:endParaRPr>
            </a:p>
            <a:p>
              <a:pPr indent="0" lvl="0" marL="0" rtl="0" algn="ctr">
                <a:lnSpc>
                  <a:spcPct val="115000"/>
                </a:lnSpc>
                <a:spcBef>
                  <a:spcPts val="0"/>
                </a:spcBef>
                <a:spcAft>
                  <a:spcPts val="1600"/>
                </a:spcAft>
                <a:buNone/>
              </a:pPr>
              <a:r>
                <a:rPr lang="es-419" sz="500">
                  <a:solidFill>
                    <a:srgbClr val="FFFFFF"/>
                  </a:solidFill>
                  <a:latin typeface="Roboto"/>
                  <a:ea typeface="Roboto"/>
                  <a:cs typeface="Roboto"/>
                  <a:sym typeface="Roboto"/>
                </a:rPr>
                <a:t>ECG o EKG</a:t>
              </a:r>
              <a:endParaRPr sz="500">
                <a:solidFill>
                  <a:srgbClr val="FFFFFF"/>
                </a:solidFill>
              </a:endParaRPr>
            </a:p>
          </p:txBody>
        </p:sp>
      </p:grpSp>
      <p:grpSp>
        <p:nvGrpSpPr>
          <p:cNvPr id="324" name="Google Shape;324;p18"/>
          <p:cNvGrpSpPr/>
          <p:nvPr/>
        </p:nvGrpSpPr>
        <p:grpSpPr>
          <a:xfrm>
            <a:off x="4572005" y="2960017"/>
            <a:ext cx="1142437" cy="841095"/>
            <a:chOff x="4572009" y="1146343"/>
            <a:chExt cx="1827900" cy="2399700"/>
          </a:xfrm>
        </p:grpSpPr>
        <p:sp>
          <p:nvSpPr>
            <p:cNvPr id="325" name="Google Shape;325;p18"/>
            <p:cNvSpPr/>
            <p:nvPr/>
          </p:nvSpPr>
          <p:spPr>
            <a:xfrm rot="-5400000">
              <a:off x="4286109" y="1432243"/>
              <a:ext cx="2399700" cy="1827900"/>
            </a:xfrm>
            <a:prstGeom prst="rightArrowCallout">
              <a:avLst>
                <a:gd fmla="val 9283" name="adj1"/>
                <a:gd fmla="val 13570" name="adj2"/>
                <a:gd fmla="val 16082" name="adj3"/>
                <a:gd fmla="val 81236" name="adj4"/>
              </a:avLst>
            </a:prstGeom>
            <a:solidFill>
              <a:srgbClr val="A1C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326" name="Google Shape;326;p18"/>
            <p:cNvSpPr/>
            <p:nvPr/>
          </p:nvSpPr>
          <p:spPr>
            <a:xfrm flipH="1">
              <a:off x="4660575" y="1686400"/>
              <a:ext cx="1649400" cy="1769700"/>
            </a:xfrm>
            <a:prstGeom prst="snip1Rect">
              <a:avLst>
                <a:gd fmla="val 0" name="adj"/>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327" name="Google Shape;327;p18"/>
            <p:cNvSpPr txBox="1"/>
            <p:nvPr/>
          </p:nvSpPr>
          <p:spPr>
            <a:xfrm>
              <a:off x="4794425" y="1795520"/>
              <a:ext cx="1383000" cy="14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419" sz="800">
                  <a:solidFill>
                    <a:srgbClr val="FFFFFF"/>
                  </a:solidFill>
                  <a:latin typeface="Roboto"/>
                  <a:ea typeface="Roboto"/>
                  <a:cs typeface="Roboto"/>
                  <a:sym typeface="Roboto"/>
                </a:rPr>
                <a:t>Eyes</a:t>
              </a:r>
              <a:endParaRPr b="1" sz="800">
                <a:solidFill>
                  <a:srgbClr val="FFFFFF"/>
                </a:solidFill>
                <a:latin typeface="Roboto"/>
                <a:ea typeface="Roboto"/>
                <a:cs typeface="Roboto"/>
                <a:sym typeface="Roboto"/>
              </a:endParaRPr>
            </a:p>
            <a:p>
              <a:pPr indent="0" lvl="0" marL="0" rtl="0" algn="ctr">
                <a:lnSpc>
                  <a:spcPct val="115000"/>
                </a:lnSpc>
                <a:spcBef>
                  <a:spcPts val="0"/>
                </a:spcBef>
                <a:spcAft>
                  <a:spcPts val="0"/>
                </a:spcAft>
                <a:buNone/>
              </a:pPr>
              <a:r>
                <a:t/>
              </a:r>
              <a:endParaRPr sz="500">
                <a:solidFill>
                  <a:srgbClr val="FFFFFF"/>
                </a:solidFill>
                <a:latin typeface="Roboto"/>
                <a:ea typeface="Roboto"/>
                <a:cs typeface="Roboto"/>
                <a:sym typeface="Roboto"/>
              </a:endParaRPr>
            </a:p>
            <a:p>
              <a:pPr indent="0" lvl="0" marL="0" rtl="0" algn="ctr">
                <a:lnSpc>
                  <a:spcPct val="115000"/>
                </a:lnSpc>
                <a:spcBef>
                  <a:spcPts val="0"/>
                </a:spcBef>
                <a:spcAft>
                  <a:spcPts val="1600"/>
                </a:spcAft>
                <a:buNone/>
              </a:pPr>
              <a:r>
                <a:rPr lang="es-419" sz="500">
                  <a:solidFill>
                    <a:srgbClr val="FFFFFF"/>
                  </a:solidFill>
                  <a:latin typeface="Roboto"/>
                  <a:ea typeface="Roboto"/>
                  <a:cs typeface="Roboto"/>
                  <a:sym typeface="Roboto"/>
                </a:rPr>
                <a:t>EOG</a:t>
              </a:r>
              <a:endParaRPr sz="500">
                <a:solidFill>
                  <a:srgbClr val="FFFFFF"/>
                </a:solidFill>
              </a:endParaRPr>
            </a:p>
          </p:txBody>
        </p:sp>
      </p:grpSp>
      <p:grpSp>
        <p:nvGrpSpPr>
          <p:cNvPr id="328" name="Google Shape;328;p18"/>
          <p:cNvGrpSpPr/>
          <p:nvPr/>
        </p:nvGrpSpPr>
        <p:grpSpPr>
          <a:xfrm>
            <a:off x="5714536" y="3118136"/>
            <a:ext cx="1142438" cy="841095"/>
            <a:chOff x="6400059" y="1597469"/>
            <a:chExt cx="1827900" cy="2399700"/>
          </a:xfrm>
        </p:grpSpPr>
        <p:sp>
          <p:nvSpPr>
            <p:cNvPr id="329" name="Google Shape;329;p18"/>
            <p:cNvSpPr/>
            <p:nvPr/>
          </p:nvSpPr>
          <p:spPr>
            <a:xfrm rot="5400000">
              <a:off x="6114159" y="1883369"/>
              <a:ext cx="2399700" cy="1827900"/>
            </a:xfrm>
            <a:prstGeom prst="rightArrowCallout">
              <a:avLst>
                <a:gd fmla="val 9283" name="adj1"/>
                <a:gd fmla="val 13570" name="adj2"/>
                <a:gd fmla="val 16082" name="adj3"/>
                <a:gd fmla="val 81236" name="adj4"/>
              </a:avLst>
            </a:prstGeom>
            <a:solidFill>
              <a:srgbClr val="0944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330" name="Google Shape;330;p18"/>
            <p:cNvSpPr/>
            <p:nvPr/>
          </p:nvSpPr>
          <p:spPr>
            <a:xfrm flipH="1" rot="10800000">
              <a:off x="6489993" y="1687411"/>
              <a:ext cx="1649400" cy="1769700"/>
            </a:xfrm>
            <a:prstGeom prst="snip1Rect">
              <a:avLst>
                <a:gd fmla="val 0" name="adj"/>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331" name="Google Shape;331;p18"/>
            <p:cNvSpPr txBox="1"/>
            <p:nvPr/>
          </p:nvSpPr>
          <p:spPr>
            <a:xfrm>
              <a:off x="6622400" y="1795520"/>
              <a:ext cx="1383000" cy="14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419" sz="800">
                  <a:solidFill>
                    <a:srgbClr val="FFFFFF"/>
                  </a:solidFill>
                  <a:latin typeface="Roboto"/>
                  <a:ea typeface="Roboto"/>
                  <a:cs typeface="Roboto"/>
                  <a:sym typeface="Roboto"/>
                </a:rPr>
                <a:t>Muscles</a:t>
              </a:r>
              <a:endParaRPr b="1" sz="800">
                <a:solidFill>
                  <a:srgbClr val="FFFFFF"/>
                </a:solidFill>
                <a:latin typeface="Roboto"/>
                <a:ea typeface="Roboto"/>
                <a:cs typeface="Roboto"/>
                <a:sym typeface="Roboto"/>
              </a:endParaRPr>
            </a:p>
            <a:p>
              <a:pPr indent="0" lvl="0" marL="0" rtl="0" algn="ctr">
                <a:lnSpc>
                  <a:spcPct val="115000"/>
                </a:lnSpc>
                <a:spcBef>
                  <a:spcPts val="0"/>
                </a:spcBef>
                <a:spcAft>
                  <a:spcPts val="0"/>
                </a:spcAft>
                <a:buNone/>
              </a:pPr>
              <a:r>
                <a:t/>
              </a:r>
              <a:endParaRPr sz="500">
                <a:solidFill>
                  <a:srgbClr val="FFFFFF"/>
                </a:solidFill>
                <a:latin typeface="Roboto"/>
                <a:ea typeface="Roboto"/>
                <a:cs typeface="Roboto"/>
                <a:sym typeface="Roboto"/>
              </a:endParaRPr>
            </a:p>
            <a:p>
              <a:pPr indent="0" lvl="0" marL="0" rtl="0" algn="ctr">
                <a:lnSpc>
                  <a:spcPct val="115000"/>
                </a:lnSpc>
                <a:spcBef>
                  <a:spcPts val="0"/>
                </a:spcBef>
                <a:spcAft>
                  <a:spcPts val="1600"/>
                </a:spcAft>
                <a:buNone/>
              </a:pPr>
              <a:r>
                <a:rPr lang="es-419" sz="500">
                  <a:solidFill>
                    <a:srgbClr val="FFFFFF"/>
                  </a:solidFill>
                  <a:latin typeface="Roboto"/>
                  <a:ea typeface="Roboto"/>
                  <a:cs typeface="Roboto"/>
                  <a:sym typeface="Roboto"/>
                </a:rPr>
                <a:t>EMG</a:t>
              </a:r>
              <a:endParaRPr sz="500">
                <a:solidFill>
                  <a:srgbClr val="FFFFFF"/>
                </a:solidFill>
              </a:endParaRPr>
            </a:p>
          </p:txBody>
        </p:sp>
      </p:grpSp>
      <p:grpSp>
        <p:nvGrpSpPr>
          <p:cNvPr id="332" name="Google Shape;332;p18"/>
          <p:cNvGrpSpPr/>
          <p:nvPr/>
        </p:nvGrpSpPr>
        <p:grpSpPr>
          <a:xfrm>
            <a:off x="2287036" y="2960017"/>
            <a:ext cx="1142438" cy="841095"/>
            <a:chOff x="916059" y="1146343"/>
            <a:chExt cx="1827900" cy="2399700"/>
          </a:xfrm>
        </p:grpSpPr>
        <p:sp>
          <p:nvSpPr>
            <p:cNvPr id="333" name="Google Shape;333;p18"/>
            <p:cNvSpPr/>
            <p:nvPr/>
          </p:nvSpPr>
          <p:spPr>
            <a:xfrm rot="-5400000">
              <a:off x="630159" y="1432243"/>
              <a:ext cx="2399700" cy="1827900"/>
            </a:xfrm>
            <a:prstGeom prst="rightArrowCallout">
              <a:avLst>
                <a:gd fmla="val 9283" name="adj1"/>
                <a:gd fmla="val 13570" name="adj2"/>
                <a:gd fmla="val 16082" name="adj3"/>
                <a:gd fmla="val 81236" name="adj4"/>
              </a:avLst>
            </a:prstGeom>
            <a:solidFill>
              <a:srgbClr val="A1C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334" name="Google Shape;334;p18"/>
            <p:cNvSpPr/>
            <p:nvPr/>
          </p:nvSpPr>
          <p:spPr>
            <a:xfrm flipH="1">
              <a:off x="1004625" y="1686400"/>
              <a:ext cx="1649400" cy="1769700"/>
            </a:xfrm>
            <a:prstGeom prst="snip1Rect">
              <a:avLst>
                <a:gd fmla="val 0" name="adj"/>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100"/>
            </a:p>
          </p:txBody>
        </p:sp>
        <p:sp>
          <p:nvSpPr>
            <p:cNvPr id="335" name="Google Shape;335;p18"/>
            <p:cNvSpPr txBox="1"/>
            <p:nvPr/>
          </p:nvSpPr>
          <p:spPr>
            <a:xfrm>
              <a:off x="1138475" y="1795520"/>
              <a:ext cx="1383000" cy="14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419" sz="800">
                  <a:solidFill>
                    <a:srgbClr val="FFFFFF"/>
                  </a:solidFill>
                  <a:latin typeface="Roboto"/>
                  <a:ea typeface="Roboto"/>
                  <a:cs typeface="Roboto"/>
                  <a:sym typeface="Roboto"/>
                </a:rPr>
                <a:t>Brain</a:t>
              </a:r>
              <a:endParaRPr b="1" sz="800">
                <a:solidFill>
                  <a:srgbClr val="FFFFFF"/>
                </a:solidFill>
                <a:latin typeface="Roboto"/>
                <a:ea typeface="Roboto"/>
                <a:cs typeface="Roboto"/>
                <a:sym typeface="Roboto"/>
              </a:endParaRPr>
            </a:p>
            <a:p>
              <a:pPr indent="0" lvl="0" marL="0" rtl="0" algn="ctr">
                <a:lnSpc>
                  <a:spcPct val="115000"/>
                </a:lnSpc>
                <a:spcBef>
                  <a:spcPts val="0"/>
                </a:spcBef>
                <a:spcAft>
                  <a:spcPts val="0"/>
                </a:spcAft>
                <a:buNone/>
              </a:pPr>
              <a:r>
                <a:t/>
              </a:r>
              <a:endParaRPr sz="500">
                <a:solidFill>
                  <a:srgbClr val="FFFFFF"/>
                </a:solidFill>
                <a:latin typeface="Roboto"/>
                <a:ea typeface="Roboto"/>
                <a:cs typeface="Roboto"/>
                <a:sym typeface="Roboto"/>
              </a:endParaRPr>
            </a:p>
            <a:p>
              <a:pPr indent="0" lvl="0" marL="0" rtl="0" algn="ctr">
                <a:lnSpc>
                  <a:spcPct val="115000"/>
                </a:lnSpc>
                <a:spcBef>
                  <a:spcPts val="0"/>
                </a:spcBef>
                <a:spcAft>
                  <a:spcPts val="1600"/>
                </a:spcAft>
                <a:buNone/>
              </a:pPr>
              <a:r>
                <a:rPr lang="es-419" sz="500">
                  <a:solidFill>
                    <a:srgbClr val="FFFFFF"/>
                  </a:solidFill>
                  <a:latin typeface="Roboto"/>
                  <a:ea typeface="Roboto"/>
                  <a:cs typeface="Roboto"/>
                  <a:sym typeface="Roboto"/>
                </a:rPr>
                <a:t>EEG, ECoG or iEEG</a:t>
              </a:r>
              <a:endParaRPr sz="500">
                <a:solidFill>
                  <a:srgbClr val="FFFFFF"/>
                </a:solidFill>
              </a:endParaRPr>
            </a:p>
          </p:txBody>
        </p:sp>
      </p:grpSp>
      <p:pic>
        <p:nvPicPr>
          <p:cNvPr id="336" name="Google Shape;336;p18"/>
          <p:cNvPicPr preferRelativeResize="0"/>
          <p:nvPr/>
        </p:nvPicPr>
        <p:blipFill rotWithShape="1">
          <a:blip r:embed="rId3">
            <a:alphaModFix/>
          </a:blip>
          <a:srcRect b="0" l="19520" r="20674" t="0"/>
          <a:stretch/>
        </p:blipFill>
        <p:spPr>
          <a:xfrm>
            <a:off x="2720320" y="2579525"/>
            <a:ext cx="275855" cy="307800"/>
          </a:xfrm>
          <a:prstGeom prst="rect">
            <a:avLst/>
          </a:prstGeom>
          <a:noFill/>
          <a:ln>
            <a:noFill/>
          </a:ln>
        </p:spPr>
      </p:pic>
      <p:pic>
        <p:nvPicPr>
          <p:cNvPr id="337" name="Google Shape;337;p18"/>
          <p:cNvPicPr preferRelativeResize="0"/>
          <p:nvPr/>
        </p:nvPicPr>
        <p:blipFill>
          <a:blip r:embed="rId4">
            <a:alphaModFix/>
          </a:blip>
          <a:stretch>
            <a:fillRect/>
          </a:stretch>
        </p:blipFill>
        <p:spPr>
          <a:xfrm>
            <a:off x="3862865" y="4082057"/>
            <a:ext cx="275851" cy="310405"/>
          </a:xfrm>
          <a:prstGeom prst="rect">
            <a:avLst/>
          </a:prstGeom>
          <a:noFill/>
          <a:ln>
            <a:noFill/>
          </a:ln>
        </p:spPr>
      </p:pic>
      <p:pic>
        <p:nvPicPr>
          <p:cNvPr id="338" name="Google Shape;338;p18"/>
          <p:cNvPicPr preferRelativeResize="0"/>
          <p:nvPr/>
        </p:nvPicPr>
        <p:blipFill rotWithShape="1">
          <a:blip r:embed="rId5">
            <a:alphaModFix/>
          </a:blip>
          <a:srcRect b="18320" l="4077" r="2193" t="7445"/>
          <a:stretch/>
        </p:blipFill>
        <p:spPr>
          <a:xfrm>
            <a:off x="4934973" y="2638183"/>
            <a:ext cx="416500" cy="190494"/>
          </a:xfrm>
          <a:prstGeom prst="rect">
            <a:avLst/>
          </a:prstGeom>
          <a:noFill/>
          <a:ln>
            <a:noFill/>
          </a:ln>
        </p:spPr>
      </p:pic>
      <p:pic>
        <p:nvPicPr>
          <p:cNvPr id="339" name="Google Shape;339;p18"/>
          <p:cNvPicPr preferRelativeResize="0"/>
          <p:nvPr/>
        </p:nvPicPr>
        <p:blipFill>
          <a:blip r:embed="rId6">
            <a:alphaModFix/>
          </a:blip>
          <a:stretch>
            <a:fillRect/>
          </a:stretch>
        </p:blipFill>
        <p:spPr>
          <a:xfrm>
            <a:off x="5972042" y="4002925"/>
            <a:ext cx="627407" cy="468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Electrocardiografía</a:t>
            </a:r>
            <a:endParaRPr/>
          </a:p>
        </p:txBody>
      </p:sp>
      <p:sp>
        <p:nvSpPr>
          <p:cNvPr id="345" name="Google Shape;345;p1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a:t>
            </a:r>
            <a:r>
              <a:rPr lang="es-419"/>
              <a:t>s el proceso de producción de un electrocardiograma (ECG o EKG), un registro de la actividad eléctrica del corazón. </a:t>
            </a:r>
            <a:endParaRPr/>
          </a:p>
          <a:p>
            <a:pPr indent="0" lvl="0" marL="0" rtl="0" algn="l">
              <a:spcBef>
                <a:spcPts val="1200"/>
              </a:spcBef>
              <a:spcAft>
                <a:spcPts val="0"/>
              </a:spcAft>
              <a:buNone/>
            </a:pPr>
            <a:r>
              <a:rPr lang="es-419"/>
              <a:t>Un electrograma del corazón es un gráfico de voltaje vs. tiempo de la actividad eléctrica del corazón usando electrodos colocados en la piel. </a:t>
            </a:r>
            <a:endParaRPr/>
          </a:p>
          <a:p>
            <a:pPr indent="0" lvl="0" marL="0" rtl="0" algn="l">
              <a:spcBef>
                <a:spcPts val="1200"/>
              </a:spcBef>
              <a:spcAft>
                <a:spcPts val="1200"/>
              </a:spcAft>
              <a:buNone/>
            </a:pPr>
            <a:r>
              <a:rPr lang="es-419"/>
              <a:t>Estos electrodos detectan los pequeños cambios eléctricos que son consecuencia de la despolarización del músculo cardíaco seguida de la repolarización durante cada ciclo cardíaco (latido). </a:t>
            </a:r>
            <a:endParaRPr/>
          </a:p>
        </p:txBody>
      </p:sp>
      <p:sp>
        <p:nvSpPr>
          <p:cNvPr id="346" name="Google Shape;346;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47" name="Google Shape;347;p1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Levine, G. N. (2014). Electrocardiogram. In Cardiology Secrets (pp. 22-28). WB Saunders.</a:t>
            </a:r>
            <a:endParaRPr sz="800">
              <a:solidFill>
                <a:srgbClr val="94B6B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a:t>
            </a:r>
            <a:endParaRPr sz="2400">
              <a:solidFill>
                <a:schemeClr val="accent2"/>
              </a:solidFill>
            </a:endParaRPr>
          </a:p>
        </p:txBody>
      </p:sp>
      <p:sp>
        <p:nvSpPr>
          <p:cNvPr id="353" name="Google Shape;353;p2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Tradicionalmente, ECG generalmente significa un 12-</a:t>
            </a:r>
            <a:r>
              <a:rPr i="1" lang="es-419"/>
              <a:t>lead</a:t>
            </a:r>
            <a:r>
              <a:rPr lang="es-419"/>
              <a:t> ECG tomado mientras está </a:t>
            </a:r>
            <a:r>
              <a:rPr b="1" lang="es-419"/>
              <a:t>acostado</a:t>
            </a:r>
            <a:r>
              <a:rPr lang="es-419"/>
              <a:t>. Sin embargo, otros dispositivos pueden registrar la actividad eléctrica del corazón como bandas pectorales o relojes inteligentes.</a:t>
            </a:r>
            <a:endParaRPr/>
          </a:p>
          <a:p>
            <a:pPr indent="0" lvl="0" marL="0" rtl="0" algn="l">
              <a:spcBef>
                <a:spcPts val="1200"/>
              </a:spcBef>
              <a:spcAft>
                <a:spcPts val="0"/>
              </a:spcAft>
              <a:buNone/>
            </a:pPr>
            <a:r>
              <a:rPr lang="es-419"/>
              <a:t>En un ECG convencional, se colocan diez electrodos en las extremidades del paciente y en la superficie del tórax. Después se mide la magnitud general del potencial eléctrico del corazón desde doce ángulos diferentes (derivaciones) y se registra durante un período de tiempo (generalmente diez segundos). </a:t>
            </a:r>
            <a:endParaRPr/>
          </a:p>
          <a:p>
            <a:pPr indent="0" lvl="0" marL="0" rtl="0" algn="l">
              <a:spcBef>
                <a:spcPts val="1200"/>
              </a:spcBef>
              <a:spcAft>
                <a:spcPts val="1200"/>
              </a:spcAft>
              <a:buNone/>
            </a:pPr>
            <a:r>
              <a:rPr lang="es-419"/>
              <a:t>De esta manera, la </a:t>
            </a:r>
            <a:r>
              <a:rPr b="1" lang="es-419"/>
              <a:t>magnitud</a:t>
            </a:r>
            <a:r>
              <a:rPr lang="es-419"/>
              <a:t> y la </a:t>
            </a:r>
            <a:r>
              <a:rPr b="1" lang="es-419"/>
              <a:t>dirección</a:t>
            </a:r>
            <a:r>
              <a:rPr lang="es-419"/>
              <a:t> de la despolarización eléctrica del corazón se capturan en cada momento a lo largo del ciclo cardíaco.</a:t>
            </a:r>
            <a:endParaRPr/>
          </a:p>
        </p:txBody>
      </p:sp>
      <p:sp>
        <p:nvSpPr>
          <p:cNvPr id="354" name="Google Shape;354;p2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Clifford, G. D., &amp; Azuaje, F. (2006). Advanced methods and tools for ECG data analysis (Vol. 10). P. McSharry (Ed.). Boston: Artech house.</a:t>
            </a:r>
            <a:endParaRPr sz="800">
              <a:solidFill>
                <a:srgbClr val="94B6BD"/>
              </a:solidFill>
            </a:endParaRPr>
          </a:p>
        </p:txBody>
      </p:sp>
      <p:sp>
        <p:nvSpPr>
          <p:cNvPr id="355" name="Google Shape;355;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1"/>
          <p:cNvSpPr txBox="1"/>
          <p:nvPr>
            <p:ph idx="1" type="body"/>
          </p:nvPr>
        </p:nvSpPr>
        <p:spPr>
          <a:xfrm>
            <a:off x="1303800" y="1761450"/>
            <a:ext cx="42288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En electrocardiografía, la palabra "derivaciones" se refiere a la medida del voltaje entre dos electrodos. Los </a:t>
            </a:r>
            <a:r>
              <a:rPr b="1" lang="es-419"/>
              <a:t>electrodos</a:t>
            </a:r>
            <a:r>
              <a:rPr lang="es-419"/>
              <a:t> se colocan sobre el cuerpo del paciente, sujetándolos con cintas de velcro, por ejemplo, y conectados al aparato mediante cables.​</a:t>
            </a:r>
            <a:endParaRPr/>
          </a:p>
          <a:p>
            <a:pPr indent="0" lvl="0" marL="0" rtl="0" algn="l">
              <a:spcBef>
                <a:spcPts val="1200"/>
              </a:spcBef>
              <a:spcAft>
                <a:spcPts val="1200"/>
              </a:spcAft>
              <a:buNone/>
            </a:pPr>
            <a:r>
              <a:rPr lang="es-419"/>
              <a:t>Las derivaciones de un ECG utilizan diferentes combinaciones de electrodos para medir distintas señales procedentes del corazón: en forma figurada, cada derivación es como una "fotografía" de la actividad eléctrica del corazón, tomada desde un ángulo diferente.</a:t>
            </a:r>
            <a:endParaRPr/>
          </a:p>
        </p:txBody>
      </p:sp>
      <p:sp>
        <p:nvSpPr>
          <p:cNvPr id="361" name="Google Shape;361;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62" name="Google Shape;362;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12-lead ECG</a:t>
            </a:r>
            <a:endParaRPr sz="2400">
              <a:solidFill>
                <a:schemeClr val="accent2"/>
              </a:solidFill>
            </a:endParaRPr>
          </a:p>
        </p:txBody>
      </p:sp>
      <p:pic>
        <p:nvPicPr>
          <p:cNvPr id="363" name="Google Shape;363;p21"/>
          <p:cNvPicPr preferRelativeResize="0"/>
          <p:nvPr/>
        </p:nvPicPr>
        <p:blipFill>
          <a:blip r:embed="rId3">
            <a:alphaModFix/>
          </a:blip>
          <a:stretch>
            <a:fillRect/>
          </a:stretch>
        </p:blipFill>
        <p:spPr>
          <a:xfrm>
            <a:off x="6424073" y="1597873"/>
            <a:ext cx="1786599" cy="26247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2"/>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Colocación de los electrodos</a:t>
            </a:r>
            <a:endParaRPr/>
          </a:p>
        </p:txBody>
      </p:sp>
      <p:sp>
        <p:nvSpPr>
          <p:cNvPr id="369" name="Google Shape;369;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graphicFrame>
        <p:nvGraphicFramePr>
          <p:cNvPr id="370" name="Google Shape;370;p22"/>
          <p:cNvGraphicFramePr/>
          <p:nvPr/>
        </p:nvGraphicFramePr>
        <p:xfrm>
          <a:off x="506825" y="898080"/>
          <a:ext cx="3000000" cy="3000000"/>
        </p:xfrm>
        <a:graphic>
          <a:graphicData uri="http://schemas.openxmlformats.org/drawingml/2006/table">
            <a:tbl>
              <a:tblPr>
                <a:noFill/>
                <a:tableStyleId>{5D018EBB-3189-4D5A-83DB-4861202957B6}</a:tableStyleId>
              </a:tblPr>
              <a:tblGrid>
                <a:gridCol w="681050"/>
                <a:gridCol w="4860350"/>
              </a:tblGrid>
              <a:tr h="167625">
                <a:tc>
                  <a:txBody>
                    <a:bodyPr/>
                    <a:lstStyle/>
                    <a:p>
                      <a:pPr indent="0" lvl="0" marL="0" rtl="0" algn="ctr">
                        <a:lnSpc>
                          <a:spcPct val="100000"/>
                        </a:lnSpc>
                        <a:spcBef>
                          <a:spcPts val="0"/>
                        </a:spcBef>
                        <a:spcAft>
                          <a:spcPts val="0"/>
                        </a:spcAft>
                        <a:buNone/>
                      </a:pPr>
                      <a:r>
                        <a:rPr b="1" lang="es-419" sz="900">
                          <a:solidFill>
                            <a:srgbClr val="202122"/>
                          </a:solidFill>
                          <a:latin typeface="Nunito"/>
                          <a:ea typeface="Nunito"/>
                          <a:cs typeface="Nunito"/>
                          <a:sym typeface="Nunito"/>
                        </a:rPr>
                        <a:t>E</a:t>
                      </a:r>
                      <a:r>
                        <a:rPr b="1" lang="es-419" sz="900">
                          <a:solidFill>
                            <a:srgbClr val="202122"/>
                          </a:solidFill>
                          <a:latin typeface="Nunito"/>
                          <a:ea typeface="Nunito"/>
                          <a:cs typeface="Nunito"/>
                          <a:sym typeface="Nunito"/>
                        </a:rPr>
                        <a:t>lectrodo</a:t>
                      </a:r>
                      <a:endParaRPr b="1"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es-419" sz="900">
                          <a:solidFill>
                            <a:srgbClr val="202122"/>
                          </a:solidFill>
                          <a:latin typeface="Nunito"/>
                          <a:ea typeface="Nunito"/>
                          <a:cs typeface="Nunito"/>
                          <a:sym typeface="Nunito"/>
                        </a:rPr>
                        <a:t>Localización del electrodo</a:t>
                      </a:r>
                      <a:endParaRPr b="1"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167625">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BD</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el brazo derecho, evitando prominencias óseas.</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167625">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BI</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el mismo sitio que se colocó BD, pero en el brazo izquierdo.</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167625">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PD</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la pierna derecha, evitando prominencias óseas.</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167625">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PI</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el mismo sitio que se colocó PD, pero en la pierna izquierda.</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167625">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V1</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el </a:t>
                      </a:r>
                      <a:r>
                        <a:rPr i="1" lang="es-419" sz="900">
                          <a:solidFill>
                            <a:schemeClr val="accent1"/>
                          </a:solidFill>
                          <a:latin typeface="Nunito"/>
                          <a:ea typeface="Nunito"/>
                          <a:cs typeface="Nunito"/>
                          <a:sym typeface="Nunito"/>
                        </a:rPr>
                        <a:t>tercer o cuarto</a:t>
                      </a:r>
                      <a:r>
                        <a:rPr lang="es-419" sz="900">
                          <a:solidFill>
                            <a:schemeClr val="accent1"/>
                          </a:solidFill>
                          <a:latin typeface="Nunito"/>
                          <a:ea typeface="Nunito"/>
                          <a:cs typeface="Nunito"/>
                          <a:sym typeface="Nunito"/>
                        </a:rPr>
                        <a:t> espacio intercostal (entre las costillas 3 &amp; 5) a la </a:t>
                      </a:r>
                      <a:r>
                        <a:rPr i="1" lang="es-419" sz="900">
                          <a:solidFill>
                            <a:schemeClr val="accent1"/>
                          </a:solidFill>
                          <a:latin typeface="Nunito"/>
                          <a:ea typeface="Nunito"/>
                          <a:cs typeface="Nunito"/>
                          <a:sym typeface="Nunito"/>
                        </a:rPr>
                        <a:t>derecha</a:t>
                      </a:r>
                      <a:r>
                        <a:rPr lang="es-419" sz="900">
                          <a:solidFill>
                            <a:schemeClr val="accent1"/>
                          </a:solidFill>
                          <a:latin typeface="Nunito"/>
                          <a:ea typeface="Nunito"/>
                          <a:cs typeface="Nunito"/>
                          <a:sym typeface="Nunito"/>
                        </a:rPr>
                        <a:t> del </a:t>
                      </a:r>
                      <a:r>
                        <a:rPr lang="es-419" sz="900">
                          <a:solidFill>
                            <a:schemeClr val="accent1"/>
                          </a:solidFill>
                          <a:uFill>
                            <a:noFill/>
                          </a:uFill>
                          <a:latin typeface="Nunito"/>
                          <a:ea typeface="Nunito"/>
                          <a:cs typeface="Nunito"/>
                          <a:sym typeface="Nunito"/>
                          <a:hlinkClick r:id="rId3">
                            <a:extLst>
                              <a:ext uri="{A12FA001-AC4F-418D-AE19-62706E023703}">
                                <ahyp:hlinkClr val="tx"/>
                              </a:ext>
                            </a:extLst>
                          </a:hlinkClick>
                        </a:rPr>
                        <a:t>esternón</a:t>
                      </a:r>
                      <a:r>
                        <a:rPr lang="es-419" sz="900">
                          <a:solidFill>
                            <a:schemeClr val="accent1"/>
                          </a:solidFill>
                          <a:latin typeface="Nunito"/>
                          <a:ea typeface="Nunito"/>
                          <a:cs typeface="Nunito"/>
                          <a:sym typeface="Nunito"/>
                        </a:rPr>
                        <a:t>.</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167625">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V2</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el "cuarto" espacio intercostal (entre las costillas 4 &amp; 5) a la </a:t>
                      </a:r>
                      <a:r>
                        <a:rPr i="1" lang="es-419" sz="900">
                          <a:solidFill>
                            <a:schemeClr val="accent1"/>
                          </a:solidFill>
                          <a:latin typeface="Nunito"/>
                          <a:ea typeface="Nunito"/>
                          <a:cs typeface="Nunito"/>
                          <a:sym typeface="Nunito"/>
                        </a:rPr>
                        <a:t>izquierda</a:t>
                      </a:r>
                      <a:r>
                        <a:rPr lang="es-419" sz="900">
                          <a:solidFill>
                            <a:schemeClr val="accent1"/>
                          </a:solidFill>
                          <a:latin typeface="Nunito"/>
                          <a:ea typeface="Nunito"/>
                          <a:cs typeface="Nunito"/>
                          <a:sym typeface="Nunito"/>
                        </a:rPr>
                        <a:t> del esternón.</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167625">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V3</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Entre V2 y V4.</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288300">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V4</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el </a:t>
                      </a:r>
                      <a:r>
                        <a:rPr i="1" lang="es-419" sz="900">
                          <a:solidFill>
                            <a:schemeClr val="accent1"/>
                          </a:solidFill>
                          <a:latin typeface="Nunito"/>
                          <a:ea typeface="Nunito"/>
                          <a:cs typeface="Nunito"/>
                          <a:sym typeface="Nunito"/>
                        </a:rPr>
                        <a:t>quinto</a:t>
                      </a:r>
                      <a:r>
                        <a:rPr lang="es-419" sz="900">
                          <a:solidFill>
                            <a:schemeClr val="accent1"/>
                          </a:solidFill>
                          <a:latin typeface="Nunito"/>
                          <a:ea typeface="Nunito"/>
                          <a:cs typeface="Nunito"/>
                          <a:sym typeface="Nunito"/>
                        </a:rPr>
                        <a:t> espacio intercostal (entre las costillas 5 &amp; 6), en la línea medio-clavicular (la línea imaginaria que baja desde el punto medio de la </a:t>
                      </a:r>
                      <a:r>
                        <a:rPr lang="es-419" sz="900">
                          <a:solidFill>
                            <a:schemeClr val="accent1"/>
                          </a:solidFill>
                          <a:uFill>
                            <a:noFill/>
                          </a:uFill>
                          <a:latin typeface="Nunito"/>
                          <a:ea typeface="Nunito"/>
                          <a:cs typeface="Nunito"/>
                          <a:sym typeface="Nunito"/>
                          <a:hlinkClick r:id="rId4">
                            <a:extLst>
                              <a:ext uri="{A12FA001-AC4F-418D-AE19-62706E023703}">
                                <ahyp:hlinkClr val="tx"/>
                              </a:ext>
                            </a:extLst>
                          </a:hlinkClick>
                        </a:rPr>
                        <a:t>clavícula</a:t>
                      </a:r>
                      <a:r>
                        <a:rPr lang="es-419" sz="900">
                          <a:solidFill>
                            <a:schemeClr val="accent1"/>
                          </a:solidFill>
                          <a:latin typeface="Nunito"/>
                          <a:ea typeface="Nunito"/>
                          <a:cs typeface="Nunito"/>
                          <a:sym typeface="Nunito"/>
                        </a:rPr>
                        <a:t>).</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529675">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V5</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la misma línea horizontal media que V4, pero verticalmente en la línea axilar anterior (línea imaginaria que baja desde el punto medio entre el centro de la clavícula y su extremo lateral, que es el extremo más próximo al brazo). Fácil punto de localización entre puntos equidistantes de V4 y V6.</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r h="288300">
                <a:tc>
                  <a:txBody>
                    <a:bodyPr/>
                    <a:lstStyle/>
                    <a:p>
                      <a:pPr indent="0" lvl="0" marL="0" rtl="0" algn="l">
                        <a:lnSpc>
                          <a:spcPct val="100000"/>
                        </a:lnSpc>
                        <a:spcBef>
                          <a:spcPts val="0"/>
                        </a:spcBef>
                        <a:spcAft>
                          <a:spcPts val="0"/>
                        </a:spcAft>
                        <a:buNone/>
                      </a:pPr>
                      <a:r>
                        <a:rPr lang="es-419" sz="900">
                          <a:solidFill>
                            <a:srgbClr val="202122"/>
                          </a:solidFill>
                          <a:latin typeface="Nunito"/>
                          <a:ea typeface="Nunito"/>
                          <a:cs typeface="Nunito"/>
                          <a:sym typeface="Nunito"/>
                        </a:rPr>
                        <a:t>V6</a:t>
                      </a:r>
                      <a:endParaRPr sz="900">
                        <a:solidFill>
                          <a:srgbClr val="202122"/>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es-419" sz="900">
                          <a:solidFill>
                            <a:schemeClr val="accent1"/>
                          </a:solidFill>
                          <a:latin typeface="Nunito"/>
                          <a:ea typeface="Nunito"/>
                          <a:cs typeface="Nunito"/>
                          <a:sym typeface="Nunito"/>
                        </a:rPr>
                        <a:t>En la misma línea horizontal que V4 y V5, pero verticalmente en la línea medioaxilar (línea imaginaria que baja desde el centro de la </a:t>
                      </a:r>
                      <a:r>
                        <a:rPr lang="es-419" sz="900">
                          <a:solidFill>
                            <a:schemeClr val="accent1"/>
                          </a:solidFill>
                          <a:uFill>
                            <a:noFill/>
                          </a:uFill>
                          <a:latin typeface="Nunito"/>
                          <a:ea typeface="Nunito"/>
                          <a:cs typeface="Nunito"/>
                          <a:sym typeface="Nunito"/>
                          <a:hlinkClick r:id="rId5">
                            <a:extLst>
                              <a:ext uri="{A12FA001-AC4F-418D-AE19-62706E023703}">
                                <ahyp:hlinkClr val="tx"/>
                              </a:ext>
                            </a:extLst>
                          </a:hlinkClick>
                        </a:rPr>
                        <a:t>axila</a:t>
                      </a:r>
                      <a:r>
                        <a:rPr lang="es-419" sz="900">
                          <a:solidFill>
                            <a:schemeClr val="accent1"/>
                          </a:solidFill>
                          <a:latin typeface="Nunito"/>
                          <a:ea typeface="Nunito"/>
                          <a:cs typeface="Nunito"/>
                          <a:sym typeface="Nunito"/>
                        </a:rPr>
                        <a:t> del paciente).</a:t>
                      </a:r>
                      <a:endParaRPr sz="900">
                        <a:solidFill>
                          <a:schemeClr val="accent1"/>
                        </a:solidFill>
                        <a:latin typeface="Nunito"/>
                        <a:ea typeface="Nunito"/>
                        <a:cs typeface="Nunito"/>
                        <a:sym typeface="Nunito"/>
                      </a:endParaRPr>
                    </a:p>
                  </a:txBody>
                  <a:tcPr marT="26675" marB="26675" marR="53350" marL="53350">
                    <a:lnL cap="flat" cmpd="sng" w="9500">
                      <a:solidFill>
                        <a:srgbClr val="A2A9B1"/>
                      </a:solidFill>
                      <a:prstDash val="solid"/>
                      <a:round/>
                      <a:headEnd len="sm" w="sm" type="none"/>
                      <a:tailEnd len="sm" w="sm" type="none"/>
                    </a:lnL>
                    <a:lnR cap="flat" cmpd="sng" w="9500">
                      <a:solidFill>
                        <a:srgbClr val="A2A9B1"/>
                      </a:solidFill>
                      <a:prstDash val="solid"/>
                      <a:round/>
                      <a:headEnd len="sm" w="sm" type="none"/>
                      <a:tailEnd len="sm" w="sm" type="none"/>
                    </a:lnR>
                    <a:lnT cap="flat" cmpd="sng" w="9500">
                      <a:solidFill>
                        <a:srgbClr val="A2A9B1"/>
                      </a:solidFill>
                      <a:prstDash val="solid"/>
                      <a:round/>
                      <a:headEnd len="sm" w="sm" type="none"/>
                      <a:tailEnd len="sm" w="sm" type="none"/>
                    </a:lnT>
                    <a:lnB cap="flat" cmpd="sng" w="9500">
                      <a:solidFill>
                        <a:srgbClr val="A2A9B1"/>
                      </a:solidFill>
                      <a:prstDash val="solid"/>
                      <a:round/>
                      <a:headEnd len="sm" w="sm" type="none"/>
                      <a:tailEnd len="sm" w="sm" type="none"/>
                    </a:lnB>
                  </a:tcPr>
                </a:tc>
              </a:tr>
            </a:tbl>
          </a:graphicData>
        </a:graphic>
      </p:graphicFrame>
      <p:pic>
        <p:nvPicPr>
          <p:cNvPr id="371" name="Google Shape;371;p22"/>
          <p:cNvPicPr preferRelativeResize="0"/>
          <p:nvPr/>
        </p:nvPicPr>
        <p:blipFill rotWithShape="1">
          <a:blip r:embed="rId6">
            <a:alphaModFix/>
          </a:blip>
          <a:srcRect b="0" l="0" r="12472" t="0"/>
          <a:stretch/>
        </p:blipFill>
        <p:spPr>
          <a:xfrm>
            <a:off x="6301137" y="1049275"/>
            <a:ext cx="2149911" cy="1338976"/>
          </a:xfrm>
          <a:prstGeom prst="rect">
            <a:avLst/>
          </a:prstGeom>
          <a:noFill/>
          <a:ln>
            <a:noFill/>
          </a:ln>
        </p:spPr>
      </p:pic>
      <p:pic>
        <p:nvPicPr>
          <p:cNvPr id="372" name="Google Shape;372;p22"/>
          <p:cNvPicPr preferRelativeResize="0"/>
          <p:nvPr/>
        </p:nvPicPr>
        <p:blipFill>
          <a:blip r:embed="rId7">
            <a:alphaModFix/>
          </a:blip>
          <a:stretch>
            <a:fillRect/>
          </a:stretch>
        </p:blipFill>
        <p:spPr>
          <a:xfrm>
            <a:off x="6908837" y="2853400"/>
            <a:ext cx="934502" cy="8204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3"/>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Composite/sequential 12-lead ECG output </a:t>
            </a:r>
            <a:endParaRPr/>
          </a:p>
        </p:txBody>
      </p:sp>
      <p:sp>
        <p:nvSpPr>
          <p:cNvPr id="378" name="Google Shape;378;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79" name="Google Shape;379;p23"/>
          <p:cNvPicPr preferRelativeResize="0"/>
          <p:nvPr/>
        </p:nvPicPr>
        <p:blipFill rotWithShape="1">
          <a:blip r:embed="rId3">
            <a:alphaModFix/>
          </a:blip>
          <a:srcRect b="3436" l="2725" r="3280" t="17915"/>
          <a:stretch/>
        </p:blipFill>
        <p:spPr>
          <a:xfrm>
            <a:off x="2721312" y="1155262"/>
            <a:ext cx="3701374" cy="2375776"/>
          </a:xfrm>
          <a:prstGeom prst="rect">
            <a:avLst/>
          </a:prstGeom>
          <a:noFill/>
          <a:ln>
            <a:noFill/>
          </a:ln>
        </p:spPr>
      </p:pic>
      <p:sp>
        <p:nvSpPr>
          <p:cNvPr id="380" name="Google Shape;380;p23"/>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https://www.ndsu.edu/pubweb/~grier/1to12-lead-ECG-EKG.html</a:t>
            </a:r>
            <a:endParaRPr sz="800">
              <a:solidFill>
                <a:srgbClr val="94B6BD"/>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4"/>
          <p:cNvSpPr txBox="1"/>
          <p:nvPr>
            <p:ph idx="1" type="body"/>
          </p:nvPr>
        </p:nvSpPr>
        <p:spPr>
          <a:xfrm>
            <a:off x="1303800" y="4138975"/>
            <a:ext cx="7033800" cy="534900"/>
          </a:xfrm>
          <a:prstGeom prst="rect">
            <a:avLst/>
          </a:prstGeom>
        </p:spPr>
        <p:txBody>
          <a:bodyPr anchorCtr="0" anchor="t" bIns="91425" lIns="91425" spcFirstLastPara="1" rIns="91425" wrap="square" tIns="91425">
            <a:normAutofit fontScale="70000"/>
          </a:bodyPr>
          <a:lstStyle/>
          <a:p>
            <a:pPr indent="0" lvl="0" marL="0" rtl="0" algn="l">
              <a:spcBef>
                <a:spcPts val="0"/>
              </a:spcBef>
              <a:spcAft>
                <a:spcPts val="0"/>
              </a:spcAft>
              <a:buNone/>
            </a:pPr>
            <a:r>
              <a:rPr lang="es-419"/>
              <a:t>12-lead ECG waveform in 10 minutes after coronary occlusion. (A) control model without occlusion, (B) ventricular model with distal coronary occlusion, (C) ventricular model with mid coronary occlusion, (D) ventricular model with proximal coronary occlusion</a:t>
            </a:r>
            <a:endParaRPr/>
          </a:p>
        </p:txBody>
      </p:sp>
      <p:sp>
        <p:nvSpPr>
          <p:cNvPr id="386" name="Google Shape;386;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87" name="Google Shape;387;p24"/>
          <p:cNvPicPr preferRelativeResize="0"/>
          <p:nvPr/>
        </p:nvPicPr>
        <p:blipFill>
          <a:blip r:embed="rId3">
            <a:alphaModFix/>
          </a:blip>
          <a:stretch>
            <a:fillRect/>
          </a:stretch>
        </p:blipFill>
        <p:spPr>
          <a:xfrm>
            <a:off x="2690334" y="1329825"/>
            <a:ext cx="3763324" cy="2005625"/>
          </a:xfrm>
          <a:prstGeom prst="rect">
            <a:avLst/>
          </a:prstGeom>
          <a:noFill/>
          <a:ln>
            <a:noFill/>
          </a:ln>
        </p:spPr>
      </p:pic>
      <p:sp>
        <p:nvSpPr>
          <p:cNvPr id="388" name="Google Shape;388;p24"/>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Ryu, A. J., Lee, K. E., Kwon, S. S., Shin, E. S., &amp; Shim, E. B. (2019). In silico evaluation of the acute occlusion effect of coronary artery on cardiac electrophysiology and the body surface potential map. The Korean Journal of Physiology &amp; Pharmacology, 23(1), 71-79</a:t>
            </a:r>
            <a:endParaRPr sz="800">
              <a:solidFill>
                <a:srgbClr val="94B6BD"/>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a:t>
            </a:r>
            <a:endParaRPr sz="2400">
              <a:solidFill>
                <a:schemeClr val="accent2"/>
              </a:solidFill>
            </a:endParaRPr>
          </a:p>
        </p:txBody>
      </p:sp>
      <p:sp>
        <p:nvSpPr>
          <p:cNvPr id="394" name="Google Shape;394;p2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trazado típico de un electrocardiograma registrando un latido cardíaco normal consiste en una onda P, un complejo QRS y una onda T. La pequeña onda U normalmente es invisible.</a:t>
            </a:r>
            <a:endParaRPr/>
          </a:p>
          <a:p>
            <a:pPr indent="0" lvl="0" marL="0" rtl="0" algn="l">
              <a:spcBef>
                <a:spcPts val="1200"/>
              </a:spcBef>
              <a:spcAft>
                <a:spcPts val="0"/>
              </a:spcAft>
              <a:buNone/>
            </a:pPr>
            <a:r>
              <a:rPr lang="es-419"/>
              <a:t>Así, la </a:t>
            </a:r>
            <a:r>
              <a:rPr b="1" lang="es-419">
                <a:solidFill>
                  <a:schemeClr val="accent5"/>
                </a:solidFill>
              </a:rPr>
              <a:t>sístole mecánica</a:t>
            </a:r>
            <a:r>
              <a:rPr lang="es-419"/>
              <a:t> o </a:t>
            </a:r>
            <a:r>
              <a:rPr lang="es-419"/>
              <a:t>contracción ventricular comienza justo después del inicio del complejo QRS y culmina justo antes de terminar la onda T. </a:t>
            </a:r>
            <a:endParaRPr/>
          </a:p>
          <a:p>
            <a:pPr indent="0" lvl="0" marL="0" rtl="0" algn="l">
              <a:spcBef>
                <a:spcPts val="1200"/>
              </a:spcBef>
              <a:spcAft>
                <a:spcPts val="1200"/>
              </a:spcAft>
              <a:buNone/>
            </a:pPr>
            <a:r>
              <a:rPr lang="es-419"/>
              <a:t>La </a:t>
            </a:r>
            <a:r>
              <a:rPr b="1" lang="es-419">
                <a:solidFill>
                  <a:schemeClr val="accent5"/>
                </a:solidFill>
              </a:rPr>
              <a:t>diástole</a:t>
            </a:r>
            <a:r>
              <a:rPr lang="es-419"/>
              <a:t>, que es la relajación y rellenado ventricular, comienza después que culmina la sístole correspondiendo con la contracción de las aurículas, justo después de iniciarse la onda P.</a:t>
            </a:r>
            <a:endParaRPr/>
          </a:p>
        </p:txBody>
      </p:sp>
      <p:sp>
        <p:nvSpPr>
          <p:cNvPr id="395" name="Google Shape;395;p25"/>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Price, D. (2010). How to read an electrocardiogram (ECG). Part 1: Basic principles of the ECG. The normal ECG. South Sudan Medical Journal, 3(2), 26-31.</a:t>
            </a:r>
            <a:endParaRPr sz="800">
              <a:solidFill>
                <a:srgbClr val="94B6BD"/>
              </a:solidFill>
            </a:endParaRPr>
          </a:p>
        </p:txBody>
      </p:sp>
      <p:sp>
        <p:nvSpPr>
          <p:cNvPr id="396" name="Google Shape;396;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a:t>
            </a:r>
            <a:endParaRPr sz="2400">
              <a:solidFill>
                <a:schemeClr val="accent2"/>
              </a:solidFill>
            </a:endParaRPr>
          </a:p>
        </p:txBody>
      </p:sp>
      <p:sp>
        <p:nvSpPr>
          <p:cNvPr id="402" name="Google Shape;402;p26"/>
          <p:cNvSpPr txBox="1"/>
          <p:nvPr>
            <p:ph idx="1" type="body"/>
          </p:nvPr>
        </p:nvSpPr>
        <p:spPr>
          <a:xfrm>
            <a:off x="1303800" y="1761450"/>
            <a:ext cx="35514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Hay tres componentes principales en un ECG: </a:t>
            </a:r>
            <a:endParaRPr/>
          </a:p>
          <a:p>
            <a:pPr indent="-311150" lvl="0" marL="457200" rtl="0" algn="l">
              <a:spcBef>
                <a:spcPts val="1200"/>
              </a:spcBef>
              <a:spcAft>
                <a:spcPts val="0"/>
              </a:spcAft>
              <a:buSzPts val="1300"/>
              <a:buChar char="●"/>
            </a:pPr>
            <a:r>
              <a:rPr lang="es-419"/>
              <a:t>la onda P, que representa la despolarización de las aurículas; </a:t>
            </a:r>
            <a:endParaRPr/>
          </a:p>
          <a:p>
            <a:pPr indent="-311150" lvl="0" marL="457200" rtl="0" algn="l">
              <a:spcBef>
                <a:spcPts val="0"/>
              </a:spcBef>
              <a:spcAft>
                <a:spcPts val="0"/>
              </a:spcAft>
              <a:buSzPts val="1300"/>
              <a:buChar char="●"/>
            </a:pPr>
            <a:r>
              <a:rPr lang="es-419"/>
              <a:t>el complejo QRS, que representa la despolarización de los ventrículos; y </a:t>
            </a:r>
            <a:endParaRPr/>
          </a:p>
          <a:p>
            <a:pPr indent="-311150" lvl="0" marL="457200" rtl="0" algn="l">
              <a:spcBef>
                <a:spcPts val="0"/>
              </a:spcBef>
              <a:spcAft>
                <a:spcPts val="0"/>
              </a:spcAft>
              <a:buSzPts val="1300"/>
              <a:buChar char="●"/>
            </a:pPr>
            <a:r>
              <a:rPr lang="es-419"/>
              <a:t>la onda T, que representa la repolarización de los ventrículos.</a:t>
            </a:r>
            <a:endParaRPr/>
          </a:p>
        </p:txBody>
      </p:sp>
      <p:sp>
        <p:nvSpPr>
          <p:cNvPr id="403" name="Google Shape;403;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04" name="Google Shape;404;p26"/>
          <p:cNvPicPr preferRelativeResize="0"/>
          <p:nvPr/>
        </p:nvPicPr>
        <p:blipFill>
          <a:blip r:embed="rId3">
            <a:alphaModFix/>
          </a:blip>
          <a:stretch>
            <a:fillRect/>
          </a:stretch>
        </p:blipFill>
        <p:spPr>
          <a:xfrm>
            <a:off x="5654125" y="1249150"/>
            <a:ext cx="2683537" cy="2645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eje eléctrico</a:t>
            </a:r>
            <a:endParaRPr sz="2400">
              <a:solidFill>
                <a:schemeClr val="accent2"/>
              </a:solidFill>
            </a:endParaRPr>
          </a:p>
        </p:txBody>
      </p:sp>
      <p:sp>
        <p:nvSpPr>
          <p:cNvPr id="410" name="Google Shape;410;p2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El eje eléctrico, o eje cardíaco, e</a:t>
            </a:r>
            <a:r>
              <a:rPr lang="es-419"/>
              <a:t>s la dirección general del impulso eléctrico a través del corazón.</a:t>
            </a:r>
            <a:endParaRPr/>
          </a:p>
          <a:p>
            <a:pPr indent="0" lvl="0" marL="0" rtl="0" algn="l">
              <a:spcBef>
                <a:spcPts val="1200"/>
              </a:spcBef>
              <a:spcAft>
                <a:spcPts val="0"/>
              </a:spcAft>
              <a:buNone/>
            </a:pPr>
            <a:r>
              <a:rPr lang="es-419"/>
              <a:t>Existen diversas formas de calcular el eje cardíaco en un electrocardiograma. La forma más rápida es utilizando las ondas I y aVF, se debe ver los QRS de estas ondas y determinar si son positivos o negativos. </a:t>
            </a:r>
            <a:endParaRPr/>
          </a:p>
          <a:p>
            <a:pPr indent="-317500" lvl="0" marL="457200" rtl="0" algn="l">
              <a:spcBef>
                <a:spcPts val="1200"/>
              </a:spcBef>
              <a:spcAft>
                <a:spcPts val="0"/>
              </a:spcAft>
              <a:buSzPts val="1400"/>
              <a:buChar char="●"/>
            </a:pPr>
            <a:r>
              <a:rPr lang="es-419"/>
              <a:t>Si ambos son positivos entonces el eje está en rangos normales. </a:t>
            </a:r>
            <a:endParaRPr/>
          </a:p>
          <a:p>
            <a:pPr indent="-317500" lvl="0" marL="457200" rtl="0" algn="l">
              <a:spcBef>
                <a:spcPts val="0"/>
              </a:spcBef>
              <a:spcAft>
                <a:spcPts val="0"/>
              </a:spcAft>
              <a:buSzPts val="1400"/>
              <a:buChar char="●"/>
            </a:pPr>
            <a:r>
              <a:rPr lang="es-419"/>
              <a:t>Si solo I es positivo pero aVF es negativo el eje tiene desviación a la izquierda. </a:t>
            </a:r>
            <a:endParaRPr/>
          </a:p>
          <a:p>
            <a:pPr indent="-317500" lvl="0" marL="457200" rtl="0" algn="l">
              <a:spcBef>
                <a:spcPts val="0"/>
              </a:spcBef>
              <a:spcAft>
                <a:spcPts val="0"/>
              </a:spcAft>
              <a:buSzPts val="1400"/>
              <a:buChar char="●"/>
            </a:pPr>
            <a:r>
              <a:rPr lang="es-419"/>
              <a:t>Si aVF es positivo e I es negativo entonces el eje está desviado a la derecha. </a:t>
            </a:r>
            <a:endParaRPr/>
          </a:p>
          <a:p>
            <a:pPr indent="-317500" lvl="0" marL="457200" rtl="0" algn="l">
              <a:spcBef>
                <a:spcPts val="0"/>
              </a:spcBef>
              <a:spcAft>
                <a:spcPts val="0"/>
              </a:spcAft>
              <a:buSzPts val="1400"/>
              <a:buChar char="●"/>
            </a:pPr>
            <a:r>
              <a:rPr lang="es-419"/>
              <a:t>En el caso que tanto I como aVF sean negativas el eje tiene desviación extrema.</a:t>
            </a:r>
            <a:endParaRPr/>
          </a:p>
        </p:txBody>
      </p:sp>
      <p:sp>
        <p:nvSpPr>
          <p:cNvPr id="411" name="Google Shape;411;p2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https://cerebromedico.com/electrocardiograma/eje-cardiaco</a:t>
            </a:r>
            <a:endParaRPr sz="800">
              <a:solidFill>
                <a:srgbClr val="94B6BD"/>
              </a:solidFill>
            </a:endParaRPr>
          </a:p>
        </p:txBody>
      </p:sp>
      <p:sp>
        <p:nvSpPr>
          <p:cNvPr id="412" name="Google Shape;412;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eje eléctrico</a:t>
            </a:r>
            <a:endParaRPr sz="2400">
              <a:solidFill>
                <a:schemeClr val="accent2"/>
              </a:solidFill>
            </a:endParaRPr>
          </a:p>
        </p:txBody>
      </p:sp>
      <p:sp>
        <p:nvSpPr>
          <p:cNvPr id="418" name="Google Shape;418;p28"/>
          <p:cNvSpPr txBox="1"/>
          <p:nvPr>
            <p:ph idx="1" type="body"/>
          </p:nvPr>
        </p:nvSpPr>
        <p:spPr>
          <a:xfrm>
            <a:off x="1303800" y="1761450"/>
            <a:ext cx="35028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método más exacto para calcular el eje cardíaco es mediante el modelo matemático que utiliza al sistema Hexaxial para determinar la posición exacta del eje eléctrico. </a:t>
            </a:r>
            <a:endParaRPr/>
          </a:p>
          <a:p>
            <a:pPr indent="0" lvl="0" marL="0" rtl="0" algn="l">
              <a:spcBef>
                <a:spcPts val="1200"/>
              </a:spcBef>
              <a:spcAft>
                <a:spcPts val="1200"/>
              </a:spcAft>
              <a:buNone/>
            </a:pPr>
            <a:r>
              <a:rPr lang="es-419"/>
              <a:t>Existen múltiples fórmulas para realizar este cálculo. Las más utilizadas son las que usan las derivaciones I y III.</a:t>
            </a:r>
            <a:endParaRPr/>
          </a:p>
        </p:txBody>
      </p:sp>
      <p:sp>
        <p:nvSpPr>
          <p:cNvPr id="419" name="Google Shape;419;p2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https://cerebromedico.com/electrocardiograma/eje-cardiaco</a:t>
            </a:r>
            <a:endParaRPr sz="800">
              <a:solidFill>
                <a:srgbClr val="94B6BD"/>
              </a:solidFill>
            </a:endParaRPr>
          </a:p>
        </p:txBody>
      </p:sp>
      <p:sp>
        <p:nvSpPr>
          <p:cNvPr id="420" name="Google Shape;420;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21" name="Google Shape;421;p28"/>
          <p:cNvPicPr preferRelativeResize="0"/>
          <p:nvPr/>
        </p:nvPicPr>
        <p:blipFill>
          <a:blip r:embed="rId3">
            <a:alphaModFix/>
          </a:blip>
          <a:stretch>
            <a:fillRect/>
          </a:stretch>
        </p:blipFill>
        <p:spPr>
          <a:xfrm>
            <a:off x="5791349" y="1875375"/>
            <a:ext cx="2178450" cy="19111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onda P</a:t>
            </a:r>
            <a:endParaRPr sz="2400">
              <a:solidFill>
                <a:schemeClr val="accent2"/>
              </a:solidFill>
            </a:endParaRPr>
          </a:p>
        </p:txBody>
      </p:sp>
      <p:sp>
        <p:nvSpPr>
          <p:cNvPr id="427" name="Google Shape;427;p2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a:t>
            </a:r>
            <a:r>
              <a:rPr lang="es-419"/>
              <a:t>s la señal eléctrica que corresponde a la despolarización auricular. </a:t>
            </a:r>
            <a:endParaRPr/>
          </a:p>
          <a:p>
            <a:pPr indent="0" lvl="0" marL="0" rtl="0" algn="l">
              <a:spcBef>
                <a:spcPts val="1200"/>
              </a:spcBef>
              <a:spcAft>
                <a:spcPts val="0"/>
              </a:spcAft>
              <a:buNone/>
            </a:pPr>
            <a:r>
              <a:rPr lang="es-419"/>
              <a:t>Resulta de la superposición de la despolarización de la aurícula derecha (parte inicial de la onda P) y de la izquierda (final de la onda P). </a:t>
            </a:r>
            <a:endParaRPr/>
          </a:p>
          <a:p>
            <a:pPr indent="0" lvl="0" marL="0" rtl="0" algn="l">
              <a:spcBef>
                <a:spcPts val="1200"/>
              </a:spcBef>
              <a:spcAft>
                <a:spcPts val="1200"/>
              </a:spcAft>
              <a:buNone/>
            </a:pPr>
            <a:r>
              <a:rPr lang="es-419"/>
              <a:t>La repolarización de la onda P (llamada onda T auricular) queda eclipsada por la despolarización ventricular (Complejo QRS). </a:t>
            </a:r>
            <a:endParaRPr/>
          </a:p>
        </p:txBody>
      </p:sp>
      <p:sp>
        <p:nvSpPr>
          <p:cNvPr id="428" name="Google Shape;428;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29" name="Google Shape;429;p2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Price, D. (2010). How to read an electrocardiogram (ECG). Part 1: Basic principles of the ECG. The normal ECG. South Sudan Medical Journal, 3(2), 26-31.</a:t>
            </a:r>
            <a:endParaRPr sz="800">
              <a:solidFill>
                <a:srgbClr val="94B6BD"/>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onda P</a:t>
            </a:r>
            <a:endParaRPr sz="2400">
              <a:solidFill>
                <a:schemeClr val="accent2"/>
              </a:solidFill>
            </a:endParaRPr>
          </a:p>
        </p:txBody>
      </p:sp>
      <p:sp>
        <p:nvSpPr>
          <p:cNvPr id="435" name="Google Shape;435;p3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Para que la onda P sea sinusal (latido normal del corazón) debe reunir ciertas características:</a:t>
            </a:r>
            <a:endParaRPr/>
          </a:p>
          <a:p>
            <a:pPr indent="-317500" lvl="0" marL="457200" rtl="0" algn="l">
              <a:spcBef>
                <a:spcPts val="1200"/>
              </a:spcBef>
              <a:spcAft>
                <a:spcPts val="0"/>
              </a:spcAft>
              <a:buSzPts val="1400"/>
              <a:buChar char="●"/>
            </a:pPr>
            <a:r>
              <a:rPr lang="es-419"/>
              <a:t>No debe superar los 0,25 mV (milivoltios). Si lo supera, estamos en presencia de un agrandamiento auricular derecho.</a:t>
            </a:r>
            <a:endParaRPr/>
          </a:p>
          <a:p>
            <a:pPr indent="-317500" lvl="0" marL="457200" rtl="0" algn="l">
              <a:spcBef>
                <a:spcPts val="0"/>
              </a:spcBef>
              <a:spcAft>
                <a:spcPts val="0"/>
              </a:spcAft>
              <a:buSzPts val="1400"/>
              <a:buChar char="●"/>
            </a:pPr>
            <a:r>
              <a:rPr lang="es-419"/>
              <a:t>Su duración no debe superar los 0,11 segundos en el adulto y 0,07-0,09 segundos en los niños. Si está aumentado posee un agrandamiento auricular izquierdo y derecho.</a:t>
            </a:r>
            <a:endParaRPr/>
          </a:p>
          <a:p>
            <a:pPr indent="-317500" lvl="0" marL="457200" rtl="0" algn="l">
              <a:spcBef>
                <a:spcPts val="0"/>
              </a:spcBef>
              <a:spcAft>
                <a:spcPts val="0"/>
              </a:spcAft>
              <a:buSzPts val="1400"/>
              <a:buChar char="●"/>
            </a:pPr>
            <a:r>
              <a:rPr lang="es-419"/>
              <a:t>Tiene que ser redondeada, de rampas suaves, simétricas, de cúspide roma y de forma ovalada.</a:t>
            </a:r>
            <a:endParaRPr/>
          </a:p>
          <a:p>
            <a:pPr indent="-317500" lvl="0" marL="457200" rtl="0" algn="l">
              <a:spcBef>
                <a:spcPts val="0"/>
              </a:spcBef>
              <a:spcAft>
                <a:spcPts val="0"/>
              </a:spcAft>
              <a:buSzPts val="1400"/>
              <a:buChar char="●"/>
            </a:pPr>
            <a:r>
              <a:rPr lang="es-419"/>
              <a:t>Tiene que preceder al complejo ventricular.</a:t>
            </a:r>
            <a:endParaRPr/>
          </a:p>
        </p:txBody>
      </p:sp>
      <p:sp>
        <p:nvSpPr>
          <p:cNvPr id="436" name="Google Shape;436;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37" name="Google Shape;437;p3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Price, D. (2010). How to read an electrocardiogram (ECG). Part 1: Basic principles of the ECG. The normal ECG. South Sudan Medical Journal, 3(2), 26-31.</a:t>
            </a:r>
            <a:endParaRPr sz="800">
              <a:solidFill>
                <a:srgbClr val="94B6BD"/>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complejo QRS</a:t>
            </a:r>
            <a:endParaRPr sz="2400">
              <a:solidFill>
                <a:schemeClr val="accent2"/>
              </a:solidFill>
            </a:endParaRPr>
          </a:p>
        </p:txBody>
      </p:sp>
      <p:sp>
        <p:nvSpPr>
          <p:cNvPr id="443" name="Google Shape;443;p3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complejo QRS corresponde a la corriente eléctrica que causa la contracción de los ventrículos derecho e izquierdo (despolarización ventricular).</a:t>
            </a:r>
            <a:endParaRPr/>
          </a:p>
          <a:p>
            <a:pPr indent="0" lvl="0" marL="0" rtl="0" algn="l">
              <a:spcBef>
                <a:spcPts val="1200"/>
              </a:spcBef>
              <a:spcAft>
                <a:spcPts val="0"/>
              </a:spcAft>
              <a:buNone/>
            </a:pPr>
            <a:r>
              <a:rPr lang="es-419"/>
              <a:t>Esta contracción es mucho más potente que la de las aurículas y compete a más masa muscular, produciendo de este modo una mayor deflexión en el electrocardiograma.</a:t>
            </a:r>
            <a:endParaRPr/>
          </a:p>
          <a:p>
            <a:pPr indent="0" lvl="0" marL="0" rtl="0" algn="l">
              <a:spcBef>
                <a:spcPts val="1200"/>
              </a:spcBef>
              <a:spcAft>
                <a:spcPts val="1200"/>
              </a:spcAft>
              <a:buNone/>
            </a:pPr>
            <a:r>
              <a:rPr lang="es-419"/>
              <a:t>La duración normal es de 60 a 120 milisegundos. </a:t>
            </a:r>
            <a:endParaRPr/>
          </a:p>
        </p:txBody>
      </p:sp>
      <p:sp>
        <p:nvSpPr>
          <p:cNvPr id="444" name="Google Shape;444;p3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Thakor, N. V., Webster, J. G., &amp; Tompkins, W. J. (1984). Estimation of QRS complex power spectra for design of a QRS filter. </a:t>
            </a:r>
            <a:br>
              <a:rPr lang="es-419" sz="800">
                <a:solidFill>
                  <a:srgbClr val="94B6BD"/>
                </a:solidFill>
              </a:rPr>
            </a:br>
            <a:r>
              <a:rPr lang="es-419" sz="800">
                <a:solidFill>
                  <a:srgbClr val="94B6BD"/>
                </a:solidFill>
              </a:rPr>
              <a:t>IEEE Transactions on biomedical engineering, (11), 702-706</a:t>
            </a:r>
            <a:endParaRPr sz="800">
              <a:solidFill>
                <a:srgbClr val="94B6BD"/>
              </a:solidFill>
            </a:endParaRPr>
          </a:p>
        </p:txBody>
      </p:sp>
      <p:sp>
        <p:nvSpPr>
          <p:cNvPr id="445" name="Google Shape;445;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complejo QRS</a:t>
            </a:r>
            <a:endParaRPr sz="2400">
              <a:solidFill>
                <a:schemeClr val="accent2"/>
              </a:solidFill>
            </a:endParaRPr>
          </a:p>
        </p:txBody>
      </p:sp>
      <p:sp>
        <p:nvSpPr>
          <p:cNvPr id="451" name="Google Shape;451;p3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a:t>
            </a:r>
            <a:r>
              <a:rPr b="1" lang="es-419"/>
              <a:t>onda Q</a:t>
            </a:r>
            <a:r>
              <a:rPr lang="es-419"/>
              <a:t>, cuando está presente, representa la pequeña corriente horizontal (de izquierda a derecha) del potencial de acción viajando a través del septum interventricular. Las ondas Q que son demasiado anchas y profundas no tienen un origen septal, sino que indican un infarto de miocardio.</a:t>
            </a:r>
            <a:endParaRPr/>
          </a:p>
          <a:p>
            <a:pPr indent="0" lvl="0" marL="0" rtl="0" algn="l">
              <a:spcBef>
                <a:spcPts val="1200"/>
              </a:spcBef>
              <a:spcAft>
                <a:spcPts val="0"/>
              </a:spcAft>
              <a:buNone/>
            </a:pPr>
            <a:r>
              <a:rPr lang="es-419"/>
              <a:t>Las </a:t>
            </a:r>
            <a:r>
              <a:rPr b="1" lang="es-419">
                <a:solidFill>
                  <a:schemeClr val="accent5"/>
                </a:solidFill>
              </a:rPr>
              <a:t>ondas R y S</a:t>
            </a:r>
            <a:r>
              <a:rPr lang="es-419"/>
              <a:t> indican contracción del miocardio. </a:t>
            </a:r>
            <a:endParaRPr/>
          </a:p>
          <a:p>
            <a:pPr indent="0" lvl="0" marL="0" rtl="0" algn="l">
              <a:spcBef>
                <a:spcPts val="1200"/>
              </a:spcBef>
              <a:spcAft>
                <a:spcPts val="1200"/>
              </a:spcAft>
              <a:buNone/>
            </a:pPr>
            <a:r>
              <a:rPr lang="es-419"/>
              <a:t>Las </a:t>
            </a:r>
            <a:r>
              <a:rPr b="1" lang="es-419"/>
              <a:t>anormalidades</a:t>
            </a:r>
            <a:r>
              <a:rPr lang="es-419"/>
              <a:t> en el complejo QRS pueden indicar bloqueo de rama (cuando es ancha), taquicardia de origen ventricular, hipertrofia ventricular u otras anormalidades ventriculares. </a:t>
            </a:r>
            <a:endParaRPr/>
          </a:p>
        </p:txBody>
      </p:sp>
      <p:sp>
        <p:nvSpPr>
          <p:cNvPr id="452" name="Google Shape;452;p3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Ref.</a:t>
            </a:r>
            <a:endParaRPr sz="800">
              <a:solidFill>
                <a:srgbClr val="94B6BD"/>
              </a:solidFill>
            </a:endParaRPr>
          </a:p>
        </p:txBody>
      </p:sp>
      <p:sp>
        <p:nvSpPr>
          <p:cNvPr id="453" name="Google Shape;453;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54" name="Google Shape;454;p32"/>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Thakor, N. V., Webster, J. G., &amp; Tompkins, W. J. (1984). Estimation of QRS complex power spectra for design of a QRS filter. </a:t>
            </a:r>
            <a:br>
              <a:rPr lang="es-419" sz="800">
                <a:solidFill>
                  <a:srgbClr val="94B6BD"/>
                </a:solidFill>
              </a:rPr>
            </a:br>
            <a:r>
              <a:rPr lang="es-419" sz="800">
                <a:solidFill>
                  <a:srgbClr val="94B6BD"/>
                </a:solidFill>
              </a:rPr>
              <a:t>IEEE Transactions on biomedical engineering, (11), 702-706</a:t>
            </a:r>
            <a:endParaRPr sz="800">
              <a:solidFill>
                <a:srgbClr val="94B6BD"/>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complejo QRS</a:t>
            </a:r>
            <a:endParaRPr sz="2400">
              <a:solidFill>
                <a:schemeClr val="accent2"/>
              </a:solidFill>
            </a:endParaRPr>
          </a:p>
        </p:txBody>
      </p:sp>
      <p:sp>
        <p:nvSpPr>
          <p:cNvPr id="460" name="Google Shape;460;p33"/>
          <p:cNvSpPr txBox="1"/>
          <p:nvPr>
            <p:ph idx="1" type="body"/>
          </p:nvPr>
        </p:nvSpPr>
        <p:spPr>
          <a:xfrm>
            <a:off x="1303800" y="1761450"/>
            <a:ext cx="4621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Cuando aparece completo, este complejo consta de tres vectores, nombrados usando la nomenclatura descrita por Willem Einthoven:</a:t>
            </a:r>
            <a:endParaRPr/>
          </a:p>
          <a:p>
            <a:pPr indent="-311150" lvl="0" marL="457200" rtl="0" algn="l">
              <a:spcBef>
                <a:spcPts val="1200"/>
              </a:spcBef>
              <a:spcAft>
                <a:spcPts val="0"/>
              </a:spcAft>
              <a:buSzPts val="1300"/>
              <a:buChar char="●"/>
            </a:pPr>
            <a:r>
              <a:rPr b="1" lang="es-419"/>
              <a:t>Onda Q</a:t>
            </a:r>
            <a:r>
              <a:rPr lang="es-419"/>
              <a:t>. Es una onda negativa, de manera que está antes de la onda R.</a:t>
            </a:r>
            <a:endParaRPr/>
          </a:p>
          <a:p>
            <a:pPr indent="-311150" lvl="0" marL="457200" rtl="0" algn="l">
              <a:spcBef>
                <a:spcPts val="0"/>
              </a:spcBef>
              <a:spcAft>
                <a:spcPts val="0"/>
              </a:spcAft>
              <a:buSzPts val="1300"/>
              <a:buChar char="●"/>
            </a:pPr>
            <a:r>
              <a:rPr b="1" lang="es-419"/>
              <a:t>Onda R</a:t>
            </a:r>
            <a:r>
              <a:rPr lang="es-419"/>
              <a:t>. Es la primera deflexión positiva del complejo QRS y en la imagen clásica del ECG, es la de mayor tamaño.</a:t>
            </a:r>
            <a:endParaRPr/>
          </a:p>
          <a:p>
            <a:pPr indent="-311150" lvl="0" marL="457200" rtl="0" algn="l">
              <a:spcBef>
                <a:spcPts val="0"/>
              </a:spcBef>
              <a:spcAft>
                <a:spcPts val="0"/>
              </a:spcAft>
              <a:buSzPts val="1300"/>
              <a:buChar char="●"/>
            </a:pPr>
            <a:r>
              <a:rPr b="1" lang="es-419"/>
              <a:t>Onda S</a:t>
            </a:r>
            <a:r>
              <a:rPr lang="es-419"/>
              <a:t>. Es cualquier onda negativa que siga a la onda R.</a:t>
            </a:r>
            <a:endParaRPr/>
          </a:p>
        </p:txBody>
      </p:sp>
      <p:sp>
        <p:nvSpPr>
          <p:cNvPr id="461" name="Google Shape;461;p33"/>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Barold, S. S. (2003). Willem Einthoven and the birth of clinical electrocardiography a hundred years ago. Cardiac electrophysiology review, 7(1), 99-104.</a:t>
            </a:r>
            <a:endParaRPr sz="800">
              <a:solidFill>
                <a:srgbClr val="94B6BD"/>
              </a:solidFill>
            </a:endParaRPr>
          </a:p>
        </p:txBody>
      </p:sp>
      <p:sp>
        <p:nvSpPr>
          <p:cNvPr id="462" name="Google Shape;462;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63" name="Google Shape;463;p33"/>
          <p:cNvPicPr preferRelativeResize="0"/>
          <p:nvPr/>
        </p:nvPicPr>
        <p:blipFill>
          <a:blip r:embed="rId3">
            <a:alphaModFix/>
          </a:blip>
          <a:stretch>
            <a:fillRect/>
          </a:stretch>
        </p:blipFill>
        <p:spPr>
          <a:xfrm>
            <a:off x="6637529" y="1761450"/>
            <a:ext cx="1261296" cy="22760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onda T</a:t>
            </a:r>
            <a:endParaRPr sz="2400">
              <a:solidFill>
                <a:schemeClr val="accent2"/>
              </a:solidFill>
            </a:endParaRPr>
          </a:p>
        </p:txBody>
      </p:sp>
      <p:sp>
        <p:nvSpPr>
          <p:cNvPr id="469" name="Google Shape;469;p3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a:t>
            </a:r>
            <a:r>
              <a:rPr lang="es-419"/>
              <a:t>epresenta la</a:t>
            </a:r>
            <a:r>
              <a:rPr b="1" lang="es-419"/>
              <a:t> repolarización</a:t>
            </a:r>
            <a:r>
              <a:rPr lang="es-419"/>
              <a:t> de los ventrículos. </a:t>
            </a:r>
            <a:endParaRPr/>
          </a:p>
          <a:p>
            <a:pPr indent="0" lvl="0" marL="0" rtl="0" algn="l">
              <a:spcBef>
                <a:spcPts val="1200"/>
              </a:spcBef>
              <a:spcAft>
                <a:spcPts val="0"/>
              </a:spcAft>
              <a:buNone/>
            </a:pPr>
            <a:r>
              <a:rPr lang="es-419"/>
              <a:t>Durante la formación del complejo QRS, generalmente también ocurre la repolarización auricular que no se registra en el ECG normal, ya que es tapado por el complejo QRS. </a:t>
            </a:r>
            <a:endParaRPr/>
          </a:p>
          <a:p>
            <a:pPr indent="0" lvl="0" marL="0" rtl="0" algn="l">
              <a:spcBef>
                <a:spcPts val="1200"/>
              </a:spcBef>
              <a:spcAft>
                <a:spcPts val="0"/>
              </a:spcAft>
              <a:buNone/>
            </a:pPr>
            <a:r>
              <a:rPr lang="es-419"/>
              <a:t>Eléctricamente, las células del músculo cardíaco son como muelles cargados; un pequeño impulso las dispara, despolarizan y se contraen. </a:t>
            </a:r>
            <a:endParaRPr/>
          </a:p>
          <a:p>
            <a:pPr indent="0" lvl="0" marL="0" rtl="0" algn="l">
              <a:spcBef>
                <a:spcPts val="1200"/>
              </a:spcBef>
              <a:spcAft>
                <a:spcPts val="1200"/>
              </a:spcAft>
              <a:buNone/>
            </a:pPr>
            <a:r>
              <a:rPr lang="es-419"/>
              <a:t>La recarga del muelle es la repolarización (también llamada potencial de acción).</a:t>
            </a:r>
            <a:endParaRPr/>
          </a:p>
        </p:txBody>
      </p:sp>
      <p:sp>
        <p:nvSpPr>
          <p:cNvPr id="470" name="Google Shape;470;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71" name="Google Shape;471;p34"/>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Price, D. (2010). How to read an electrocardiogram (ECG). Part 1: Basic principles of the ECG. The normal ECG. South Sudan Medical Journal, 3(2), 26-31.</a:t>
            </a:r>
            <a:endParaRPr sz="800">
              <a:solidFill>
                <a:srgbClr val="94B6BD"/>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3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normal: onda T</a:t>
            </a:r>
            <a:endParaRPr sz="2400">
              <a:solidFill>
                <a:schemeClr val="accent2"/>
              </a:solidFill>
            </a:endParaRPr>
          </a:p>
        </p:txBody>
      </p:sp>
      <p:sp>
        <p:nvSpPr>
          <p:cNvPr id="477" name="Google Shape;477;p3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En la mayoría de las derivaciones, la onda T es </a:t>
            </a:r>
            <a:r>
              <a:rPr b="1" lang="es-419"/>
              <a:t>positiva</a:t>
            </a:r>
            <a:r>
              <a:rPr lang="es-419"/>
              <a:t>. </a:t>
            </a:r>
            <a:endParaRPr/>
          </a:p>
          <a:p>
            <a:pPr indent="0" lvl="0" marL="0" rtl="0" algn="l">
              <a:spcBef>
                <a:spcPts val="1200"/>
              </a:spcBef>
              <a:spcAft>
                <a:spcPts val="0"/>
              </a:spcAft>
              <a:buNone/>
            </a:pPr>
            <a:r>
              <a:rPr lang="es-419"/>
              <a:t>Las ondas T negativas pueden ser síntomas de enfermedad, aunque una onda T invertida es normal en aVR y a veces en V</a:t>
            </a:r>
            <a:r>
              <a:rPr lang="es-419"/>
              <a:t>1</a:t>
            </a:r>
            <a:r>
              <a:rPr lang="es-419"/>
              <a:t> en personas de etnia negra.</a:t>
            </a:r>
            <a:endParaRPr/>
          </a:p>
          <a:p>
            <a:pPr indent="0" lvl="0" marL="0" rtl="0" algn="l">
              <a:spcBef>
                <a:spcPts val="1200"/>
              </a:spcBef>
              <a:spcAft>
                <a:spcPts val="0"/>
              </a:spcAft>
              <a:buNone/>
            </a:pPr>
            <a:r>
              <a:rPr lang="es-419"/>
              <a:t>El segmento ST conecta con el complejo QRS y la onda T. Puede estar descendido en la isquemia y elevado en el infarto de miocardio.</a:t>
            </a:r>
            <a:endParaRPr/>
          </a:p>
          <a:p>
            <a:pPr indent="0" lvl="0" marL="0" rtl="0" algn="l">
              <a:spcBef>
                <a:spcPts val="1200"/>
              </a:spcBef>
              <a:spcAft>
                <a:spcPts val="1200"/>
              </a:spcAft>
              <a:buNone/>
            </a:pPr>
            <a:r>
              <a:rPr lang="es-419"/>
              <a:t>Su duración aproximadamente es de 0,20 segundos o menos y mide 0,2 a 0,3 mV.</a:t>
            </a:r>
            <a:endParaRPr/>
          </a:p>
        </p:txBody>
      </p:sp>
      <p:sp>
        <p:nvSpPr>
          <p:cNvPr id="478" name="Google Shape;478;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79" name="Google Shape;479;p35"/>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Price, D. (2010). How to read an electrocardiogram (ECG). Part 1: Basic principles of the ECG. The normal ECG. South Sudan Medical Journal, 3(2), 26-31.</a:t>
            </a:r>
            <a:endParaRPr sz="800">
              <a:solidFill>
                <a:srgbClr val="94B6BD"/>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Medidas del ECG</a:t>
            </a:r>
            <a:endParaRPr sz="2400">
              <a:solidFill>
                <a:schemeClr val="accent2"/>
              </a:solidFill>
            </a:endParaRPr>
          </a:p>
        </p:txBody>
      </p:sp>
      <p:sp>
        <p:nvSpPr>
          <p:cNvPr id="485" name="Google Shape;485;p3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 frecuencia cardíaca (</a:t>
            </a:r>
            <a:r>
              <a:rPr i="1" lang="es-419"/>
              <a:t>heart-rate</a:t>
            </a:r>
            <a:r>
              <a:rPr lang="es-419"/>
              <a:t>) es el número de latidos del corazón por minuto. </a:t>
            </a:r>
            <a:endParaRPr/>
          </a:p>
          <a:p>
            <a:pPr indent="0" lvl="0" marL="0" rtl="0" algn="l">
              <a:spcBef>
                <a:spcPts val="1200"/>
              </a:spcBef>
              <a:spcAft>
                <a:spcPts val="0"/>
              </a:spcAft>
              <a:buNone/>
            </a:pPr>
            <a:r>
              <a:rPr lang="es-419"/>
              <a:t>La variabilidad de la frecuencia cardíaca (HRV) es la fluctuación en los intervalos de tiempo entre latidos cardíacos adyacentes. </a:t>
            </a:r>
            <a:endParaRPr/>
          </a:p>
          <a:p>
            <a:pPr indent="-317500" lvl="0" marL="457200" rtl="0" algn="l">
              <a:spcBef>
                <a:spcPts val="1200"/>
              </a:spcBef>
              <a:spcAft>
                <a:spcPts val="0"/>
              </a:spcAft>
              <a:buSzPts val="1400"/>
              <a:buChar char="●"/>
            </a:pPr>
            <a:r>
              <a:rPr lang="es-419"/>
              <a:t>Intervalo entre latidos (</a:t>
            </a:r>
            <a:r>
              <a:rPr i="1" lang="es-419"/>
              <a:t>interbeat interval</a:t>
            </a:r>
            <a:r>
              <a:rPr lang="es-419"/>
              <a:t>): intervalo de tiempo entre latidos cardíacos sucesivos;</a:t>
            </a:r>
            <a:endParaRPr/>
          </a:p>
          <a:p>
            <a:pPr indent="-317500" lvl="0" marL="457200" rtl="0" algn="l">
              <a:spcBef>
                <a:spcPts val="0"/>
              </a:spcBef>
              <a:spcAft>
                <a:spcPts val="0"/>
              </a:spcAft>
              <a:buSzPts val="1400"/>
              <a:buChar char="●"/>
            </a:pPr>
            <a:r>
              <a:rPr lang="es-419"/>
              <a:t>Intervalos NN: intervalos entre latidos de los que se han eliminado artefactos;</a:t>
            </a:r>
            <a:endParaRPr/>
          </a:p>
          <a:p>
            <a:pPr indent="-317500" lvl="0" marL="457200" rtl="0" algn="l">
              <a:spcBef>
                <a:spcPts val="0"/>
              </a:spcBef>
              <a:spcAft>
                <a:spcPts val="0"/>
              </a:spcAft>
              <a:buSzPts val="1400"/>
              <a:buChar char="●"/>
            </a:pPr>
            <a:r>
              <a:rPr lang="es-419"/>
              <a:t>Intervalos RR: intervalos entre latidos entre todos los latidos cardíacos sucesivos.</a:t>
            </a:r>
            <a:endParaRPr/>
          </a:p>
        </p:txBody>
      </p:sp>
      <p:sp>
        <p:nvSpPr>
          <p:cNvPr id="486" name="Google Shape;486;p36"/>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Shaffer, F., &amp; Ginsberg, J. P. (2017). An overview of heart rate variability metrics and norms. Frontiers in public health, 258.</a:t>
            </a:r>
            <a:endParaRPr sz="800">
              <a:solidFill>
                <a:srgbClr val="94B6BD"/>
              </a:solidFill>
            </a:endParaRPr>
          </a:p>
        </p:txBody>
      </p:sp>
      <p:sp>
        <p:nvSpPr>
          <p:cNvPr id="487" name="Google Shape;487;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3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Heart rate vs. HRV</a:t>
            </a:r>
            <a:endParaRPr/>
          </a:p>
        </p:txBody>
      </p:sp>
      <p:sp>
        <p:nvSpPr>
          <p:cNvPr id="493" name="Google Shape;493;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94" name="Google Shape;494;p37"/>
          <p:cNvPicPr preferRelativeResize="0"/>
          <p:nvPr/>
        </p:nvPicPr>
        <p:blipFill>
          <a:blip r:embed="rId3">
            <a:alphaModFix/>
          </a:blip>
          <a:stretch>
            <a:fillRect/>
          </a:stretch>
        </p:blipFill>
        <p:spPr>
          <a:xfrm>
            <a:off x="2319063" y="1557487"/>
            <a:ext cx="4505876" cy="202852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8"/>
          <p:cNvSpPr txBox="1"/>
          <p:nvPr>
            <p:ph idx="1" type="body"/>
          </p:nvPr>
        </p:nvSpPr>
        <p:spPr>
          <a:xfrm>
            <a:off x="1303800" y="4138975"/>
            <a:ext cx="7147200" cy="534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s-419"/>
              <a:t>Extraction of HRV from ECG signal. (a) One minute of the ECG signal of a healthy person. (b) Extraction of QRS-complexes. (c) The HRV signal which was extracted from (a). (d) One minute the ECG signal of a patient just before occurrence of SCD. (e) Extraction of QRS-complexes. (f) The HRV signal which was extracted from (d). </a:t>
            </a:r>
            <a:endParaRPr/>
          </a:p>
        </p:txBody>
      </p:sp>
      <p:sp>
        <p:nvSpPr>
          <p:cNvPr id="500" name="Google Shape;500;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01" name="Google Shape;501;p38"/>
          <p:cNvPicPr preferRelativeResize="0"/>
          <p:nvPr/>
        </p:nvPicPr>
        <p:blipFill>
          <a:blip r:embed="rId3">
            <a:alphaModFix/>
          </a:blip>
          <a:stretch>
            <a:fillRect/>
          </a:stretch>
        </p:blipFill>
        <p:spPr>
          <a:xfrm>
            <a:off x="2626212" y="238775"/>
            <a:ext cx="3198280" cy="3834173"/>
          </a:xfrm>
          <a:prstGeom prst="rect">
            <a:avLst/>
          </a:prstGeom>
          <a:noFill/>
          <a:ln>
            <a:noFill/>
          </a:ln>
        </p:spPr>
      </p:pic>
      <p:sp>
        <p:nvSpPr>
          <p:cNvPr id="502" name="Google Shape;502;p38"/>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Ebrahimzadeh, E., Pooyan, M., &amp; Bijar, A. (2014). A novel approach to predict sudden cardiac death (SCD) using </a:t>
            </a:r>
            <a:br>
              <a:rPr lang="es-419" sz="800">
                <a:solidFill>
                  <a:srgbClr val="94B6BD"/>
                </a:solidFill>
              </a:rPr>
            </a:br>
            <a:r>
              <a:rPr lang="es-419" sz="800">
                <a:solidFill>
                  <a:srgbClr val="94B6BD"/>
                </a:solidFill>
              </a:rPr>
              <a:t>nonlinear and time-frequency analyses from HRV signals. PloS one, 9(2), e81896.</a:t>
            </a:r>
            <a:endParaRPr sz="800">
              <a:solidFill>
                <a:srgbClr val="94B6BD"/>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Medidas del ECG</a:t>
            </a:r>
            <a:endParaRPr sz="2400">
              <a:solidFill>
                <a:schemeClr val="accent2"/>
              </a:solidFill>
            </a:endParaRPr>
          </a:p>
        </p:txBody>
      </p:sp>
      <p:sp>
        <p:nvSpPr>
          <p:cNvPr id="508" name="Google Shape;508;p3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HRV indexa la función neurocardíaca y es generada por interacciones corazón-cerebro y procesos dinámicos no lineales del sistema nervioso autónomo. </a:t>
            </a:r>
            <a:endParaRPr/>
          </a:p>
          <a:p>
            <a:pPr indent="0" lvl="0" marL="0" rtl="0" algn="l">
              <a:spcBef>
                <a:spcPts val="1200"/>
              </a:spcBef>
              <a:spcAft>
                <a:spcPts val="0"/>
              </a:spcAft>
              <a:buNone/>
            </a:pPr>
            <a:r>
              <a:rPr lang="es-419"/>
              <a:t>Es una propiedad emergente de los sistemas regulatorios interdependientes que operan en diferentes escalas de tiempo para ayudarnos a adaptarnos a los desafíos ambientales y psicológicos. </a:t>
            </a:r>
            <a:endParaRPr/>
          </a:p>
          <a:p>
            <a:pPr indent="0" lvl="0" marL="0" rtl="0" algn="l">
              <a:spcBef>
                <a:spcPts val="1200"/>
              </a:spcBef>
              <a:spcAft>
                <a:spcPts val="1200"/>
              </a:spcAft>
              <a:buNone/>
            </a:pPr>
            <a:r>
              <a:rPr lang="es-419"/>
              <a:t>Además, refleja la regulación del equilibrio autonómico, la presión arterial (BP), el intestino, el corazón y el tono vascular, que se refiere al diámetro de los vasos sanguíneos que regulan la BP y posiblemente los músculos faciales.</a:t>
            </a:r>
            <a:endParaRPr/>
          </a:p>
        </p:txBody>
      </p:sp>
      <p:sp>
        <p:nvSpPr>
          <p:cNvPr id="509" name="Google Shape;509;p3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Shaffer, F., &amp; Ginsberg, J. P. (2017). An overview of heart rate variability metrics and norms. Frontiers in public health, 258.</a:t>
            </a:r>
            <a:endParaRPr sz="800">
              <a:solidFill>
                <a:srgbClr val="94B6BD"/>
              </a:solidFill>
            </a:endParaRPr>
          </a:p>
        </p:txBody>
      </p:sp>
      <p:sp>
        <p:nvSpPr>
          <p:cNvPr id="510" name="Google Shape;510;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HRV time-domain measures.</a:t>
            </a:r>
            <a:endParaRPr/>
          </a:p>
        </p:txBody>
      </p:sp>
      <p:sp>
        <p:nvSpPr>
          <p:cNvPr id="516" name="Google Shape;516;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17" name="Google Shape;517;p40"/>
          <p:cNvPicPr preferRelativeResize="0"/>
          <p:nvPr/>
        </p:nvPicPr>
        <p:blipFill>
          <a:blip r:embed="rId3">
            <a:alphaModFix/>
          </a:blip>
          <a:stretch>
            <a:fillRect/>
          </a:stretch>
        </p:blipFill>
        <p:spPr>
          <a:xfrm>
            <a:off x="1687113" y="1350575"/>
            <a:ext cx="5769775" cy="22899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1"/>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HRV frequency-domain measures.</a:t>
            </a:r>
            <a:endParaRPr/>
          </a:p>
        </p:txBody>
      </p:sp>
      <p:sp>
        <p:nvSpPr>
          <p:cNvPr id="523" name="Google Shape;523;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24" name="Google Shape;524;p41"/>
          <p:cNvPicPr preferRelativeResize="0"/>
          <p:nvPr/>
        </p:nvPicPr>
        <p:blipFill>
          <a:blip r:embed="rId3">
            <a:alphaModFix/>
          </a:blip>
          <a:stretch>
            <a:fillRect/>
          </a:stretch>
        </p:blipFill>
        <p:spPr>
          <a:xfrm>
            <a:off x="2501224" y="1074275"/>
            <a:ext cx="4141575" cy="2690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Usos de un ECG</a:t>
            </a:r>
            <a:endParaRPr sz="2400">
              <a:solidFill>
                <a:schemeClr val="accent2"/>
              </a:solidFill>
            </a:endParaRPr>
          </a:p>
        </p:txBody>
      </p:sp>
      <p:sp>
        <p:nvSpPr>
          <p:cNvPr id="530" name="Google Shape;530;p4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fontScale="92500" lnSpcReduction="10000"/>
          </a:bodyPr>
          <a:lstStyle/>
          <a:p>
            <a:pPr indent="-310832" lvl="0" marL="457200" rtl="0" algn="l">
              <a:spcBef>
                <a:spcPts val="0"/>
              </a:spcBef>
              <a:spcAft>
                <a:spcPts val="0"/>
              </a:spcAft>
              <a:buSzPct val="100000"/>
              <a:buChar char="●"/>
            </a:pPr>
            <a:r>
              <a:rPr lang="es-419"/>
              <a:t>Determinar si el corazón funciona normalmente o sufre de anomalías (e.g., arritmia cardiaca).</a:t>
            </a:r>
            <a:endParaRPr/>
          </a:p>
          <a:p>
            <a:pPr indent="-310832" lvl="0" marL="457200" rtl="0" algn="l">
              <a:spcBef>
                <a:spcPts val="0"/>
              </a:spcBef>
              <a:spcAft>
                <a:spcPts val="0"/>
              </a:spcAft>
              <a:buSzPct val="100000"/>
              <a:buChar char="●"/>
            </a:pPr>
            <a:r>
              <a:rPr lang="es-419"/>
              <a:t>Indicar bloqueos coronarios arteriales (durante o después de un ataque cardíaco).</a:t>
            </a:r>
            <a:endParaRPr/>
          </a:p>
          <a:p>
            <a:pPr indent="-310832" lvl="0" marL="457200" rtl="0" algn="l">
              <a:spcBef>
                <a:spcPts val="0"/>
              </a:spcBef>
              <a:spcAft>
                <a:spcPts val="0"/>
              </a:spcAft>
              <a:buSzPct val="100000"/>
              <a:buChar char="●"/>
            </a:pPr>
            <a:r>
              <a:rPr lang="es-419"/>
              <a:t>Se puede utilizar para detectar alteraciones electrolíticas de potasio, sodio, calcio, magnesio u otros.</a:t>
            </a:r>
            <a:endParaRPr/>
          </a:p>
          <a:p>
            <a:pPr indent="-310832" lvl="0" marL="457200" rtl="0" algn="l">
              <a:spcBef>
                <a:spcPts val="0"/>
              </a:spcBef>
              <a:spcAft>
                <a:spcPts val="0"/>
              </a:spcAft>
              <a:buSzPct val="100000"/>
              <a:buChar char="●"/>
            </a:pPr>
            <a:r>
              <a:rPr lang="es-419"/>
              <a:t>Permitir la detección de anormalidades conductivas (bloqueo auriculo-ventricular, bloqueo de rama).</a:t>
            </a:r>
            <a:endParaRPr/>
          </a:p>
          <a:p>
            <a:pPr indent="-310832" lvl="0" marL="457200" rtl="0" algn="l">
              <a:spcBef>
                <a:spcPts val="0"/>
              </a:spcBef>
              <a:spcAft>
                <a:spcPts val="0"/>
              </a:spcAft>
              <a:buSzPct val="100000"/>
              <a:buChar char="●"/>
            </a:pPr>
            <a:r>
              <a:rPr lang="es-419"/>
              <a:t>Mostrar la condición física de un paciente durante un test de esfuerzo.</a:t>
            </a:r>
            <a:endParaRPr/>
          </a:p>
          <a:p>
            <a:pPr indent="-310832" lvl="0" marL="457200" rtl="0" algn="l">
              <a:spcBef>
                <a:spcPts val="0"/>
              </a:spcBef>
              <a:spcAft>
                <a:spcPts val="0"/>
              </a:spcAft>
              <a:buSzPct val="100000"/>
              <a:buChar char="●"/>
            </a:pPr>
            <a:r>
              <a:rPr lang="es-419"/>
              <a:t>Suministrar información sobre las condiciones físicas del corazón (e.g., hipertrofia ventricular izquierda)</a:t>
            </a:r>
            <a:endParaRPr/>
          </a:p>
          <a:p>
            <a:pPr indent="-310832" lvl="0" marL="457200" rtl="0" algn="l">
              <a:spcBef>
                <a:spcPts val="0"/>
              </a:spcBef>
              <a:spcAft>
                <a:spcPts val="0"/>
              </a:spcAft>
              <a:buSzPct val="100000"/>
              <a:buChar char="●"/>
            </a:pPr>
            <a:r>
              <a:rPr lang="es-419"/>
              <a:t>Indica la actividad eléctrica del músculo estriado cardíaco.</a:t>
            </a:r>
            <a:endParaRPr/>
          </a:p>
        </p:txBody>
      </p:sp>
      <p:sp>
        <p:nvSpPr>
          <p:cNvPr id="531" name="Google Shape;531;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ECG ambulatorios</a:t>
            </a:r>
            <a:endParaRPr sz="2400">
              <a:solidFill>
                <a:schemeClr val="accent2"/>
              </a:solidFill>
            </a:endParaRPr>
          </a:p>
        </p:txBody>
      </p:sp>
      <p:sp>
        <p:nvSpPr>
          <p:cNvPr id="537" name="Google Shape;537;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38" name="Google Shape;538;p43"/>
          <p:cNvPicPr preferRelativeResize="0"/>
          <p:nvPr/>
        </p:nvPicPr>
        <p:blipFill>
          <a:blip r:embed="rId3">
            <a:alphaModFix/>
          </a:blip>
          <a:stretch>
            <a:fillRect/>
          </a:stretch>
        </p:blipFill>
        <p:spPr>
          <a:xfrm>
            <a:off x="4645994" y="1700376"/>
            <a:ext cx="2004501" cy="1336326"/>
          </a:xfrm>
          <a:prstGeom prst="rect">
            <a:avLst/>
          </a:prstGeom>
          <a:noFill/>
          <a:ln>
            <a:noFill/>
          </a:ln>
        </p:spPr>
      </p:pic>
      <p:pic>
        <p:nvPicPr>
          <p:cNvPr id="539" name="Google Shape;539;p43"/>
          <p:cNvPicPr preferRelativeResize="0"/>
          <p:nvPr/>
        </p:nvPicPr>
        <p:blipFill>
          <a:blip r:embed="rId4">
            <a:alphaModFix/>
          </a:blip>
          <a:stretch>
            <a:fillRect/>
          </a:stretch>
        </p:blipFill>
        <p:spPr>
          <a:xfrm>
            <a:off x="2163225" y="1700375"/>
            <a:ext cx="2138123" cy="1336325"/>
          </a:xfrm>
          <a:prstGeom prst="rect">
            <a:avLst/>
          </a:prstGeom>
          <a:noFill/>
          <a:ln>
            <a:noFill/>
          </a:ln>
        </p:spPr>
      </p:pic>
      <p:pic>
        <p:nvPicPr>
          <p:cNvPr id="540" name="Google Shape;540;p43"/>
          <p:cNvPicPr preferRelativeResize="0"/>
          <p:nvPr/>
        </p:nvPicPr>
        <p:blipFill>
          <a:blip r:embed="rId5">
            <a:alphaModFix/>
          </a:blip>
          <a:stretch>
            <a:fillRect/>
          </a:stretch>
        </p:blipFill>
        <p:spPr>
          <a:xfrm>
            <a:off x="2750950" y="3438317"/>
            <a:ext cx="3642077" cy="1233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Electroencefalografía</a:t>
            </a:r>
            <a:endParaRPr/>
          </a:p>
        </p:txBody>
      </p:sp>
      <p:sp>
        <p:nvSpPr>
          <p:cNvPr id="546" name="Google Shape;546;p44"/>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Henry, J. C. (2006). Electroencephalography: basic principles, clinical applications, and related fields. Neurology, 67(11), 2092-2092.</a:t>
            </a:r>
            <a:endParaRPr sz="800">
              <a:solidFill>
                <a:srgbClr val="94B6BD"/>
              </a:solidFill>
            </a:endParaRPr>
          </a:p>
        </p:txBody>
      </p:sp>
      <p:sp>
        <p:nvSpPr>
          <p:cNvPr id="547" name="Google Shape;547;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48" name="Google Shape;548;p4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 un método para registrar un electrograma de la actividad eléctrica en el cuero cabelludo que se ha demostrado que representa la actividad macroscópica de la capa superficial del cerebro que se encuentra debajo. </a:t>
            </a:r>
            <a:endParaRPr/>
          </a:p>
          <a:p>
            <a:pPr indent="0" lvl="0" marL="0" rtl="0" algn="l">
              <a:spcBef>
                <a:spcPts val="1200"/>
              </a:spcBef>
              <a:spcAft>
                <a:spcPts val="0"/>
              </a:spcAft>
              <a:buNone/>
            </a:pPr>
            <a:r>
              <a:rPr lang="es-419"/>
              <a:t>Por lo general, no es invasivo y los electrodos se colocan a lo largo del cuero cabelludo. La electrocorticografía, que involucra electrodos invasivos, a veces se denomina "EEG intracraneal".</a:t>
            </a:r>
            <a:endParaRPr/>
          </a:p>
          <a:p>
            <a:pPr indent="0" lvl="0" marL="0" rtl="0" algn="l">
              <a:spcBef>
                <a:spcPts val="1200"/>
              </a:spcBef>
              <a:spcAft>
                <a:spcPts val="1200"/>
              </a:spcAft>
              <a:buNone/>
            </a:pPr>
            <a:r>
              <a:rPr lang="es-419"/>
              <a:t>El EEG mide las fluctuaciones de voltaje que resultan de la corriente iónica dentro de las neuronas del cerebro.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 grado clínico</a:t>
            </a:r>
            <a:endParaRPr sz="2400">
              <a:solidFill>
                <a:schemeClr val="accent2"/>
              </a:solidFill>
            </a:endParaRPr>
          </a:p>
        </p:txBody>
      </p:sp>
      <p:sp>
        <p:nvSpPr>
          <p:cNvPr id="554" name="Google Shape;554;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55" name="Google Shape;555;p45"/>
          <p:cNvPicPr preferRelativeResize="0"/>
          <p:nvPr/>
        </p:nvPicPr>
        <p:blipFill>
          <a:blip r:embed="rId3">
            <a:alphaModFix/>
          </a:blip>
          <a:stretch>
            <a:fillRect/>
          </a:stretch>
        </p:blipFill>
        <p:spPr>
          <a:xfrm>
            <a:off x="1875838" y="1747375"/>
            <a:ext cx="5392325" cy="3033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 ambulatorio (emotiv)</a:t>
            </a:r>
            <a:endParaRPr sz="2400">
              <a:solidFill>
                <a:schemeClr val="accent2"/>
              </a:solidFill>
            </a:endParaRPr>
          </a:p>
        </p:txBody>
      </p:sp>
      <p:sp>
        <p:nvSpPr>
          <p:cNvPr id="561" name="Google Shape;561;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62" name="Google Shape;562;p46"/>
          <p:cNvPicPr preferRelativeResize="0"/>
          <p:nvPr/>
        </p:nvPicPr>
        <p:blipFill>
          <a:blip r:embed="rId3">
            <a:alphaModFix/>
          </a:blip>
          <a:stretch>
            <a:fillRect/>
          </a:stretch>
        </p:blipFill>
        <p:spPr>
          <a:xfrm>
            <a:off x="2582236" y="2229151"/>
            <a:ext cx="2612426" cy="1959350"/>
          </a:xfrm>
          <a:prstGeom prst="rect">
            <a:avLst/>
          </a:prstGeom>
          <a:noFill/>
          <a:ln>
            <a:noFill/>
          </a:ln>
        </p:spPr>
      </p:pic>
      <p:pic>
        <p:nvPicPr>
          <p:cNvPr id="563" name="Google Shape;563;p46"/>
          <p:cNvPicPr preferRelativeResize="0"/>
          <p:nvPr/>
        </p:nvPicPr>
        <p:blipFill rotWithShape="1">
          <a:blip r:embed="rId4">
            <a:alphaModFix/>
          </a:blip>
          <a:srcRect b="0" l="10812" r="8860" t="0"/>
          <a:stretch/>
        </p:blipFill>
        <p:spPr>
          <a:xfrm>
            <a:off x="142875" y="2003600"/>
            <a:ext cx="2579273" cy="2410450"/>
          </a:xfrm>
          <a:prstGeom prst="rect">
            <a:avLst/>
          </a:prstGeom>
          <a:noFill/>
          <a:ln>
            <a:noFill/>
          </a:ln>
        </p:spPr>
      </p:pic>
      <p:pic>
        <p:nvPicPr>
          <p:cNvPr id="564" name="Google Shape;564;p46"/>
          <p:cNvPicPr preferRelativeResize="0"/>
          <p:nvPr/>
        </p:nvPicPr>
        <p:blipFill>
          <a:blip r:embed="rId5">
            <a:alphaModFix/>
          </a:blip>
          <a:stretch>
            <a:fillRect/>
          </a:stretch>
        </p:blipFill>
        <p:spPr>
          <a:xfrm>
            <a:off x="5231138" y="2571761"/>
            <a:ext cx="2082951" cy="1563599"/>
          </a:xfrm>
          <a:prstGeom prst="rect">
            <a:avLst/>
          </a:prstGeom>
          <a:noFill/>
          <a:ln>
            <a:noFill/>
          </a:ln>
        </p:spPr>
      </p:pic>
      <p:pic>
        <p:nvPicPr>
          <p:cNvPr id="565" name="Google Shape;565;p46"/>
          <p:cNvPicPr preferRelativeResize="0"/>
          <p:nvPr/>
        </p:nvPicPr>
        <p:blipFill>
          <a:blip r:embed="rId6">
            <a:alphaModFix/>
          </a:blip>
          <a:stretch>
            <a:fillRect/>
          </a:stretch>
        </p:blipFill>
        <p:spPr>
          <a:xfrm>
            <a:off x="7425774" y="2708788"/>
            <a:ext cx="1718223" cy="12895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a:t>
            </a:r>
            <a:endParaRPr sz="2400">
              <a:solidFill>
                <a:schemeClr val="accent2"/>
              </a:solidFill>
            </a:endParaRPr>
          </a:p>
        </p:txBody>
      </p:sp>
      <p:sp>
        <p:nvSpPr>
          <p:cNvPr id="571" name="Google Shape;571;p4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Desde el punto de vista clínico, EEG se refiere al registro de la actividad eléctrica espontánea del cerebro durante un período de tiempo. </a:t>
            </a:r>
            <a:endParaRPr/>
          </a:p>
          <a:p>
            <a:pPr indent="0" lvl="0" marL="0" rtl="0" algn="l">
              <a:spcBef>
                <a:spcPts val="1200"/>
              </a:spcBef>
              <a:spcAft>
                <a:spcPts val="0"/>
              </a:spcAft>
              <a:buNone/>
            </a:pPr>
            <a:r>
              <a:rPr lang="es-419"/>
              <a:t>Las aplicaciones de diagnóstico generalmente se enfocan en potenciales relacionados con eventos (</a:t>
            </a:r>
            <a:r>
              <a:rPr i="1" lang="es-419"/>
              <a:t>event-related potentials</a:t>
            </a:r>
            <a:r>
              <a:rPr lang="es-419"/>
              <a:t>) o en el contenido espectral de EEG. </a:t>
            </a:r>
            <a:endParaRPr/>
          </a:p>
          <a:p>
            <a:pPr indent="0" lvl="0" marL="0" rtl="0" algn="l">
              <a:spcBef>
                <a:spcPts val="1200"/>
              </a:spcBef>
              <a:spcAft>
                <a:spcPts val="1200"/>
              </a:spcAft>
              <a:buNone/>
            </a:pPr>
            <a:r>
              <a:rPr lang="es-419"/>
              <a:t>El primero investiga las posibles fluctuaciones en el tiempo bloqueadas en un evento, como el 'inicio del estímulo' o la 'pulsación de un botón'. El segundo analiza el tipo de oscilaciones neuronales (ondas cerebrales) que se pueden observar en las señales de EEG en el dominio de la frecuencia.</a:t>
            </a:r>
            <a:endParaRPr/>
          </a:p>
        </p:txBody>
      </p:sp>
      <p:sp>
        <p:nvSpPr>
          <p:cNvPr id="572" name="Google Shape;572;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4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a:t>
            </a:r>
            <a:endParaRPr sz="2400">
              <a:solidFill>
                <a:schemeClr val="accent2"/>
              </a:solidFill>
            </a:endParaRPr>
          </a:p>
        </p:txBody>
      </p:sp>
      <p:sp>
        <p:nvSpPr>
          <p:cNvPr id="578" name="Google Shape;578;p4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utiliza para diagnosticar epilepsia, trastornos del sueño, profundidad de la anestesia, coma, encefalopatías y muerte cerebral. </a:t>
            </a:r>
            <a:endParaRPr/>
          </a:p>
          <a:p>
            <a:pPr indent="0" lvl="0" marL="0" rtl="0" algn="l">
              <a:spcBef>
                <a:spcPts val="1200"/>
              </a:spcBef>
              <a:spcAft>
                <a:spcPts val="0"/>
              </a:spcAft>
              <a:buNone/>
            </a:pPr>
            <a:r>
              <a:rPr lang="es-419"/>
              <a:t>Solía ser un método de diagnóstico de primera línea para tumores, accidentes cerebrovasculares y otros trastornos cerebrales focales, pero este uso ha disminuido con el advenimiento de las técnicas de imágenes anatómicas de alta resolución, como imágenes por resonancia magnética (MRI), y tomografías computarizada (CT). </a:t>
            </a:r>
            <a:endParaRPr/>
          </a:p>
          <a:p>
            <a:pPr indent="0" lvl="0" marL="0" rtl="0" algn="l">
              <a:spcBef>
                <a:spcPts val="1200"/>
              </a:spcBef>
              <a:spcAft>
                <a:spcPts val="1200"/>
              </a:spcAft>
              <a:buNone/>
            </a:pPr>
            <a:r>
              <a:rPr lang="es-419"/>
              <a:t>Es una de las pocas técnicas móviles disponibles y ofrece una resolución temporal de rango de milisegundos que no es posible con CT, PET o MRI.</a:t>
            </a:r>
            <a:endParaRPr/>
          </a:p>
        </p:txBody>
      </p:sp>
      <p:sp>
        <p:nvSpPr>
          <p:cNvPr id="579" name="Google Shape;579;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9"/>
          <p:cNvSpPr txBox="1"/>
          <p:nvPr>
            <p:ph idx="1" type="body"/>
          </p:nvPr>
        </p:nvSpPr>
        <p:spPr>
          <a:xfrm>
            <a:off x="1303800" y="4138975"/>
            <a:ext cx="5843100" cy="5349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s-419"/>
              <a:t>EEG humano con actividad prominente en estado de reposo. </a:t>
            </a:r>
            <a:br>
              <a:rPr lang="es-419"/>
            </a:br>
            <a:r>
              <a:rPr lang="es-419"/>
              <a:t>Izquierda: trazas de EEG. Derecha: espectros de potencia de las señales mostradas.</a:t>
            </a:r>
            <a:endParaRPr/>
          </a:p>
        </p:txBody>
      </p:sp>
      <p:sp>
        <p:nvSpPr>
          <p:cNvPr id="585" name="Google Shape;585;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86" name="Google Shape;586;p49"/>
          <p:cNvPicPr preferRelativeResize="0"/>
          <p:nvPr/>
        </p:nvPicPr>
        <p:blipFill>
          <a:blip r:embed="rId3">
            <a:alphaModFix/>
          </a:blip>
          <a:stretch>
            <a:fillRect/>
          </a:stretch>
        </p:blipFill>
        <p:spPr>
          <a:xfrm>
            <a:off x="1109135" y="832875"/>
            <a:ext cx="6925726" cy="30205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Bandas comunes de EEG: la actividad de onda lenta se superpone con la banda Delta, pero a veces se aprecia como sus componentes más lentos.</a:t>
            </a:r>
            <a:endParaRPr/>
          </a:p>
        </p:txBody>
      </p:sp>
      <p:sp>
        <p:nvSpPr>
          <p:cNvPr id="592" name="Google Shape;592;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93" name="Google Shape;593;p50"/>
          <p:cNvPicPr preferRelativeResize="0"/>
          <p:nvPr/>
        </p:nvPicPr>
        <p:blipFill rotWithShape="1">
          <a:blip r:embed="rId3">
            <a:alphaModFix/>
          </a:blip>
          <a:srcRect b="4511" l="0" r="0" t="3415"/>
          <a:stretch/>
        </p:blipFill>
        <p:spPr>
          <a:xfrm>
            <a:off x="2157650" y="874900"/>
            <a:ext cx="4822800" cy="2363600"/>
          </a:xfrm>
          <a:prstGeom prst="rect">
            <a:avLst/>
          </a:prstGeom>
          <a:noFill/>
          <a:ln>
            <a:noFill/>
          </a:ln>
        </p:spPr>
      </p:pic>
      <p:sp>
        <p:nvSpPr>
          <p:cNvPr id="594" name="Google Shape;594;p50"/>
          <p:cNvSpPr txBox="1"/>
          <p:nvPr/>
        </p:nvSpPr>
        <p:spPr>
          <a:xfrm>
            <a:off x="800450" y="3252475"/>
            <a:ext cx="7537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000">
                <a:solidFill>
                  <a:schemeClr val="accent1"/>
                </a:solidFill>
              </a:rPr>
              <a:t>Analysis on Non-linear features of electroencephalogram (EEG) signal for neuromarketing application</a:t>
            </a:r>
            <a:endParaRPr sz="1000">
              <a:solidFill>
                <a:schemeClr val="accen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 delta</a:t>
            </a:r>
            <a:endParaRPr sz="2400">
              <a:solidFill>
                <a:schemeClr val="accent2"/>
              </a:solidFill>
            </a:endParaRPr>
          </a:p>
        </p:txBody>
      </p:sp>
      <p:sp>
        <p:nvSpPr>
          <p:cNvPr id="600" name="Google Shape;600;p5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Tiende a ser la banda más alta en amplitud y con las ondas más lentas. Se observa normalmente en adultos durante el sueño. También se observa normalmente en los bebés.</a:t>
            </a:r>
            <a:endParaRPr/>
          </a:p>
          <a:p>
            <a:pPr indent="0" lvl="0" marL="0" rtl="0" algn="l">
              <a:spcBef>
                <a:spcPts val="1200"/>
              </a:spcBef>
              <a:spcAft>
                <a:spcPts val="0"/>
              </a:spcAft>
              <a:buNone/>
            </a:pPr>
            <a:r>
              <a:rPr lang="es-419"/>
              <a:t>Puede presentarse de forma focal con lesiones subcorticales, encefalopatía metabólica, hidrocefalia o lesiones profundas de la línea media. </a:t>
            </a:r>
            <a:endParaRPr/>
          </a:p>
          <a:p>
            <a:pPr indent="0" lvl="0" marL="0" rtl="0" algn="l">
              <a:spcBef>
                <a:spcPts val="1200"/>
              </a:spcBef>
              <a:spcAft>
                <a:spcPts val="1200"/>
              </a:spcAft>
              <a:buNone/>
            </a:pPr>
            <a:r>
              <a:rPr lang="es-419"/>
              <a:t>Por lo general, es más prominente frontalmente en adultos (e.g., delta rítmico intermitente frontal) y posteriormente en niños (e.g., delta rítmico intermitente occipital).</a:t>
            </a:r>
            <a:endParaRPr/>
          </a:p>
        </p:txBody>
      </p:sp>
      <p:sp>
        <p:nvSpPr>
          <p:cNvPr id="601" name="Google Shape;601;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 theta</a:t>
            </a:r>
            <a:endParaRPr sz="2400">
              <a:solidFill>
                <a:schemeClr val="accent2"/>
              </a:solidFill>
            </a:endParaRPr>
          </a:p>
        </p:txBody>
      </p:sp>
      <p:sp>
        <p:nvSpPr>
          <p:cNvPr id="607" name="Google Shape;607;p5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observa normalmente en niños pequeños. Puede verse durante la somnolencia o la excitación en niños mayores y adultos; también se puede ver en la meditación.</a:t>
            </a:r>
            <a:endParaRPr/>
          </a:p>
          <a:p>
            <a:pPr indent="0" lvl="0" marL="0" rtl="0" algn="l">
              <a:spcBef>
                <a:spcPts val="1200"/>
              </a:spcBef>
              <a:spcAft>
                <a:spcPts val="0"/>
              </a:spcAft>
              <a:buNone/>
            </a:pPr>
            <a:r>
              <a:rPr lang="es-419"/>
              <a:t>El exceso de theta para la edad representa una actividad anormal. </a:t>
            </a:r>
            <a:endParaRPr/>
          </a:p>
          <a:p>
            <a:pPr indent="0" lvl="0" marL="0" rtl="0" algn="l">
              <a:spcBef>
                <a:spcPts val="1200"/>
              </a:spcBef>
              <a:spcAft>
                <a:spcPts val="0"/>
              </a:spcAft>
              <a:buNone/>
            </a:pPr>
            <a:r>
              <a:rPr lang="es-419"/>
              <a:t>Puede verse como una alteración focal en lesiones subcorticales focales, en el trastorno difuso, los trastornos profundos de la línea media o en algunos casos de hidrocefalia. </a:t>
            </a:r>
            <a:endParaRPr/>
          </a:p>
          <a:p>
            <a:pPr indent="0" lvl="0" marL="0" rtl="0" algn="l">
              <a:spcBef>
                <a:spcPts val="1200"/>
              </a:spcBef>
              <a:spcAft>
                <a:spcPts val="1200"/>
              </a:spcAft>
              <a:buNone/>
            </a:pPr>
            <a:r>
              <a:rPr lang="es-419"/>
              <a:t>Este rango se ha asociado con informes de estados relajados, meditativos y creativos.</a:t>
            </a:r>
            <a:endParaRPr/>
          </a:p>
        </p:txBody>
      </p:sp>
      <p:sp>
        <p:nvSpPr>
          <p:cNvPr id="608" name="Google Shape;608;p5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 alpha</a:t>
            </a:r>
            <a:endParaRPr sz="2400">
              <a:solidFill>
                <a:schemeClr val="accent2"/>
              </a:solidFill>
            </a:endParaRPr>
          </a:p>
        </p:txBody>
      </p:sp>
      <p:sp>
        <p:nvSpPr>
          <p:cNvPr id="614" name="Google Shape;614;p5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 el </a:t>
            </a:r>
            <a:r>
              <a:rPr b="1" lang="es-419"/>
              <a:t>ritmo básico posterior</a:t>
            </a:r>
            <a:r>
              <a:rPr lang="es-419"/>
              <a:t> (ritmo dominante posterior o ritmo alfa posterior), visto en las regiones posteriores de la cabeza en ambos lados, con mayor amplitud en el lado dominante. </a:t>
            </a:r>
            <a:endParaRPr/>
          </a:p>
          <a:p>
            <a:pPr indent="0" lvl="0" marL="0" rtl="0" algn="l">
              <a:spcBef>
                <a:spcPts val="1200"/>
              </a:spcBef>
              <a:spcAft>
                <a:spcPts val="0"/>
              </a:spcAft>
              <a:buNone/>
            </a:pPr>
            <a:r>
              <a:rPr lang="es-419"/>
              <a:t>Surge con el cierre de los ojos y con la relajación, y se atenúa con la apertura de los ojos o el esfuerzo mental. </a:t>
            </a:r>
            <a:endParaRPr/>
          </a:p>
          <a:p>
            <a:pPr indent="0" lvl="0" marL="0" rtl="0" algn="l">
              <a:spcBef>
                <a:spcPts val="1200"/>
              </a:spcBef>
              <a:spcAft>
                <a:spcPts val="1200"/>
              </a:spcAft>
              <a:buNone/>
            </a:pPr>
            <a:r>
              <a:rPr lang="es-419"/>
              <a:t>El ritmo básico posterior es en realidad más lento que los 8 Hz en niños pequeños (por lo tanto, técnicamente en el rango theta).</a:t>
            </a:r>
            <a:endParaRPr/>
          </a:p>
        </p:txBody>
      </p:sp>
      <p:sp>
        <p:nvSpPr>
          <p:cNvPr id="615" name="Google Shape;615;p5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5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Se observa en ambos lados en distribución simétrica y es más evidente frontalmente. Está estrechamente relacionada con el comportamiento motor y generalmente se atenúa durante los movimientos activos. </a:t>
            </a:r>
            <a:endParaRPr/>
          </a:p>
          <a:p>
            <a:pPr indent="0" lvl="0" marL="0" rtl="0" algn="l">
              <a:spcBef>
                <a:spcPts val="1200"/>
              </a:spcBef>
              <a:spcAft>
                <a:spcPts val="0"/>
              </a:spcAft>
              <a:buNone/>
            </a:pPr>
            <a:r>
              <a:rPr lang="es-419"/>
              <a:t>La beta de baja amplitud con frecuencias múltiples y variables a menudo se asocia con un pensamiento activo, ocupado o ansioso y una concentración activa. </a:t>
            </a:r>
            <a:endParaRPr/>
          </a:p>
          <a:p>
            <a:pPr indent="0" lvl="0" marL="0" rtl="0" algn="l">
              <a:spcBef>
                <a:spcPts val="1200"/>
              </a:spcBef>
              <a:spcAft>
                <a:spcPts val="0"/>
              </a:spcAft>
              <a:buNone/>
            </a:pPr>
            <a:r>
              <a:rPr lang="es-419"/>
              <a:t>La beta rítmica con un conjunto dominante de frecuencias se asocia con diversas patologías y efectos de fármacos.</a:t>
            </a:r>
            <a:endParaRPr/>
          </a:p>
          <a:p>
            <a:pPr indent="0" lvl="0" marL="0" rtl="0" algn="l">
              <a:spcBef>
                <a:spcPts val="1200"/>
              </a:spcBef>
              <a:spcAft>
                <a:spcPts val="1200"/>
              </a:spcAft>
              <a:buNone/>
            </a:pPr>
            <a:r>
              <a:rPr lang="es-419"/>
              <a:t>Es el ritmo dominante en pacientes que están alerta o ansiosos, o que tienen los ojos abiertos.</a:t>
            </a:r>
            <a:endParaRPr/>
          </a:p>
        </p:txBody>
      </p:sp>
      <p:sp>
        <p:nvSpPr>
          <p:cNvPr id="621" name="Google Shape;621;p5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 beta</a:t>
            </a:r>
            <a:endParaRPr sz="2400">
              <a:solidFill>
                <a:schemeClr val="accent2"/>
              </a:solidFill>
            </a:endParaRPr>
          </a:p>
        </p:txBody>
      </p:sp>
      <p:sp>
        <p:nvSpPr>
          <p:cNvPr id="622" name="Google Shape;622;p5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 gamma</a:t>
            </a:r>
            <a:endParaRPr sz="2400">
              <a:solidFill>
                <a:schemeClr val="accent2"/>
              </a:solidFill>
            </a:endParaRPr>
          </a:p>
        </p:txBody>
      </p:sp>
      <p:sp>
        <p:nvSpPr>
          <p:cNvPr id="628" name="Google Shape;628;p5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correlacionan con la actividad de la red cerebral a gran escala y los fenómenos cognitivos, como la memoria de trabajo, la atención y la agrupación perceptiva, y se pueden aumentar en amplitud a través de la meditación o la neuroestimulación.</a:t>
            </a:r>
            <a:endParaRPr/>
          </a:p>
          <a:p>
            <a:pPr indent="0" lvl="0" marL="0" rtl="0" algn="l">
              <a:spcBef>
                <a:spcPts val="1200"/>
              </a:spcBef>
              <a:spcAft>
                <a:spcPts val="1200"/>
              </a:spcAft>
              <a:buNone/>
            </a:pPr>
            <a:r>
              <a:rPr lang="es-419"/>
              <a:t>Se ha observado actividad gamma alterada en muchos trastornos cognitivos y del estado de ánimo, como la enfermedad de Alzheimer, la epilepsia, y la esquizofrenia.</a:t>
            </a:r>
            <a:endParaRPr/>
          </a:p>
        </p:txBody>
      </p:sp>
      <p:sp>
        <p:nvSpPr>
          <p:cNvPr id="629" name="Google Shape;629;p5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5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EEG: mu</a:t>
            </a:r>
            <a:endParaRPr sz="2400">
              <a:solidFill>
                <a:schemeClr val="accent2"/>
              </a:solidFill>
            </a:endParaRPr>
          </a:p>
        </p:txBody>
      </p:sp>
      <p:sp>
        <p:nvSpPr>
          <p:cNvPr id="635" name="Google Shape;635;p5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Refleja el disparo sincrónico de las neuronas motoras en estado de reposo. </a:t>
            </a:r>
            <a:endParaRPr/>
          </a:p>
          <a:p>
            <a:pPr indent="0" lvl="0" marL="0" rtl="0" algn="l">
              <a:spcBef>
                <a:spcPts val="1200"/>
              </a:spcBef>
              <a:spcAft>
                <a:spcPts val="1200"/>
              </a:spcAft>
              <a:buNone/>
            </a:pPr>
            <a:r>
              <a:rPr lang="es-419"/>
              <a:t>Se cree que la supresión de Mu refleja los sistemas de neuronas espejo motoras, porque cuando se observa una acción, el patrón se extingue, posiblemente porque los sistemas neuronales normal y espejo "se desincronizan" e interfieren entre sí.</a:t>
            </a:r>
            <a:endParaRPr/>
          </a:p>
        </p:txBody>
      </p:sp>
      <p:sp>
        <p:nvSpPr>
          <p:cNvPr id="636" name="Google Shape;636;p5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5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Electromiografía</a:t>
            </a:r>
            <a:endParaRPr/>
          </a:p>
        </p:txBody>
      </p:sp>
      <p:sp>
        <p:nvSpPr>
          <p:cNvPr id="642" name="Google Shape;642;p5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 una técnica para evaluar y registrar la actividad eléctrica producida por los músculos esqueléticos.</a:t>
            </a:r>
            <a:endParaRPr/>
          </a:p>
          <a:p>
            <a:pPr indent="0" lvl="0" marL="0" rtl="0" algn="l">
              <a:spcBef>
                <a:spcPts val="1200"/>
              </a:spcBef>
              <a:spcAft>
                <a:spcPts val="0"/>
              </a:spcAft>
              <a:buNone/>
            </a:pPr>
            <a:r>
              <a:rPr lang="es-419"/>
              <a:t>Se realiza usando un instrumento llamado electromiógrafo para producir un registro llamado electromiograma, el cual detecta el potencial eléctrico generado por las células musculares, cuando se activan eléctrica o neurológicamente. </a:t>
            </a:r>
            <a:endParaRPr/>
          </a:p>
          <a:p>
            <a:pPr indent="0" lvl="0" marL="0" rtl="0" algn="l">
              <a:spcBef>
                <a:spcPts val="1200"/>
              </a:spcBef>
              <a:spcAft>
                <a:spcPts val="1200"/>
              </a:spcAft>
              <a:buNone/>
            </a:pPr>
            <a:r>
              <a:rPr lang="es-419"/>
              <a:t>Las señales se pueden analizar para detectar anomalías, nivel de activación, o para analizar la biomecánica del movimiento humano o animal.</a:t>
            </a:r>
            <a:endParaRPr/>
          </a:p>
        </p:txBody>
      </p:sp>
      <p:sp>
        <p:nvSpPr>
          <p:cNvPr id="643" name="Google Shape;643;p5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Ref</a:t>
            </a:r>
            <a:endParaRPr sz="800">
              <a:solidFill>
                <a:srgbClr val="94B6BD"/>
              </a:solidFill>
            </a:endParaRPr>
          </a:p>
        </p:txBody>
      </p:sp>
      <p:sp>
        <p:nvSpPr>
          <p:cNvPr id="644" name="Google Shape;644;p5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EMG nivel clínico</a:t>
            </a:r>
            <a:endParaRPr sz="2400">
              <a:solidFill>
                <a:schemeClr val="accent2"/>
              </a:solidFill>
            </a:endParaRPr>
          </a:p>
        </p:txBody>
      </p:sp>
      <p:sp>
        <p:nvSpPr>
          <p:cNvPr id="650" name="Google Shape;650;p5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51" name="Google Shape;651;p58"/>
          <p:cNvPicPr preferRelativeResize="0"/>
          <p:nvPr/>
        </p:nvPicPr>
        <p:blipFill>
          <a:blip r:embed="rId3">
            <a:alphaModFix/>
          </a:blip>
          <a:stretch>
            <a:fillRect/>
          </a:stretch>
        </p:blipFill>
        <p:spPr>
          <a:xfrm>
            <a:off x="2704638" y="2045950"/>
            <a:ext cx="3734725" cy="219727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5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EMG ambulatorio (MYO)</a:t>
            </a:r>
            <a:endParaRPr sz="2400">
              <a:solidFill>
                <a:schemeClr val="accent2"/>
              </a:solidFill>
            </a:endParaRPr>
          </a:p>
        </p:txBody>
      </p:sp>
      <p:sp>
        <p:nvSpPr>
          <p:cNvPr id="657" name="Google Shape;657;p5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58" name="Google Shape;658;p59"/>
          <p:cNvPicPr preferRelativeResize="0"/>
          <p:nvPr/>
        </p:nvPicPr>
        <p:blipFill rotWithShape="1">
          <a:blip r:embed="rId3">
            <a:alphaModFix/>
          </a:blip>
          <a:srcRect b="1794" l="930" r="1106" t="1707"/>
          <a:stretch/>
        </p:blipFill>
        <p:spPr>
          <a:xfrm>
            <a:off x="2621138" y="1792100"/>
            <a:ext cx="3901724" cy="2356550"/>
          </a:xfrm>
          <a:prstGeom prst="rect">
            <a:avLst/>
          </a:prstGeom>
          <a:noFill/>
          <a:ln>
            <a:noFill/>
          </a:ln>
        </p:spPr>
      </p:pic>
      <p:sp>
        <p:nvSpPr>
          <p:cNvPr id="659" name="Google Shape;659;p59"/>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Tatarian, K., Couceiro, M. S., Ribeiro, E. P., &amp; Faria, D. R. (2018, September). Stepping-stones to transhumanism: </a:t>
            </a:r>
            <a:endParaRPr sz="800">
              <a:solidFill>
                <a:srgbClr val="94B6BD"/>
              </a:solidFill>
            </a:endParaRPr>
          </a:p>
          <a:p>
            <a:pPr indent="0" lvl="0" marL="0" rtl="0" algn="r">
              <a:spcBef>
                <a:spcPts val="0"/>
              </a:spcBef>
              <a:spcAft>
                <a:spcPts val="0"/>
              </a:spcAft>
              <a:buNone/>
            </a:pPr>
            <a:r>
              <a:rPr lang="es-419" sz="800">
                <a:solidFill>
                  <a:srgbClr val="94B6BD"/>
                </a:solidFill>
              </a:rPr>
              <a:t>An emg-controlled low-cost prosthetic hand for academia. In 2018 International Conference on Intelligent Systems (IS) (pp. 807-812). IEEE</a:t>
            </a:r>
            <a:endParaRPr sz="800">
              <a:solidFill>
                <a:srgbClr val="94B6BD"/>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6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(a) Señal EMG medida en los bíceps del brazo derecho. (b) Espectro de amplitud de la señal mostrada en (a)</a:t>
            </a:r>
            <a:endParaRPr/>
          </a:p>
        </p:txBody>
      </p:sp>
      <p:sp>
        <p:nvSpPr>
          <p:cNvPr id="665" name="Google Shape;665;p6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66" name="Google Shape;666;p60"/>
          <p:cNvPicPr preferRelativeResize="0"/>
          <p:nvPr/>
        </p:nvPicPr>
        <p:blipFill>
          <a:blip r:embed="rId3">
            <a:alphaModFix/>
          </a:blip>
          <a:stretch>
            <a:fillRect/>
          </a:stretch>
        </p:blipFill>
        <p:spPr>
          <a:xfrm>
            <a:off x="3319714" y="774613"/>
            <a:ext cx="2504575" cy="313707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61"/>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The Biosignal How-To</a:t>
            </a:r>
            <a:endParaRPr/>
          </a:p>
          <a:p>
            <a:pPr indent="0" lvl="0" marL="0" rtl="0" algn="l">
              <a:spcBef>
                <a:spcPts val="0"/>
              </a:spcBef>
              <a:spcAft>
                <a:spcPts val="0"/>
              </a:spcAft>
              <a:buNone/>
            </a:pPr>
            <a:r>
              <a:t/>
            </a:r>
            <a:endParaRPr/>
          </a:p>
        </p:txBody>
      </p:sp>
      <p:sp>
        <p:nvSpPr>
          <p:cNvPr id="672" name="Google Shape;672;p6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73" name="Google Shape;673;p61"/>
          <p:cNvPicPr preferRelativeResize="0"/>
          <p:nvPr/>
        </p:nvPicPr>
        <p:blipFill>
          <a:blip r:embed="rId3">
            <a:alphaModFix/>
          </a:blip>
          <a:stretch>
            <a:fillRect/>
          </a:stretch>
        </p:blipFill>
        <p:spPr>
          <a:xfrm>
            <a:off x="2581589" y="1716150"/>
            <a:ext cx="3980827" cy="2239226"/>
          </a:xfrm>
          <a:prstGeom prst="rect">
            <a:avLst/>
          </a:prstGeom>
          <a:noFill/>
          <a:ln>
            <a:noFill/>
          </a:ln>
        </p:spPr>
      </p:pic>
      <p:sp>
        <p:nvSpPr>
          <p:cNvPr id="674" name="Google Shape;674;p6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https://biosignals.berndporr.me.uk/</a:t>
            </a:r>
            <a:endParaRPr sz="800">
              <a:solidFill>
                <a:srgbClr val="94B6BD"/>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2"/>
          <p:cNvSpPr txBox="1"/>
          <p:nvPr>
            <p:ph type="title"/>
          </p:nvPr>
        </p:nvSpPr>
        <p:spPr>
          <a:xfrm>
            <a:off x="824000" y="1613825"/>
            <a:ext cx="76269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Proyecto final</a:t>
            </a:r>
            <a:endParaRPr/>
          </a:p>
          <a:p>
            <a:pPr indent="0" lvl="0" marL="0" rtl="0" algn="l">
              <a:spcBef>
                <a:spcPts val="0"/>
              </a:spcBef>
              <a:spcAft>
                <a:spcPts val="0"/>
              </a:spcAft>
              <a:buNone/>
            </a:pPr>
            <a:r>
              <a:rPr b="0" lang="es-419" sz="3200">
                <a:solidFill>
                  <a:schemeClr val="accent3"/>
                </a:solidFill>
              </a:rPr>
              <a:t>(Valor: 30%)</a:t>
            </a:r>
            <a:endParaRPr b="0" sz="3200">
              <a:solidFill>
                <a:schemeClr val="accent3"/>
              </a:solidFill>
            </a:endParaRPr>
          </a:p>
        </p:txBody>
      </p:sp>
      <p:sp>
        <p:nvSpPr>
          <p:cNvPr id="680" name="Google Shape;680;p6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86" name="Google Shape;686;p63"/>
          <p:cNvSpPr txBox="1"/>
          <p:nvPr>
            <p:ph type="title"/>
          </p:nvPr>
        </p:nvSpPr>
        <p:spPr>
          <a:xfrm>
            <a:off x="1303800" y="598575"/>
            <a:ext cx="3430500" cy="199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Propuesta / avance de proyecto</a:t>
            </a:r>
            <a:endParaRPr/>
          </a:p>
        </p:txBody>
      </p:sp>
      <p:sp>
        <p:nvSpPr>
          <p:cNvPr id="687" name="Google Shape;687;p63"/>
          <p:cNvSpPr txBox="1"/>
          <p:nvPr>
            <p:ph idx="1" type="subTitle"/>
          </p:nvPr>
        </p:nvSpPr>
        <p:spPr>
          <a:xfrm>
            <a:off x="1303800" y="2743203"/>
            <a:ext cx="3430500" cy="72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Fecha de entrega: 27/feb</a:t>
            </a:r>
            <a:endParaRPr/>
          </a:p>
        </p:txBody>
      </p:sp>
      <p:sp>
        <p:nvSpPr>
          <p:cNvPr id="688" name="Google Shape;688;p63"/>
          <p:cNvSpPr txBox="1"/>
          <p:nvPr>
            <p:ph idx="2" type="body"/>
          </p:nvPr>
        </p:nvSpPr>
        <p:spPr>
          <a:xfrm>
            <a:off x="4817850" y="661000"/>
            <a:ext cx="3633300" cy="3870600"/>
          </a:xfrm>
          <a:prstGeom prst="rect">
            <a:avLst/>
          </a:prstGeom>
        </p:spPr>
        <p:txBody>
          <a:bodyPr anchorCtr="0" anchor="ctr" bIns="91425" lIns="91425" spcFirstLastPara="1" rIns="91425" wrap="square" tIns="91425">
            <a:normAutofit/>
          </a:bodyPr>
          <a:lstStyle/>
          <a:p>
            <a:pPr indent="0" lvl="0" marL="0" rtl="0" algn="l">
              <a:lnSpc>
                <a:spcPct val="95000"/>
              </a:lnSpc>
              <a:spcBef>
                <a:spcPts val="0"/>
              </a:spcBef>
              <a:spcAft>
                <a:spcPts val="0"/>
              </a:spcAft>
              <a:buNone/>
            </a:pPr>
            <a:r>
              <a:rPr lang="es-419" sz="1400"/>
              <a:t>Presentación de 3 a 5 slides con las ideas / avances del proyecto a realizar contemplando, y no limitado a, los siguientes puntos:</a:t>
            </a:r>
            <a:endParaRPr sz="1400"/>
          </a:p>
          <a:p>
            <a:pPr indent="-311150" lvl="0" marL="457200" rtl="0" algn="l">
              <a:lnSpc>
                <a:spcPct val="95000"/>
              </a:lnSpc>
              <a:spcBef>
                <a:spcPts val="1200"/>
              </a:spcBef>
              <a:spcAft>
                <a:spcPts val="0"/>
              </a:spcAft>
              <a:buSzPts val="1300"/>
              <a:buChar char="●"/>
            </a:pPr>
            <a:r>
              <a:rPr lang="es-419"/>
              <a:t>Idea general, justificación o motivación del proyecto planteado.</a:t>
            </a:r>
            <a:endParaRPr/>
          </a:p>
          <a:p>
            <a:pPr indent="-311150" lvl="0" marL="457200" rtl="0" algn="l">
              <a:lnSpc>
                <a:spcPct val="95000"/>
              </a:lnSpc>
              <a:spcBef>
                <a:spcPts val="0"/>
              </a:spcBef>
              <a:spcAft>
                <a:spcPts val="0"/>
              </a:spcAft>
              <a:buSzPts val="1300"/>
              <a:buChar char="●"/>
            </a:pPr>
            <a:r>
              <a:rPr lang="es-419"/>
              <a:t>Diseño experimental: tecnología de sensado, escenario de recolección, participantes, variables a medir, ...</a:t>
            </a:r>
            <a:endParaRPr/>
          </a:p>
          <a:p>
            <a:pPr indent="-311150" lvl="0" marL="457200" rtl="0" algn="l">
              <a:lnSpc>
                <a:spcPct val="95000"/>
              </a:lnSpc>
              <a:spcBef>
                <a:spcPts val="0"/>
              </a:spcBef>
              <a:spcAft>
                <a:spcPts val="0"/>
              </a:spcAft>
              <a:buSzPts val="1300"/>
              <a:buChar char="●"/>
            </a:pPr>
            <a:r>
              <a:rPr lang="es-419"/>
              <a:t>Análisis de datos: tarea a resolver (clasificación, regresión, agrupamiento), niveles de datos a utilizar, técnicas de procesamiento, extracción de características, algoritmos de inferencia, etc.</a:t>
            </a:r>
            <a:endParaRPr/>
          </a:p>
        </p:txBody>
      </p:sp>
      <p:pic>
        <p:nvPicPr>
          <p:cNvPr id="689" name="Google Shape;689;p63"/>
          <p:cNvPicPr preferRelativeResize="0"/>
          <p:nvPr/>
        </p:nvPicPr>
        <p:blipFill>
          <a:blip r:embed="rId3">
            <a:alphaModFix/>
          </a:blip>
          <a:stretch>
            <a:fillRect/>
          </a:stretch>
        </p:blipFill>
        <p:spPr>
          <a:xfrm>
            <a:off x="420150" y="598575"/>
            <a:ext cx="752475" cy="7239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64"/>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695" name="Google Shape;695;p64"/>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696" name="Google Shape;696;p6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97" name="Google Shape;697;p64"/>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698" name="Google Shape;698;p64"/>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