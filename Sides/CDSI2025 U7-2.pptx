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Lst>
  <p:sldSz cy="5143500" cx="9144000"/>
  <p:notesSz cx="6858000" cy="9144000"/>
  <p:embeddedFontLst>
    <p:embeddedFont>
      <p:font typeface="Roboto"/>
      <p:regular r:id="rId56"/>
      <p:bold r:id="rId57"/>
      <p:italic r:id="rId58"/>
      <p:boldItalic r:id="rId59"/>
    </p:embeddedFont>
    <p:embeddedFont>
      <p:font typeface="Nunito"/>
      <p:regular r:id="rId60"/>
      <p:bold r:id="rId61"/>
      <p:italic r:id="rId62"/>
      <p:boldItalic r:id="rId63"/>
    </p:embeddedFont>
    <p:embeddedFont>
      <p:font typeface="Maven Pro"/>
      <p:regular r:id="rId64"/>
      <p:bold r:id="rId6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Nunito-italic.fntdata"/><Relationship Id="rId61" Type="http://schemas.openxmlformats.org/officeDocument/2006/relationships/font" Target="fonts/Nunito-bold.fntdata"/><Relationship Id="rId20" Type="http://schemas.openxmlformats.org/officeDocument/2006/relationships/slide" Target="slides/slide15.xml"/><Relationship Id="rId64" Type="http://schemas.openxmlformats.org/officeDocument/2006/relationships/font" Target="fonts/MavenPro-regular.fntdata"/><Relationship Id="rId63" Type="http://schemas.openxmlformats.org/officeDocument/2006/relationships/font" Target="fonts/Nunito-boldItalic.fntdata"/><Relationship Id="rId22" Type="http://schemas.openxmlformats.org/officeDocument/2006/relationships/slide" Target="slides/slide17.xml"/><Relationship Id="rId21" Type="http://schemas.openxmlformats.org/officeDocument/2006/relationships/slide" Target="slides/slide16.xml"/><Relationship Id="rId65" Type="http://schemas.openxmlformats.org/officeDocument/2006/relationships/font" Target="fonts/MavenPro-bold.fnt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Nunito-regular.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slide" Target="slides/slide50.xml"/><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Roboto-bold.fntdata"/><Relationship Id="rId12" Type="http://schemas.openxmlformats.org/officeDocument/2006/relationships/slide" Target="slides/slide7.xml"/><Relationship Id="rId56" Type="http://schemas.openxmlformats.org/officeDocument/2006/relationships/font" Target="fonts/Roboto-regular.fntdata"/><Relationship Id="rId15" Type="http://schemas.openxmlformats.org/officeDocument/2006/relationships/slide" Target="slides/slide10.xml"/><Relationship Id="rId59" Type="http://schemas.openxmlformats.org/officeDocument/2006/relationships/font" Target="fonts/Roboto-boldItalic.fntdata"/><Relationship Id="rId14" Type="http://schemas.openxmlformats.org/officeDocument/2006/relationships/slide" Target="slides/slide9.xml"/><Relationship Id="rId58" Type="http://schemas.openxmlformats.org/officeDocument/2006/relationships/font" Target="fonts/Roboto-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www.frontiersin.org/articles/10.3389/fcomp.2021.557608/full"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5.2: </a:t>
            </a:r>
            <a:r>
              <a:rPr lang="es-419" u="sng">
                <a:solidFill>
                  <a:schemeClr val="hlink"/>
                </a:solidFill>
                <a:hlinkClick r:id="rId2"/>
              </a:rPr>
              <a:t>https://www.frontiersin.org/articles/10.3389/fcomp.2021.557608/full</a:t>
            </a:r>
            <a:r>
              <a:rPr lang="es-419"/>
              <a:t>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g10b8e2f8094_0_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0" name="Google Shape;290;g10b8e2f8094_0_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10ca5513fe0_0_1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7" name="Google Shape;297;g10ca5513fe0_0_1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1160fb202f0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1160fb202f0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11e4dc510a3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11e4dc510a3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1161c918c63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1161c918c63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1e4dc510a3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1e4dc510a3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g11e4dc510a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3" name="Google Shape;333;g11e4dc510a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g11e4dc510a3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1" name="Google Shape;341;g11e4dc510a3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11e4dc510a3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8" name="Google Shape;348;g11e4dc510a3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4" name="Shape 354"/>
        <p:cNvGrpSpPr/>
        <p:nvPr/>
      </p:nvGrpSpPr>
      <p:grpSpPr>
        <a:xfrm>
          <a:off x="0" y="0"/>
          <a:ext cx="0" cy="0"/>
          <a:chOff x="0" y="0"/>
          <a:chExt cx="0" cy="0"/>
        </a:xfrm>
      </p:grpSpPr>
      <p:sp>
        <p:nvSpPr>
          <p:cNvPr id="355" name="Google Shape;355;g11e4dc510a3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6" name="Google Shape;356;g11e4dc510a3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g11e4dc510a3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3" name="Google Shape;363;g11e4dc510a3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g11e4dc510a3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1" name="Google Shape;371;g11e4dc510a3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7" name="Shape 377"/>
        <p:cNvGrpSpPr/>
        <p:nvPr/>
      </p:nvGrpSpPr>
      <p:grpSpPr>
        <a:xfrm>
          <a:off x="0" y="0"/>
          <a:ext cx="0" cy="0"/>
          <a:chOff x="0" y="0"/>
          <a:chExt cx="0" cy="0"/>
        </a:xfrm>
      </p:grpSpPr>
      <p:sp>
        <p:nvSpPr>
          <p:cNvPr id="378" name="Google Shape;378;g11e4dc510a3_0_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9" name="Google Shape;379;g11e4dc510a3_0_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11e4dc510a3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11e4dc510a3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g11e4dc510a3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4" name="Google Shape;394;g11e4dc510a3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0" name="Shape 400"/>
        <p:cNvGrpSpPr/>
        <p:nvPr/>
      </p:nvGrpSpPr>
      <p:grpSpPr>
        <a:xfrm>
          <a:off x="0" y="0"/>
          <a:ext cx="0" cy="0"/>
          <a:chOff x="0" y="0"/>
          <a:chExt cx="0" cy="0"/>
        </a:xfrm>
      </p:grpSpPr>
      <p:sp>
        <p:nvSpPr>
          <p:cNvPr id="401" name="Google Shape;401;g11e4dc510a3_0_1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2" name="Google Shape;402;g11e4dc510a3_0_1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g11e4dc510a3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0" name="Google Shape;410;g11e4dc510a3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6" name="Shape 416"/>
        <p:cNvGrpSpPr/>
        <p:nvPr/>
      </p:nvGrpSpPr>
      <p:grpSpPr>
        <a:xfrm>
          <a:off x="0" y="0"/>
          <a:ext cx="0" cy="0"/>
          <a:chOff x="0" y="0"/>
          <a:chExt cx="0" cy="0"/>
        </a:xfrm>
      </p:grpSpPr>
      <p:sp>
        <p:nvSpPr>
          <p:cNvPr id="417" name="Google Shape;417;g11e4dc510a3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8" name="Google Shape;418;g11e4dc510a3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11e4dc510a3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6" name="Google Shape;426;g11e4dc510a3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g11e4dc510a3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4" name="Google Shape;434;g11e4dc510a3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11e4dc510a3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11e4dc510a3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11e4dc510a3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g11e4dc510a3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11e4dc510a3_0_4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7" name="Google Shape;467;g11e4dc510a3_0_4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3" name="Shape 473"/>
        <p:cNvGrpSpPr/>
        <p:nvPr/>
      </p:nvGrpSpPr>
      <p:grpSpPr>
        <a:xfrm>
          <a:off x="0" y="0"/>
          <a:ext cx="0" cy="0"/>
          <a:chOff x="0" y="0"/>
          <a:chExt cx="0" cy="0"/>
        </a:xfrm>
      </p:grpSpPr>
      <p:sp>
        <p:nvSpPr>
          <p:cNvPr id="474" name="Google Shape;474;g11e4dc510a3_0_4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5" name="Google Shape;475;g11e4dc510a3_0_4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11e4dc510a3_0_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2" name="Google Shape;482;g11e4dc510a3_0_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7" name="Shape 487"/>
        <p:cNvGrpSpPr/>
        <p:nvPr/>
      </p:nvGrpSpPr>
      <p:grpSpPr>
        <a:xfrm>
          <a:off x="0" y="0"/>
          <a:ext cx="0" cy="0"/>
          <a:chOff x="0" y="0"/>
          <a:chExt cx="0" cy="0"/>
        </a:xfrm>
      </p:grpSpPr>
      <p:sp>
        <p:nvSpPr>
          <p:cNvPr id="488" name="Google Shape;488;g11e4dc510a3_0_4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9" name="Google Shape;489;g11e4dc510a3_0_4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5" name="Shape 495"/>
        <p:cNvGrpSpPr/>
        <p:nvPr/>
      </p:nvGrpSpPr>
      <p:grpSpPr>
        <a:xfrm>
          <a:off x="0" y="0"/>
          <a:ext cx="0" cy="0"/>
          <a:chOff x="0" y="0"/>
          <a:chExt cx="0" cy="0"/>
        </a:xfrm>
      </p:grpSpPr>
      <p:sp>
        <p:nvSpPr>
          <p:cNvPr id="496" name="Google Shape;496;g11e4dc510a3_0_4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7" name="Google Shape;497;g11e4dc510a3_0_4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11e4dc510a3_0_4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11e4dc510a3_0_4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11e4dc510a3_0_4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11e4dc510a3_0_4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11e4dc510a3_0_4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11e4dc510a3_0_4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6" name="Shape 526"/>
        <p:cNvGrpSpPr/>
        <p:nvPr/>
      </p:nvGrpSpPr>
      <p:grpSpPr>
        <a:xfrm>
          <a:off x="0" y="0"/>
          <a:ext cx="0" cy="0"/>
          <a:chOff x="0" y="0"/>
          <a:chExt cx="0" cy="0"/>
        </a:xfrm>
      </p:grpSpPr>
      <p:sp>
        <p:nvSpPr>
          <p:cNvPr id="527" name="Google Shape;527;g11e4dc510a3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8" name="Google Shape;528;g11e4dc510a3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g11e4dc510a3_0_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7" name="Google Shape;537;g11e4dc510a3_0_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11e4dc510a3_0_5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11e4dc510a3_0_5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2" name="Shape 552"/>
        <p:cNvGrpSpPr/>
        <p:nvPr/>
      </p:nvGrpSpPr>
      <p:grpSpPr>
        <a:xfrm>
          <a:off x="0" y="0"/>
          <a:ext cx="0" cy="0"/>
          <a:chOff x="0" y="0"/>
          <a:chExt cx="0" cy="0"/>
        </a:xfrm>
      </p:grpSpPr>
      <p:sp>
        <p:nvSpPr>
          <p:cNvPr id="553" name="Google Shape;553;g11e4dc510a3_0_4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4" name="Google Shape;554;g11e4dc510a3_0_4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1f9e60499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1f9e60499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1f9e604991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1f9e604991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6" name="Shape 576"/>
        <p:cNvGrpSpPr/>
        <p:nvPr/>
      </p:nvGrpSpPr>
      <p:grpSpPr>
        <a:xfrm>
          <a:off x="0" y="0"/>
          <a:ext cx="0" cy="0"/>
          <a:chOff x="0" y="0"/>
          <a:chExt cx="0" cy="0"/>
        </a:xfrm>
      </p:grpSpPr>
      <p:sp>
        <p:nvSpPr>
          <p:cNvPr id="577" name="Google Shape;577;g1f9e604991f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8" name="Google Shape;578;g1f9e604991f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3" name="Shape 583"/>
        <p:cNvGrpSpPr/>
        <p:nvPr/>
      </p:nvGrpSpPr>
      <p:grpSpPr>
        <a:xfrm>
          <a:off x="0" y="0"/>
          <a:ext cx="0" cy="0"/>
          <a:chOff x="0" y="0"/>
          <a:chExt cx="0" cy="0"/>
        </a:xfrm>
      </p:grpSpPr>
      <p:sp>
        <p:nvSpPr>
          <p:cNvPr id="584" name="Google Shape;584;g1f9e604991f_0_2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5" name="Google Shape;585;g1f9e604991f_0_2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2" name="Shape 592"/>
        <p:cNvGrpSpPr/>
        <p:nvPr/>
      </p:nvGrpSpPr>
      <p:grpSpPr>
        <a:xfrm>
          <a:off x="0" y="0"/>
          <a:ext cx="0" cy="0"/>
          <a:chOff x="0" y="0"/>
          <a:chExt cx="0" cy="0"/>
        </a:xfrm>
      </p:grpSpPr>
      <p:sp>
        <p:nvSpPr>
          <p:cNvPr id="593" name="Google Shape;593;g1f9e604991f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4" name="Google Shape;594;g1f9e604991f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g1f9e604991f_0_2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2" name="Google Shape;602;g1f9e604991f_0_2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8" name="Shape 608"/>
        <p:cNvGrpSpPr/>
        <p:nvPr/>
      </p:nvGrpSpPr>
      <p:grpSpPr>
        <a:xfrm>
          <a:off x="0" y="0"/>
          <a:ext cx="0" cy="0"/>
          <a:chOff x="0" y="0"/>
          <a:chExt cx="0" cy="0"/>
        </a:xfrm>
      </p:grpSpPr>
      <p:sp>
        <p:nvSpPr>
          <p:cNvPr id="609" name="Google Shape;609;g1f9e604991f_0_2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0" name="Google Shape;610;g1f9e604991f_0_2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6" name="Shape 616"/>
        <p:cNvGrpSpPr/>
        <p:nvPr/>
      </p:nvGrpSpPr>
      <p:grpSpPr>
        <a:xfrm>
          <a:off x="0" y="0"/>
          <a:ext cx="0" cy="0"/>
          <a:chOff x="0" y="0"/>
          <a:chExt cx="0" cy="0"/>
        </a:xfrm>
      </p:grpSpPr>
      <p:sp>
        <p:nvSpPr>
          <p:cNvPr id="617" name="Google Shape;617;g1f9e604991f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8" name="Google Shape;618;g1f9e604991f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1f9e604991f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6" name="Google Shape;626;g1f9e604991f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6" name="Shape 636"/>
        <p:cNvGrpSpPr/>
        <p:nvPr/>
      </p:nvGrpSpPr>
      <p:grpSpPr>
        <a:xfrm>
          <a:off x="0" y="0"/>
          <a:ext cx="0" cy="0"/>
          <a:chOff x="0" y="0"/>
          <a:chExt cx="0" cy="0"/>
        </a:xfrm>
      </p:grpSpPr>
      <p:sp>
        <p:nvSpPr>
          <p:cNvPr id="637" name="Google Shape;637;g1f9e604991f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8" name="Google Shape;638;g1f9e604991f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g1f9e604991f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6" name="Google Shape;646;g1f9e604991f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419"/>
              <a:t>To get data: contrary to the objective</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g1f9e604991f_0_1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7" name="Google Shape;677;g1f9e604991f_0_1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f9e604991f_1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f9e604991f_1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1f9e604991f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1f9e604991f_1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c1e6716c0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2c1e6716c0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1"/>
        </a:solidFill>
      </p:bgPr>
    </p:bg>
    <p:spTree>
      <p:nvGrpSpPr>
        <p:cNvPr id="9" name="Shape 9"/>
        <p:cNvGrpSpPr/>
        <p:nvPr/>
      </p:nvGrpSpPr>
      <p:grpSpPr>
        <a:xfrm>
          <a:off x="0" y="0"/>
          <a:ext cx="0" cy="0"/>
          <a:chOff x="0" y="0"/>
          <a:chExt cx="0" cy="0"/>
        </a:xfrm>
      </p:grpSpPr>
      <p:grpSp>
        <p:nvGrpSpPr>
          <p:cNvPr id="10" name="Google Shape;10;p2"/>
          <p:cNvGrpSpPr/>
          <p:nvPr/>
        </p:nvGrpSpPr>
        <p:grpSpPr>
          <a:xfrm>
            <a:off x="7343003" y="3409675"/>
            <a:ext cx="1691422" cy="1732548"/>
            <a:chOff x="7343003" y="3409675"/>
            <a:chExt cx="1691422" cy="1732548"/>
          </a:xfrm>
        </p:grpSpPr>
        <p:grpSp>
          <p:nvGrpSpPr>
            <p:cNvPr id="11" name="Google Shape;11;p2"/>
            <p:cNvGrpSpPr/>
            <p:nvPr/>
          </p:nvGrpSpPr>
          <p:grpSpPr>
            <a:xfrm>
              <a:off x="7343003" y="4453711"/>
              <a:ext cx="316800" cy="688513"/>
              <a:chOff x="7343003" y="4453711"/>
              <a:chExt cx="316800" cy="688513"/>
            </a:xfrm>
          </p:grpSpPr>
          <p:sp>
            <p:nvSpPr>
              <p:cNvPr id="12" name="Google Shape;12;p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 name="Google Shape;14;p2"/>
            <p:cNvGrpSpPr/>
            <p:nvPr/>
          </p:nvGrpSpPr>
          <p:grpSpPr>
            <a:xfrm>
              <a:off x="7801210" y="4105700"/>
              <a:ext cx="316800" cy="1036523"/>
              <a:chOff x="7801210" y="4105700"/>
              <a:chExt cx="316800" cy="1036523"/>
            </a:xfrm>
          </p:grpSpPr>
          <p:sp>
            <p:nvSpPr>
              <p:cNvPr id="15" name="Google Shape;15;p2"/>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8259418" y="3757688"/>
              <a:ext cx="316800" cy="1384535"/>
              <a:chOff x="8259418" y="3757688"/>
              <a:chExt cx="316800" cy="1384535"/>
            </a:xfrm>
          </p:grpSpPr>
          <p:sp>
            <p:nvSpPr>
              <p:cNvPr id="19" name="Google Shape;19;p2"/>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 name="Google Shape;23;p2"/>
            <p:cNvGrpSpPr/>
            <p:nvPr/>
          </p:nvGrpSpPr>
          <p:grpSpPr>
            <a:xfrm>
              <a:off x="8717625" y="3409675"/>
              <a:ext cx="316800" cy="1732548"/>
              <a:chOff x="8717625" y="3409675"/>
              <a:chExt cx="316800" cy="1732548"/>
            </a:xfrm>
          </p:grpSpPr>
          <p:sp>
            <p:nvSpPr>
              <p:cNvPr id="24" name="Google Shape;24;p2"/>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 name="Google Shape;29;p2"/>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30" name="Google Shape;30;p2"/>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rgbClr val="EFEFEF"/>
              </a:buClr>
              <a:buSzPts val="1600"/>
              <a:buNone/>
              <a:defRPr sz="1600">
                <a:solidFill>
                  <a:srgbClr val="EFEFEF"/>
                </a:solidFill>
              </a:defRPr>
            </a:lvl1pPr>
            <a:lvl2pPr lvl="1">
              <a:lnSpc>
                <a:spcPct val="100000"/>
              </a:lnSpc>
              <a:spcBef>
                <a:spcPts val="0"/>
              </a:spcBef>
              <a:spcAft>
                <a:spcPts val="0"/>
              </a:spcAft>
              <a:buClr>
                <a:srgbClr val="EFEFEF"/>
              </a:buClr>
              <a:buSzPts val="1600"/>
              <a:buNone/>
              <a:defRPr sz="1600">
                <a:solidFill>
                  <a:srgbClr val="EFEFEF"/>
                </a:solidFill>
              </a:defRPr>
            </a:lvl2pPr>
            <a:lvl3pPr lvl="2">
              <a:lnSpc>
                <a:spcPct val="100000"/>
              </a:lnSpc>
              <a:spcBef>
                <a:spcPts val="0"/>
              </a:spcBef>
              <a:spcAft>
                <a:spcPts val="0"/>
              </a:spcAft>
              <a:buClr>
                <a:srgbClr val="EFEFEF"/>
              </a:buClr>
              <a:buSzPts val="1600"/>
              <a:buNone/>
              <a:defRPr sz="1600">
                <a:solidFill>
                  <a:srgbClr val="EFEFEF"/>
                </a:solidFill>
              </a:defRPr>
            </a:lvl3pPr>
            <a:lvl4pPr lvl="3">
              <a:lnSpc>
                <a:spcPct val="100000"/>
              </a:lnSpc>
              <a:spcBef>
                <a:spcPts val="0"/>
              </a:spcBef>
              <a:spcAft>
                <a:spcPts val="0"/>
              </a:spcAft>
              <a:buClr>
                <a:srgbClr val="EFEFEF"/>
              </a:buClr>
              <a:buSzPts val="1600"/>
              <a:buNone/>
              <a:defRPr sz="1600">
                <a:solidFill>
                  <a:srgbClr val="EFEFEF"/>
                </a:solidFill>
              </a:defRPr>
            </a:lvl4pPr>
            <a:lvl5pPr lvl="4">
              <a:lnSpc>
                <a:spcPct val="100000"/>
              </a:lnSpc>
              <a:spcBef>
                <a:spcPts val="0"/>
              </a:spcBef>
              <a:spcAft>
                <a:spcPts val="0"/>
              </a:spcAft>
              <a:buClr>
                <a:srgbClr val="EFEFEF"/>
              </a:buClr>
              <a:buSzPts val="1600"/>
              <a:buNone/>
              <a:defRPr sz="1600">
                <a:solidFill>
                  <a:srgbClr val="EFEFEF"/>
                </a:solidFill>
              </a:defRPr>
            </a:lvl5pPr>
            <a:lvl6pPr lvl="5">
              <a:lnSpc>
                <a:spcPct val="100000"/>
              </a:lnSpc>
              <a:spcBef>
                <a:spcPts val="0"/>
              </a:spcBef>
              <a:spcAft>
                <a:spcPts val="0"/>
              </a:spcAft>
              <a:buClr>
                <a:srgbClr val="EFEFEF"/>
              </a:buClr>
              <a:buSzPts val="1600"/>
              <a:buNone/>
              <a:defRPr sz="1600">
                <a:solidFill>
                  <a:srgbClr val="EFEFEF"/>
                </a:solidFill>
              </a:defRPr>
            </a:lvl6pPr>
            <a:lvl7pPr lvl="6">
              <a:lnSpc>
                <a:spcPct val="100000"/>
              </a:lnSpc>
              <a:spcBef>
                <a:spcPts val="0"/>
              </a:spcBef>
              <a:spcAft>
                <a:spcPts val="0"/>
              </a:spcAft>
              <a:buClr>
                <a:srgbClr val="EFEFEF"/>
              </a:buClr>
              <a:buSzPts val="1600"/>
              <a:buNone/>
              <a:defRPr sz="1600">
                <a:solidFill>
                  <a:srgbClr val="EFEFEF"/>
                </a:solidFill>
              </a:defRPr>
            </a:lvl7pPr>
            <a:lvl8pPr lvl="7">
              <a:lnSpc>
                <a:spcPct val="100000"/>
              </a:lnSpc>
              <a:spcBef>
                <a:spcPts val="0"/>
              </a:spcBef>
              <a:spcAft>
                <a:spcPts val="0"/>
              </a:spcAft>
              <a:buClr>
                <a:srgbClr val="EFEFEF"/>
              </a:buClr>
              <a:buSzPts val="1600"/>
              <a:buNone/>
              <a:defRPr sz="1600">
                <a:solidFill>
                  <a:srgbClr val="EFEFEF"/>
                </a:solidFill>
              </a:defRPr>
            </a:lvl8pPr>
            <a:lvl9pPr lvl="8">
              <a:lnSpc>
                <a:spcPct val="100000"/>
              </a:lnSpc>
              <a:spcBef>
                <a:spcPts val="0"/>
              </a:spcBef>
              <a:spcAft>
                <a:spcPts val="0"/>
              </a:spcAft>
              <a:buClr>
                <a:srgbClr val="EFEFEF"/>
              </a:buClr>
              <a:buSzPts val="1600"/>
              <a:buNone/>
              <a:defRPr sz="1600">
                <a:solidFill>
                  <a:srgbClr val="EFEFEF"/>
                </a:solidFill>
              </a:defRPr>
            </a:lvl9pPr>
          </a:lstStyle>
          <a:p/>
        </p:txBody>
      </p:sp>
      <p:sp>
        <p:nvSpPr>
          <p:cNvPr id="31" name="Google Shape;31;p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grpSp>
        <p:nvGrpSpPr>
          <p:cNvPr id="32" name="Google Shape;32;p2"/>
          <p:cNvGrpSpPr/>
          <p:nvPr/>
        </p:nvGrpSpPr>
        <p:grpSpPr>
          <a:xfrm>
            <a:off x="5043503" y="0"/>
            <a:ext cx="3814072" cy="3839102"/>
            <a:chOff x="5043503" y="0"/>
            <a:chExt cx="3814072" cy="3839102"/>
          </a:xfrm>
        </p:grpSpPr>
        <p:sp>
          <p:nvSpPr>
            <p:cNvPr id="33" name="Google Shape;33;p2"/>
            <p:cNvSpPr/>
            <p:nvPr/>
          </p:nvSpPr>
          <p:spPr>
            <a:xfrm>
              <a:off x="8460975" y="1817775"/>
              <a:ext cx="396600" cy="3966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 name="Google Shape;35;p2"/>
            <p:cNvGrpSpPr/>
            <p:nvPr/>
          </p:nvGrpSpPr>
          <p:grpSpPr>
            <a:xfrm>
              <a:off x="7647812" y="2704283"/>
              <a:ext cx="635219" cy="635219"/>
              <a:chOff x="6725724" y="2701260"/>
              <a:chExt cx="1208101" cy="1208100"/>
            </a:xfrm>
          </p:grpSpPr>
          <p:sp>
            <p:nvSpPr>
              <p:cNvPr id="36" name="Google Shape;36;p2"/>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 name="Google Shape;39;p2"/>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0" name="Google Shape;40;p2"/>
            <p:cNvGrpSpPr/>
            <p:nvPr/>
          </p:nvGrpSpPr>
          <p:grpSpPr>
            <a:xfrm>
              <a:off x="7952720" y="179238"/>
              <a:ext cx="873165" cy="873003"/>
              <a:chOff x="7754428" y="208725"/>
              <a:chExt cx="541800" cy="541800"/>
            </a:xfrm>
          </p:grpSpPr>
          <p:sp>
            <p:nvSpPr>
              <p:cNvPr id="41" name="Google Shape;41;p2"/>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3" name="Google Shape;43;p2"/>
            <p:cNvSpPr/>
            <p:nvPr/>
          </p:nvSpPr>
          <p:spPr>
            <a:xfrm>
              <a:off x="5399840" y="356365"/>
              <a:ext cx="2577000" cy="257700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rot="2044777">
              <a:off x="5911449" y="867729"/>
              <a:ext cx="1554223" cy="1554223"/>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49" name="Shape 49"/>
        <p:cNvGrpSpPr/>
        <p:nvPr/>
      </p:nvGrpSpPr>
      <p:grpSpPr>
        <a:xfrm>
          <a:off x="0" y="0"/>
          <a:ext cx="0" cy="0"/>
          <a:chOff x="0" y="0"/>
          <a:chExt cx="0" cy="0"/>
        </a:xfrm>
      </p:grpSpPr>
      <p:grpSp>
        <p:nvGrpSpPr>
          <p:cNvPr id="50" name="Google Shape;50;p3"/>
          <p:cNvGrpSpPr/>
          <p:nvPr/>
        </p:nvGrpSpPr>
        <p:grpSpPr>
          <a:xfrm>
            <a:off x="146769" y="3406"/>
            <a:ext cx="1233215" cy="1384535"/>
            <a:chOff x="146769" y="3406"/>
            <a:chExt cx="1233215" cy="1384535"/>
          </a:xfrm>
        </p:grpSpPr>
        <p:grpSp>
          <p:nvGrpSpPr>
            <p:cNvPr id="51" name="Google Shape;51;p3"/>
            <p:cNvGrpSpPr/>
            <p:nvPr/>
          </p:nvGrpSpPr>
          <p:grpSpPr>
            <a:xfrm>
              <a:off x="1063183" y="3406"/>
              <a:ext cx="316800" cy="688513"/>
              <a:chOff x="1063183" y="3406"/>
              <a:chExt cx="316800" cy="688513"/>
            </a:xfrm>
          </p:grpSpPr>
          <p:sp>
            <p:nvSpPr>
              <p:cNvPr id="52" name="Google Shape;52;p3"/>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 name="Google Shape;54;p3"/>
            <p:cNvGrpSpPr/>
            <p:nvPr/>
          </p:nvGrpSpPr>
          <p:grpSpPr>
            <a:xfrm>
              <a:off x="604976" y="3406"/>
              <a:ext cx="316800" cy="1036524"/>
              <a:chOff x="604976" y="3406"/>
              <a:chExt cx="316800" cy="1036524"/>
            </a:xfrm>
          </p:grpSpPr>
          <p:sp>
            <p:nvSpPr>
              <p:cNvPr id="55" name="Google Shape;55;p3"/>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3"/>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 name="Google Shape;57;p3"/>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 name="Google Shape;58;p3"/>
            <p:cNvGrpSpPr/>
            <p:nvPr/>
          </p:nvGrpSpPr>
          <p:grpSpPr>
            <a:xfrm>
              <a:off x="146769" y="3406"/>
              <a:ext cx="316800" cy="1384535"/>
              <a:chOff x="146769" y="3406"/>
              <a:chExt cx="316800" cy="1384535"/>
            </a:xfrm>
          </p:grpSpPr>
          <p:sp>
            <p:nvSpPr>
              <p:cNvPr id="59" name="Google Shape;59;p3"/>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 name="Google Shape;61;p3"/>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3" name="Google Shape;63;p3"/>
          <p:cNvGrpSpPr/>
          <p:nvPr/>
        </p:nvGrpSpPr>
        <p:grpSpPr>
          <a:xfrm>
            <a:off x="6775084" y="2904008"/>
            <a:ext cx="2186148" cy="2239500"/>
            <a:chOff x="6775084" y="2904008"/>
            <a:chExt cx="2186148" cy="2239500"/>
          </a:xfrm>
        </p:grpSpPr>
        <p:grpSp>
          <p:nvGrpSpPr>
            <p:cNvPr id="64" name="Google Shape;64;p3"/>
            <p:cNvGrpSpPr/>
            <p:nvPr/>
          </p:nvGrpSpPr>
          <p:grpSpPr>
            <a:xfrm>
              <a:off x="6775084" y="4253708"/>
              <a:ext cx="409500" cy="889800"/>
              <a:chOff x="6775084" y="4253708"/>
              <a:chExt cx="409500" cy="889800"/>
            </a:xfrm>
          </p:grpSpPr>
          <p:sp>
            <p:nvSpPr>
              <p:cNvPr id="65" name="Google Shape;65;p3"/>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3"/>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7" name="Google Shape;67;p3"/>
            <p:cNvGrpSpPr/>
            <p:nvPr/>
          </p:nvGrpSpPr>
          <p:grpSpPr>
            <a:xfrm>
              <a:off x="7367299" y="3804008"/>
              <a:ext cx="409500" cy="1339500"/>
              <a:chOff x="7367299" y="3804008"/>
              <a:chExt cx="409500" cy="1339500"/>
            </a:xfrm>
          </p:grpSpPr>
          <p:sp>
            <p:nvSpPr>
              <p:cNvPr id="68" name="Google Shape;68;p3"/>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3"/>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3"/>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1" name="Google Shape;71;p3"/>
            <p:cNvGrpSpPr/>
            <p:nvPr/>
          </p:nvGrpSpPr>
          <p:grpSpPr>
            <a:xfrm>
              <a:off x="7959516" y="3354008"/>
              <a:ext cx="409500" cy="1789500"/>
              <a:chOff x="7959516" y="3354008"/>
              <a:chExt cx="409500" cy="1789500"/>
            </a:xfrm>
          </p:grpSpPr>
          <p:sp>
            <p:nvSpPr>
              <p:cNvPr id="72" name="Google Shape;72;p3"/>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3"/>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3"/>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 name="Google Shape;76;p3"/>
            <p:cNvGrpSpPr/>
            <p:nvPr/>
          </p:nvGrpSpPr>
          <p:grpSpPr>
            <a:xfrm>
              <a:off x="8551731" y="2904008"/>
              <a:ext cx="409500" cy="2239500"/>
              <a:chOff x="8551731" y="2904008"/>
              <a:chExt cx="409500" cy="2239500"/>
            </a:xfrm>
          </p:grpSpPr>
          <p:sp>
            <p:nvSpPr>
              <p:cNvPr id="77" name="Google Shape;77;p3"/>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3"/>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3"/>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3"/>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3"/>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 name="Google Shape;82;p3"/>
          <p:cNvSpPr txBox="1"/>
          <p:nvPr>
            <p:ph type="title"/>
          </p:nvPr>
        </p:nvSpPr>
        <p:spPr>
          <a:xfrm>
            <a:off x="824000" y="1613825"/>
            <a:ext cx="5857800" cy="1872900"/>
          </a:xfrm>
          <a:prstGeom prst="rect">
            <a:avLst/>
          </a:prstGeom>
        </p:spPr>
        <p:txBody>
          <a:bodyPr anchorCtr="0" anchor="ctr" bIns="91425" lIns="91425" spcFirstLastPara="1" rIns="91425" wrap="square" tIns="91425">
            <a:normAutofit/>
          </a:bodyPr>
          <a:lstStyle>
            <a:lvl1pPr lvl="0">
              <a:spcBef>
                <a:spcPts val="0"/>
              </a:spcBef>
              <a:spcAft>
                <a:spcPts val="0"/>
              </a:spcAft>
              <a:buClr>
                <a:srgbClr val="F3F3F3"/>
              </a:buClr>
              <a:buSzPts val="3600"/>
              <a:buNone/>
              <a:defRPr sz="3600">
                <a:solidFill>
                  <a:srgbClr val="F3F3F3"/>
                </a:solidFill>
              </a:defRPr>
            </a:lvl1pPr>
            <a:lvl2pPr lvl="1">
              <a:spcBef>
                <a:spcPts val="0"/>
              </a:spcBef>
              <a:spcAft>
                <a:spcPts val="0"/>
              </a:spcAft>
              <a:buClr>
                <a:srgbClr val="F3F3F3"/>
              </a:buClr>
              <a:buSzPts val="3600"/>
              <a:buNone/>
              <a:defRPr sz="3600">
                <a:solidFill>
                  <a:srgbClr val="F3F3F3"/>
                </a:solidFill>
              </a:defRPr>
            </a:lvl2pPr>
            <a:lvl3pPr lvl="2">
              <a:spcBef>
                <a:spcPts val="0"/>
              </a:spcBef>
              <a:spcAft>
                <a:spcPts val="0"/>
              </a:spcAft>
              <a:buClr>
                <a:srgbClr val="F3F3F3"/>
              </a:buClr>
              <a:buSzPts val="3600"/>
              <a:buNone/>
              <a:defRPr sz="3600">
                <a:solidFill>
                  <a:srgbClr val="F3F3F3"/>
                </a:solidFill>
              </a:defRPr>
            </a:lvl3pPr>
            <a:lvl4pPr lvl="3">
              <a:spcBef>
                <a:spcPts val="0"/>
              </a:spcBef>
              <a:spcAft>
                <a:spcPts val="0"/>
              </a:spcAft>
              <a:buClr>
                <a:srgbClr val="F3F3F3"/>
              </a:buClr>
              <a:buSzPts val="3600"/>
              <a:buNone/>
              <a:defRPr sz="3600">
                <a:solidFill>
                  <a:srgbClr val="F3F3F3"/>
                </a:solidFill>
              </a:defRPr>
            </a:lvl4pPr>
            <a:lvl5pPr lvl="4">
              <a:spcBef>
                <a:spcPts val="0"/>
              </a:spcBef>
              <a:spcAft>
                <a:spcPts val="0"/>
              </a:spcAft>
              <a:buClr>
                <a:srgbClr val="F3F3F3"/>
              </a:buClr>
              <a:buSzPts val="3600"/>
              <a:buNone/>
              <a:defRPr sz="3600">
                <a:solidFill>
                  <a:srgbClr val="F3F3F3"/>
                </a:solidFill>
              </a:defRPr>
            </a:lvl5pPr>
            <a:lvl6pPr lvl="5">
              <a:spcBef>
                <a:spcPts val="0"/>
              </a:spcBef>
              <a:spcAft>
                <a:spcPts val="0"/>
              </a:spcAft>
              <a:buClr>
                <a:srgbClr val="F3F3F3"/>
              </a:buClr>
              <a:buSzPts val="3600"/>
              <a:buNone/>
              <a:defRPr sz="3600">
                <a:solidFill>
                  <a:srgbClr val="F3F3F3"/>
                </a:solidFill>
              </a:defRPr>
            </a:lvl6pPr>
            <a:lvl7pPr lvl="6">
              <a:spcBef>
                <a:spcPts val="0"/>
              </a:spcBef>
              <a:spcAft>
                <a:spcPts val="0"/>
              </a:spcAft>
              <a:buClr>
                <a:srgbClr val="F3F3F3"/>
              </a:buClr>
              <a:buSzPts val="3600"/>
              <a:buNone/>
              <a:defRPr sz="3600">
                <a:solidFill>
                  <a:srgbClr val="F3F3F3"/>
                </a:solidFill>
              </a:defRPr>
            </a:lvl7pPr>
            <a:lvl8pPr lvl="7">
              <a:spcBef>
                <a:spcPts val="0"/>
              </a:spcBef>
              <a:spcAft>
                <a:spcPts val="0"/>
              </a:spcAft>
              <a:buClr>
                <a:srgbClr val="F3F3F3"/>
              </a:buClr>
              <a:buSzPts val="3600"/>
              <a:buNone/>
              <a:defRPr sz="3600">
                <a:solidFill>
                  <a:srgbClr val="F3F3F3"/>
                </a:solidFill>
              </a:defRPr>
            </a:lvl8pPr>
            <a:lvl9pPr lvl="8">
              <a:spcBef>
                <a:spcPts val="0"/>
              </a:spcBef>
              <a:spcAft>
                <a:spcPts val="0"/>
              </a:spcAft>
              <a:buClr>
                <a:srgbClr val="F3F3F3"/>
              </a:buClr>
              <a:buSzPts val="3600"/>
              <a:buNone/>
              <a:defRPr sz="3600">
                <a:solidFill>
                  <a:srgbClr val="F3F3F3"/>
                </a:solidFill>
              </a:defRPr>
            </a:lvl9pPr>
          </a:lstStyle>
          <a:p/>
        </p:txBody>
      </p:sp>
      <p:sp>
        <p:nvSpPr>
          <p:cNvPr id="83" name="Google Shape;83;p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4" name="Shape 84"/>
        <p:cNvGrpSpPr/>
        <p:nvPr/>
      </p:nvGrpSpPr>
      <p:grpSpPr>
        <a:xfrm>
          <a:off x="0" y="0"/>
          <a:ext cx="0" cy="0"/>
          <a:chOff x="0" y="0"/>
          <a:chExt cx="0" cy="0"/>
        </a:xfrm>
      </p:grpSpPr>
      <p:grpSp>
        <p:nvGrpSpPr>
          <p:cNvPr id="85" name="Google Shape;85;p4"/>
          <p:cNvGrpSpPr/>
          <p:nvPr/>
        </p:nvGrpSpPr>
        <p:grpSpPr>
          <a:xfrm>
            <a:off x="625966" y="299376"/>
            <a:ext cx="999312" cy="999312"/>
            <a:chOff x="348199" y="179450"/>
            <a:chExt cx="1116300" cy="1116300"/>
          </a:xfrm>
        </p:grpSpPr>
        <p:sp>
          <p:nvSpPr>
            <p:cNvPr id="86" name="Google Shape;86;p4"/>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8" name="Google Shape;88;p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9" name="Google Shape;89;p4"/>
          <p:cNvSpPr txBox="1"/>
          <p:nvPr>
            <p:ph idx="1" type="body"/>
          </p:nvPr>
        </p:nvSpPr>
        <p:spPr>
          <a:xfrm>
            <a:off x="1303800" y="1990050"/>
            <a:ext cx="7030500" cy="25416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90" name="Google Shape;90;p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1" name="Shape 91"/>
        <p:cNvGrpSpPr/>
        <p:nvPr/>
      </p:nvGrpSpPr>
      <p:grpSpPr>
        <a:xfrm>
          <a:off x="0" y="0"/>
          <a:ext cx="0" cy="0"/>
          <a:chOff x="0" y="0"/>
          <a:chExt cx="0" cy="0"/>
        </a:xfrm>
      </p:grpSpPr>
      <p:grpSp>
        <p:nvGrpSpPr>
          <p:cNvPr id="92" name="Google Shape;92;p5"/>
          <p:cNvGrpSpPr/>
          <p:nvPr/>
        </p:nvGrpSpPr>
        <p:grpSpPr>
          <a:xfrm>
            <a:off x="625966" y="299376"/>
            <a:ext cx="999312" cy="999312"/>
            <a:chOff x="348199" y="179450"/>
            <a:chExt cx="1116300" cy="1116300"/>
          </a:xfrm>
        </p:grpSpPr>
        <p:sp>
          <p:nvSpPr>
            <p:cNvPr id="93" name="Google Shape;93;p5"/>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5" name="Google Shape;95;p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6" name="Google Shape;96;p5"/>
          <p:cNvSpPr txBox="1"/>
          <p:nvPr>
            <p:ph idx="1" type="body"/>
          </p:nvPr>
        </p:nvSpPr>
        <p:spPr>
          <a:xfrm>
            <a:off x="130380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7" name="Google Shape;97;p5"/>
          <p:cNvSpPr txBox="1"/>
          <p:nvPr>
            <p:ph idx="2" type="body"/>
          </p:nvPr>
        </p:nvSpPr>
        <p:spPr>
          <a:xfrm>
            <a:off x="4903650" y="1990050"/>
            <a:ext cx="3430500" cy="25416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8" name="Google Shape;98;p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9" name="Shape 99"/>
        <p:cNvGrpSpPr/>
        <p:nvPr/>
      </p:nvGrpSpPr>
      <p:grpSpPr>
        <a:xfrm>
          <a:off x="0" y="0"/>
          <a:ext cx="0" cy="0"/>
          <a:chOff x="0" y="0"/>
          <a:chExt cx="0" cy="0"/>
        </a:xfrm>
      </p:grpSpPr>
      <p:grpSp>
        <p:nvGrpSpPr>
          <p:cNvPr id="100" name="Google Shape;100;p6"/>
          <p:cNvGrpSpPr/>
          <p:nvPr/>
        </p:nvGrpSpPr>
        <p:grpSpPr>
          <a:xfrm>
            <a:off x="625966" y="299376"/>
            <a:ext cx="999312" cy="999312"/>
            <a:chOff x="348199" y="179450"/>
            <a:chExt cx="1116300" cy="1116300"/>
          </a:xfrm>
        </p:grpSpPr>
        <p:sp>
          <p:nvSpPr>
            <p:cNvPr id="101" name="Google Shape;101;p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6"/>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3" name="Google Shape;103;p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4" name="Google Shape;104;p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5" name="Shape 105"/>
        <p:cNvGrpSpPr/>
        <p:nvPr/>
      </p:nvGrpSpPr>
      <p:grpSpPr>
        <a:xfrm>
          <a:off x="0" y="0"/>
          <a:ext cx="0" cy="0"/>
          <a:chOff x="0" y="0"/>
          <a:chExt cx="0" cy="0"/>
        </a:xfrm>
      </p:grpSpPr>
      <p:grpSp>
        <p:nvGrpSpPr>
          <p:cNvPr id="106" name="Google Shape;106;p7"/>
          <p:cNvGrpSpPr/>
          <p:nvPr/>
        </p:nvGrpSpPr>
        <p:grpSpPr>
          <a:xfrm>
            <a:off x="625966" y="299376"/>
            <a:ext cx="999312" cy="999312"/>
            <a:chOff x="348199" y="179450"/>
            <a:chExt cx="1116300" cy="1116300"/>
          </a:xfrm>
        </p:grpSpPr>
        <p:sp>
          <p:nvSpPr>
            <p:cNvPr id="107" name="Google Shape;107;p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9" name="Google Shape;109;p7"/>
          <p:cNvSpPr txBox="1"/>
          <p:nvPr>
            <p:ph type="title"/>
          </p:nvPr>
        </p:nvSpPr>
        <p:spPr>
          <a:xfrm>
            <a:off x="1303800" y="598575"/>
            <a:ext cx="3312000" cy="15900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10" name="Google Shape;110;p7"/>
          <p:cNvSpPr txBox="1"/>
          <p:nvPr>
            <p:ph idx="1" type="body"/>
          </p:nvPr>
        </p:nvSpPr>
        <p:spPr>
          <a:xfrm>
            <a:off x="1303800" y="2309675"/>
            <a:ext cx="3312000" cy="2221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1" name="Google Shape;111;p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112" name="Shape 112"/>
        <p:cNvGrpSpPr/>
        <p:nvPr/>
      </p:nvGrpSpPr>
      <p:grpSpPr>
        <a:xfrm>
          <a:off x="0" y="0"/>
          <a:ext cx="0" cy="0"/>
          <a:chOff x="0" y="0"/>
          <a:chExt cx="0" cy="0"/>
        </a:xfrm>
      </p:grpSpPr>
      <p:grpSp>
        <p:nvGrpSpPr>
          <p:cNvPr id="113" name="Google Shape;113;p8"/>
          <p:cNvGrpSpPr/>
          <p:nvPr/>
        </p:nvGrpSpPr>
        <p:grpSpPr>
          <a:xfrm>
            <a:off x="6866714" y="1306"/>
            <a:ext cx="2267451" cy="2601690"/>
            <a:chOff x="6790514" y="1306"/>
            <a:chExt cx="2267451" cy="2601690"/>
          </a:xfrm>
        </p:grpSpPr>
        <p:grpSp>
          <p:nvGrpSpPr>
            <p:cNvPr id="114" name="Google Shape;114;p8"/>
            <p:cNvGrpSpPr/>
            <p:nvPr/>
          </p:nvGrpSpPr>
          <p:grpSpPr>
            <a:xfrm>
              <a:off x="7067465" y="1306"/>
              <a:ext cx="1990500" cy="1990200"/>
              <a:chOff x="7067465" y="1306"/>
              <a:chExt cx="1990500" cy="1990200"/>
            </a:xfrm>
          </p:grpSpPr>
          <p:sp>
            <p:nvSpPr>
              <p:cNvPr id="115" name="Google Shape;115;p8"/>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8"/>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8"/>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 name="Google Shape;118;p8"/>
            <p:cNvGrpSpPr/>
            <p:nvPr/>
          </p:nvGrpSpPr>
          <p:grpSpPr>
            <a:xfrm>
              <a:off x="8207126" y="1807996"/>
              <a:ext cx="795000" cy="795000"/>
              <a:chOff x="8207126" y="1807996"/>
              <a:chExt cx="795000" cy="795000"/>
            </a:xfrm>
          </p:grpSpPr>
          <p:sp>
            <p:nvSpPr>
              <p:cNvPr id="119" name="Google Shape;119;p8"/>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8"/>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8"/>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2" name="Google Shape;122;p8"/>
            <p:cNvGrpSpPr/>
            <p:nvPr/>
          </p:nvGrpSpPr>
          <p:grpSpPr>
            <a:xfrm>
              <a:off x="6790514" y="118857"/>
              <a:ext cx="548700" cy="548700"/>
              <a:chOff x="6790514" y="118857"/>
              <a:chExt cx="548700" cy="548700"/>
            </a:xfrm>
          </p:grpSpPr>
          <p:sp>
            <p:nvSpPr>
              <p:cNvPr id="123" name="Google Shape;123;p8"/>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8"/>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8"/>
          <p:cNvSpPr txBox="1"/>
          <p:nvPr>
            <p:ph type="title"/>
          </p:nvPr>
        </p:nvSpPr>
        <p:spPr>
          <a:xfrm>
            <a:off x="824000" y="763600"/>
            <a:ext cx="5857800" cy="3573300"/>
          </a:xfrm>
          <a:prstGeom prst="rect">
            <a:avLst/>
          </a:prstGeom>
        </p:spPr>
        <p:txBody>
          <a:bodyPr anchorCtr="0" anchor="ctr" bIns="91425" lIns="91425" spcFirstLastPara="1" rIns="91425" wrap="square" tIns="91425">
            <a:normAutofit/>
          </a:bodyPr>
          <a:lstStyle>
            <a:lvl1pPr lvl="0">
              <a:spcBef>
                <a:spcPts val="0"/>
              </a:spcBef>
              <a:spcAft>
                <a:spcPts val="0"/>
              </a:spcAft>
              <a:buClr>
                <a:srgbClr val="EFEFEF"/>
              </a:buClr>
              <a:buSzPts val="3600"/>
              <a:buNone/>
              <a:defRPr sz="3600">
                <a:solidFill>
                  <a:srgbClr val="EFEFEF"/>
                </a:solidFill>
              </a:defRPr>
            </a:lvl1pPr>
            <a:lvl2pPr lvl="1">
              <a:spcBef>
                <a:spcPts val="0"/>
              </a:spcBef>
              <a:spcAft>
                <a:spcPts val="0"/>
              </a:spcAft>
              <a:buClr>
                <a:srgbClr val="EFEFEF"/>
              </a:buClr>
              <a:buSzPts val="3600"/>
              <a:buNone/>
              <a:defRPr sz="3600">
                <a:solidFill>
                  <a:srgbClr val="EFEFEF"/>
                </a:solidFill>
              </a:defRPr>
            </a:lvl2pPr>
            <a:lvl3pPr lvl="2">
              <a:spcBef>
                <a:spcPts val="0"/>
              </a:spcBef>
              <a:spcAft>
                <a:spcPts val="0"/>
              </a:spcAft>
              <a:buClr>
                <a:srgbClr val="EFEFEF"/>
              </a:buClr>
              <a:buSzPts val="3600"/>
              <a:buNone/>
              <a:defRPr sz="3600">
                <a:solidFill>
                  <a:srgbClr val="EFEFEF"/>
                </a:solidFill>
              </a:defRPr>
            </a:lvl3pPr>
            <a:lvl4pPr lvl="3">
              <a:spcBef>
                <a:spcPts val="0"/>
              </a:spcBef>
              <a:spcAft>
                <a:spcPts val="0"/>
              </a:spcAft>
              <a:buClr>
                <a:srgbClr val="EFEFEF"/>
              </a:buClr>
              <a:buSzPts val="3600"/>
              <a:buNone/>
              <a:defRPr sz="3600">
                <a:solidFill>
                  <a:srgbClr val="EFEFEF"/>
                </a:solidFill>
              </a:defRPr>
            </a:lvl4pPr>
            <a:lvl5pPr lvl="4">
              <a:spcBef>
                <a:spcPts val="0"/>
              </a:spcBef>
              <a:spcAft>
                <a:spcPts val="0"/>
              </a:spcAft>
              <a:buClr>
                <a:srgbClr val="EFEFEF"/>
              </a:buClr>
              <a:buSzPts val="3600"/>
              <a:buNone/>
              <a:defRPr sz="3600">
                <a:solidFill>
                  <a:srgbClr val="EFEFEF"/>
                </a:solidFill>
              </a:defRPr>
            </a:lvl5pPr>
            <a:lvl6pPr lvl="5">
              <a:spcBef>
                <a:spcPts val="0"/>
              </a:spcBef>
              <a:spcAft>
                <a:spcPts val="0"/>
              </a:spcAft>
              <a:buClr>
                <a:srgbClr val="EFEFEF"/>
              </a:buClr>
              <a:buSzPts val="3600"/>
              <a:buNone/>
              <a:defRPr sz="3600">
                <a:solidFill>
                  <a:srgbClr val="EFEFEF"/>
                </a:solidFill>
              </a:defRPr>
            </a:lvl6pPr>
            <a:lvl7pPr lvl="6">
              <a:spcBef>
                <a:spcPts val="0"/>
              </a:spcBef>
              <a:spcAft>
                <a:spcPts val="0"/>
              </a:spcAft>
              <a:buClr>
                <a:srgbClr val="EFEFEF"/>
              </a:buClr>
              <a:buSzPts val="3600"/>
              <a:buNone/>
              <a:defRPr sz="3600">
                <a:solidFill>
                  <a:srgbClr val="EFEFEF"/>
                </a:solidFill>
              </a:defRPr>
            </a:lvl7pPr>
            <a:lvl8pPr lvl="7">
              <a:spcBef>
                <a:spcPts val="0"/>
              </a:spcBef>
              <a:spcAft>
                <a:spcPts val="0"/>
              </a:spcAft>
              <a:buClr>
                <a:srgbClr val="EFEFEF"/>
              </a:buClr>
              <a:buSzPts val="3600"/>
              <a:buNone/>
              <a:defRPr sz="3600">
                <a:solidFill>
                  <a:srgbClr val="EFEFEF"/>
                </a:solidFill>
              </a:defRPr>
            </a:lvl8pPr>
            <a:lvl9pPr lvl="8">
              <a:spcBef>
                <a:spcPts val="0"/>
              </a:spcBef>
              <a:spcAft>
                <a:spcPts val="0"/>
              </a:spcAft>
              <a:buClr>
                <a:srgbClr val="EFEFEF"/>
              </a:buClr>
              <a:buSzPts val="3600"/>
              <a:buNone/>
              <a:defRPr sz="3600">
                <a:solidFill>
                  <a:srgbClr val="EFEFEF"/>
                </a:solidFill>
              </a:defRPr>
            </a:lvl9pPr>
          </a:lstStyle>
          <a:p/>
        </p:txBody>
      </p:sp>
      <p:sp>
        <p:nvSpPr>
          <p:cNvPr id="126" name="Google Shape;126;p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27" name="Shape 127"/>
        <p:cNvGrpSpPr/>
        <p:nvPr/>
      </p:nvGrpSpPr>
      <p:grpSpPr>
        <a:xfrm>
          <a:off x="0" y="0"/>
          <a:ext cx="0" cy="0"/>
          <a:chOff x="0" y="0"/>
          <a:chExt cx="0" cy="0"/>
        </a:xfrm>
      </p:grpSpPr>
      <p:grpSp>
        <p:nvGrpSpPr>
          <p:cNvPr id="128" name="Google Shape;128;p9"/>
          <p:cNvGrpSpPr/>
          <p:nvPr/>
        </p:nvGrpSpPr>
        <p:grpSpPr>
          <a:xfrm>
            <a:off x="625966" y="299376"/>
            <a:ext cx="999312" cy="999312"/>
            <a:chOff x="348199" y="179450"/>
            <a:chExt cx="1116300" cy="1116300"/>
          </a:xfrm>
        </p:grpSpPr>
        <p:sp>
          <p:nvSpPr>
            <p:cNvPr id="129" name="Google Shape;129;p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9"/>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1" name="Google Shape;131;p9"/>
          <p:cNvSpPr txBox="1"/>
          <p:nvPr>
            <p:ph type="title"/>
          </p:nvPr>
        </p:nvSpPr>
        <p:spPr>
          <a:xfrm>
            <a:off x="1303800" y="598575"/>
            <a:ext cx="3430500" cy="19902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2" name="Google Shape;132;p9"/>
          <p:cNvSpPr txBox="1"/>
          <p:nvPr>
            <p:ph idx="1" type="subTitle"/>
          </p:nvPr>
        </p:nvSpPr>
        <p:spPr>
          <a:xfrm>
            <a:off x="1303800" y="2743203"/>
            <a:ext cx="3430500" cy="7260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Google Shape;133;p9"/>
          <p:cNvSpPr txBox="1"/>
          <p:nvPr>
            <p:ph idx="2" type="body"/>
          </p:nvPr>
        </p:nvSpPr>
        <p:spPr>
          <a:xfrm>
            <a:off x="4903700" y="661000"/>
            <a:ext cx="3430500" cy="3870600"/>
          </a:xfrm>
          <a:prstGeom prst="rect">
            <a:avLst/>
          </a:prstGeom>
          <a:ln cap="flat" cmpd="sng" w="9525">
            <a:solidFill>
              <a:schemeClr val="lt1"/>
            </a:solidFill>
            <a:prstDash val="solid"/>
            <a:round/>
            <a:headEnd len="sm" w="sm" type="none"/>
            <a:tailEnd len="sm" w="sm" type="none"/>
          </a:ln>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4" name="Google Shape;134;p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35" name="Shape 135"/>
        <p:cNvGrpSpPr/>
        <p:nvPr/>
      </p:nvGrpSpPr>
      <p:grpSpPr>
        <a:xfrm>
          <a:off x="0" y="0"/>
          <a:ext cx="0" cy="0"/>
          <a:chOff x="0" y="0"/>
          <a:chExt cx="0" cy="0"/>
        </a:xfrm>
      </p:grpSpPr>
      <p:grpSp>
        <p:nvGrpSpPr>
          <p:cNvPr id="136" name="Google Shape;136;p10"/>
          <p:cNvGrpSpPr/>
          <p:nvPr/>
        </p:nvGrpSpPr>
        <p:grpSpPr>
          <a:xfrm>
            <a:off x="713373" y="3847119"/>
            <a:ext cx="825392" cy="825392"/>
            <a:chOff x="348199" y="179450"/>
            <a:chExt cx="1116300" cy="1116300"/>
          </a:xfrm>
        </p:grpSpPr>
        <p:sp>
          <p:nvSpPr>
            <p:cNvPr id="137" name="Google Shape;137;p10"/>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1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9" name="Google Shape;139;p1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0" name="Google Shape;140;p1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41" name="Shape 141"/>
        <p:cNvGrpSpPr/>
        <p:nvPr/>
      </p:nvGrpSpPr>
      <p:grpSpPr>
        <a:xfrm>
          <a:off x="0" y="0"/>
          <a:ext cx="0" cy="0"/>
          <a:chOff x="0" y="0"/>
          <a:chExt cx="0" cy="0"/>
        </a:xfrm>
      </p:grpSpPr>
      <p:grpSp>
        <p:nvGrpSpPr>
          <p:cNvPr id="142" name="Google Shape;142;p11"/>
          <p:cNvGrpSpPr/>
          <p:nvPr/>
        </p:nvGrpSpPr>
        <p:grpSpPr>
          <a:xfrm>
            <a:off x="52" y="4099200"/>
            <a:ext cx="9144036" cy="1044300"/>
            <a:chOff x="52" y="4099200"/>
            <a:chExt cx="9144036" cy="1044300"/>
          </a:xfrm>
        </p:grpSpPr>
        <p:grpSp>
          <p:nvGrpSpPr>
            <p:cNvPr id="143" name="Google Shape;143;p11"/>
            <p:cNvGrpSpPr/>
            <p:nvPr/>
          </p:nvGrpSpPr>
          <p:grpSpPr>
            <a:xfrm>
              <a:off x="52" y="4309200"/>
              <a:ext cx="231622" cy="834300"/>
              <a:chOff x="2688737" y="4301380"/>
              <a:chExt cx="231900" cy="834300"/>
            </a:xfrm>
          </p:grpSpPr>
          <p:sp>
            <p:nvSpPr>
              <p:cNvPr id="144" name="Google Shape;144;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8" name="Google Shape;148;p11"/>
            <p:cNvGrpSpPr/>
            <p:nvPr/>
          </p:nvGrpSpPr>
          <p:grpSpPr>
            <a:xfrm>
              <a:off x="371406" y="4099200"/>
              <a:ext cx="231622" cy="1044300"/>
              <a:chOff x="2688737" y="4091380"/>
              <a:chExt cx="231900" cy="1044300"/>
            </a:xfrm>
          </p:grpSpPr>
          <p:sp>
            <p:nvSpPr>
              <p:cNvPr id="149" name="Google Shape;149;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1"/>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11"/>
            <p:cNvGrpSpPr/>
            <p:nvPr/>
          </p:nvGrpSpPr>
          <p:grpSpPr>
            <a:xfrm>
              <a:off x="742761" y="4309200"/>
              <a:ext cx="231622" cy="834300"/>
              <a:chOff x="2688737" y="4301380"/>
              <a:chExt cx="231900" cy="834300"/>
            </a:xfrm>
          </p:grpSpPr>
          <p:sp>
            <p:nvSpPr>
              <p:cNvPr id="155" name="Google Shape;155;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11"/>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 name="Google Shape;159;p11"/>
            <p:cNvGrpSpPr/>
            <p:nvPr/>
          </p:nvGrpSpPr>
          <p:grpSpPr>
            <a:xfrm>
              <a:off x="1114115" y="4518900"/>
              <a:ext cx="231622" cy="624600"/>
              <a:chOff x="2688737" y="4511080"/>
              <a:chExt cx="231900" cy="624600"/>
            </a:xfrm>
          </p:grpSpPr>
          <p:sp>
            <p:nvSpPr>
              <p:cNvPr id="160" name="Google Shape;160;p11"/>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1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11"/>
            <p:cNvGrpSpPr/>
            <p:nvPr/>
          </p:nvGrpSpPr>
          <p:grpSpPr>
            <a:xfrm>
              <a:off x="1856753" y="4099200"/>
              <a:ext cx="231600" cy="1044300"/>
              <a:chOff x="1856753" y="4099200"/>
              <a:chExt cx="231600" cy="1044300"/>
            </a:xfrm>
          </p:grpSpPr>
          <p:sp>
            <p:nvSpPr>
              <p:cNvPr id="164" name="Google Shape;164;p11"/>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11"/>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11"/>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11"/>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11"/>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9" name="Google Shape;169;p11"/>
            <p:cNvGrpSpPr/>
            <p:nvPr/>
          </p:nvGrpSpPr>
          <p:grpSpPr>
            <a:xfrm>
              <a:off x="2228107" y="4309200"/>
              <a:ext cx="231600" cy="834300"/>
              <a:chOff x="2228107" y="4309200"/>
              <a:chExt cx="231600" cy="834300"/>
            </a:xfrm>
          </p:grpSpPr>
          <p:sp>
            <p:nvSpPr>
              <p:cNvPr id="170" name="Google Shape;170;p11"/>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11"/>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11"/>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 name="Google Shape;174;p11"/>
            <p:cNvGrpSpPr/>
            <p:nvPr/>
          </p:nvGrpSpPr>
          <p:grpSpPr>
            <a:xfrm>
              <a:off x="2599462" y="4518900"/>
              <a:ext cx="231600" cy="624600"/>
              <a:chOff x="2599462" y="4518900"/>
              <a:chExt cx="231600" cy="624600"/>
            </a:xfrm>
          </p:grpSpPr>
          <p:sp>
            <p:nvSpPr>
              <p:cNvPr id="175" name="Google Shape;175;p11"/>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11"/>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11"/>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11"/>
            <p:cNvGrpSpPr/>
            <p:nvPr/>
          </p:nvGrpSpPr>
          <p:grpSpPr>
            <a:xfrm>
              <a:off x="3342171" y="4099200"/>
              <a:ext cx="231600" cy="1044300"/>
              <a:chOff x="3342171" y="4099200"/>
              <a:chExt cx="231600" cy="1044300"/>
            </a:xfrm>
          </p:grpSpPr>
          <p:sp>
            <p:nvSpPr>
              <p:cNvPr id="179" name="Google Shape;179;p11"/>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11"/>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11"/>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11"/>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 name="Google Shape;184;p11"/>
            <p:cNvGrpSpPr/>
            <p:nvPr/>
          </p:nvGrpSpPr>
          <p:grpSpPr>
            <a:xfrm>
              <a:off x="3713525" y="4309200"/>
              <a:ext cx="231600" cy="834300"/>
              <a:chOff x="3713525" y="4309200"/>
              <a:chExt cx="231600" cy="834300"/>
            </a:xfrm>
          </p:grpSpPr>
          <p:sp>
            <p:nvSpPr>
              <p:cNvPr id="185" name="Google Shape;185;p11"/>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11"/>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1"/>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11"/>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 name="Google Shape;189;p11"/>
            <p:cNvGrpSpPr/>
            <p:nvPr/>
          </p:nvGrpSpPr>
          <p:grpSpPr>
            <a:xfrm>
              <a:off x="1485398" y="4309200"/>
              <a:ext cx="231600" cy="834300"/>
              <a:chOff x="1485398" y="4309200"/>
              <a:chExt cx="231600" cy="834300"/>
            </a:xfrm>
          </p:grpSpPr>
          <p:sp>
            <p:nvSpPr>
              <p:cNvPr id="190" name="Google Shape;190;p11"/>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1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11"/>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1"/>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 name="Google Shape;194;p11"/>
            <p:cNvGrpSpPr/>
            <p:nvPr/>
          </p:nvGrpSpPr>
          <p:grpSpPr>
            <a:xfrm>
              <a:off x="4084879" y="4518900"/>
              <a:ext cx="231600" cy="624600"/>
              <a:chOff x="4084879" y="4518900"/>
              <a:chExt cx="231600" cy="624600"/>
            </a:xfrm>
          </p:grpSpPr>
          <p:sp>
            <p:nvSpPr>
              <p:cNvPr id="195" name="Google Shape;195;p11"/>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11"/>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11"/>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 name="Google Shape;198;p11"/>
            <p:cNvGrpSpPr/>
            <p:nvPr/>
          </p:nvGrpSpPr>
          <p:grpSpPr>
            <a:xfrm>
              <a:off x="2970816" y="4309200"/>
              <a:ext cx="231600" cy="834300"/>
              <a:chOff x="2970816" y="4309200"/>
              <a:chExt cx="231600" cy="834300"/>
            </a:xfrm>
          </p:grpSpPr>
          <p:sp>
            <p:nvSpPr>
              <p:cNvPr id="199" name="Google Shape;199;p11"/>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1"/>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1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11"/>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3" name="Google Shape;203;p11"/>
            <p:cNvGrpSpPr/>
            <p:nvPr/>
          </p:nvGrpSpPr>
          <p:grpSpPr>
            <a:xfrm>
              <a:off x="4456234" y="4309200"/>
              <a:ext cx="231600" cy="834300"/>
              <a:chOff x="4456234" y="4309200"/>
              <a:chExt cx="231600" cy="834300"/>
            </a:xfrm>
          </p:grpSpPr>
          <p:sp>
            <p:nvSpPr>
              <p:cNvPr id="204" name="Google Shape;204;p11"/>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11"/>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11"/>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11"/>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8" name="Google Shape;208;p11"/>
            <p:cNvGrpSpPr/>
            <p:nvPr/>
          </p:nvGrpSpPr>
          <p:grpSpPr>
            <a:xfrm>
              <a:off x="4827588" y="4099200"/>
              <a:ext cx="231600" cy="1044300"/>
              <a:chOff x="4827588" y="4099200"/>
              <a:chExt cx="231600" cy="1044300"/>
            </a:xfrm>
          </p:grpSpPr>
          <p:sp>
            <p:nvSpPr>
              <p:cNvPr id="209" name="Google Shape;209;p11"/>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11"/>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11"/>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11"/>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 name="Google Shape;214;p11"/>
            <p:cNvGrpSpPr/>
            <p:nvPr/>
          </p:nvGrpSpPr>
          <p:grpSpPr>
            <a:xfrm>
              <a:off x="5198943" y="4309200"/>
              <a:ext cx="231600" cy="834300"/>
              <a:chOff x="5198943" y="4309200"/>
              <a:chExt cx="231600" cy="834300"/>
            </a:xfrm>
          </p:grpSpPr>
          <p:sp>
            <p:nvSpPr>
              <p:cNvPr id="215" name="Google Shape;215;p11"/>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11"/>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1"/>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11"/>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9" name="Google Shape;219;p11"/>
            <p:cNvGrpSpPr/>
            <p:nvPr/>
          </p:nvGrpSpPr>
          <p:grpSpPr>
            <a:xfrm>
              <a:off x="5570297" y="4518900"/>
              <a:ext cx="231600" cy="624600"/>
              <a:chOff x="5570297" y="4518900"/>
              <a:chExt cx="231600" cy="624600"/>
            </a:xfrm>
          </p:grpSpPr>
          <p:sp>
            <p:nvSpPr>
              <p:cNvPr id="220" name="Google Shape;220;p11"/>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1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11"/>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3" name="Google Shape;223;p11"/>
            <p:cNvGrpSpPr/>
            <p:nvPr/>
          </p:nvGrpSpPr>
          <p:grpSpPr>
            <a:xfrm>
              <a:off x="5941652" y="4309200"/>
              <a:ext cx="231600" cy="834300"/>
              <a:chOff x="5941652" y="4309200"/>
              <a:chExt cx="231600" cy="834300"/>
            </a:xfrm>
          </p:grpSpPr>
          <p:sp>
            <p:nvSpPr>
              <p:cNvPr id="224" name="Google Shape;224;p11"/>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11"/>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11"/>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11"/>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8" name="Google Shape;228;p11"/>
            <p:cNvGrpSpPr/>
            <p:nvPr/>
          </p:nvGrpSpPr>
          <p:grpSpPr>
            <a:xfrm>
              <a:off x="6313006" y="4099200"/>
              <a:ext cx="231600" cy="1044300"/>
              <a:chOff x="6313006" y="4099200"/>
              <a:chExt cx="231600" cy="1044300"/>
            </a:xfrm>
          </p:grpSpPr>
          <p:sp>
            <p:nvSpPr>
              <p:cNvPr id="229" name="Google Shape;229;p11"/>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11"/>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4" name="Google Shape;234;p11"/>
            <p:cNvGrpSpPr/>
            <p:nvPr/>
          </p:nvGrpSpPr>
          <p:grpSpPr>
            <a:xfrm>
              <a:off x="6684361" y="4309200"/>
              <a:ext cx="231600" cy="834300"/>
              <a:chOff x="6684361" y="4309200"/>
              <a:chExt cx="231600" cy="834300"/>
            </a:xfrm>
          </p:grpSpPr>
          <p:sp>
            <p:nvSpPr>
              <p:cNvPr id="235" name="Google Shape;235;p11"/>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39" name="Google Shape;239;p11"/>
            <p:cNvGrpSpPr/>
            <p:nvPr/>
          </p:nvGrpSpPr>
          <p:grpSpPr>
            <a:xfrm>
              <a:off x="7055715" y="4518900"/>
              <a:ext cx="231600" cy="624600"/>
              <a:chOff x="7055715" y="4518900"/>
              <a:chExt cx="231600" cy="624600"/>
            </a:xfrm>
          </p:grpSpPr>
          <p:sp>
            <p:nvSpPr>
              <p:cNvPr id="240" name="Google Shape;240;p11"/>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3" name="Google Shape;243;p11"/>
            <p:cNvGrpSpPr/>
            <p:nvPr/>
          </p:nvGrpSpPr>
          <p:grpSpPr>
            <a:xfrm>
              <a:off x="7798424" y="4099200"/>
              <a:ext cx="231600" cy="1044300"/>
              <a:chOff x="7798424" y="4099200"/>
              <a:chExt cx="231600" cy="1044300"/>
            </a:xfrm>
          </p:grpSpPr>
          <p:sp>
            <p:nvSpPr>
              <p:cNvPr id="244" name="Google Shape;244;p11"/>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9" name="Google Shape;249;p11"/>
            <p:cNvGrpSpPr/>
            <p:nvPr/>
          </p:nvGrpSpPr>
          <p:grpSpPr>
            <a:xfrm>
              <a:off x="8169779" y="4309200"/>
              <a:ext cx="231600" cy="834300"/>
              <a:chOff x="8169779" y="4309200"/>
              <a:chExt cx="231600" cy="834300"/>
            </a:xfrm>
          </p:grpSpPr>
          <p:sp>
            <p:nvSpPr>
              <p:cNvPr id="250" name="Google Shape;250;p11"/>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4" name="Google Shape;254;p11"/>
            <p:cNvGrpSpPr/>
            <p:nvPr/>
          </p:nvGrpSpPr>
          <p:grpSpPr>
            <a:xfrm>
              <a:off x="7427070" y="4309200"/>
              <a:ext cx="231600" cy="834300"/>
              <a:chOff x="7427070" y="4309200"/>
              <a:chExt cx="231600" cy="834300"/>
            </a:xfrm>
          </p:grpSpPr>
          <p:sp>
            <p:nvSpPr>
              <p:cNvPr id="255" name="Google Shape;255;p11"/>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11"/>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11"/>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59" name="Google Shape;259;p11"/>
            <p:cNvGrpSpPr/>
            <p:nvPr/>
          </p:nvGrpSpPr>
          <p:grpSpPr>
            <a:xfrm>
              <a:off x="8541133" y="4518900"/>
              <a:ext cx="231600" cy="624600"/>
              <a:chOff x="8541133" y="4518900"/>
              <a:chExt cx="231600" cy="624600"/>
            </a:xfrm>
          </p:grpSpPr>
          <p:sp>
            <p:nvSpPr>
              <p:cNvPr id="260" name="Google Shape;260;p11"/>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1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11"/>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3" name="Google Shape;263;p11"/>
            <p:cNvGrpSpPr/>
            <p:nvPr/>
          </p:nvGrpSpPr>
          <p:grpSpPr>
            <a:xfrm>
              <a:off x="8912488" y="4309200"/>
              <a:ext cx="231600" cy="834300"/>
              <a:chOff x="8912488" y="4309200"/>
              <a:chExt cx="231600" cy="834300"/>
            </a:xfrm>
          </p:grpSpPr>
          <p:sp>
            <p:nvSpPr>
              <p:cNvPr id="264" name="Google Shape;264;p11"/>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11"/>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11"/>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1"/>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8" name="Google Shape;268;p11"/>
          <p:cNvSpPr txBox="1"/>
          <p:nvPr>
            <p:ph hasCustomPrompt="1" type="title"/>
          </p:nvPr>
        </p:nvSpPr>
        <p:spPr>
          <a:xfrm>
            <a:off x="1388625" y="772725"/>
            <a:ext cx="6366900" cy="18633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r>
              <a:t>xx%</a:t>
            </a:r>
          </a:p>
        </p:txBody>
      </p:sp>
      <p:sp>
        <p:nvSpPr>
          <p:cNvPr id="269" name="Google Shape;269;p11"/>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270" name="Google Shape;270;p1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71" name="Shape 271"/>
        <p:cNvGrpSpPr/>
        <p:nvPr/>
      </p:nvGrpSpPr>
      <p:grpSpPr>
        <a:xfrm>
          <a:off x="0" y="0"/>
          <a:ext cx="0" cy="0"/>
          <a:chOff x="0" y="0"/>
          <a:chExt cx="0" cy="0"/>
        </a:xfrm>
      </p:grpSpPr>
      <p:sp>
        <p:nvSpPr>
          <p:cNvPr id="272" name="Google Shape;272;p1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3" name="Shape 273"/>
        <p:cNvGrpSpPr/>
        <p:nvPr/>
      </p:nvGrpSpPr>
      <p:grpSpPr>
        <a:xfrm>
          <a:off x="0" y="0"/>
          <a:ext cx="0" cy="0"/>
          <a:chOff x="0" y="0"/>
          <a:chExt cx="0" cy="0"/>
        </a:xfrm>
      </p:grpSpPr>
      <p:sp>
        <p:nvSpPr>
          <p:cNvPr id="274" name="Google Shape;274;p13"/>
          <p:cNvSpPr txBox="1"/>
          <p:nvPr>
            <p:ph type="title"/>
          </p:nvPr>
        </p:nvSpPr>
        <p:spPr>
          <a:xfrm>
            <a:off x="822960" y="214952"/>
            <a:ext cx="7543800" cy="1088100"/>
          </a:xfrm>
          <a:prstGeom prst="rect">
            <a:avLst/>
          </a:prstGeom>
          <a:noFill/>
          <a:ln>
            <a:noFill/>
          </a:ln>
        </p:spPr>
        <p:txBody>
          <a:bodyPr anchorCtr="0" anchor="b" bIns="34275" lIns="68575" spcFirstLastPara="1" rIns="68575" wrap="square" tIns="34275">
            <a:normAutofit/>
          </a:bodyPr>
          <a:lstStyle>
            <a:lvl1pPr lvl="0" rtl="0" algn="l">
              <a:lnSpc>
                <a:spcPct val="85000"/>
              </a:lnSpc>
              <a:spcBef>
                <a:spcPts val="0"/>
              </a:spcBef>
              <a:spcAft>
                <a:spcPts val="0"/>
              </a:spcAft>
              <a:buClr>
                <a:srgbClr val="3F3F3F"/>
              </a:buClr>
              <a:buSzPts val="14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75" name="Google Shape;275;p13"/>
          <p:cNvSpPr txBox="1"/>
          <p:nvPr>
            <p:ph idx="1" type="body"/>
          </p:nvPr>
        </p:nvSpPr>
        <p:spPr>
          <a:xfrm>
            <a:off x="822960" y="1384300"/>
            <a:ext cx="7543800" cy="3017400"/>
          </a:xfrm>
          <a:prstGeom prst="rect">
            <a:avLst/>
          </a:prstGeom>
          <a:noFill/>
          <a:ln>
            <a:noFill/>
          </a:ln>
        </p:spPr>
        <p:txBody>
          <a:bodyPr anchorCtr="0" anchor="t" bIns="34275" lIns="0" spcFirstLastPara="1" rIns="0" wrap="square" tIns="34275">
            <a:normAutofit/>
          </a:bodyPr>
          <a:lstStyle>
            <a:lvl1pPr indent="-317500" lvl="0" marL="457200" rtl="0" algn="l">
              <a:lnSpc>
                <a:spcPct val="90000"/>
              </a:lnSpc>
              <a:spcBef>
                <a:spcPts val="900"/>
              </a:spcBef>
              <a:spcAft>
                <a:spcPts val="0"/>
              </a:spcAft>
              <a:buSzPts val="1400"/>
              <a:buChar char="●"/>
              <a:defRPr/>
            </a:lvl1pPr>
            <a:lvl2pPr indent="-317500" lvl="1" marL="914400" rtl="0" algn="l">
              <a:lnSpc>
                <a:spcPct val="90000"/>
              </a:lnSpc>
              <a:spcBef>
                <a:spcPts val="200"/>
              </a:spcBef>
              <a:spcAft>
                <a:spcPts val="0"/>
              </a:spcAft>
              <a:buSzPts val="1400"/>
              <a:buChar char="○"/>
              <a:defRPr/>
            </a:lvl2pPr>
            <a:lvl3pPr indent="-317500" lvl="2" marL="1371600" rtl="0" algn="l">
              <a:lnSpc>
                <a:spcPct val="90000"/>
              </a:lnSpc>
              <a:spcBef>
                <a:spcPts val="300"/>
              </a:spcBef>
              <a:spcAft>
                <a:spcPts val="0"/>
              </a:spcAft>
              <a:buSzPts val="1400"/>
              <a:buChar char="■"/>
              <a:defRPr/>
            </a:lvl3pPr>
            <a:lvl4pPr indent="-317500" lvl="3" marL="1828800" rtl="0" algn="l">
              <a:lnSpc>
                <a:spcPct val="90000"/>
              </a:lnSpc>
              <a:spcBef>
                <a:spcPts val="300"/>
              </a:spcBef>
              <a:spcAft>
                <a:spcPts val="0"/>
              </a:spcAft>
              <a:buSzPts val="1400"/>
              <a:buChar char="●"/>
              <a:defRPr/>
            </a:lvl4pPr>
            <a:lvl5pPr indent="-317500" lvl="4" marL="2286000" rtl="0" algn="l">
              <a:lnSpc>
                <a:spcPct val="90000"/>
              </a:lnSpc>
              <a:spcBef>
                <a:spcPts val="300"/>
              </a:spcBef>
              <a:spcAft>
                <a:spcPts val="0"/>
              </a:spcAft>
              <a:buSzPts val="1400"/>
              <a:buChar char="○"/>
              <a:defRPr/>
            </a:lvl5pPr>
            <a:lvl6pPr indent="-317500" lvl="5" marL="2743200" rtl="0" algn="l">
              <a:lnSpc>
                <a:spcPct val="90000"/>
              </a:lnSpc>
              <a:spcBef>
                <a:spcPts val="300"/>
              </a:spcBef>
              <a:spcAft>
                <a:spcPts val="0"/>
              </a:spcAft>
              <a:buSzPts val="1400"/>
              <a:buChar char="■"/>
              <a:defRPr/>
            </a:lvl6pPr>
            <a:lvl7pPr indent="-317500" lvl="6" marL="3200400" rtl="0" algn="l">
              <a:lnSpc>
                <a:spcPct val="90000"/>
              </a:lnSpc>
              <a:spcBef>
                <a:spcPts val="300"/>
              </a:spcBef>
              <a:spcAft>
                <a:spcPts val="0"/>
              </a:spcAft>
              <a:buSzPts val="1400"/>
              <a:buChar char="●"/>
              <a:defRPr/>
            </a:lvl7pPr>
            <a:lvl8pPr indent="-317500" lvl="7" marL="3657600" rtl="0" algn="l">
              <a:lnSpc>
                <a:spcPct val="90000"/>
              </a:lnSpc>
              <a:spcBef>
                <a:spcPts val="300"/>
              </a:spcBef>
              <a:spcAft>
                <a:spcPts val="0"/>
              </a:spcAft>
              <a:buSzPts val="1400"/>
              <a:buChar char="○"/>
              <a:defRPr/>
            </a:lvl8pPr>
            <a:lvl9pPr indent="-317500" lvl="8" marL="4114800" rtl="0" algn="l">
              <a:lnSpc>
                <a:spcPct val="90000"/>
              </a:lnSpc>
              <a:spcBef>
                <a:spcPts val="300"/>
              </a:spcBef>
              <a:spcAft>
                <a:spcPts val="300"/>
              </a:spcAft>
              <a:buSzPts val="1400"/>
              <a:buChar char="■"/>
              <a:defRPr/>
            </a:lvl9pPr>
          </a:lstStyle>
          <a:p/>
        </p:txBody>
      </p:sp>
      <p:sp>
        <p:nvSpPr>
          <p:cNvPr id="276" name="Google Shape;276;p13"/>
          <p:cNvSpPr txBox="1"/>
          <p:nvPr>
            <p:ph idx="10" type="dt"/>
          </p:nvPr>
        </p:nvSpPr>
        <p:spPr>
          <a:xfrm>
            <a:off x="822960" y="4844839"/>
            <a:ext cx="1854300" cy="273900"/>
          </a:xfrm>
          <a:prstGeom prst="rect">
            <a:avLst/>
          </a:prstGeom>
          <a:noFill/>
          <a:ln>
            <a:noFill/>
          </a:ln>
        </p:spPr>
        <p:txBody>
          <a:bodyPr anchorCtr="0" anchor="ctr" bIns="34275" lIns="68575" spcFirstLastPara="1" rIns="68575" wrap="square" tIns="34275">
            <a:noAutofit/>
          </a:bodyPr>
          <a:lstStyle>
            <a:lvl1pPr lvl="0" rtl="0" algn="l">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277" name="Google Shape;277;p13"/>
          <p:cNvSpPr txBox="1"/>
          <p:nvPr>
            <p:ph idx="11" type="ftr"/>
          </p:nvPr>
        </p:nvSpPr>
        <p:spPr>
          <a:xfrm>
            <a:off x="2764639" y="4844839"/>
            <a:ext cx="3617100" cy="273900"/>
          </a:xfrm>
          <a:prstGeom prst="rect">
            <a:avLst/>
          </a:prstGeom>
          <a:noFill/>
          <a:ln>
            <a:noFill/>
          </a:ln>
        </p:spPr>
        <p:txBody>
          <a:bodyPr anchorCtr="0" anchor="ctr" bIns="34275" lIns="68575" spcFirstLastPara="1" rIns="68575" wrap="square" tIns="34275">
            <a:noAutofit/>
          </a:bodyPr>
          <a:lstStyle>
            <a:lvl1pPr lvl="0" rtl="0" algn="ctr">
              <a:spcBef>
                <a:spcPts val="0"/>
              </a:spcBef>
              <a:spcAft>
                <a:spcPts val="0"/>
              </a:spcAft>
              <a:buSzPts val="1100"/>
              <a:buNone/>
              <a:defRPr sz="1100"/>
            </a:lvl1pPr>
            <a:lvl2pPr lvl="1" rtl="0" algn="l">
              <a:spcBef>
                <a:spcPts val="0"/>
              </a:spcBef>
              <a:spcAft>
                <a:spcPts val="0"/>
              </a:spcAft>
              <a:buSzPts val="1100"/>
              <a:buNone/>
              <a:defRPr sz="1100"/>
            </a:lvl2pPr>
            <a:lvl3pPr lvl="2" rtl="0" algn="l">
              <a:spcBef>
                <a:spcPts val="0"/>
              </a:spcBef>
              <a:spcAft>
                <a:spcPts val="0"/>
              </a:spcAft>
              <a:buSzPts val="1100"/>
              <a:buNone/>
              <a:defRPr sz="1100"/>
            </a:lvl3pPr>
            <a:lvl4pPr lvl="3" rtl="0" algn="l">
              <a:spcBef>
                <a:spcPts val="0"/>
              </a:spcBef>
              <a:spcAft>
                <a:spcPts val="0"/>
              </a:spcAft>
              <a:buSzPts val="1100"/>
              <a:buNone/>
              <a:defRPr sz="1100"/>
            </a:lvl4pPr>
            <a:lvl5pPr lvl="4" rtl="0" algn="l">
              <a:spcBef>
                <a:spcPts val="0"/>
              </a:spcBef>
              <a:spcAft>
                <a:spcPts val="0"/>
              </a:spcAft>
              <a:buSzPts val="1100"/>
              <a:buNone/>
              <a:defRPr sz="1100"/>
            </a:lvl5pPr>
            <a:lvl6pPr lvl="5" rtl="0" algn="l">
              <a:spcBef>
                <a:spcPts val="0"/>
              </a:spcBef>
              <a:spcAft>
                <a:spcPts val="0"/>
              </a:spcAft>
              <a:buSzPts val="1100"/>
              <a:buNone/>
              <a:defRPr sz="1100"/>
            </a:lvl6pPr>
            <a:lvl7pPr lvl="6" rtl="0" algn="l">
              <a:spcBef>
                <a:spcPts val="0"/>
              </a:spcBef>
              <a:spcAft>
                <a:spcPts val="0"/>
              </a:spcAft>
              <a:buSzPts val="1100"/>
              <a:buNone/>
              <a:defRPr sz="1100"/>
            </a:lvl7pPr>
            <a:lvl8pPr lvl="7" rtl="0" algn="l">
              <a:spcBef>
                <a:spcPts val="0"/>
              </a:spcBef>
              <a:spcAft>
                <a:spcPts val="0"/>
              </a:spcAft>
              <a:buSzPts val="1100"/>
              <a:buNone/>
              <a:defRPr sz="1100"/>
            </a:lvl8pPr>
            <a:lvl9pPr lvl="8" rtl="0" algn="l">
              <a:spcBef>
                <a:spcPts val="0"/>
              </a:spcBef>
              <a:spcAft>
                <a:spcPts val="0"/>
              </a:spcAft>
              <a:buSzPts val="1100"/>
              <a:buNone/>
              <a:defRPr sz="1100"/>
            </a:lvl9pPr>
          </a:lstStyle>
          <a:p/>
        </p:txBody>
      </p:sp>
      <p:sp>
        <p:nvSpPr>
          <p:cNvPr id="278" name="Google Shape;278;p13"/>
          <p:cNvSpPr txBox="1"/>
          <p:nvPr>
            <p:ph idx="12" type="sldNum"/>
          </p:nvPr>
        </p:nvSpPr>
        <p:spPr>
          <a:xfrm>
            <a:off x="7425344" y="4844839"/>
            <a:ext cx="984000" cy="273900"/>
          </a:xfrm>
          <a:prstGeom prst="rect">
            <a:avLst/>
          </a:prstGeom>
          <a:noFill/>
          <a:ln>
            <a:noFill/>
          </a:ln>
        </p:spPr>
        <p:txBody>
          <a:bodyPr anchorCtr="0" anchor="ctr" bIns="34275" lIns="68575" spcFirstLastPara="1" rIns="68575" wrap="square" tIns="34275">
            <a:normAutofit lnSpcReduction="20000"/>
          </a:bodyPr>
          <a:lstStyle>
            <a:lvl1pPr indent="0" lvl="0" marL="0" rtl="0" algn="r">
              <a:spcBef>
                <a:spcPts val="0"/>
              </a:spcBef>
              <a:buNone/>
              <a:defRPr sz="1500">
                <a:solidFill>
                  <a:srgbClr val="FFFFFF"/>
                </a:solidFill>
                <a:latin typeface="Calibri"/>
                <a:ea typeface="Calibri"/>
                <a:cs typeface="Calibri"/>
                <a:sym typeface="Calibri"/>
              </a:defRPr>
            </a:lvl1pPr>
            <a:lvl2pPr indent="0" lvl="1" marL="0" rtl="0" algn="r">
              <a:spcBef>
                <a:spcPts val="0"/>
              </a:spcBef>
              <a:buNone/>
              <a:defRPr sz="1500">
                <a:solidFill>
                  <a:srgbClr val="FFFFFF"/>
                </a:solidFill>
                <a:latin typeface="Calibri"/>
                <a:ea typeface="Calibri"/>
                <a:cs typeface="Calibri"/>
                <a:sym typeface="Calibri"/>
              </a:defRPr>
            </a:lvl2pPr>
            <a:lvl3pPr indent="0" lvl="2" marL="0" rtl="0" algn="r">
              <a:spcBef>
                <a:spcPts val="0"/>
              </a:spcBef>
              <a:buNone/>
              <a:defRPr sz="1500">
                <a:solidFill>
                  <a:srgbClr val="FFFFFF"/>
                </a:solidFill>
                <a:latin typeface="Calibri"/>
                <a:ea typeface="Calibri"/>
                <a:cs typeface="Calibri"/>
                <a:sym typeface="Calibri"/>
              </a:defRPr>
            </a:lvl3pPr>
            <a:lvl4pPr indent="0" lvl="3" marL="0" rtl="0" algn="r">
              <a:spcBef>
                <a:spcPts val="0"/>
              </a:spcBef>
              <a:buNone/>
              <a:defRPr sz="1500">
                <a:solidFill>
                  <a:srgbClr val="FFFFFF"/>
                </a:solidFill>
                <a:latin typeface="Calibri"/>
                <a:ea typeface="Calibri"/>
                <a:cs typeface="Calibri"/>
                <a:sym typeface="Calibri"/>
              </a:defRPr>
            </a:lvl4pPr>
            <a:lvl5pPr indent="0" lvl="4" marL="0" rtl="0" algn="r">
              <a:spcBef>
                <a:spcPts val="0"/>
              </a:spcBef>
              <a:buNone/>
              <a:defRPr sz="1500">
                <a:solidFill>
                  <a:srgbClr val="FFFFFF"/>
                </a:solidFill>
                <a:latin typeface="Calibri"/>
                <a:ea typeface="Calibri"/>
                <a:cs typeface="Calibri"/>
                <a:sym typeface="Calibri"/>
              </a:defRPr>
            </a:lvl5pPr>
            <a:lvl6pPr indent="0" lvl="5" marL="0" rtl="0" algn="r">
              <a:spcBef>
                <a:spcPts val="0"/>
              </a:spcBef>
              <a:buNone/>
              <a:defRPr sz="1500">
                <a:solidFill>
                  <a:srgbClr val="FFFFFF"/>
                </a:solidFill>
                <a:latin typeface="Calibri"/>
                <a:ea typeface="Calibri"/>
                <a:cs typeface="Calibri"/>
                <a:sym typeface="Calibri"/>
              </a:defRPr>
            </a:lvl6pPr>
            <a:lvl7pPr indent="0" lvl="6" marL="0" rtl="0" algn="r">
              <a:spcBef>
                <a:spcPts val="0"/>
              </a:spcBef>
              <a:buNone/>
              <a:defRPr sz="1500">
                <a:solidFill>
                  <a:srgbClr val="FFFFFF"/>
                </a:solidFill>
                <a:latin typeface="Calibri"/>
                <a:ea typeface="Calibri"/>
                <a:cs typeface="Calibri"/>
                <a:sym typeface="Calibri"/>
              </a:defRPr>
            </a:lvl7pPr>
            <a:lvl8pPr indent="0" lvl="7" marL="0" rtl="0" algn="r">
              <a:spcBef>
                <a:spcPts val="0"/>
              </a:spcBef>
              <a:buNone/>
              <a:defRPr sz="1500">
                <a:solidFill>
                  <a:srgbClr val="FFFFFF"/>
                </a:solidFill>
                <a:latin typeface="Calibri"/>
                <a:ea typeface="Calibri"/>
                <a:cs typeface="Calibri"/>
                <a:sym typeface="Calibri"/>
              </a:defRPr>
            </a:lvl8pPr>
            <a:lvl9pPr indent="0" lvl="8" marL="0" rtl="0" algn="r">
              <a:spcBef>
                <a:spcPts val="0"/>
              </a:spcBef>
              <a:buNone/>
              <a:defRPr sz="15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omentu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spcAft>
                <a:spcPts val="0"/>
              </a:spcAft>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Nunito"/>
              <a:buChar char="●"/>
              <a:defRPr sz="1300">
                <a:solidFill>
                  <a:schemeClr val="dk2"/>
                </a:solidFill>
                <a:latin typeface="Nunito"/>
                <a:ea typeface="Nunito"/>
                <a:cs typeface="Nunito"/>
                <a:sym typeface="Nunito"/>
              </a:defRPr>
            </a:lvl1pPr>
            <a:lvl2pPr indent="-298450" lvl="1" marL="914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2pPr>
            <a:lvl3pPr indent="-298450" lvl="2" marL="1371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3pPr>
            <a:lvl4pPr indent="-298450" lvl="3" marL="1828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4pPr>
            <a:lvl5pPr indent="-298450" lvl="4" marL="22860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5pPr>
            <a:lvl6pPr indent="-298450" lvl="5" marL="27432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6pPr>
            <a:lvl7pPr indent="-298450" lvl="6" marL="32004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7pPr>
            <a:lvl8pPr indent="-298450" lvl="7" marL="36576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8pPr>
            <a:lvl9pPr indent="-298450" lvl="8" marL="4114800">
              <a:lnSpc>
                <a:spcPct val="115000"/>
              </a:lnSpc>
              <a:spcBef>
                <a:spcPts val="0"/>
              </a:spcBef>
              <a:spcAft>
                <a:spcPts val="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Google Shape;8;p1"/>
          <p:cNvSpPr txBox="1"/>
          <p:nvPr>
            <p:ph idx="12" type="sldNum"/>
          </p:nvPr>
        </p:nvSpPr>
        <p:spPr>
          <a:xfrm>
            <a:off x="8451046" y="4736976"/>
            <a:ext cx="548700" cy="393600"/>
          </a:xfrm>
          <a:prstGeom prst="rect">
            <a:avLst/>
          </a:prstGeom>
          <a:noFill/>
          <a:ln>
            <a:noFill/>
          </a:ln>
        </p:spPr>
        <p:txBody>
          <a:bodyPr anchorCtr="0" anchor="ctr" bIns="91425" lIns="91425" spcFirstLastPara="1" rIns="91425" wrap="square" tIns="91425">
            <a:normAutofit/>
          </a:bodyPr>
          <a:lstStyle>
            <a:lvl1pPr lvl="0" algn="r">
              <a:buNone/>
              <a:defRPr sz="900">
                <a:solidFill>
                  <a:schemeClr val="dk2"/>
                </a:solidFill>
                <a:latin typeface="Nunito"/>
                <a:ea typeface="Nunito"/>
                <a:cs typeface="Nunito"/>
                <a:sym typeface="Nunito"/>
              </a:defRPr>
            </a:lvl1pPr>
            <a:lvl2pPr lvl="1" algn="r">
              <a:buNone/>
              <a:defRPr sz="900">
                <a:solidFill>
                  <a:schemeClr val="dk2"/>
                </a:solidFill>
                <a:latin typeface="Nunito"/>
                <a:ea typeface="Nunito"/>
                <a:cs typeface="Nunito"/>
                <a:sym typeface="Nunito"/>
              </a:defRPr>
            </a:lvl2pPr>
            <a:lvl3pPr lvl="2" algn="r">
              <a:buNone/>
              <a:defRPr sz="900">
                <a:solidFill>
                  <a:schemeClr val="dk2"/>
                </a:solidFill>
                <a:latin typeface="Nunito"/>
                <a:ea typeface="Nunito"/>
                <a:cs typeface="Nunito"/>
                <a:sym typeface="Nunito"/>
              </a:defRPr>
            </a:lvl3pPr>
            <a:lvl4pPr lvl="3" algn="r">
              <a:buNone/>
              <a:defRPr sz="900">
                <a:solidFill>
                  <a:schemeClr val="dk2"/>
                </a:solidFill>
                <a:latin typeface="Nunito"/>
                <a:ea typeface="Nunito"/>
                <a:cs typeface="Nunito"/>
                <a:sym typeface="Nunito"/>
              </a:defRPr>
            </a:lvl4pPr>
            <a:lvl5pPr lvl="4" algn="r">
              <a:buNone/>
              <a:defRPr sz="900">
                <a:solidFill>
                  <a:schemeClr val="dk2"/>
                </a:solidFill>
                <a:latin typeface="Nunito"/>
                <a:ea typeface="Nunito"/>
                <a:cs typeface="Nunito"/>
                <a:sym typeface="Nunito"/>
              </a:defRPr>
            </a:lvl5pPr>
            <a:lvl6pPr lvl="5" algn="r">
              <a:buNone/>
              <a:defRPr sz="900">
                <a:solidFill>
                  <a:schemeClr val="dk2"/>
                </a:solidFill>
                <a:latin typeface="Nunito"/>
                <a:ea typeface="Nunito"/>
                <a:cs typeface="Nunito"/>
                <a:sym typeface="Nunito"/>
              </a:defRPr>
            </a:lvl6pPr>
            <a:lvl7pPr lvl="6" algn="r">
              <a:buNone/>
              <a:defRPr sz="900">
                <a:solidFill>
                  <a:schemeClr val="dk2"/>
                </a:solidFill>
                <a:latin typeface="Nunito"/>
                <a:ea typeface="Nunito"/>
                <a:cs typeface="Nunito"/>
                <a:sym typeface="Nunito"/>
              </a:defRPr>
            </a:lvl7pPr>
            <a:lvl8pPr lvl="7" algn="r">
              <a:buNone/>
              <a:defRPr sz="900">
                <a:solidFill>
                  <a:schemeClr val="dk2"/>
                </a:solidFill>
                <a:latin typeface="Nunito"/>
                <a:ea typeface="Nunito"/>
                <a:cs typeface="Nunito"/>
                <a:sym typeface="Nunito"/>
              </a:defRPr>
            </a:lvl8pPr>
            <a:lvl9pPr lvl="8" algn="r">
              <a:buNone/>
              <a:defRPr sz="9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419"/>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2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 Id="rId3"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2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Relationship Id="rId3" Type="http://schemas.openxmlformats.org/officeDocument/2006/relationships/image" Target="../media/image13.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 Id="rId3" Type="http://schemas.openxmlformats.org/officeDocument/2006/relationships/image" Target="../media/image30.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5.xml"/><Relationship Id="rId3" Type="http://schemas.openxmlformats.org/officeDocument/2006/relationships/image" Target="../media/image12.png"/><Relationship Id="rId4" Type="http://schemas.openxmlformats.org/officeDocument/2006/relationships/image" Target="../media/image19.png"/><Relationship Id="rId5" Type="http://schemas.openxmlformats.org/officeDocument/2006/relationships/image" Target="../media/image6.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1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8.xml"/><Relationship Id="rId3" Type="http://schemas.openxmlformats.org/officeDocument/2006/relationships/image" Target="../media/image3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1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16.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1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 Id="rId3"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21.jpg"/><Relationship Id="rId4" Type="http://schemas.openxmlformats.org/officeDocument/2006/relationships/image" Target="../media/image24.png"/><Relationship Id="rId5" Type="http://schemas.openxmlformats.org/officeDocument/2006/relationships/image" Target="../media/image25.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2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 Id="rId3" Type="http://schemas.openxmlformats.org/officeDocument/2006/relationships/hyperlink" Target="http://drive.google.com/file/d/1v-tQZbkKK8iWw6Ewc75ZDmm3tg7p-oo2/view" TargetMode="External"/><Relationship Id="rId4" Type="http://schemas.openxmlformats.org/officeDocument/2006/relationships/image" Target="../media/image8.png"/><Relationship Id="rId5" Type="http://schemas.openxmlformats.org/officeDocument/2006/relationships/hyperlink" Target="http://drive.google.com/file/d/1UndGcPLtbYWL0r3r1RHoEuic82T2z9ME/view" TargetMode="Externa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 Id="rId3" Type="http://schemas.openxmlformats.org/officeDocument/2006/relationships/image" Target="../media/image2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 Id="rId3" Type="http://schemas.openxmlformats.org/officeDocument/2006/relationships/image" Target="../media/image23.png"/><Relationship Id="rId4" Type="http://schemas.openxmlformats.org/officeDocument/2006/relationships/image" Target="../media/image3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9.xml"/><Relationship Id="rId3" Type="http://schemas.openxmlformats.org/officeDocument/2006/relationships/image" Target="../media/image29.png"/><Relationship Id="rId4" Type="http://schemas.openxmlformats.org/officeDocument/2006/relationships/image" Target="../media/image2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0.xml"/><Relationship Id="rId3" Type="http://schemas.openxmlformats.org/officeDocument/2006/relationships/image" Target="../media/image17.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14"/>
          <p:cNvSpPr txBox="1"/>
          <p:nvPr>
            <p:ph type="ctrTitle"/>
          </p:nvPr>
        </p:nvSpPr>
        <p:spPr>
          <a:xfrm>
            <a:off x="824000" y="1613813"/>
            <a:ext cx="4255500" cy="1872900"/>
          </a:xfrm>
          <a:prstGeom prst="rect">
            <a:avLst/>
          </a:prstGeom>
        </p:spPr>
        <p:txBody>
          <a:bodyPr anchorCtr="0" anchor="ctr" bIns="91425" lIns="91425" spcFirstLastPara="1" rIns="91425" wrap="square" tIns="91425">
            <a:normAutofit fontScale="90000"/>
          </a:bodyPr>
          <a:lstStyle/>
          <a:p>
            <a:pPr indent="0" lvl="0" marL="0" rtl="0" algn="l">
              <a:spcBef>
                <a:spcPts val="0"/>
              </a:spcBef>
              <a:spcAft>
                <a:spcPts val="0"/>
              </a:spcAft>
              <a:buNone/>
            </a:pPr>
            <a:r>
              <a:rPr lang="es-419"/>
              <a:t>Ciencia de Datos para Sensores Inteligentes</a:t>
            </a:r>
            <a:endParaRPr/>
          </a:p>
          <a:p>
            <a:pPr indent="0" lvl="0" marL="0" rtl="0" algn="l">
              <a:lnSpc>
                <a:spcPct val="115000"/>
              </a:lnSpc>
              <a:spcBef>
                <a:spcPts val="0"/>
              </a:spcBef>
              <a:spcAft>
                <a:spcPts val="0"/>
              </a:spcAft>
              <a:buNone/>
            </a:pPr>
            <a:r>
              <a:rPr b="0" lang="es-419" sz="1644">
                <a:solidFill>
                  <a:schemeClr val="dk1"/>
                </a:solidFill>
                <a:latin typeface="Arial"/>
                <a:ea typeface="Arial"/>
                <a:cs typeface="Arial"/>
                <a:sym typeface="Arial"/>
              </a:rPr>
              <a:t>Tópicos Selectos en Sistemas Interactivos</a:t>
            </a:r>
            <a:endParaRPr sz="4044"/>
          </a:p>
        </p:txBody>
      </p:sp>
      <p:sp>
        <p:nvSpPr>
          <p:cNvPr id="284" name="Google Shape;284;p14"/>
          <p:cNvSpPr txBox="1"/>
          <p:nvPr>
            <p:ph idx="1" type="subTitle"/>
          </p:nvPr>
        </p:nvSpPr>
        <p:spPr>
          <a:xfrm>
            <a:off x="824000" y="3596300"/>
            <a:ext cx="4255500" cy="695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solidFill>
                  <a:srgbClr val="EFEFEF"/>
                </a:solidFill>
              </a:rPr>
              <a:t>Dr. Irvin Hussein López Nava</a:t>
            </a:r>
            <a:endParaRPr>
              <a:solidFill>
                <a:srgbClr val="EFEFEF"/>
              </a:solidFill>
            </a:endParaRPr>
          </a:p>
          <a:p>
            <a:pPr indent="0" lvl="0" marL="0" rtl="0" algn="l">
              <a:spcBef>
                <a:spcPts val="0"/>
              </a:spcBef>
              <a:spcAft>
                <a:spcPts val="0"/>
              </a:spcAft>
              <a:buNone/>
            </a:pPr>
            <a:r>
              <a:rPr lang="es-419">
                <a:solidFill>
                  <a:srgbClr val="D9D9D9"/>
                </a:solidFill>
              </a:rPr>
              <a:t>CICESE 2025 - I</a:t>
            </a:r>
            <a:endParaRPr>
              <a:solidFill>
                <a:srgbClr val="D9D9D9"/>
              </a:solidFill>
            </a:endParaRPr>
          </a:p>
        </p:txBody>
      </p:sp>
      <p:pic>
        <p:nvPicPr>
          <p:cNvPr id="285" name="Google Shape;285;p14"/>
          <p:cNvPicPr preferRelativeResize="0"/>
          <p:nvPr/>
        </p:nvPicPr>
        <p:blipFill>
          <a:blip r:embed="rId3">
            <a:alphaModFix amt="50000"/>
          </a:blip>
          <a:stretch>
            <a:fillRect/>
          </a:stretch>
        </p:blipFill>
        <p:spPr>
          <a:xfrm>
            <a:off x="6282225" y="1416333"/>
            <a:ext cx="908050" cy="448350"/>
          </a:xfrm>
          <a:prstGeom prst="rect">
            <a:avLst/>
          </a:prstGeom>
          <a:noFill/>
          <a:ln>
            <a:noFill/>
          </a:ln>
        </p:spPr>
      </p:pic>
      <p:pic>
        <p:nvPicPr>
          <p:cNvPr id="286" name="Google Shape;286;p14"/>
          <p:cNvPicPr preferRelativeResize="0"/>
          <p:nvPr/>
        </p:nvPicPr>
        <p:blipFill>
          <a:blip r:embed="rId4">
            <a:alphaModFix amt="75000"/>
          </a:blip>
          <a:stretch>
            <a:fillRect/>
          </a:stretch>
        </p:blipFill>
        <p:spPr>
          <a:xfrm>
            <a:off x="6023125" y="659125"/>
            <a:ext cx="318050" cy="318050"/>
          </a:xfrm>
          <a:prstGeom prst="rect">
            <a:avLst/>
          </a:prstGeom>
          <a:noFill/>
          <a:ln>
            <a:noFill/>
          </a:ln>
        </p:spPr>
      </p:pic>
      <p:pic>
        <p:nvPicPr>
          <p:cNvPr id="287" name="Google Shape;287;p14"/>
          <p:cNvPicPr preferRelativeResize="0"/>
          <p:nvPr/>
        </p:nvPicPr>
        <p:blipFill rotWithShape="1">
          <a:blip r:embed="rId5">
            <a:alphaModFix amt="75000"/>
          </a:blip>
          <a:srcRect b="35620" l="28214" r="28782" t="0"/>
          <a:stretch/>
        </p:blipFill>
        <p:spPr>
          <a:xfrm>
            <a:off x="5568825" y="1580658"/>
            <a:ext cx="227338" cy="207817"/>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1" name="Shape 291"/>
        <p:cNvGrpSpPr/>
        <p:nvPr/>
      </p:nvGrpSpPr>
      <p:grpSpPr>
        <a:xfrm>
          <a:off x="0" y="0"/>
          <a:ext cx="0" cy="0"/>
          <a:chOff x="0" y="0"/>
          <a:chExt cx="0" cy="0"/>
        </a:xfrm>
      </p:grpSpPr>
      <p:sp>
        <p:nvSpPr>
          <p:cNvPr id="292" name="Google Shape;292;p15"/>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solidFill>
                  <a:schemeClr val="dk1"/>
                </a:solidFill>
              </a:rPr>
              <a:t>Unidad 7</a:t>
            </a:r>
            <a:endParaRPr sz="6000">
              <a:solidFill>
                <a:schemeClr val="dk1"/>
              </a:solidFill>
            </a:endParaRPr>
          </a:p>
        </p:txBody>
      </p:sp>
      <p:sp>
        <p:nvSpPr>
          <p:cNvPr id="293" name="Google Shape;293;p15"/>
          <p:cNvSpPr txBox="1"/>
          <p:nvPr>
            <p:ph idx="1" type="body"/>
          </p:nvPr>
        </p:nvSpPr>
        <p:spPr>
          <a:xfrm>
            <a:off x="1388625" y="2712300"/>
            <a:ext cx="6366900" cy="1111200"/>
          </a:xfrm>
          <a:prstGeom prst="rect">
            <a:avLst/>
          </a:prstGeom>
        </p:spPr>
        <p:txBody>
          <a:bodyPr anchorCtr="0" anchor="t" bIns="91425" lIns="91425" spcFirstLastPara="1" rIns="91425" wrap="square" tIns="91425">
            <a:normAutofit lnSpcReduction="20000"/>
          </a:bodyPr>
          <a:lstStyle/>
          <a:p>
            <a:pPr indent="0" lvl="0" marL="0" rtl="0" algn="ctr">
              <a:spcBef>
                <a:spcPts val="0"/>
              </a:spcBef>
              <a:spcAft>
                <a:spcPts val="1200"/>
              </a:spcAft>
              <a:buNone/>
            </a:pPr>
            <a:r>
              <a:rPr lang="es-419" sz="3200"/>
              <a:t>Reconocimiento de comportamiento</a:t>
            </a:r>
            <a:endParaRPr sz="3200"/>
          </a:p>
        </p:txBody>
      </p:sp>
      <p:sp>
        <p:nvSpPr>
          <p:cNvPr id="294" name="Google Shape;294;p1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16"/>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lang="es-419"/>
              <a:t>7.2</a:t>
            </a:r>
            <a:r>
              <a:rPr lang="es-419"/>
              <a:t> Sueño y somnolencia</a:t>
            </a:r>
            <a:endParaRPr/>
          </a:p>
        </p:txBody>
      </p:sp>
      <p:sp>
        <p:nvSpPr>
          <p:cNvPr id="300" name="Google Shape;300;p1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1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Introducción</a:t>
            </a:r>
            <a:endParaRPr/>
          </a:p>
        </p:txBody>
      </p:sp>
      <p:sp>
        <p:nvSpPr>
          <p:cNvPr id="306" name="Google Shape;306;p1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a:t>
            </a:r>
            <a:r>
              <a:rPr b="1" lang="es-419"/>
              <a:t>sueño</a:t>
            </a:r>
            <a:r>
              <a:rPr lang="es-419"/>
              <a:t> influye en la vida de las personas, pero sigue siendo un </a:t>
            </a:r>
            <a:r>
              <a:rPr b="1" lang="es-419">
                <a:solidFill>
                  <a:schemeClr val="accent5"/>
                </a:solidFill>
              </a:rPr>
              <a:t>misterio</a:t>
            </a:r>
            <a:r>
              <a:rPr lang="es-419"/>
              <a:t> en muchos sentidos. </a:t>
            </a:r>
            <a:endParaRPr/>
          </a:p>
          <a:p>
            <a:pPr indent="0" lvl="0" marL="0" rtl="0" algn="l">
              <a:spcBef>
                <a:spcPts val="1200"/>
              </a:spcBef>
              <a:spcAft>
                <a:spcPts val="0"/>
              </a:spcAft>
              <a:buNone/>
            </a:pPr>
            <a:r>
              <a:rPr lang="es-419"/>
              <a:t>Es un </a:t>
            </a:r>
            <a:r>
              <a:rPr b="1" lang="es-419">
                <a:solidFill>
                  <a:schemeClr val="accent5"/>
                </a:solidFill>
              </a:rPr>
              <a:t>mecanismo de recuperación</a:t>
            </a:r>
            <a:r>
              <a:rPr lang="es-419"/>
              <a:t> en el que se ralentiza el ritmo cardíaco y la respiración, acercándose a un estado de parálisis del cuerpo, mientras el cerebro procesa las experiencias del día y se relaja. </a:t>
            </a:r>
            <a:endParaRPr/>
          </a:p>
          <a:p>
            <a:pPr indent="0" lvl="0" marL="0" rtl="0" algn="l">
              <a:spcBef>
                <a:spcPts val="1200"/>
              </a:spcBef>
              <a:spcAft>
                <a:spcPts val="1200"/>
              </a:spcAft>
              <a:buNone/>
            </a:pPr>
            <a:r>
              <a:rPr lang="es-419"/>
              <a:t>El sueño es necesario para la vida, aunque las razones evolutivas de este proceso aún no se han explorado por completo.</a:t>
            </a:r>
            <a:endParaRPr/>
          </a:p>
        </p:txBody>
      </p:sp>
      <p:sp>
        <p:nvSpPr>
          <p:cNvPr id="307" name="Google Shape;307;p1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08" name="Google Shape;308;p1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1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14" name="Google Shape;314;p18"/>
          <p:cNvPicPr preferRelativeResize="0"/>
          <p:nvPr/>
        </p:nvPicPr>
        <p:blipFill>
          <a:blip r:embed="rId3">
            <a:alphaModFix/>
          </a:blip>
          <a:stretch>
            <a:fillRect/>
          </a:stretch>
        </p:blipFill>
        <p:spPr>
          <a:xfrm>
            <a:off x="399075" y="6463"/>
            <a:ext cx="8345841" cy="51305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1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El estado del sueño</a:t>
            </a:r>
            <a:endParaRPr sz="2400">
              <a:solidFill>
                <a:schemeClr val="accent2"/>
              </a:solidFill>
            </a:endParaRPr>
          </a:p>
        </p:txBody>
      </p:sp>
      <p:sp>
        <p:nvSpPr>
          <p:cNvPr id="320" name="Google Shape;320;p1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a:t>
            </a:r>
            <a:r>
              <a:rPr b="1" lang="es-419"/>
              <a:t>estado del sueño</a:t>
            </a:r>
            <a:r>
              <a:rPr lang="es-419"/>
              <a:t> se puede evaluar utilizando parámetros físicos o fisiológicos, como: </a:t>
            </a:r>
            <a:endParaRPr/>
          </a:p>
          <a:p>
            <a:pPr indent="-317500" lvl="0" marL="457200" rtl="0" algn="l">
              <a:spcBef>
                <a:spcPts val="1200"/>
              </a:spcBef>
              <a:spcAft>
                <a:spcPts val="0"/>
              </a:spcAft>
              <a:buSzPts val="1400"/>
              <a:buChar char="●"/>
            </a:pPr>
            <a:r>
              <a:rPr lang="es-419"/>
              <a:t>la frecuencia respiratoria, </a:t>
            </a:r>
            <a:endParaRPr/>
          </a:p>
          <a:p>
            <a:pPr indent="-317500" lvl="0" marL="457200" rtl="0" algn="l">
              <a:spcBef>
                <a:spcPts val="0"/>
              </a:spcBef>
              <a:spcAft>
                <a:spcPts val="0"/>
              </a:spcAft>
              <a:buSzPts val="1400"/>
              <a:buChar char="●"/>
            </a:pPr>
            <a:r>
              <a:rPr lang="es-419"/>
              <a:t>la frecuencia cardíaca, </a:t>
            </a:r>
            <a:endParaRPr/>
          </a:p>
          <a:p>
            <a:pPr indent="-317500" lvl="0" marL="457200" rtl="0" algn="l">
              <a:spcBef>
                <a:spcPts val="0"/>
              </a:spcBef>
              <a:spcAft>
                <a:spcPts val="0"/>
              </a:spcAft>
              <a:buSzPts val="1400"/>
              <a:buChar char="●"/>
            </a:pPr>
            <a:r>
              <a:rPr lang="es-419"/>
              <a:t>la temperatura, y </a:t>
            </a:r>
            <a:endParaRPr/>
          </a:p>
          <a:p>
            <a:pPr indent="-317500" lvl="0" marL="457200" rtl="0" algn="l">
              <a:spcBef>
                <a:spcPts val="0"/>
              </a:spcBef>
              <a:spcAft>
                <a:spcPts val="0"/>
              </a:spcAft>
              <a:buSzPts val="1400"/>
              <a:buChar char="●"/>
            </a:pPr>
            <a:r>
              <a:rPr lang="es-419"/>
              <a:t>el movimiento corporal. </a:t>
            </a:r>
            <a:endParaRPr/>
          </a:p>
          <a:p>
            <a:pPr indent="0" lvl="0" marL="0" rtl="0" algn="l">
              <a:spcBef>
                <a:spcPts val="1200"/>
              </a:spcBef>
              <a:spcAft>
                <a:spcPts val="1200"/>
              </a:spcAft>
              <a:buNone/>
            </a:pPr>
            <a:r>
              <a:rPr lang="es-419"/>
              <a:t>En función de las características extraídas de estos parámetros, el comportamiento del sueño se puede determinar en términos de tiempo de sueño, duración, latencia, activación, despertar después del inicio del sueño (WASO) y eficiencia del sueño (SE).</a:t>
            </a:r>
            <a:endParaRPr/>
          </a:p>
        </p:txBody>
      </p:sp>
      <p:sp>
        <p:nvSpPr>
          <p:cNvPr id="321" name="Google Shape;321;p19"/>
          <p:cNvSpPr txBox="1"/>
          <p:nvPr/>
        </p:nvSpPr>
        <p:spPr>
          <a:xfrm>
            <a:off x="800450" y="4471675"/>
            <a:ext cx="7537200" cy="554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A.Roebuck,V.Monasterio,E.Gederi,M.Osipov,J.Behar,A.Malhotra, T. Penzel, and G. D. Clifford, ‘‘A review of signals used in sleep analysis,’’ </a:t>
            </a:r>
            <a:br>
              <a:rPr lang="es-419" sz="800">
                <a:solidFill>
                  <a:srgbClr val="94B6BD"/>
                </a:solidFill>
              </a:rPr>
            </a:br>
            <a:r>
              <a:rPr lang="es-419" sz="800">
                <a:solidFill>
                  <a:srgbClr val="94B6BD"/>
                </a:solidFill>
              </a:rPr>
              <a:t>Physiol. Meas., vol. 35, no. 1, pp. R1–R57, 2013</a:t>
            </a:r>
            <a:endParaRPr sz="800">
              <a:solidFill>
                <a:srgbClr val="94B6BD"/>
              </a:solidFill>
            </a:endParaRPr>
          </a:p>
          <a:p>
            <a:pPr indent="0" lvl="0" marL="0" rtl="0" algn="r">
              <a:spcBef>
                <a:spcPts val="0"/>
              </a:spcBef>
              <a:spcAft>
                <a:spcPts val="0"/>
              </a:spcAft>
              <a:buNone/>
            </a:pPr>
            <a:r>
              <a:rPr lang="es-419" sz="800">
                <a:solidFill>
                  <a:srgbClr val="94B6BD"/>
                </a:solidFill>
              </a:rPr>
              <a:t>V. Ibáñez, J. Silva, and O. Cauli, ‘‘A survey on sleep assessment methods,’’ PeerJ, vol. 6, p. e4849, May 2018</a:t>
            </a:r>
            <a:endParaRPr sz="800">
              <a:solidFill>
                <a:srgbClr val="94B6BD"/>
              </a:solidFill>
            </a:endParaRPr>
          </a:p>
        </p:txBody>
      </p:sp>
      <p:sp>
        <p:nvSpPr>
          <p:cNvPr id="322" name="Google Shape;322;p1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2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¿Cómo se estudia</a:t>
            </a:r>
            <a:r>
              <a:rPr lang="es-419" sz="2400">
                <a:solidFill>
                  <a:schemeClr val="accent2"/>
                </a:solidFill>
              </a:rPr>
              <a:t>?</a:t>
            </a:r>
            <a:endParaRPr sz="2400">
              <a:solidFill>
                <a:schemeClr val="accent2"/>
              </a:solidFill>
            </a:endParaRPr>
          </a:p>
        </p:txBody>
      </p:sp>
      <p:sp>
        <p:nvSpPr>
          <p:cNvPr id="328" name="Google Shape;328;p2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comportamiento del sueño (</a:t>
            </a:r>
            <a:r>
              <a:rPr i="1" lang="es-419"/>
              <a:t>sleep behavior</a:t>
            </a:r>
            <a:r>
              <a:rPr lang="es-419"/>
              <a:t>) se estudia tradicionalmente en </a:t>
            </a:r>
            <a:r>
              <a:rPr b="1" lang="es-419">
                <a:solidFill>
                  <a:schemeClr val="accent5"/>
                </a:solidFill>
              </a:rPr>
              <a:t>entornos clínicos</a:t>
            </a:r>
            <a:r>
              <a:rPr lang="es-419"/>
              <a:t> y sigue siendo el método aceptado para las evaluaciones del sueño. </a:t>
            </a:r>
            <a:endParaRPr/>
          </a:p>
          <a:p>
            <a:pPr indent="0" lvl="0" marL="0" rtl="0" algn="l">
              <a:spcBef>
                <a:spcPts val="1200"/>
              </a:spcBef>
              <a:spcAft>
                <a:spcPts val="0"/>
              </a:spcAft>
              <a:buNone/>
            </a:pPr>
            <a:r>
              <a:rPr lang="es-419"/>
              <a:t>La </a:t>
            </a:r>
            <a:r>
              <a:rPr b="1" lang="es-419"/>
              <a:t>polisomnografía</a:t>
            </a:r>
            <a:r>
              <a:rPr lang="es-419"/>
              <a:t> (PSG) es el principal estándar de oro médico utilizado para la clasificación de los trastornos del sueño, e.g., los trastornos respiratorios relacionados con el sueño. </a:t>
            </a:r>
            <a:endParaRPr/>
          </a:p>
          <a:p>
            <a:pPr indent="0" lvl="0" marL="0" rtl="0" algn="l">
              <a:spcBef>
                <a:spcPts val="1200"/>
              </a:spcBef>
              <a:spcAft>
                <a:spcPts val="1200"/>
              </a:spcAft>
              <a:buNone/>
            </a:pPr>
            <a:r>
              <a:rPr lang="es-419"/>
              <a:t>Este sistema calcula la eficiencia del sueño, la latencia del sueño, el índice de activación, las etapas del sueño y otros factores relacionados con los trastornos del sueño a partir de los datos de medición.</a:t>
            </a:r>
            <a:endParaRPr/>
          </a:p>
        </p:txBody>
      </p:sp>
      <p:sp>
        <p:nvSpPr>
          <p:cNvPr id="329" name="Google Shape;329;p2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V. Ibáñez, J. Silva, and O. Cauli, ‘‘A survey on sleep assessment methods,’’ PeerJ, vol. 6, p. e4849, May 2018</a:t>
            </a:r>
            <a:endParaRPr sz="800">
              <a:solidFill>
                <a:srgbClr val="94B6BD"/>
              </a:solidFill>
            </a:endParaRPr>
          </a:p>
        </p:txBody>
      </p:sp>
      <p:sp>
        <p:nvSpPr>
          <p:cNvPr id="330" name="Google Shape;330;p2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sp>
        <p:nvSpPr>
          <p:cNvPr id="335" name="Google Shape;335;p2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Trastornos del sueño más </a:t>
            </a:r>
            <a:r>
              <a:rPr lang="es-419" sz="2400">
                <a:solidFill>
                  <a:schemeClr val="accent2"/>
                </a:solidFill>
              </a:rPr>
              <a:t>comunes</a:t>
            </a:r>
            <a:endParaRPr sz="2400">
              <a:solidFill>
                <a:schemeClr val="accent2"/>
              </a:solidFill>
            </a:endParaRPr>
          </a:p>
        </p:txBody>
      </p:sp>
      <p:sp>
        <p:nvSpPr>
          <p:cNvPr id="336" name="Google Shape;336;p2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317500" lvl="0" marL="457200" rtl="0" algn="l">
              <a:spcBef>
                <a:spcPts val="0"/>
              </a:spcBef>
              <a:spcAft>
                <a:spcPts val="0"/>
              </a:spcAft>
              <a:buSzPts val="1400"/>
              <a:buChar char="●"/>
            </a:pPr>
            <a:r>
              <a:rPr b="1" lang="es-419"/>
              <a:t>Insomnio: </a:t>
            </a:r>
            <a:r>
              <a:rPr lang="es-419"/>
              <a:t>No poder quedarse dormido y mantenerse despierto. </a:t>
            </a:r>
            <a:endParaRPr/>
          </a:p>
          <a:p>
            <a:pPr indent="-317500" lvl="0" marL="457200" rtl="0" algn="l">
              <a:spcBef>
                <a:spcPts val="0"/>
              </a:spcBef>
              <a:spcAft>
                <a:spcPts val="0"/>
              </a:spcAft>
              <a:buSzPts val="1400"/>
              <a:buChar char="●"/>
            </a:pPr>
            <a:r>
              <a:rPr b="1" lang="es-419"/>
              <a:t>Apnea del sueño: </a:t>
            </a:r>
            <a:r>
              <a:rPr lang="es-419"/>
              <a:t>Trastorno de la respiración en la cual la respiración se detiene por 10 segundos o más mientras duerme.</a:t>
            </a:r>
            <a:endParaRPr/>
          </a:p>
          <a:p>
            <a:pPr indent="-317500" lvl="0" marL="457200" rtl="0" algn="l">
              <a:spcBef>
                <a:spcPts val="0"/>
              </a:spcBef>
              <a:spcAft>
                <a:spcPts val="0"/>
              </a:spcAft>
              <a:buSzPts val="1400"/>
              <a:buChar char="●"/>
            </a:pPr>
            <a:r>
              <a:rPr b="1" lang="es-419"/>
              <a:t>Síndrome de las piernas inquietas: </a:t>
            </a:r>
            <a:r>
              <a:rPr lang="es-419"/>
              <a:t>Una sensación de hormigueo o punzadas en las piernas junto a una fuerte necesidad de moverlas.</a:t>
            </a:r>
            <a:endParaRPr/>
          </a:p>
          <a:p>
            <a:pPr indent="-317500" lvl="0" marL="457200" rtl="0" algn="l">
              <a:spcBef>
                <a:spcPts val="0"/>
              </a:spcBef>
              <a:spcAft>
                <a:spcPts val="0"/>
              </a:spcAft>
              <a:buSzPts val="1400"/>
              <a:buChar char="●"/>
            </a:pPr>
            <a:r>
              <a:rPr b="1" lang="es-419"/>
              <a:t>Hipersomnia: </a:t>
            </a:r>
            <a:r>
              <a:rPr lang="es-419"/>
              <a:t>No poder mantenerse despierto durante el día. Incluye la </a:t>
            </a:r>
            <a:r>
              <a:rPr b="1" lang="es-419">
                <a:solidFill>
                  <a:schemeClr val="accent5"/>
                </a:solidFill>
              </a:rPr>
              <a:t>narcolepsia</a:t>
            </a:r>
            <a:r>
              <a:rPr lang="es-419"/>
              <a:t>, que causa una extrema somnolencia diurna.</a:t>
            </a:r>
            <a:endParaRPr/>
          </a:p>
          <a:p>
            <a:pPr indent="-317500" lvl="0" marL="457200" rtl="0" algn="l">
              <a:spcBef>
                <a:spcPts val="0"/>
              </a:spcBef>
              <a:spcAft>
                <a:spcPts val="0"/>
              </a:spcAft>
              <a:buSzPts val="1400"/>
              <a:buChar char="●"/>
            </a:pPr>
            <a:r>
              <a:rPr b="1" lang="es-419"/>
              <a:t>Trastornos del ritmo circadiano: </a:t>
            </a:r>
            <a:r>
              <a:rPr lang="es-419"/>
              <a:t>Problemas con el ciclo vigilia-sueño que dificultan quedarse dormido y despertarse cuando corresponda.</a:t>
            </a:r>
            <a:endParaRPr/>
          </a:p>
          <a:p>
            <a:pPr indent="-317500" lvl="0" marL="457200" rtl="0" algn="l">
              <a:spcBef>
                <a:spcPts val="0"/>
              </a:spcBef>
              <a:spcAft>
                <a:spcPts val="0"/>
              </a:spcAft>
              <a:buSzPts val="1400"/>
              <a:buChar char="●"/>
            </a:pPr>
            <a:r>
              <a:rPr b="1" lang="es-419"/>
              <a:t>Parasomnia: </a:t>
            </a:r>
            <a:r>
              <a:rPr lang="es-419"/>
              <a:t>Conducta inusual como hablar, caminar o comer al quedarse dormido, durante el sueño o al despertarse.</a:t>
            </a:r>
            <a:endParaRPr/>
          </a:p>
        </p:txBody>
      </p:sp>
      <p:sp>
        <p:nvSpPr>
          <p:cNvPr id="337" name="Google Shape;337;p21"/>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https://medlineplus.gov/spanish/sleepdisorders.html</a:t>
            </a:r>
            <a:endParaRPr sz="800">
              <a:solidFill>
                <a:srgbClr val="94B6BD"/>
              </a:solidFill>
            </a:endParaRPr>
          </a:p>
        </p:txBody>
      </p:sp>
      <p:sp>
        <p:nvSpPr>
          <p:cNvPr id="338" name="Google Shape;338;p2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2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344" name="Google Shape;344;p22"/>
          <p:cNvPicPr preferRelativeResize="0"/>
          <p:nvPr/>
        </p:nvPicPr>
        <p:blipFill rotWithShape="1">
          <a:blip r:embed="rId3">
            <a:alphaModFix/>
          </a:blip>
          <a:srcRect b="3799" l="0" r="0" t="0"/>
          <a:stretch/>
        </p:blipFill>
        <p:spPr>
          <a:xfrm>
            <a:off x="1622775" y="529100"/>
            <a:ext cx="6124925" cy="3930001"/>
          </a:xfrm>
          <a:prstGeom prst="rect">
            <a:avLst/>
          </a:prstGeom>
          <a:noFill/>
          <a:ln>
            <a:noFill/>
          </a:ln>
        </p:spPr>
      </p:pic>
      <p:sp>
        <p:nvSpPr>
          <p:cNvPr id="345" name="Google Shape;345;p2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https://www.tmjsleepcentre.net.au/introduction-to-common-sleep-disorders/</a:t>
            </a:r>
            <a:endParaRPr sz="800">
              <a:solidFill>
                <a:srgbClr val="94B6BD"/>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9" name="Shape 349"/>
        <p:cNvGrpSpPr/>
        <p:nvPr/>
      </p:nvGrpSpPr>
      <p:grpSpPr>
        <a:xfrm>
          <a:off x="0" y="0"/>
          <a:ext cx="0" cy="0"/>
          <a:chOff x="0" y="0"/>
          <a:chExt cx="0" cy="0"/>
        </a:xfrm>
      </p:grpSpPr>
      <p:sp>
        <p:nvSpPr>
          <p:cNvPr id="350" name="Google Shape;350;p2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Herramientas</a:t>
            </a:r>
            <a:endParaRPr sz="2400">
              <a:solidFill>
                <a:schemeClr val="accent2"/>
              </a:solidFill>
            </a:endParaRPr>
          </a:p>
        </p:txBody>
      </p:sp>
      <p:sp>
        <p:nvSpPr>
          <p:cNvPr id="351" name="Google Shape;351;p2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Además de la PSG, otra herramienta importante es la </a:t>
            </a:r>
            <a:r>
              <a:rPr b="1" lang="es-419">
                <a:solidFill>
                  <a:schemeClr val="accent5"/>
                </a:solidFill>
              </a:rPr>
              <a:t>actigrafía</a:t>
            </a:r>
            <a:r>
              <a:rPr lang="es-419"/>
              <a:t> no invasiva, que mide la aceleración para extraer información de los cambios relacionados con el movimiento. </a:t>
            </a:r>
            <a:endParaRPr/>
          </a:p>
          <a:p>
            <a:pPr indent="0" lvl="0" marL="0" rtl="0" algn="l">
              <a:spcBef>
                <a:spcPts val="1200"/>
              </a:spcBef>
              <a:spcAft>
                <a:spcPts val="0"/>
              </a:spcAft>
              <a:buNone/>
            </a:pPr>
            <a:r>
              <a:rPr lang="es-419"/>
              <a:t>La</a:t>
            </a:r>
            <a:r>
              <a:rPr lang="es-419"/>
              <a:t>s</a:t>
            </a:r>
            <a:r>
              <a:rPr lang="es-419"/>
              <a:t> </a:t>
            </a:r>
            <a:r>
              <a:rPr b="1" lang="es-419"/>
              <a:t>restricciones</a:t>
            </a:r>
            <a:r>
              <a:rPr lang="es-419"/>
              <a:t> para PSG incluyen monitoreo del sueño a corto plazo y equipos costosos. Además, el efecto de “la primera noche” está presente durante los registros de laboratorio, y son necesarias al menos dos noches consecutivas de recolección de datos, especialmente para pacientes con insomnio. </a:t>
            </a:r>
            <a:endParaRPr/>
          </a:p>
          <a:p>
            <a:pPr indent="0" lvl="0" marL="0" rtl="0" algn="l">
              <a:spcBef>
                <a:spcPts val="1200"/>
              </a:spcBef>
              <a:spcAft>
                <a:spcPts val="1200"/>
              </a:spcAft>
              <a:buNone/>
            </a:pPr>
            <a:r>
              <a:rPr lang="es-419"/>
              <a:t>Para la actigrafía, la información de sueño disponible está </a:t>
            </a:r>
            <a:r>
              <a:rPr b="1" lang="es-419"/>
              <a:t>restringida</a:t>
            </a:r>
            <a:r>
              <a:rPr lang="es-419"/>
              <a:t> en función solo de los datos de movimiento recopilados.</a:t>
            </a:r>
            <a:endParaRPr/>
          </a:p>
        </p:txBody>
      </p:sp>
      <p:sp>
        <p:nvSpPr>
          <p:cNvPr id="352" name="Google Shape;352;p23"/>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J. Newell, O. Mairesse, P. Verbanck, and D. Neu, ‘‘Is a one-night stay in the lab really enough to conclude? First-night effect and night-to- night variability in polysomnographic recordings among different clinical population samples,’’ Psychiatry Res., vol. 200, nos. 2–3, pp. 795–801, 2012</a:t>
            </a:r>
            <a:endParaRPr sz="800">
              <a:solidFill>
                <a:srgbClr val="94B6BD"/>
              </a:solidFill>
            </a:endParaRPr>
          </a:p>
        </p:txBody>
      </p:sp>
      <p:sp>
        <p:nvSpPr>
          <p:cNvPr id="353" name="Google Shape;353;p2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7" name="Shape 357"/>
        <p:cNvGrpSpPr/>
        <p:nvPr/>
      </p:nvGrpSpPr>
      <p:grpSpPr>
        <a:xfrm>
          <a:off x="0" y="0"/>
          <a:ext cx="0" cy="0"/>
          <a:chOff x="0" y="0"/>
          <a:chExt cx="0" cy="0"/>
        </a:xfrm>
      </p:grpSpPr>
      <p:sp>
        <p:nvSpPr>
          <p:cNvPr id="358" name="Google Shape;358;p2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Tareas a resolver</a:t>
            </a:r>
            <a:endParaRPr sz="2400">
              <a:solidFill>
                <a:schemeClr val="accent2"/>
              </a:solidFill>
            </a:endParaRPr>
          </a:p>
        </p:txBody>
      </p:sp>
      <p:sp>
        <p:nvSpPr>
          <p:cNvPr id="359" name="Google Shape;359;p24"/>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Las principales líneas de investigación</a:t>
            </a:r>
            <a:r>
              <a:rPr lang="es-419"/>
              <a:t> incluyen: </a:t>
            </a:r>
            <a:endParaRPr/>
          </a:p>
          <a:p>
            <a:pPr indent="-317500" lvl="0" marL="457200" rtl="0" algn="l">
              <a:spcBef>
                <a:spcPts val="1200"/>
              </a:spcBef>
              <a:spcAft>
                <a:spcPts val="0"/>
              </a:spcAft>
              <a:buSzPts val="1400"/>
              <a:buChar char="●"/>
            </a:pPr>
            <a:r>
              <a:rPr lang="es-419"/>
              <a:t>el diagnóstico de trastornos del sueño, </a:t>
            </a:r>
            <a:endParaRPr/>
          </a:p>
          <a:p>
            <a:pPr indent="-317500" lvl="0" marL="457200" rtl="0" algn="l">
              <a:spcBef>
                <a:spcPts val="0"/>
              </a:spcBef>
              <a:spcAft>
                <a:spcPts val="0"/>
              </a:spcAft>
              <a:buSzPts val="1400"/>
              <a:buChar char="●"/>
            </a:pPr>
            <a:r>
              <a:rPr lang="es-419"/>
              <a:t>la investigación de las áreas que están influenciadas por el sueño, y </a:t>
            </a:r>
            <a:endParaRPr/>
          </a:p>
          <a:p>
            <a:pPr indent="-317500" lvl="0" marL="457200" rtl="0" algn="l">
              <a:spcBef>
                <a:spcPts val="0"/>
              </a:spcBef>
              <a:spcAft>
                <a:spcPts val="0"/>
              </a:spcAft>
              <a:buSzPts val="1400"/>
              <a:buChar char="●"/>
            </a:pPr>
            <a:r>
              <a:rPr lang="es-419"/>
              <a:t>los patrones de sueño recurrentes. </a:t>
            </a:r>
            <a:endParaRPr/>
          </a:p>
          <a:p>
            <a:pPr indent="0" lvl="0" marL="0" rtl="0" algn="l">
              <a:spcBef>
                <a:spcPts val="1200"/>
              </a:spcBef>
              <a:spcAft>
                <a:spcPts val="0"/>
              </a:spcAft>
              <a:buNone/>
            </a:pPr>
            <a:r>
              <a:rPr lang="es-419"/>
              <a:t>Además, los dispositivos IoT están avanzando, creando nuevas oportunidades y atrayendo cada vez más la atención en las evaluaciones del sueño en el </a:t>
            </a:r>
            <a:r>
              <a:rPr b="1" lang="es-419"/>
              <a:t>hogar</a:t>
            </a:r>
            <a:r>
              <a:rPr lang="es-419"/>
              <a:t>. </a:t>
            </a:r>
            <a:endParaRPr/>
          </a:p>
          <a:p>
            <a:pPr indent="0" lvl="0" marL="0" rtl="0" algn="l">
              <a:spcBef>
                <a:spcPts val="1200"/>
              </a:spcBef>
              <a:spcAft>
                <a:spcPts val="1200"/>
              </a:spcAft>
              <a:buNone/>
            </a:pPr>
            <a:r>
              <a:rPr lang="es-419"/>
              <a:t>La monitorización domiciliaria permite la autoevaluación y la autogestión del estado del sueño día a día dentro del entorno doméstico natural de una persona.</a:t>
            </a:r>
            <a:endParaRPr/>
          </a:p>
        </p:txBody>
      </p:sp>
      <p:sp>
        <p:nvSpPr>
          <p:cNvPr id="360" name="Google Shape;360;p2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4" name="Shape 364"/>
        <p:cNvGrpSpPr/>
        <p:nvPr/>
      </p:nvGrpSpPr>
      <p:grpSpPr>
        <a:xfrm>
          <a:off x="0" y="0"/>
          <a:ext cx="0" cy="0"/>
          <a:chOff x="0" y="0"/>
          <a:chExt cx="0" cy="0"/>
        </a:xfrm>
      </p:grpSpPr>
      <p:sp>
        <p:nvSpPr>
          <p:cNvPr id="365" name="Google Shape;365;p2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Justificación</a:t>
            </a:r>
            <a:endParaRPr sz="2400">
              <a:solidFill>
                <a:schemeClr val="accent2"/>
              </a:solidFill>
            </a:endParaRPr>
          </a:p>
        </p:txBody>
      </p:sp>
      <p:sp>
        <p:nvSpPr>
          <p:cNvPr id="366" name="Google Shape;366;p25"/>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Los datos recopilados se analizan y evalúan aplicando técnicas de minería de datos y aprendizaje automático para </a:t>
            </a:r>
            <a:r>
              <a:rPr b="1" lang="es-419"/>
              <a:t>extraer </a:t>
            </a:r>
            <a:r>
              <a:rPr b="1" lang="es-419">
                <a:solidFill>
                  <a:schemeClr val="accent5"/>
                </a:solidFill>
              </a:rPr>
              <a:t>parámetros</a:t>
            </a:r>
            <a:r>
              <a:rPr lang="es-419"/>
              <a:t> e indicadores clave del sueño. </a:t>
            </a:r>
            <a:endParaRPr/>
          </a:p>
          <a:p>
            <a:pPr indent="0" lvl="0" marL="0" rtl="0" algn="l">
              <a:spcBef>
                <a:spcPts val="1200"/>
              </a:spcBef>
              <a:spcAft>
                <a:spcPts val="0"/>
              </a:spcAft>
              <a:buNone/>
            </a:pPr>
            <a:r>
              <a:rPr lang="es-419"/>
              <a:t>Las evaluaciones del sueño en el hogar con tecnología de sensores no solo pueden ayudar a las personas a evaluar y controlar su sueño, sino que también ayudan a los investigadores a encontrar conexiones y correlaciones entre los comportamientos diurnos y nocturnos.</a:t>
            </a:r>
            <a:endParaRPr/>
          </a:p>
          <a:p>
            <a:pPr indent="0" lvl="0" marL="0" rtl="0" algn="l">
              <a:spcBef>
                <a:spcPts val="1200"/>
              </a:spcBef>
              <a:spcAft>
                <a:spcPts val="1200"/>
              </a:spcAft>
              <a:buNone/>
            </a:pPr>
            <a:r>
              <a:rPr lang="es-419"/>
              <a:t>La investigación médica está interesada en </a:t>
            </a:r>
            <a:r>
              <a:rPr b="1" lang="es-419"/>
              <a:t>automatizar procesos</a:t>
            </a:r>
            <a:r>
              <a:rPr lang="es-419"/>
              <a:t> para proporcionar diagnósticos más rápidos y tempranos de trastornos del sueño y explorar el comportamiento nocturno.</a:t>
            </a:r>
            <a:endParaRPr/>
          </a:p>
        </p:txBody>
      </p:sp>
      <p:sp>
        <p:nvSpPr>
          <p:cNvPr id="367" name="Google Shape;367;p2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U. Reimer, S. Emmenegger, E. Maier, Z. Zhang, and R. Khatami, ‘‘Recognizing sleep stages with wearable sensors in everyday settings,’’ </a:t>
            </a:r>
            <a:br>
              <a:rPr lang="es-419" sz="800">
                <a:solidFill>
                  <a:schemeClr val="dk1"/>
                </a:solidFill>
              </a:rPr>
            </a:br>
            <a:r>
              <a:rPr lang="es-419" sz="800">
                <a:solidFill>
                  <a:schemeClr val="dk1"/>
                </a:solidFill>
              </a:rPr>
              <a:t>in Proc. 3rd Int. Conf. Inform. Commun. Technol. Ageing Well e-Health, 2017, pp. 172–179</a:t>
            </a:r>
            <a:endParaRPr sz="800">
              <a:solidFill>
                <a:srgbClr val="94B6BD"/>
              </a:solidFill>
            </a:endParaRPr>
          </a:p>
        </p:txBody>
      </p:sp>
      <p:sp>
        <p:nvSpPr>
          <p:cNvPr id="368" name="Google Shape;368;p2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comportamiento del sueño</a:t>
            </a:r>
            <a:endParaRPr/>
          </a:p>
        </p:txBody>
      </p:sp>
      <p:sp>
        <p:nvSpPr>
          <p:cNvPr id="374" name="Google Shape;374;p2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comportamiento del sueño se puede dividir en: </a:t>
            </a:r>
            <a:r>
              <a:rPr b="1" lang="es-419"/>
              <a:t>movimiento</a:t>
            </a:r>
            <a:r>
              <a:rPr lang="es-419"/>
              <a:t> y </a:t>
            </a:r>
            <a:r>
              <a:rPr b="1" lang="es-419"/>
              <a:t>estados</a:t>
            </a:r>
            <a:r>
              <a:rPr lang="es-419"/>
              <a:t> estables. </a:t>
            </a:r>
            <a:endParaRPr/>
          </a:p>
          <a:p>
            <a:pPr indent="0" lvl="0" marL="0" rtl="0" algn="l">
              <a:spcBef>
                <a:spcPts val="1200"/>
              </a:spcBef>
              <a:spcAft>
                <a:spcPts val="0"/>
              </a:spcAft>
              <a:buNone/>
            </a:pPr>
            <a:r>
              <a:rPr lang="es-419"/>
              <a:t>El </a:t>
            </a:r>
            <a:r>
              <a:rPr b="1" lang="es-419">
                <a:solidFill>
                  <a:schemeClr val="accent5"/>
                </a:solidFill>
              </a:rPr>
              <a:t>movimiento</a:t>
            </a:r>
            <a:r>
              <a:rPr lang="es-419"/>
              <a:t> contiene información sobre los episodios dormido (</a:t>
            </a:r>
            <a:r>
              <a:rPr i="1" lang="es-419"/>
              <a:t>sleep</a:t>
            </a:r>
            <a:r>
              <a:rPr lang="es-419"/>
              <a:t>) y despierto (</a:t>
            </a:r>
            <a:r>
              <a:rPr i="1" lang="es-419"/>
              <a:t>wake</a:t>
            </a:r>
            <a:r>
              <a:rPr lang="es-419"/>
              <a:t>) de los que se pueden extraer las etapas del sueño. Los </a:t>
            </a:r>
            <a:r>
              <a:rPr b="1" lang="es-419"/>
              <a:t>estados</a:t>
            </a:r>
            <a:r>
              <a:rPr lang="es-419"/>
              <a:t> estables describen posiciones de sueño durante períodos sin movimiento. </a:t>
            </a:r>
            <a:endParaRPr/>
          </a:p>
          <a:p>
            <a:pPr indent="0" lvl="0" marL="0" rtl="0" algn="l">
              <a:spcBef>
                <a:spcPts val="1200"/>
              </a:spcBef>
              <a:spcAft>
                <a:spcPts val="1200"/>
              </a:spcAft>
              <a:buNone/>
            </a:pPr>
            <a:r>
              <a:rPr lang="es-419"/>
              <a:t>En consecuencia, se pueden caracterizar los comportamientos normales y anormales, lo que puede llevar al diagnóstico de trastornos del sueño y enfermedades crónicas.</a:t>
            </a:r>
            <a:endParaRPr/>
          </a:p>
        </p:txBody>
      </p:sp>
      <p:sp>
        <p:nvSpPr>
          <p:cNvPr id="375" name="Google Shape;375;p2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376" name="Google Shape;376;p2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0" name="Shape 380"/>
        <p:cNvGrpSpPr/>
        <p:nvPr/>
      </p:nvGrpSpPr>
      <p:grpSpPr>
        <a:xfrm>
          <a:off x="0" y="0"/>
          <a:ext cx="0" cy="0"/>
          <a:chOff x="0" y="0"/>
          <a:chExt cx="0" cy="0"/>
        </a:xfrm>
      </p:grpSpPr>
      <p:sp>
        <p:nvSpPr>
          <p:cNvPr id="381" name="Google Shape;381;p2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i="1" lang="es-419" sz="2400">
                <a:solidFill>
                  <a:schemeClr val="accent2"/>
                </a:solidFill>
              </a:rPr>
              <a:t>Movement behavior</a:t>
            </a:r>
            <a:endParaRPr i="1" sz="2400">
              <a:solidFill>
                <a:schemeClr val="accent2"/>
              </a:solidFill>
            </a:endParaRPr>
          </a:p>
        </p:txBody>
      </p:sp>
      <p:sp>
        <p:nvSpPr>
          <p:cNvPr id="382" name="Google Shape;382;p2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sueño es un estado de relajación que todavía contiene </a:t>
            </a:r>
            <a:r>
              <a:rPr b="1" lang="es-419">
                <a:solidFill>
                  <a:schemeClr val="accent5"/>
                </a:solidFill>
              </a:rPr>
              <a:t>movimientos autoinducidos</a:t>
            </a:r>
            <a:r>
              <a:rPr lang="es-419"/>
              <a:t>, principalmente para prevenir las úlceras por presión. </a:t>
            </a:r>
            <a:endParaRPr/>
          </a:p>
          <a:p>
            <a:pPr indent="0" lvl="0" marL="0" rtl="0" algn="l">
              <a:spcBef>
                <a:spcPts val="1200"/>
              </a:spcBef>
              <a:spcAft>
                <a:spcPts val="0"/>
              </a:spcAft>
              <a:buNone/>
            </a:pPr>
            <a:r>
              <a:rPr lang="es-419"/>
              <a:t>Estos movimientos autoinducidos se definen como estados de movimiento que crean un comportamiento a lo </a:t>
            </a:r>
            <a:r>
              <a:rPr b="1" lang="es-419"/>
              <a:t>largo del tiempo.</a:t>
            </a:r>
            <a:r>
              <a:rPr lang="es-419"/>
              <a:t> </a:t>
            </a:r>
            <a:endParaRPr/>
          </a:p>
          <a:p>
            <a:pPr indent="0" lvl="0" marL="0" rtl="0" algn="l">
              <a:spcBef>
                <a:spcPts val="1200"/>
              </a:spcBef>
              <a:spcAft>
                <a:spcPts val="1200"/>
              </a:spcAft>
              <a:buNone/>
            </a:pPr>
            <a:r>
              <a:rPr lang="es-419"/>
              <a:t>El movimiento es la principal fuente de información para la mayoría de los sensores. Una excepción es el PSG, que se basa en una combinación de información de movimiento y no movimiento.</a:t>
            </a:r>
            <a:endParaRPr/>
          </a:p>
        </p:txBody>
      </p:sp>
      <p:sp>
        <p:nvSpPr>
          <p:cNvPr id="383" name="Google Shape;383;p2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D. Waltisberg, B. Arnrich, and G. Tröster, ‘‘Sleep quality monitoring with the smart bed,’’ in Pervasive Health. London, U.K.: Springer, 2014, pp. 211–227</a:t>
            </a:r>
            <a:endParaRPr sz="800">
              <a:solidFill>
                <a:srgbClr val="94B6BD"/>
              </a:solidFill>
            </a:endParaRPr>
          </a:p>
        </p:txBody>
      </p:sp>
      <p:sp>
        <p:nvSpPr>
          <p:cNvPr id="384" name="Google Shape;384;p2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sp>
        <p:nvSpPr>
          <p:cNvPr id="389" name="Google Shape;389;p2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i="1" lang="es-419" sz="2400">
                <a:solidFill>
                  <a:schemeClr val="accent2"/>
                </a:solidFill>
              </a:rPr>
              <a:t>Movement behavior</a:t>
            </a:r>
            <a:endParaRPr i="1" sz="2400">
              <a:solidFill>
                <a:schemeClr val="accent2"/>
              </a:solidFill>
            </a:endParaRPr>
          </a:p>
        </p:txBody>
      </p:sp>
      <p:sp>
        <p:nvSpPr>
          <p:cNvPr id="390" name="Google Shape;390;p2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comportamiento del movimiento se puede utilizar para distinguir los episodios de dormido y despierto. </a:t>
            </a:r>
            <a:endParaRPr/>
          </a:p>
          <a:p>
            <a:pPr indent="0" lvl="0" marL="0" rtl="0" algn="l">
              <a:spcBef>
                <a:spcPts val="1200"/>
              </a:spcBef>
              <a:spcAft>
                <a:spcPts val="0"/>
              </a:spcAft>
              <a:buNone/>
            </a:pPr>
            <a:r>
              <a:rPr lang="es-419"/>
              <a:t>Con base en esta información, se pueden extraer </a:t>
            </a:r>
            <a:r>
              <a:rPr b="1" lang="es-419">
                <a:solidFill>
                  <a:schemeClr val="accent5"/>
                </a:solidFill>
              </a:rPr>
              <a:t>características</a:t>
            </a:r>
            <a:r>
              <a:rPr lang="es-419"/>
              <a:t> objetivas del sueño, e.g., continuidad del sueño, eficiencia, y tiempo. </a:t>
            </a:r>
            <a:endParaRPr/>
          </a:p>
          <a:p>
            <a:pPr indent="0" lvl="0" marL="0" rtl="0" algn="l">
              <a:spcBef>
                <a:spcPts val="1200"/>
              </a:spcBef>
              <a:spcAft>
                <a:spcPts val="1200"/>
              </a:spcAft>
              <a:buNone/>
            </a:pPr>
            <a:r>
              <a:rPr lang="es-419"/>
              <a:t>Las combinaciones de información de movimiento y no movimiento se pueden correlacionar con las </a:t>
            </a:r>
            <a:r>
              <a:rPr b="1" lang="es-419">
                <a:solidFill>
                  <a:schemeClr val="accent5"/>
                </a:solidFill>
              </a:rPr>
              <a:t>etapas del sueño</a:t>
            </a:r>
            <a:r>
              <a:rPr lang="es-419"/>
              <a:t>. Estas últimas describen los diferentes niveles de sueño y </a:t>
            </a:r>
            <a:r>
              <a:rPr lang="es-419"/>
              <a:t>brindan</a:t>
            </a:r>
            <a:r>
              <a:rPr lang="es-419"/>
              <a:t> sugerencias sobre la salud de las personas, uno de los aspectos principales del PSG.</a:t>
            </a:r>
            <a:endParaRPr/>
          </a:p>
        </p:txBody>
      </p:sp>
      <p:sp>
        <p:nvSpPr>
          <p:cNvPr id="391" name="Google Shape;391;p2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5" name="Shape 395"/>
        <p:cNvGrpSpPr/>
        <p:nvPr/>
      </p:nvGrpSpPr>
      <p:grpSpPr>
        <a:xfrm>
          <a:off x="0" y="0"/>
          <a:ext cx="0" cy="0"/>
          <a:chOff x="0" y="0"/>
          <a:chExt cx="0" cy="0"/>
        </a:xfrm>
      </p:grpSpPr>
      <p:sp>
        <p:nvSpPr>
          <p:cNvPr id="396" name="Google Shape;396;p2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i="1" lang="es-419" sz="2400">
                <a:solidFill>
                  <a:schemeClr val="accent2"/>
                </a:solidFill>
              </a:rPr>
              <a:t>Movement behavior</a:t>
            </a:r>
            <a:endParaRPr i="1" sz="2400">
              <a:solidFill>
                <a:schemeClr val="accent2"/>
              </a:solidFill>
            </a:endParaRPr>
          </a:p>
        </p:txBody>
      </p:sp>
      <p:sp>
        <p:nvSpPr>
          <p:cNvPr id="397" name="Google Shape;397;p2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El </a:t>
            </a:r>
            <a:r>
              <a:rPr b="1" lang="es-419"/>
              <a:t>movimiento anormal</a:t>
            </a:r>
            <a:r>
              <a:rPr lang="es-419"/>
              <a:t> durante el sueño ayuda a diagnosticar ciertas enfermedades. </a:t>
            </a:r>
            <a:endParaRPr/>
          </a:p>
          <a:p>
            <a:pPr indent="-317500" lvl="0" marL="457200" rtl="0" algn="l">
              <a:spcBef>
                <a:spcPts val="1200"/>
              </a:spcBef>
              <a:spcAft>
                <a:spcPts val="0"/>
              </a:spcAft>
              <a:buSzPts val="1400"/>
              <a:buChar char="●"/>
            </a:pPr>
            <a:r>
              <a:rPr lang="es-419"/>
              <a:t>Sobre la base de los movimientos irregulares, se puede diagnosticar el trastorno del movimiento periódico de las extremidades, el síndrome de piernas inquietas, el trastorno del movimiento ocular rápido (REM) o la apnea del sueño. </a:t>
            </a:r>
            <a:endParaRPr/>
          </a:p>
          <a:p>
            <a:pPr indent="-317500" lvl="0" marL="457200" rtl="0" algn="l">
              <a:spcBef>
                <a:spcPts val="0"/>
              </a:spcBef>
              <a:spcAft>
                <a:spcPts val="0"/>
              </a:spcAft>
              <a:buSzPts val="1400"/>
              <a:buChar char="●"/>
            </a:pPr>
            <a:r>
              <a:rPr lang="es-419"/>
              <a:t>El comportamiento anormal de despierto-dormido durante el día se utiliza para diagnosticar trastornos del ritmo circadiano del sueño-vigilia. </a:t>
            </a:r>
            <a:endParaRPr/>
          </a:p>
          <a:p>
            <a:pPr indent="0" lvl="0" marL="0" rtl="0" algn="l">
              <a:spcBef>
                <a:spcPts val="1200"/>
              </a:spcBef>
              <a:spcAft>
                <a:spcPts val="1200"/>
              </a:spcAft>
              <a:buNone/>
            </a:pPr>
            <a:r>
              <a:rPr lang="es-419"/>
              <a:t>A partir del </a:t>
            </a:r>
            <a:r>
              <a:rPr b="1" lang="es-419">
                <a:solidFill>
                  <a:schemeClr val="accent5"/>
                </a:solidFill>
              </a:rPr>
              <a:t>comportamiento del movimiento</a:t>
            </a:r>
            <a:r>
              <a:rPr lang="es-419"/>
              <a:t>, se puede obtener información variada, pero aún se puede ampliar investigando los </a:t>
            </a:r>
            <a:r>
              <a:rPr b="1" lang="es-419">
                <a:solidFill>
                  <a:schemeClr val="accent5"/>
                </a:solidFill>
              </a:rPr>
              <a:t>períodos sin movimiento</a:t>
            </a:r>
            <a:r>
              <a:rPr lang="es-419"/>
              <a:t>.</a:t>
            </a:r>
            <a:endParaRPr/>
          </a:p>
        </p:txBody>
      </p:sp>
      <p:sp>
        <p:nvSpPr>
          <p:cNvPr id="398" name="Google Shape;398;p29"/>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V. Ibáñez, J. Silva, and O. Cauli, ‘‘A survey on sleep questionnaires and diaries,’’ Sleep Med., vol. 42, pp. 90–96, Feb. 2018</a:t>
            </a:r>
            <a:endParaRPr sz="800">
              <a:solidFill>
                <a:srgbClr val="94B6BD"/>
              </a:solidFill>
            </a:endParaRPr>
          </a:p>
        </p:txBody>
      </p:sp>
      <p:sp>
        <p:nvSpPr>
          <p:cNvPr id="399" name="Google Shape;399;p2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3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i="1" lang="es-419" sz="2400">
                <a:solidFill>
                  <a:schemeClr val="accent2"/>
                </a:solidFill>
              </a:rPr>
              <a:t>Stable state</a:t>
            </a:r>
            <a:r>
              <a:rPr i="1" lang="es-419" sz="2400">
                <a:solidFill>
                  <a:schemeClr val="accent2"/>
                </a:solidFill>
              </a:rPr>
              <a:t> behavior</a:t>
            </a:r>
            <a:endParaRPr i="1" sz="2400">
              <a:solidFill>
                <a:schemeClr val="accent2"/>
              </a:solidFill>
            </a:endParaRPr>
          </a:p>
        </p:txBody>
      </p:sp>
      <p:sp>
        <p:nvSpPr>
          <p:cNvPr id="405" name="Google Shape;405;p3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Los estados estables investigan los </a:t>
            </a:r>
            <a:r>
              <a:rPr lang="es-419"/>
              <a:t>períodos</a:t>
            </a:r>
            <a:r>
              <a:rPr lang="es-419"/>
              <a:t> en reposo </a:t>
            </a:r>
            <a:r>
              <a:rPr b="1" lang="es-419"/>
              <a:t>sin movimiento,</a:t>
            </a:r>
            <a:r>
              <a:rPr lang="es-419"/>
              <a:t> y están relacionados con las posiciones para dormir. </a:t>
            </a:r>
            <a:endParaRPr/>
          </a:p>
          <a:p>
            <a:pPr indent="0" lvl="0" marL="0" rtl="0" algn="l">
              <a:spcBef>
                <a:spcPts val="1200"/>
              </a:spcBef>
              <a:spcAft>
                <a:spcPts val="0"/>
              </a:spcAft>
              <a:buNone/>
            </a:pPr>
            <a:r>
              <a:rPr lang="es-419"/>
              <a:t>Las </a:t>
            </a:r>
            <a:r>
              <a:rPr b="1" lang="es-419"/>
              <a:t>posturas del sueño </a:t>
            </a:r>
            <a:r>
              <a:rPr lang="es-419"/>
              <a:t>son independientes de las etapas del sueño; por lo tanto, brindan información adicional sobre el comportamiento del sueño.</a:t>
            </a:r>
            <a:endParaRPr/>
          </a:p>
          <a:p>
            <a:pPr indent="0" lvl="0" marL="0" rtl="0" algn="l">
              <a:spcBef>
                <a:spcPts val="1200"/>
              </a:spcBef>
              <a:spcAft>
                <a:spcPts val="0"/>
              </a:spcAft>
              <a:buNone/>
            </a:pPr>
            <a:r>
              <a:rPr lang="es-419"/>
              <a:t>Durante los períodos sin movimiento, se pueden distinguir </a:t>
            </a:r>
            <a:r>
              <a:rPr b="1" lang="es-419">
                <a:solidFill>
                  <a:schemeClr val="accent5"/>
                </a:solidFill>
              </a:rPr>
              <a:t>cuatro posturas básicas para dormir</a:t>
            </a:r>
            <a:r>
              <a:rPr lang="es-419"/>
              <a:t>: decúbito supino, prono, lateral derecho e izquierdo. </a:t>
            </a:r>
            <a:endParaRPr/>
          </a:p>
          <a:p>
            <a:pPr indent="0" lvl="0" marL="0" rtl="0" algn="l">
              <a:spcBef>
                <a:spcPts val="1200"/>
              </a:spcBef>
              <a:spcAft>
                <a:spcPts val="1200"/>
              </a:spcAft>
              <a:buNone/>
            </a:pPr>
            <a:r>
              <a:rPr lang="es-419"/>
              <a:t>Además, los parámetros del sueño, como la calidad del sueño, están influenciados por diferentes posiciones para dormir.</a:t>
            </a:r>
            <a:endParaRPr/>
          </a:p>
        </p:txBody>
      </p:sp>
      <p:sp>
        <p:nvSpPr>
          <p:cNvPr id="406" name="Google Shape;406;p3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S. Fallmann, R. van Veen, L. Chen, D. Walker, F. Chen, and C. Pan, ‘‘Wearable accelerometer based extended sleep position recognition,’’ </a:t>
            </a:r>
            <a:br>
              <a:rPr lang="es-419" sz="800">
                <a:solidFill>
                  <a:schemeClr val="dk1"/>
                </a:solidFill>
              </a:rPr>
            </a:br>
            <a:r>
              <a:rPr lang="es-419" sz="800">
                <a:solidFill>
                  <a:schemeClr val="dk1"/>
                </a:solidFill>
              </a:rPr>
              <a:t>in Proc. IEEE 19th Int. Conf. e-Health Netw., Appl. Services, Oct. 2017, pp. 1–</a:t>
            </a:r>
            <a:r>
              <a:rPr lang="es-419" sz="800">
                <a:solidFill>
                  <a:schemeClr val="dk1"/>
                </a:solidFill>
              </a:rPr>
              <a:t>6</a:t>
            </a:r>
            <a:endParaRPr sz="800">
              <a:solidFill>
                <a:srgbClr val="94B6BD"/>
              </a:solidFill>
            </a:endParaRPr>
          </a:p>
        </p:txBody>
      </p:sp>
      <p:sp>
        <p:nvSpPr>
          <p:cNvPr id="407" name="Google Shape;407;p3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sp>
        <p:nvSpPr>
          <p:cNvPr id="412" name="Google Shape;412;p3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Correlación entre la salud y el sueño</a:t>
            </a:r>
            <a:endParaRPr sz="2400">
              <a:solidFill>
                <a:schemeClr val="accent2"/>
              </a:solidFill>
            </a:endParaRPr>
          </a:p>
        </p:txBody>
      </p:sp>
      <p:sp>
        <p:nvSpPr>
          <p:cNvPr id="413" name="Google Shape;413;p31"/>
          <p:cNvSpPr txBox="1"/>
          <p:nvPr>
            <p:ph idx="1" type="body"/>
          </p:nvPr>
        </p:nvSpPr>
        <p:spPr>
          <a:xfrm>
            <a:off x="1303800" y="1761450"/>
            <a:ext cx="7030500" cy="26037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El </a:t>
            </a:r>
            <a:r>
              <a:rPr b="1" lang="es-419">
                <a:solidFill>
                  <a:schemeClr val="accent5"/>
                </a:solidFill>
              </a:rPr>
              <a:t>comportamiento del sueño </a:t>
            </a:r>
            <a:r>
              <a:rPr lang="es-419"/>
              <a:t>se manifiesta en parámetros útiles para investigar el comportamiento anormal del sueño y está relacionado con enfermedades crónicas.</a:t>
            </a:r>
            <a:endParaRPr/>
          </a:p>
          <a:p>
            <a:pPr indent="0" lvl="0" marL="0" rtl="0" algn="l">
              <a:spcBef>
                <a:spcPts val="1200"/>
              </a:spcBef>
              <a:spcAft>
                <a:spcPts val="0"/>
              </a:spcAft>
              <a:buNone/>
            </a:pPr>
            <a:r>
              <a:rPr lang="es-419"/>
              <a:t>Ciertos patrones de sueño se utilizan para definir los trastornos del sueño y se han investigado para </a:t>
            </a:r>
            <a:r>
              <a:rPr b="1" lang="es-419"/>
              <a:t>la apnea</a:t>
            </a:r>
            <a:r>
              <a:rPr lang="es-419"/>
              <a:t> del sueño, y </a:t>
            </a:r>
            <a:r>
              <a:rPr b="1" lang="es-419"/>
              <a:t>el insomnio</a:t>
            </a:r>
            <a:r>
              <a:rPr lang="es-419"/>
              <a:t>. El diagnóstico de apnea se basa en estudios en una clínica, mientras que el diagnóstico de insomnio se basa en cuestionarios de sueño subjetivos. </a:t>
            </a:r>
            <a:endParaRPr/>
          </a:p>
          <a:p>
            <a:pPr indent="0" lvl="0" marL="0" rtl="0" algn="l">
              <a:spcBef>
                <a:spcPts val="1200"/>
              </a:spcBef>
              <a:spcAft>
                <a:spcPts val="1200"/>
              </a:spcAft>
              <a:buNone/>
            </a:pPr>
            <a:r>
              <a:rPr lang="es-419"/>
              <a:t>La </a:t>
            </a:r>
            <a:r>
              <a:rPr b="1" lang="es-419">
                <a:solidFill>
                  <a:schemeClr val="accent5"/>
                </a:solidFill>
              </a:rPr>
              <a:t>apnea</a:t>
            </a:r>
            <a:r>
              <a:rPr lang="es-419"/>
              <a:t> del sueño se diagnostica utilizando el índice de apnea/hypoapnea (AHI) por hora. </a:t>
            </a:r>
            <a:r>
              <a:rPr lang="es-419"/>
              <a:t>Para el </a:t>
            </a:r>
            <a:r>
              <a:rPr b="1" lang="es-419">
                <a:solidFill>
                  <a:schemeClr val="accent5"/>
                </a:solidFill>
              </a:rPr>
              <a:t>insomnio</a:t>
            </a:r>
            <a:r>
              <a:rPr b="1" lang="es-419"/>
              <a:t>,</a:t>
            </a:r>
            <a:r>
              <a:rPr lang="es-419"/>
              <a:t> se pueden utilizar el Insomnia Severity Index y la Bergen Insomnia Scale. </a:t>
            </a:r>
            <a:endParaRPr/>
          </a:p>
        </p:txBody>
      </p:sp>
      <p:sp>
        <p:nvSpPr>
          <p:cNvPr id="414" name="Google Shape;414;p3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S.FallmannandL.Chen,‘‘Detecting chronic diseases from sleep-wake behaviour and clinical features,’’ </a:t>
            </a:r>
            <a:br>
              <a:rPr lang="es-419" sz="800">
                <a:solidFill>
                  <a:schemeClr val="dk1"/>
                </a:solidFill>
              </a:rPr>
            </a:br>
            <a:r>
              <a:rPr lang="es-419" sz="800">
                <a:solidFill>
                  <a:schemeClr val="dk1"/>
                </a:solidFill>
              </a:rPr>
              <a:t>in Proc. IEEE 5th Int. Conf. Syst. Inform., Nov. 2018, pp. 1076–1084</a:t>
            </a:r>
            <a:endParaRPr sz="800">
              <a:solidFill>
                <a:schemeClr val="dk1"/>
              </a:solidFill>
            </a:endParaRPr>
          </a:p>
        </p:txBody>
      </p:sp>
      <p:sp>
        <p:nvSpPr>
          <p:cNvPr id="415" name="Google Shape;415;p3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9" name="Shape 419"/>
        <p:cNvGrpSpPr/>
        <p:nvPr/>
      </p:nvGrpSpPr>
      <p:grpSpPr>
        <a:xfrm>
          <a:off x="0" y="0"/>
          <a:ext cx="0" cy="0"/>
          <a:chOff x="0" y="0"/>
          <a:chExt cx="0" cy="0"/>
        </a:xfrm>
      </p:grpSpPr>
      <p:sp>
        <p:nvSpPr>
          <p:cNvPr id="420" name="Google Shape;420;p3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Correlación entre la salud y el sueño</a:t>
            </a:r>
            <a:endParaRPr sz="2400">
              <a:solidFill>
                <a:schemeClr val="accent2"/>
              </a:solidFill>
            </a:endParaRPr>
          </a:p>
        </p:txBody>
      </p:sp>
      <p:sp>
        <p:nvSpPr>
          <p:cNvPr id="421" name="Google Shape;421;p3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Los trastornos del sueño están relacionados con una mala calidad del sueño. </a:t>
            </a:r>
            <a:endParaRPr/>
          </a:p>
          <a:p>
            <a:pPr indent="0" lvl="0" marL="0" rtl="0" algn="l">
              <a:spcBef>
                <a:spcPts val="1200"/>
              </a:spcBef>
              <a:spcAft>
                <a:spcPts val="0"/>
              </a:spcAft>
              <a:buNone/>
            </a:pPr>
            <a:r>
              <a:rPr lang="es-419"/>
              <a:t>Una </a:t>
            </a:r>
            <a:r>
              <a:rPr b="1" lang="es-419"/>
              <a:t>falta crónica de sueño </a:t>
            </a:r>
            <a:r>
              <a:rPr lang="es-419"/>
              <a:t>puede conducir a un comportamiento impulsivo, depresión y enfermedades crónicas. </a:t>
            </a:r>
            <a:endParaRPr/>
          </a:p>
          <a:p>
            <a:pPr indent="0" lvl="0" marL="0" rtl="0" algn="l">
              <a:spcBef>
                <a:spcPts val="1200"/>
              </a:spcBef>
              <a:spcAft>
                <a:spcPts val="0"/>
              </a:spcAft>
              <a:buNone/>
            </a:pPr>
            <a:r>
              <a:rPr lang="es-419"/>
              <a:t>Sin embargo, cuando las personas descansan bien, su bienestar se beneficia y pueden manejar mejor la presión y el estrés. </a:t>
            </a:r>
            <a:endParaRPr/>
          </a:p>
          <a:p>
            <a:pPr indent="0" lvl="0" marL="0" rtl="0" algn="l">
              <a:spcBef>
                <a:spcPts val="1200"/>
              </a:spcBef>
              <a:spcAft>
                <a:spcPts val="1200"/>
              </a:spcAft>
              <a:buNone/>
            </a:pPr>
            <a:r>
              <a:rPr lang="es-419"/>
              <a:t>Además, la</a:t>
            </a:r>
            <a:r>
              <a:rPr b="1" lang="es-419">
                <a:solidFill>
                  <a:schemeClr val="accent5"/>
                </a:solidFill>
              </a:rPr>
              <a:t> calidad del sueño</a:t>
            </a:r>
            <a:r>
              <a:rPr lang="es-419"/>
              <a:t> tiene un alto impacto en el bienestar físico y mental. Por lo tanto, monitorear los comportamientos sociales y del sueño puede ayudar al diagnóstico temprano de, por ejemplo, el trastorno depresivo mayor.</a:t>
            </a:r>
            <a:endParaRPr/>
          </a:p>
        </p:txBody>
      </p:sp>
      <p:sp>
        <p:nvSpPr>
          <p:cNvPr id="422" name="Google Shape;422;p3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V. Ibáñez, J. Silva, and O. Cauli, ‘‘A survey on sleep assessment methods,’’ PeerJ, vol. 6, p. e4849, May 2018</a:t>
            </a:r>
            <a:endParaRPr sz="800">
              <a:solidFill>
                <a:schemeClr val="dk1"/>
              </a:solidFill>
            </a:endParaRPr>
          </a:p>
        </p:txBody>
      </p:sp>
      <p:sp>
        <p:nvSpPr>
          <p:cNvPr id="423" name="Google Shape;423;p3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p3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Correlación entre la salud y el sueño</a:t>
            </a:r>
            <a:endParaRPr sz="2400">
              <a:solidFill>
                <a:schemeClr val="accent2"/>
              </a:solidFill>
            </a:endParaRPr>
          </a:p>
        </p:txBody>
      </p:sp>
      <p:sp>
        <p:nvSpPr>
          <p:cNvPr id="429" name="Google Shape;429;p33"/>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a:t>
            </a:r>
            <a:r>
              <a:rPr b="1" lang="es-419"/>
              <a:t>diagnósticos</a:t>
            </a:r>
            <a:r>
              <a:rPr lang="es-419"/>
              <a:t> de las enfermedades crónicas se basan en (i) métodos invasivos, e.g., análisis de azúcar en la sangre; (ii) historial clínico, incluidos síntomas y factores de riesgo; o (iii) datos basados en sensores, e.g., mediciones de la presión arterial. </a:t>
            </a:r>
            <a:endParaRPr/>
          </a:p>
          <a:p>
            <a:pPr indent="0" lvl="0" marL="0" rtl="0" algn="l">
              <a:spcBef>
                <a:spcPts val="1200"/>
              </a:spcBef>
              <a:spcAft>
                <a:spcPts val="0"/>
              </a:spcAft>
              <a:buNone/>
            </a:pPr>
            <a:r>
              <a:rPr lang="es-419"/>
              <a:t>La investigación actual se basa en la detección temprana mediante </a:t>
            </a:r>
            <a:r>
              <a:rPr b="1" lang="es-419">
                <a:solidFill>
                  <a:schemeClr val="accent5"/>
                </a:solidFill>
              </a:rPr>
              <a:t>análisis clínicos </a:t>
            </a:r>
            <a:r>
              <a:rPr lang="es-419"/>
              <a:t>basados en marcadores o </a:t>
            </a:r>
            <a:r>
              <a:rPr b="1" lang="es-419">
                <a:solidFill>
                  <a:schemeClr val="accent5"/>
                </a:solidFill>
              </a:rPr>
              <a:t>análisis conductuales</a:t>
            </a:r>
            <a:r>
              <a:rPr lang="es-419"/>
              <a:t> basados en sensores. </a:t>
            </a:r>
            <a:endParaRPr/>
          </a:p>
          <a:p>
            <a:pPr indent="0" lvl="0" marL="0" rtl="0" algn="l">
              <a:spcBef>
                <a:spcPts val="1200"/>
              </a:spcBef>
              <a:spcAft>
                <a:spcPts val="1200"/>
              </a:spcAft>
              <a:buNone/>
            </a:pPr>
            <a:r>
              <a:rPr lang="es-419"/>
              <a:t>El </a:t>
            </a:r>
            <a:r>
              <a:rPr b="1" lang="es-419"/>
              <a:t>análisis basado en sensores </a:t>
            </a:r>
            <a:r>
              <a:rPr lang="es-419"/>
              <a:t>utiliza la extracción de datos sensoriales, como la actigrafía, para investigar la enfermedad de Alzheimer, la enfermedad de Parkinson, la diabetes, la hipertensión, y la enfermedad renal crónica.</a:t>
            </a:r>
            <a:endParaRPr/>
          </a:p>
        </p:txBody>
      </p:sp>
      <p:sp>
        <p:nvSpPr>
          <p:cNvPr id="430" name="Google Shape;430;p3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1" name="Google Shape;431;p33"/>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S.FallmannandL.Chen,‘‘Detecting chronic diseases from sleep-wake behaviour and clinical features,’’ </a:t>
            </a:r>
            <a:br>
              <a:rPr lang="es-419" sz="800">
                <a:solidFill>
                  <a:schemeClr val="dk1"/>
                </a:solidFill>
              </a:rPr>
            </a:br>
            <a:r>
              <a:rPr lang="es-419" sz="800">
                <a:solidFill>
                  <a:schemeClr val="dk1"/>
                </a:solidFill>
              </a:rPr>
              <a:t>in Proc. IEEE 5th Int. Conf. Syst. Inform., Nov. 2018, pp. 1076–1084</a:t>
            </a:r>
            <a:endParaRPr sz="800">
              <a:solidFill>
                <a:schemeClr val="dk1"/>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sp>
        <p:nvSpPr>
          <p:cNvPr id="436" name="Google Shape;436;p3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Mediciones del sueño</a:t>
            </a:r>
            <a:endParaRPr/>
          </a:p>
        </p:txBody>
      </p:sp>
      <p:sp>
        <p:nvSpPr>
          <p:cNvPr id="437" name="Google Shape;437;p3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438" name="Google Shape;438;p34"/>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grpSp>
        <p:nvGrpSpPr>
          <p:cNvPr id="439" name="Google Shape;439;p34"/>
          <p:cNvGrpSpPr/>
          <p:nvPr/>
        </p:nvGrpSpPr>
        <p:grpSpPr>
          <a:xfrm>
            <a:off x="2744034" y="1468443"/>
            <a:ext cx="1827900" cy="2399700"/>
            <a:chOff x="2744034" y="1146343"/>
            <a:chExt cx="1827900" cy="2399700"/>
          </a:xfrm>
        </p:grpSpPr>
        <p:sp>
          <p:nvSpPr>
            <p:cNvPr id="440" name="Google Shape;440;p34"/>
            <p:cNvSpPr/>
            <p:nvPr/>
          </p:nvSpPr>
          <p:spPr>
            <a:xfrm rot="-5400000">
              <a:off x="2458134" y="1432243"/>
              <a:ext cx="2399700" cy="1827900"/>
            </a:xfrm>
            <a:prstGeom prst="rightArrowCallout">
              <a:avLst>
                <a:gd fmla="val 9283" name="adj1"/>
                <a:gd fmla="val 13570" name="adj2"/>
                <a:gd fmla="val 16082" name="adj3"/>
                <a:gd fmla="val 81236" name="adj4"/>
              </a:avLst>
            </a:prstGeom>
            <a:solidFill>
              <a:srgbClr val="A1C3F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34"/>
            <p:cNvSpPr/>
            <p:nvPr/>
          </p:nvSpPr>
          <p:spPr>
            <a:xfrm flipH="1">
              <a:off x="2832600" y="1686400"/>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34"/>
            <p:cNvSpPr txBox="1"/>
            <p:nvPr/>
          </p:nvSpPr>
          <p:spPr>
            <a:xfrm>
              <a:off x="2966450"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419" sz="1000">
                  <a:solidFill>
                    <a:srgbClr val="FFFFFF"/>
                  </a:solidFill>
                  <a:latin typeface="Roboto"/>
                  <a:ea typeface="Roboto"/>
                  <a:cs typeface="Roboto"/>
                  <a:sym typeface="Roboto"/>
                </a:rPr>
                <a:t>Los estándares de oro para evaluar los trastornos y problemas del sueño desde la perspectiva de un experto médico son la PSG y la actigrafía.</a:t>
              </a:r>
              <a:endParaRPr sz="1000">
                <a:solidFill>
                  <a:srgbClr val="FFFFFF"/>
                </a:solidFill>
                <a:latin typeface="Roboto"/>
                <a:ea typeface="Roboto"/>
                <a:cs typeface="Roboto"/>
                <a:sym typeface="Roboto"/>
              </a:endParaRPr>
            </a:p>
            <a:p>
              <a:pPr indent="0" lvl="0" marL="0" rtl="0" algn="ctr">
                <a:lnSpc>
                  <a:spcPct val="115000"/>
                </a:lnSpc>
                <a:spcBef>
                  <a:spcPts val="1600"/>
                </a:spcBef>
                <a:spcAft>
                  <a:spcPts val="1600"/>
                </a:spcAft>
                <a:buNone/>
              </a:pPr>
              <a:r>
                <a:t/>
              </a:r>
              <a:endParaRPr sz="1000">
                <a:solidFill>
                  <a:srgbClr val="FFFFFF"/>
                </a:solidFill>
                <a:latin typeface="Roboto"/>
                <a:ea typeface="Roboto"/>
                <a:cs typeface="Roboto"/>
                <a:sym typeface="Roboto"/>
              </a:endParaRPr>
            </a:p>
          </p:txBody>
        </p:sp>
      </p:grpSp>
      <p:grpSp>
        <p:nvGrpSpPr>
          <p:cNvPr id="443" name="Google Shape;443;p34"/>
          <p:cNvGrpSpPr/>
          <p:nvPr/>
        </p:nvGrpSpPr>
        <p:grpSpPr>
          <a:xfrm>
            <a:off x="4572084" y="1919569"/>
            <a:ext cx="1827900" cy="2399700"/>
            <a:chOff x="4572084" y="1597469"/>
            <a:chExt cx="1827900" cy="2399700"/>
          </a:xfrm>
        </p:grpSpPr>
        <p:sp>
          <p:nvSpPr>
            <p:cNvPr id="444" name="Google Shape;444;p34"/>
            <p:cNvSpPr/>
            <p:nvPr/>
          </p:nvSpPr>
          <p:spPr>
            <a:xfrm rot="5400000">
              <a:off x="4286184" y="1883369"/>
              <a:ext cx="2399700" cy="1827900"/>
            </a:xfrm>
            <a:prstGeom prst="rightArrowCallout">
              <a:avLst>
                <a:gd fmla="val 9283" name="adj1"/>
                <a:gd fmla="val 13570" name="adj2"/>
                <a:gd fmla="val 16082" name="adj3"/>
                <a:gd fmla="val 81236" name="adj4"/>
              </a:avLst>
            </a:prstGeom>
            <a:solidFill>
              <a:srgbClr val="0944A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34"/>
            <p:cNvSpPr/>
            <p:nvPr/>
          </p:nvSpPr>
          <p:spPr>
            <a:xfrm flipH="1" rot="10800000">
              <a:off x="4662018" y="1687411"/>
              <a:ext cx="1649400" cy="1769700"/>
            </a:xfrm>
            <a:prstGeom prst="snip1Rect">
              <a:avLst>
                <a:gd fmla="val 0" name="adj"/>
              </a:avLst>
            </a:prstGeom>
            <a:solidFill>
              <a:srgbClr val="0C58D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34"/>
            <p:cNvSpPr txBox="1"/>
            <p:nvPr/>
          </p:nvSpPr>
          <p:spPr>
            <a:xfrm>
              <a:off x="4794425" y="1795520"/>
              <a:ext cx="1383000" cy="1476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s-419" sz="1000">
                  <a:solidFill>
                    <a:srgbClr val="FFFFFF"/>
                  </a:solidFill>
                  <a:latin typeface="Roboto"/>
                  <a:ea typeface="Roboto"/>
                  <a:cs typeface="Roboto"/>
                  <a:sym typeface="Roboto"/>
                </a:rPr>
                <a:t>E</a:t>
              </a:r>
              <a:r>
                <a:rPr lang="es-419" sz="1000">
                  <a:solidFill>
                    <a:srgbClr val="FFFFFF"/>
                  </a:solidFill>
                  <a:latin typeface="Roboto"/>
                  <a:ea typeface="Roboto"/>
                  <a:cs typeface="Roboto"/>
                  <a:sym typeface="Roboto"/>
                </a:rPr>
                <a:t>l monitoreo del sueño en el hogar generalmente se logra a través de dispositivos vestibles (wearables)o no vestibles.</a:t>
              </a:r>
              <a:endParaRPr sz="1000">
                <a:solidFill>
                  <a:srgbClr val="FFFFFF"/>
                </a:solidFill>
                <a:latin typeface="Roboto"/>
                <a:ea typeface="Roboto"/>
                <a:cs typeface="Roboto"/>
                <a:sym typeface="Roboto"/>
              </a:endParaRPr>
            </a:p>
          </p:txBody>
        </p:sp>
      </p:grpSp>
      <p:sp>
        <p:nvSpPr>
          <p:cNvPr id="447" name="Google Shape;447;p34"/>
          <p:cNvSpPr txBox="1"/>
          <p:nvPr/>
        </p:nvSpPr>
        <p:spPr>
          <a:xfrm rot="-5400000">
            <a:off x="1587525" y="2706775"/>
            <a:ext cx="1943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accent5"/>
                </a:solidFill>
                <a:latin typeface="Nunito"/>
                <a:ea typeface="Nunito"/>
                <a:cs typeface="Nunito"/>
                <a:sym typeface="Nunito"/>
              </a:rPr>
              <a:t>Entorno clínico</a:t>
            </a:r>
            <a:endParaRPr sz="1200">
              <a:solidFill>
                <a:schemeClr val="accent5"/>
              </a:solidFill>
              <a:latin typeface="Nunito"/>
              <a:ea typeface="Nunito"/>
              <a:cs typeface="Nunito"/>
              <a:sym typeface="Nunito"/>
            </a:endParaRPr>
          </a:p>
        </p:txBody>
      </p:sp>
      <p:sp>
        <p:nvSpPr>
          <p:cNvPr id="448" name="Google Shape;448;p34"/>
          <p:cNvSpPr txBox="1"/>
          <p:nvPr/>
        </p:nvSpPr>
        <p:spPr>
          <a:xfrm rot="5400000">
            <a:off x="5612925" y="2706775"/>
            <a:ext cx="19437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419" sz="1200">
                <a:solidFill>
                  <a:schemeClr val="accent5"/>
                </a:solidFill>
                <a:latin typeface="Nunito"/>
                <a:ea typeface="Nunito"/>
                <a:cs typeface="Nunito"/>
                <a:sym typeface="Nunito"/>
              </a:rPr>
              <a:t>Entorno naturalista</a:t>
            </a:r>
            <a:endParaRPr sz="1200">
              <a:solidFill>
                <a:schemeClr val="accent5"/>
              </a:solidFill>
              <a:latin typeface="Nunito"/>
              <a:ea typeface="Nunito"/>
              <a:cs typeface="Nunito"/>
              <a:sym typeface="Nunito"/>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3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Sensores usados para medir el sueño</a:t>
            </a:r>
            <a:endParaRPr/>
          </a:p>
        </p:txBody>
      </p:sp>
      <p:sp>
        <p:nvSpPr>
          <p:cNvPr id="454" name="Google Shape;454;p3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55" name="Google Shape;455;p35"/>
          <p:cNvPicPr preferRelativeResize="0"/>
          <p:nvPr/>
        </p:nvPicPr>
        <p:blipFill>
          <a:blip r:embed="rId3">
            <a:alphaModFix/>
          </a:blip>
          <a:stretch>
            <a:fillRect/>
          </a:stretch>
        </p:blipFill>
        <p:spPr>
          <a:xfrm>
            <a:off x="20400" y="752199"/>
            <a:ext cx="9144000" cy="3133952"/>
          </a:xfrm>
          <a:prstGeom prst="rect">
            <a:avLst/>
          </a:prstGeom>
          <a:noFill/>
          <a:ln>
            <a:noFill/>
          </a:ln>
        </p:spPr>
      </p:pic>
      <p:sp>
        <p:nvSpPr>
          <p:cNvPr id="456" name="Google Shape;456;p3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3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Polisomnografía PSG</a:t>
            </a:r>
            <a:endParaRPr sz="2400">
              <a:solidFill>
                <a:schemeClr val="accent2"/>
              </a:solidFill>
            </a:endParaRPr>
          </a:p>
        </p:txBody>
      </p:sp>
      <p:sp>
        <p:nvSpPr>
          <p:cNvPr id="462" name="Google Shape;462;p36"/>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a:t>
            </a:r>
            <a:r>
              <a:rPr lang="es-419"/>
              <a:t>s un método que recopila datos sensoriales de dispositivos aplicados al cuerpo humano y dentro del medio ambiente. </a:t>
            </a:r>
            <a:endParaRPr/>
          </a:p>
          <a:p>
            <a:pPr indent="0" lvl="0" marL="0" rtl="0" algn="l">
              <a:spcBef>
                <a:spcPts val="1200"/>
              </a:spcBef>
              <a:spcAft>
                <a:spcPts val="1200"/>
              </a:spcAft>
              <a:buNone/>
            </a:pPr>
            <a:r>
              <a:rPr lang="es-419"/>
              <a:t>Los </a:t>
            </a:r>
            <a:r>
              <a:rPr b="1" lang="es-419"/>
              <a:t>dispositivos</a:t>
            </a:r>
            <a:r>
              <a:rPr lang="es-419"/>
              <a:t> que se pueden usar en un entorno de PSG son electroencefalograma (EEG), electrooculograma (EOG), electromiograma (EMG), electrocardiograma (ECG), oximetría de pulso, monitores respiratorios, capnografía, monitores transcutáneos, termómetros, pruebas esofágicas, nasal y sensores de flujo de aire oral, monitores gastroesofágicos y monitores de presión arterial. </a:t>
            </a:r>
            <a:endParaRPr/>
          </a:p>
        </p:txBody>
      </p:sp>
      <p:sp>
        <p:nvSpPr>
          <p:cNvPr id="463" name="Google Shape;463;p36"/>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V. Ibáñez, J. Silva, and O. Cauli, ‘‘A survey on sleep assessment methods,’’ PeerJ, vol. 6, p. e4849, May 2018</a:t>
            </a:r>
            <a:endParaRPr sz="800">
              <a:solidFill>
                <a:schemeClr val="dk1"/>
              </a:solidFill>
            </a:endParaRPr>
          </a:p>
        </p:txBody>
      </p:sp>
      <p:sp>
        <p:nvSpPr>
          <p:cNvPr id="464" name="Google Shape;464;p3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8" name="Shape 468"/>
        <p:cNvGrpSpPr/>
        <p:nvPr/>
      </p:nvGrpSpPr>
      <p:grpSpPr>
        <a:xfrm>
          <a:off x="0" y="0"/>
          <a:ext cx="0" cy="0"/>
          <a:chOff x="0" y="0"/>
          <a:chExt cx="0" cy="0"/>
        </a:xfrm>
      </p:grpSpPr>
      <p:sp>
        <p:nvSpPr>
          <p:cNvPr id="469" name="Google Shape;469;p3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Polisomnografía PSG</a:t>
            </a:r>
            <a:endParaRPr sz="2400">
              <a:solidFill>
                <a:schemeClr val="accent2"/>
              </a:solidFill>
            </a:endParaRPr>
          </a:p>
        </p:txBody>
      </p:sp>
      <p:sp>
        <p:nvSpPr>
          <p:cNvPr id="470" name="Google Shape;470;p37"/>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Este método se utiliza predominantemente para evaluar trastornos del sueño como la apnea del sueño y el síndrome de piernas inquietas. Mediciones como las etapas del sueño, la latencia del sueño y el índice de activación pueden extraerse de los datos. </a:t>
            </a:r>
            <a:endParaRPr/>
          </a:p>
          <a:p>
            <a:pPr indent="0" lvl="0" marL="0" rtl="0" algn="l">
              <a:spcBef>
                <a:spcPts val="1200"/>
              </a:spcBef>
              <a:spcAft>
                <a:spcPts val="0"/>
              </a:spcAft>
              <a:buNone/>
            </a:pPr>
            <a:r>
              <a:rPr lang="es-419"/>
              <a:t>Para extraer conocimiento de los datos, se aplican métodos de puntuación. </a:t>
            </a:r>
            <a:endParaRPr/>
          </a:p>
          <a:p>
            <a:pPr indent="0" lvl="0" marL="0" rtl="0" algn="l">
              <a:spcBef>
                <a:spcPts val="1200"/>
              </a:spcBef>
              <a:spcAft>
                <a:spcPts val="1200"/>
              </a:spcAft>
              <a:buNone/>
            </a:pPr>
            <a:r>
              <a:rPr lang="es-419"/>
              <a:t>Los estándares clínicos de oro para la puntuación del sueño con PSG son el método Rechtschaffen and Kales (R&amp;K), y un método alternativo presentado por la Academia Estadounidense de Medicina del Sueño (AASM).</a:t>
            </a:r>
            <a:endParaRPr/>
          </a:p>
        </p:txBody>
      </p:sp>
      <p:sp>
        <p:nvSpPr>
          <p:cNvPr id="471" name="Google Shape;471;p37"/>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R. Ravichandran, S.-W. Sien, S. N. Patel, J. A. Kientz, and L. R. Pina, ‘‘Making sense of sleep sensors: How sleep sensing technologies support and undermine sleep health,’’ in Proc. Conf. Hum. Factors Comput. Syst., 2017, pp. 6864–6875</a:t>
            </a:r>
            <a:endParaRPr sz="800">
              <a:solidFill>
                <a:schemeClr val="dk1"/>
              </a:solidFill>
            </a:endParaRPr>
          </a:p>
        </p:txBody>
      </p:sp>
      <p:sp>
        <p:nvSpPr>
          <p:cNvPr id="472" name="Google Shape;472;p3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p3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lang="es-419" sz="2400">
                <a:solidFill>
                  <a:schemeClr val="accent2"/>
                </a:solidFill>
              </a:rPr>
              <a:t>Actigraph unit</a:t>
            </a:r>
            <a:endParaRPr sz="2400">
              <a:solidFill>
                <a:schemeClr val="accent2"/>
              </a:solidFill>
            </a:endParaRPr>
          </a:p>
        </p:txBody>
      </p:sp>
      <p:sp>
        <p:nvSpPr>
          <p:cNvPr id="478" name="Google Shape;478;p38"/>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es-419"/>
              <a:t>P</a:t>
            </a:r>
            <a:r>
              <a:rPr lang="es-419"/>
              <a:t>ueden medir actividades durante un período de 24 horas. Es ampliamente aceptado para mediciones objetivas de la calidad del sueño. Un actígrafo es un dispositivo que se coloca en la muñeca no dominante y proporciona información sobre los patrones de dormido-despierto durante la noche.</a:t>
            </a:r>
            <a:endParaRPr/>
          </a:p>
          <a:p>
            <a:pPr indent="0" lvl="0" marL="0" rtl="0" algn="l">
              <a:spcBef>
                <a:spcPts val="1200"/>
              </a:spcBef>
              <a:spcAft>
                <a:spcPts val="0"/>
              </a:spcAft>
              <a:buNone/>
            </a:pPr>
            <a:r>
              <a:rPr lang="es-419"/>
              <a:t>Se basan principalmente en datos de acelerómetros, pero también pueden incluir giroscopios y magnetómetros. La luz ambiental se recolecta para ayudar en el reconocimiento de la vigilia y el sueño. </a:t>
            </a:r>
            <a:endParaRPr/>
          </a:p>
          <a:p>
            <a:pPr indent="0" lvl="0" marL="0" rtl="0" algn="l">
              <a:spcBef>
                <a:spcPts val="1200"/>
              </a:spcBef>
              <a:spcAft>
                <a:spcPts val="1200"/>
              </a:spcAft>
              <a:buNone/>
            </a:pPr>
            <a:r>
              <a:rPr lang="es-419"/>
              <a:t>Además, se pueden proporcionar entradas personales que le indiquen al dispositivo cuándo comienza el período de sueño. La valoración habitual consta de siete días consecutivos para obtener una imagen representativa del sueño del paciente.</a:t>
            </a:r>
            <a:endParaRPr/>
          </a:p>
        </p:txBody>
      </p:sp>
      <p:sp>
        <p:nvSpPr>
          <p:cNvPr id="479" name="Google Shape;479;p3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p3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2400">
              <a:solidFill>
                <a:schemeClr val="accent2"/>
              </a:solidFill>
            </a:endParaRPr>
          </a:p>
          <a:p>
            <a:pPr indent="0" lvl="0" marL="0" rtl="0" algn="l">
              <a:spcBef>
                <a:spcPts val="0"/>
              </a:spcBef>
              <a:spcAft>
                <a:spcPts val="0"/>
              </a:spcAft>
              <a:buNone/>
            </a:pPr>
            <a:r>
              <a:rPr i="1" lang="es-419" sz="2400">
                <a:solidFill>
                  <a:schemeClr val="accent2"/>
                </a:solidFill>
              </a:rPr>
              <a:t>Wearable technology</a:t>
            </a:r>
            <a:endParaRPr i="1" sz="2400">
              <a:solidFill>
                <a:schemeClr val="accent2"/>
              </a:solidFill>
            </a:endParaRPr>
          </a:p>
        </p:txBody>
      </p:sp>
      <p:sp>
        <p:nvSpPr>
          <p:cNvPr id="485" name="Google Shape;485;p39"/>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dispositivos vestibles están adheridos al cuerpo humano. Los sensores pequeños se conectan a una de las siguientes áreas: muñeca, pecho, tobillos o cadera. La ventaja de estos sensores es su bajo coste y fácil uso en entornos cotidianos. </a:t>
            </a:r>
            <a:endParaRPr/>
          </a:p>
          <a:p>
            <a:pPr indent="0" lvl="0" marL="0" rtl="0" algn="l">
              <a:spcBef>
                <a:spcPts val="1200"/>
              </a:spcBef>
              <a:spcAft>
                <a:spcPts val="0"/>
              </a:spcAft>
              <a:buNone/>
            </a:pPr>
            <a:r>
              <a:rPr lang="es-419"/>
              <a:t>Los datos se obtienen de sensores como acelerómetros de 3 ejes, o mediante fotopletismografía (PPG). </a:t>
            </a:r>
            <a:endParaRPr/>
          </a:p>
          <a:p>
            <a:pPr indent="0" lvl="0" marL="0" rtl="0" algn="l">
              <a:spcBef>
                <a:spcPts val="1200"/>
              </a:spcBef>
              <a:spcAft>
                <a:spcPts val="1200"/>
              </a:spcAft>
              <a:buNone/>
            </a:pPr>
            <a:r>
              <a:rPr lang="es-419"/>
              <a:t>Los parámetros se estiman mediante la aplicación de técnicas de minería de datos para la detección de la posición del sueño, clasificación de las etapas del sueño, y bioseñales como la frecuencia </a:t>
            </a:r>
            <a:r>
              <a:rPr lang="es-419"/>
              <a:t>cardiaca</a:t>
            </a:r>
            <a:r>
              <a:rPr lang="es-419"/>
              <a:t>, la respiratoria, y la temperatura corporal.</a:t>
            </a:r>
            <a:endParaRPr/>
          </a:p>
        </p:txBody>
      </p:sp>
      <p:sp>
        <p:nvSpPr>
          <p:cNvPr id="486" name="Google Shape;486;p3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p40"/>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Wearables validados contra PSG</a:t>
            </a:r>
            <a:endParaRPr/>
          </a:p>
        </p:txBody>
      </p:sp>
      <p:sp>
        <p:nvSpPr>
          <p:cNvPr id="492" name="Google Shape;492;p4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493" name="Google Shape;493;p40"/>
          <p:cNvPicPr preferRelativeResize="0"/>
          <p:nvPr/>
        </p:nvPicPr>
        <p:blipFill rotWithShape="1">
          <a:blip r:embed="rId3">
            <a:alphaModFix/>
          </a:blip>
          <a:srcRect b="0" l="0" r="0" t="0"/>
          <a:stretch/>
        </p:blipFill>
        <p:spPr>
          <a:xfrm>
            <a:off x="2825350" y="732100"/>
            <a:ext cx="3493300" cy="3222100"/>
          </a:xfrm>
          <a:prstGeom prst="rect">
            <a:avLst/>
          </a:prstGeom>
          <a:noFill/>
          <a:ln>
            <a:noFill/>
          </a:ln>
        </p:spPr>
      </p:pic>
      <p:sp>
        <p:nvSpPr>
          <p:cNvPr id="494" name="Google Shape;494;p40"/>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8" name="Shape 498"/>
        <p:cNvGrpSpPr/>
        <p:nvPr/>
      </p:nvGrpSpPr>
      <p:grpSpPr>
        <a:xfrm>
          <a:off x="0" y="0"/>
          <a:ext cx="0" cy="0"/>
          <a:chOff x="0" y="0"/>
          <a:chExt cx="0" cy="0"/>
        </a:xfrm>
      </p:grpSpPr>
      <p:sp>
        <p:nvSpPr>
          <p:cNvPr id="499" name="Google Shape;499;p4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i="1" lang="es-419" sz="2400">
                <a:solidFill>
                  <a:schemeClr val="accent2"/>
                </a:solidFill>
              </a:rPr>
              <a:t>Non-w</a:t>
            </a:r>
            <a:r>
              <a:rPr i="1" lang="es-419" sz="2400">
                <a:solidFill>
                  <a:schemeClr val="accent2"/>
                </a:solidFill>
              </a:rPr>
              <a:t>earable technology</a:t>
            </a:r>
            <a:endParaRPr i="1" sz="2400">
              <a:solidFill>
                <a:schemeClr val="accent2"/>
              </a:solidFill>
            </a:endParaRPr>
          </a:p>
        </p:txBody>
      </p:sp>
      <p:sp>
        <p:nvSpPr>
          <p:cNvPr id="500" name="Google Shape;500;p41"/>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dispositivos no-vestibles no están adheridos al cuerpo humano y, por lo tanto, son el método que menos interfiere y no alteran los hábitos de sueño regulares de la persona. </a:t>
            </a:r>
            <a:endParaRPr/>
          </a:p>
          <a:p>
            <a:pPr indent="0" lvl="0" marL="0" rtl="0" algn="l">
              <a:spcBef>
                <a:spcPts val="1200"/>
              </a:spcBef>
              <a:spcAft>
                <a:spcPts val="0"/>
              </a:spcAft>
              <a:buNone/>
            </a:pPr>
            <a:r>
              <a:rPr lang="es-419"/>
              <a:t>En general, las técnicas se basan en dispositivos individuales, e.g., sensores Kinect, o dispositivos múltiples, e.g., integrados en camas inteligentes. </a:t>
            </a:r>
            <a:endParaRPr/>
          </a:p>
          <a:p>
            <a:pPr indent="0" lvl="0" marL="0" rtl="0" algn="l">
              <a:spcBef>
                <a:spcPts val="1200"/>
              </a:spcBef>
              <a:spcAft>
                <a:spcPts val="1200"/>
              </a:spcAft>
              <a:buNone/>
            </a:pPr>
            <a:r>
              <a:rPr lang="es-419"/>
              <a:t>Otros tipos de sensores son almohadillas de presión, teléfonos inteligentes, sensores de brillo/luz (shimmer), señales de radar Doppler, señales de sonido y señales de radio.</a:t>
            </a:r>
            <a:endParaRPr/>
          </a:p>
        </p:txBody>
      </p:sp>
      <p:sp>
        <p:nvSpPr>
          <p:cNvPr id="501" name="Google Shape;501;p4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4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Parámetros</a:t>
            </a:r>
            <a:r>
              <a:rPr lang="es-419"/>
              <a:t> del sueño</a:t>
            </a:r>
            <a:endParaRPr/>
          </a:p>
        </p:txBody>
      </p:sp>
      <p:sp>
        <p:nvSpPr>
          <p:cNvPr id="507" name="Google Shape;507;p42"/>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Las </a:t>
            </a:r>
            <a:r>
              <a:rPr b="1" lang="es-419"/>
              <a:t>características/parámetros</a:t>
            </a:r>
            <a:r>
              <a:rPr lang="es-419"/>
              <a:t> principales que describen el sueño son la frecuencia respiratoria, la frecuencia cardíaca, la temperatura, el movimiento corporal, y las ondas cerebrales. </a:t>
            </a:r>
            <a:endParaRPr/>
          </a:p>
          <a:p>
            <a:pPr indent="0" lvl="0" marL="0" rtl="0" algn="l">
              <a:spcBef>
                <a:spcPts val="1200"/>
              </a:spcBef>
              <a:spcAft>
                <a:spcPts val="0"/>
              </a:spcAft>
              <a:buNone/>
            </a:pPr>
            <a:r>
              <a:rPr lang="es-419"/>
              <a:t>Teniendo en cuenta varias hipótesis, las diferentes características son importantes y se ponderan con más fuerza que otras. </a:t>
            </a:r>
            <a:endParaRPr/>
          </a:p>
          <a:p>
            <a:pPr indent="0" lvl="0" marL="0" rtl="0" algn="l">
              <a:spcBef>
                <a:spcPts val="1200"/>
              </a:spcBef>
              <a:spcAft>
                <a:spcPts val="1200"/>
              </a:spcAft>
              <a:buNone/>
            </a:pPr>
            <a:r>
              <a:rPr lang="es-419"/>
              <a:t>Según el objetivo, se exploran mediciones objetivas o subjetivas, que presentan diferentes conocimientos sobre el sueño de los individuos.</a:t>
            </a:r>
            <a:endParaRPr/>
          </a:p>
        </p:txBody>
      </p:sp>
      <p:sp>
        <p:nvSpPr>
          <p:cNvPr id="508" name="Google Shape;508;p4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09" name="Google Shape;509;p42"/>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4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Mediciones objetivas</a:t>
            </a:r>
            <a:endParaRPr sz="2400">
              <a:solidFill>
                <a:schemeClr val="accent2"/>
              </a:solidFill>
            </a:endParaRPr>
          </a:p>
        </p:txBody>
      </p:sp>
      <p:sp>
        <p:nvSpPr>
          <p:cNvPr id="515" name="Google Shape;515;p43"/>
          <p:cNvSpPr txBox="1"/>
          <p:nvPr>
            <p:ph idx="1" type="body"/>
          </p:nvPr>
        </p:nvSpPr>
        <p:spPr>
          <a:xfrm>
            <a:off x="1303800" y="1761450"/>
            <a:ext cx="7030500" cy="278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Los parámetros de sueño objetivos se estiman a partir de datos de los sensores, e.g., las etapas del sueño se investigan por frecuencia cardíaca o respiratoria utilizando las relaciones existentes entre ellas, mientras que la temperatura de la piel se puede utilizar para estimar las alteraciones. </a:t>
            </a:r>
            <a:endParaRPr/>
          </a:p>
          <a:p>
            <a:pPr indent="0" lvl="0" marL="0" rtl="0" algn="l">
              <a:spcBef>
                <a:spcPts val="1200"/>
              </a:spcBef>
              <a:spcAft>
                <a:spcPts val="0"/>
              </a:spcAft>
              <a:buNone/>
            </a:pPr>
            <a:r>
              <a:rPr lang="es-419"/>
              <a:t>La </a:t>
            </a:r>
            <a:r>
              <a:rPr b="1" lang="es-419">
                <a:solidFill>
                  <a:schemeClr val="accent5"/>
                </a:solidFill>
              </a:rPr>
              <a:t>continuidad del sueño</a:t>
            </a:r>
            <a:r>
              <a:rPr lang="es-419"/>
              <a:t> se basa </a:t>
            </a:r>
            <a:r>
              <a:rPr lang="es-419"/>
              <a:t>en el porcentaje de las</a:t>
            </a:r>
            <a:r>
              <a:rPr lang="es-419"/>
              <a:t> etapa del sueño, y el índice de activación. La calidad del sueño, la regularidad, y el nivel de somnolencia se consideran nuevos indicadores investigados con dispositivos vestibles en comparación con los parámetros tradicionales. </a:t>
            </a:r>
            <a:endParaRPr/>
          </a:p>
          <a:p>
            <a:pPr indent="0" lvl="0" marL="0" rtl="0" algn="l">
              <a:spcBef>
                <a:spcPts val="1200"/>
              </a:spcBef>
              <a:spcAft>
                <a:spcPts val="1200"/>
              </a:spcAft>
              <a:buNone/>
            </a:pPr>
            <a:r>
              <a:rPr lang="es-419"/>
              <a:t>Explícitamente, la </a:t>
            </a:r>
            <a:r>
              <a:rPr b="1" lang="es-419">
                <a:solidFill>
                  <a:schemeClr val="accent5"/>
                </a:solidFill>
              </a:rPr>
              <a:t>regularidad del sueño </a:t>
            </a:r>
            <a:r>
              <a:rPr lang="es-419"/>
              <a:t>mide la afinidad entre los períodos de sueño de días consecutivos.</a:t>
            </a:r>
            <a:endParaRPr/>
          </a:p>
        </p:txBody>
      </p:sp>
      <p:sp>
        <p:nvSpPr>
          <p:cNvPr id="516" name="Google Shape;516;p4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17" name="Google Shape;517;p43"/>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F. de Arriba-Pérez, M. Caeiro-Rodríguez, and J. M. Santos-Gago, ‘‘How do you sleep? Using off the shelf wrist wearables to estimate sleep quality, sleepiness level, chronotype and sleep regularity indicators,’’ J. Ambient Intell. Humanized Comput., vol. 9, no. 4, pp. 897–917, 2018</a:t>
            </a:r>
            <a:endParaRPr sz="800">
              <a:solidFill>
                <a:schemeClr val="dk1"/>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Mediciones subjetivas</a:t>
            </a:r>
            <a:endParaRPr sz="2400">
              <a:solidFill>
                <a:schemeClr val="accent2"/>
              </a:solidFill>
            </a:endParaRPr>
          </a:p>
        </p:txBody>
      </p:sp>
      <p:sp>
        <p:nvSpPr>
          <p:cNvPr id="523" name="Google Shape;523;p44"/>
          <p:cNvSpPr txBox="1"/>
          <p:nvPr>
            <p:ph idx="1" type="body"/>
          </p:nvPr>
        </p:nvSpPr>
        <p:spPr>
          <a:xfrm>
            <a:off x="1303800" y="1761450"/>
            <a:ext cx="7030500" cy="278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Los parámetros subjetivos del sueño se evalúan mediante cuestionarios de sueño que extraen información de los usuarios al hacer preguntas para evaluar los problemas del sueño. </a:t>
            </a:r>
            <a:endParaRPr/>
          </a:p>
          <a:p>
            <a:pPr indent="0" lvl="0" marL="0" rtl="0" algn="l">
              <a:spcBef>
                <a:spcPts val="1200"/>
              </a:spcBef>
              <a:spcAft>
                <a:spcPts val="0"/>
              </a:spcAft>
              <a:buNone/>
            </a:pPr>
            <a:r>
              <a:rPr lang="es-419"/>
              <a:t>Estos parámetros de sueño incluyen pesadillas, hora de acostarse y hora de levantarse. </a:t>
            </a:r>
            <a:endParaRPr/>
          </a:p>
          <a:p>
            <a:pPr indent="0" lvl="0" marL="0" rtl="0" algn="l">
              <a:spcBef>
                <a:spcPts val="1200"/>
              </a:spcBef>
              <a:spcAft>
                <a:spcPts val="1200"/>
              </a:spcAft>
              <a:buNone/>
            </a:pPr>
            <a:r>
              <a:rPr lang="es-419"/>
              <a:t>Los factores extraídos se pueden evaluar con diferentes técnicas, como la evaluación SATED, el Consensus Sleep Diary, el índice de calidad del sueño de Pittsburgh, el Mini Sleep Questionnaire, la Epworth Sleepiness Scale, el Insomnia Severity Test y el Sleep Disorders Questionnair</a:t>
            </a:r>
            <a:r>
              <a:rPr lang="es-419"/>
              <a:t>e</a:t>
            </a:r>
            <a:r>
              <a:rPr lang="es-419"/>
              <a:t>.</a:t>
            </a:r>
            <a:endParaRPr/>
          </a:p>
        </p:txBody>
      </p:sp>
      <p:sp>
        <p:nvSpPr>
          <p:cNvPr id="524" name="Google Shape;524;p4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25" name="Google Shape;525;p4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F. de Arriba-Pérez, M. Caeiro-Rodríguez, and J. M. Santos-Gago, ‘‘How do you sleep? Using off the shelf wrist wearables to estimate sleep quality, sleepiness level, chronotype and sleep regularity indicators,’’ J. Ambient Intell. Humanized Comput., vol. 9, no. 4, pp. 897–917, 2018</a:t>
            </a:r>
            <a:endParaRPr sz="8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9" name="Shape 529"/>
        <p:cNvGrpSpPr/>
        <p:nvPr/>
      </p:nvGrpSpPr>
      <p:grpSpPr>
        <a:xfrm>
          <a:off x="0" y="0"/>
          <a:ext cx="0" cy="0"/>
          <a:chOff x="0" y="0"/>
          <a:chExt cx="0" cy="0"/>
        </a:xfrm>
      </p:grpSpPr>
      <p:sp>
        <p:nvSpPr>
          <p:cNvPr id="530" name="Google Shape;530;p45"/>
          <p:cNvSpPr txBox="1"/>
          <p:nvPr>
            <p:ph idx="1" type="body"/>
          </p:nvPr>
        </p:nvSpPr>
        <p:spPr>
          <a:xfrm>
            <a:off x="1303800" y="4138975"/>
            <a:ext cx="5843100" cy="53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Parámetros subjetivos y objetivos del sueño</a:t>
            </a:r>
            <a:endParaRPr/>
          </a:p>
        </p:txBody>
      </p:sp>
      <p:sp>
        <p:nvSpPr>
          <p:cNvPr id="531" name="Google Shape;531;p4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32" name="Google Shape;532;p45"/>
          <p:cNvPicPr preferRelativeResize="0"/>
          <p:nvPr/>
        </p:nvPicPr>
        <p:blipFill rotWithShape="1">
          <a:blip r:embed="rId3">
            <a:alphaModFix/>
          </a:blip>
          <a:srcRect b="69615" l="0" r="0" t="0"/>
          <a:stretch/>
        </p:blipFill>
        <p:spPr>
          <a:xfrm>
            <a:off x="1198500" y="1526125"/>
            <a:ext cx="2865500" cy="1562801"/>
          </a:xfrm>
          <a:prstGeom prst="rect">
            <a:avLst/>
          </a:prstGeom>
          <a:noFill/>
          <a:ln>
            <a:noFill/>
          </a:ln>
        </p:spPr>
      </p:pic>
      <p:pic>
        <p:nvPicPr>
          <p:cNvPr id="533" name="Google Shape;533;p45"/>
          <p:cNvPicPr preferRelativeResize="0"/>
          <p:nvPr/>
        </p:nvPicPr>
        <p:blipFill rotWithShape="1">
          <a:blip r:embed="rId3">
            <a:alphaModFix/>
          </a:blip>
          <a:srcRect b="0" l="0" r="0" t="30299"/>
          <a:stretch/>
        </p:blipFill>
        <p:spPr>
          <a:xfrm>
            <a:off x="4782375" y="515050"/>
            <a:ext cx="2865500" cy="3584951"/>
          </a:xfrm>
          <a:prstGeom prst="rect">
            <a:avLst/>
          </a:prstGeom>
          <a:noFill/>
          <a:ln>
            <a:noFill/>
          </a:ln>
        </p:spPr>
      </p:pic>
      <p:sp>
        <p:nvSpPr>
          <p:cNvPr id="534" name="Google Shape;534;p45"/>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Fallmann, S., &amp; Chen, L. (2019). Computational sleep behavior analysis: A survey. IEEE Access, 7, 142421-142440</a:t>
            </a:r>
            <a:endParaRPr sz="800">
              <a:solidFill>
                <a:srgbClr val="94B6BD"/>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8" name="Shape 538"/>
        <p:cNvGrpSpPr/>
        <p:nvPr/>
      </p:nvGrpSpPr>
      <p:grpSpPr>
        <a:xfrm>
          <a:off x="0" y="0"/>
          <a:ext cx="0" cy="0"/>
          <a:chOff x="0" y="0"/>
          <a:chExt cx="0" cy="0"/>
        </a:xfrm>
      </p:grpSpPr>
      <p:sp>
        <p:nvSpPr>
          <p:cNvPr id="539" name="Google Shape;539;p4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0" name="Google Shape;540;p46"/>
          <p:cNvPicPr preferRelativeResize="0"/>
          <p:nvPr/>
        </p:nvPicPr>
        <p:blipFill>
          <a:blip r:embed="rId3">
            <a:alphaModFix/>
          </a:blip>
          <a:stretch>
            <a:fillRect/>
          </a:stretch>
        </p:blipFill>
        <p:spPr>
          <a:xfrm>
            <a:off x="-12" y="654650"/>
            <a:ext cx="5751262" cy="3834175"/>
          </a:xfrm>
          <a:prstGeom prst="rect">
            <a:avLst/>
          </a:prstGeom>
          <a:noFill/>
          <a:ln>
            <a:noFill/>
          </a:ln>
        </p:spPr>
      </p:pic>
      <p:pic>
        <p:nvPicPr>
          <p:cNvPr id="541" name="Google Shape;541;p46"/>
          <p:cNvPicPr preferRelativeResize="0"/>
          <p:nvPr/>
        </p:nvPicPr>
        <p:blipFill>
          <a:blip r:embed="rId4">
            <a:alphaModFix/>
          </a:blip>
          <a:stretch>
            <a:fillRect/>
          </a:stretch>
        </p:blipFill>
        <p:spPr>
          <a:xfrm>
            <a:off x="5751250" y="1581261"/>
            <a:ext cx="3392749" cy="1908414"/>
          </a:xfrm>
          <a:prstGeom prst="rect">
            <a:avLst/>
          </a:prstGeom>
          <a:noFill/>
          <a:ln>
            <a:noFill/>
          </a:ln>
        </p:spPr>
      </p:pic>
      <p:sp>
        <p:nvSpPr>
          <p:cNvPr id="542" name="Google Shape;542;p46"/>
          <p:cNvSpPr txBox="1"/>
          <p:nvPr/>
        </p:nvSpPr>
        <p:spPr>
          <a:xfrm>
            <a:off x="0" y="4488825"/>
            <a:ext cx="7537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800">
                <a:solidFill>
                  <a:srgbClr val="94B6BD"/>
                </a:solidFill>
              </a:rPr>
              <a:t>https://www.verywellhealth.com/the-four-stages-of-sleep-2795920</a:t>
            </a:r>
            <a:endParaRPr sz="800">
              <a:solidFill>
                <a:srgbClr val="94B6BD"/>
              </a:solidFill>
            </a:endParaRPr>
          </a:p>
        </p:txBody>
      </p:sp>
      <p:sp>
        <p:nvSpPr>
          <p:cNvPr id="543" name="Google Shape;543;p46"/>
          <p:cNvSpPr txBox="1"/>
          <p:nvPr/>
        </p:nvSpPr>
        <p:spPr>
          <a:xfrm>
            <a:off x="5751250" y="3489675"/>
            <a:ext cx="3392700" cy="4002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700">
                <a:solidFill>
                  <a:srgbClr val="94B6BD"/>
                </a:solidFill>
              </a:rPr>
              <a:t>https://www.ny1.com/nyc/all-boroughs/exploring-your-health-extras/2019/07/03/when-you-sleep--these-are-the-five-stages-your-body-goes-through</a:t>
            </a:r>
            <a:endParaRPr sz="700">
              <a:solidFill>
                <a:srgbClr val="94B6BD"/>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7" name="Shape 547"/>
        <p:cNvGrpSpPr/>
        <p:nvPr/>
      </p:nvGrpSpPr>
      <p:grpSpPr>
        <a:xfrm>
          <a:off x="0" y="0"/>
          <a:ext cx="0" cy="0"/>
          <a:chOff x="0" y="0"/>
          <a:chExt cx="0" cy="0"/>
        </a:xfrm>
      </p:grpSpPr>
      <p:sp>
        <p:nvSpPr>
          <p:cNvPr id="548" name="Google Shape;548;p4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49" name="Google Shape;549;p47"/>
          <p:cNvPicPr preferRelativeResize="0"/>
          <p:nvPr/>
        </p:nvPicPr>
        <p:blipFill>
          <a:blip r:embed="rId3">
            <a:alphaModFix/>
          </a:blip>
          <a:stretch>
            <a:fillRect/>
          </a:stretch>
        </p:blipFill>
        <p:spPr>
          <a:xfrm>
            <a:off x="2519636" y="849826"/>
            <a:ext cx="4104724" cy="2681850"/>
          </a:xfrm>
          <a:prstGeom prst="rect">
            <a:avLst/>
          </a:prstGeom>
          <a:noFill/>
          <a:ln>
            <a:noFill/>
          </a:ln>
        </p:spPr>
      </p:pic>
      <p:sp>
        <p:nvSpPr>
          <p:cNvPr id="550" name="Google Shape;550;p47"/>
          <p:cNvSpPr txBox="1"/>
          <p:nvPr>
            <p:ph idx="1" type="body"/>
          </p:nvPr>
        </p:nvSpPr>
        <p:spPr>
          <a:xfrm>
            <a:off x="1303800" y="4138975"/>
            <a:ext cx="5843100" cy="5349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s-419"/>
              <a:t>Etapas del sueño: </a:t>
            </a:r>
            <a:r>
              <a:rPr lang="es-419"/>
              <a:t>Despierto, </a:t>
            </a:r>
            <a:r>
              <a:rPr i="1" lang="es-419"/>
              <a:t>Light y REM</a:t>
            </a:r>
            <a:r>
              <a:rPr lang="es-419"/>
              <a:t> (L&amp;R), y </a:t>
            </a:r>
            <a:r>
              <a:rPr i="1" lang="es-419"/>
              <a:t>Slow Wave Sleep</a:t>
            </a:r>
            <a:r>
              <a:rPr lang="es-419"/>
              <a:t> (SWS); determinadas por PSG y el movimiento corporal (</a:t>
            </a:r>
            <a:r>
              <a:rPr i="1" lang="es-419"/>
              <a:t>Gross Movements</a:t>
            </a:r>
            <a:r>
              <a:rPr lang="es-419"/>
              <a:t>).</a:t>
            </a:r>
            <a:endParaRPr/>
          </a:p>
        </p:txBody>
      </p:sp>
      <p:sp>
        <p:nvSpPr>
          <p:cNvPr id="551" name="Google Shape;551;p47"/>
          <p:cNvSpPr txBox="1"/>
          <p:nvPr/>
        </p:nvSpPr>
        <p:spPr>
          <a:xfrm>
            <a:off x="800450" y="35572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Okada, S., Shimizu, S., Ohno, Y., Mohri, I., Taniike, M., &amp; Makikawa, M. (2013). Novel sleep stage estimation method </a:t>
            </a:r>
            <a:br>
              <a:rPr lang="es-419" sz="800">
                <a:solidFill>
                  <a:schemeClr val="dk1"/>
                </a:solidFill>
              </a:rPr>
            </a:br>
            <a:r>
              <a:rPr lang="es-419" sz="800">
                <a:solidFill>
                  <a:schemeClr val="dk1"/>
                </a:solidFill>
              </a:rPr>
              <a:t>for children using body movement. J Public Health Front, 2(2), 61-68.</a:t>
            </a:r>
            <a:endParaRPr sz="800">
              <a:solidFill>
                <a:schemeClr val="dk1"/>
              </a:solidFil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5" name="Shape 555"/>
        <p:cNvGrpSpPr/>
        <p:nvPr/>
      </p:nvGrpSpPr>
      <p:grpSpPr>
        <a:xfrm>
          <a:off x="0" y="0"/>
          <a:ext cx="0" cy="0"/>
          <a:chOff x="0" y="0"/>
          <a:chExt cx="0" cy="0"/>
        </a:xfrm>
      </p:grpSpPr>
      <p:sp>
        <p:nvSpPr>
          <p:cNvPr id="556" name="Google Shape;556;p4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57" name="Google Shape;557;p48"/>
          <p:cNvPicPr preferRelativeResize="0"/>
          <p:nvPr/>
        </p:nvPicPr>
        <p:blipFill>
          <a:blip r:embed="rId3">
            <a:alphaModFix/>
          </a:blip>
          <a:stretch>
            <a:fillRect/>
          </a:stretch>
        </p:blipFill>
        <p:spPr>
          <a:xfrm>
            <a:off x="152400" y="152400"/>
            <a:ext cx="2720409" cy="4838701"/>
          </a:xfrm>
          <a:prstGeom prst="rect">
            <a:avLst/>
          </a:prstGeom>
          <a:noFill/>
          <a:ln>
            <a:noFill/>
          </a:ln>
        </p:spPr>
      </p:pic>
      <p:pic>
        <p:nvPicPr>
          <p:cNvPr id="558" name="Google Shape;558;p48"/>
          <p:cNvPicPr preferRelativeResize="0"/>
          <p:nvPr/>
        </p:nvPicPr>
        <p:blipFill>
          <a:blip r:embed="rId4">
            <a:alphaModFix/>
          </a:blip>
          <a:stretch>
            <a:fillRect/>
          </a:stretch>
        </p:blipFill>
        <p:spPr>
          <a:xfrm>
            <a:off x="3375304" y="959575"/>
            <a:ext cx="2668401" cy="2668401"/>
          </a:xfrm>
          <a:prstGeom prst="rect">
            <a:avLst/>
          </a:prstGeom>
          <a:noFill/>
          <a:ln>
            <a:noFill/>
          </a:ln>
        </p:spPr>
      </p:pic>
      <p:pic>
        <p:nvPicPr>
          <p:cNvPr id="559" name="Google Shape;559;p48"/>
          <p:cNvPicPr preferRelativeResize="0"/>
          <p:nvPr/>
        </p:nvPicPr>
        <p:blipFill>
          <a:blip r:embed="rId5">
            <a:alphaModFix/>
          </a:blip>
          <a:stretch>
            <a:fillRect/>
          </a:stretch>
        </p:blipFill>
        <p:spPr>
          <a:xfrm>
            <a:off x="6043700" y="959575"/>
            <a:ext cx="2668401" cy="2668401"/>
          </a:xfrm>
          <a:prstGeom prst="rect">
            <a:avLst/>
          </a:prstGeom>
          <a:noFill/>
          <a:ln>
            <a:noFill/>
          </a:ln>
        </p:spPr>
      </p:pic>
      <p:sp>
        <p:nvSpPr>
          <p:cNvPr id="560" name="Google Shape;560;p48"/>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https://blog.fitbit.com/sleep-stages-explained/</a:t>
            </a:r>
            <a:endParaRPr sz="8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49"/>
          <p:cNvSpPr txBox="1"/>
          <p:nvPr>
            <p:ph type="title"/>
          </p:nvPr>
        </p:nvSpPr>
        <p:spPr>
          <a:xfrm>
            <a:off x="824000" y="1613825"/>
            <a:ext cx="6386700" cy="1872900"/>
          </a:xfrm>
          <a:prstGeom prst="rect">
            <a:avLst/>
          </a:prstGeom>
        </p:spPr>
        <p:txBody>
          <a:bodyPr anchorCtr="0" anchor="ctr" bIns="91425" lIns="91425" spcFirstLastPara="1" rIns="91425" wrap="square" tIns="91425">
            <a:normAutofit/>
          </a:bodyPr>
          <a:lstStyle/>
          <a:p>
            <a:pPr indent="0" lvl="0" marL="0" rtl="0" algn="l">
              <a:spcBef>
                <a:spcPts val="0"/>
              </a:spcBef>
              <a:spcAft>
                <a:spcPts val="0"/>
              </a:spcAft>
              <a:buNone/>
            </a:pPr>
            <a:r>
              <a:rPr b="0" lang="es-419"/>
              <a:t>Caso de estudio: </a:t>
            </a:r>
            <a:r>
              <a:rPr lang="es-419"/>
              <a:t>Somnolencia durante la conducción</a:t>
            </a:r>
            <a:endParaRPr/>
          </a:p>
        </p:txBody>
      </p:sp>
      <p:sp>
        <p:nvSpPr>
          <p:cNvPr id="566" name="Google Shape;566;p4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5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Somnolencia durante la conducción</a:t>
            </a:r>
            <a:endParaRPr/>
          </a:p>
        </p:txBody>
      </p:sp>
      <p:sp>
        <p:nvSpPr>
          <p:cNvPr id="572" name="Google Shape;572;p50"/>
          <p:cNvSpPr txBox="1"/>
          <p:nvPr>
            <p:ph idx="1" type="body"/>
          </p:nvPr>
        </p:nvSpPr>
        <p:spPr>
          <a:xfrm>
            <a:off x="1303800" y="1761450"/>
            <a:ext cx="7030500" cy="25416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s-419"/>
              <a:t>Debido a la somnolencia se presenta un desgaste cognitivo como:</a:t>
            </a:r>
            <a:endParaRPr/>
          </a:p>
          <a:p>
            <a:pPr indent="-317500" lvl="0" marL="457200" rtl="0" algn="l">
              <a:spcBef>
                <a:spcPts val="1200"/>
              </a:spcBef>
              <a:spcAft>
                <a:spcPts val="0"/>
              </a:spcAft>
              <a:buSzPts val="1400"/>
              <a:buChar char="●"/>
            </a:pPr>
            <a:r>
              <a:rPr lang="es-419"/>
              <a:t> Falta de atención</a:t>
            </a:r>
            <a:endParaRPr/>
          </a:p>
          <a:p>
            <a:pPr indent="-317500" lvl="0" marL="457200" rtl="0" algn="l">
              <a:spcBef>
                <a:spcPts val="0"/>
              </a:spcBef>
              <a:spcAft>
                <a:spcPts val="0"/>
              </a:spcAft>
              <a:buSzPts val="1400"/>
              <a:buChar char="●"/>
            </a:pPr>
            <a:r>
              <a:rPr lang="es-419"/>
              <a:t> Dificultad de razonamiento</a:t>
            </a:r>
            <a:endParaRPr/>
          </a:p>
          <a:p>
            <a:pPr indent="-317500" lvl="0" marL="457200" rtl="0" algn="l">
              <a:spcBef>
                <a:spcPts val="0"/>
              </a:spcBef>
              <a:spcAft>
                <a:spcPts val="0"/>
              </a:spcAft>
              <a:buSzPts val="1400"/>
              <a:buChar char="●"/>
            </a:pPr>
            <a:r>
              <a:rPr lang="es-419"/>
              <a:t> Tiempos de reacción lento</a:t>
            </a:r>
            <a:endParaRPr/>
          </a:p>
          <a:p>
            <a:pPr indent="0" lvl="0" marL="0" rtl="0" algn="l">
              <a:spcBef>
                <a:spcPts val="1200"/>
              </a:spcBef>
              <a:spcAft>
                <a:spcPts val="0"/>
              </a:spcAft>
              <a:buNone/>
            </a:pPr>
            <a:r>
              <a:rPr lang="es-419"/>
              <a:t>Grupos con mayor riesgo:</a:t>
            </a:r>
            <a:endParaRPr/>
          </a:p>
          <a:p>
            <a:pPr indent="-317500" lvl="0" marL="457200" rtl="0" algn="l">
              <a:spcBef>
                <a:spcPts val="1200"/>
              </a:spcBef>
              <a:spcAft>
                <a:spcPts val="0"/>
              </a:spcAft>
              <a:buSzPts val="1400"/>
              <a:buChar char="●"/>
            </a:pPr>
            <a:r>
              <a:rPr lang="es-419"/>
              <a:t> Jóvenes entre 16-29 años</a:t>
            </a:r>
            <a:endParaRPr/>
          </a:p>
          <a:p>
            <a:pPr indent="-317500" lvl="0" marL="457200" rtl="0" algn="l">
              <a:spcBef>
                <a:spcPts val="0"/>
              </a:spcBef>
              <a:spcAft>
                <a:spcPts val="0"/>
              </a:spcAft>
              <a:buSzPts val="1400"/>
              <a:buChar char="●"/>
            </a:pPr>
            <a:r>
              <a:rPr lang="es-419"/>
              <a:t> Trabajadores con horarios irregulares</a:t>
            </a:r>
            <a:endParaRPr/>
          </a:p>
          <a:p>
            <a:pPr indent="-317500" lvl="0" marL="457200" rtl="0" algn="l">
              <a:spcBef>
                <a:spcPts val="0"/>
              </a:spcBef>
              <a:spcAft>
                <a:spcPts val="0"/>
              </a:spcAft>
              <a:buSzPts val="1400"/>
              <a:buChar char="●"/>
            </a:pPr>
            <a:r>
              <a:rPr lang="es-419"/>
              <a:t> Personas con trastornos del sueño</a:t>
            </a:r>
            <a:endParaRPr/>
          </a:p>
        </p:txBody>
      </p:sp>
      <p:sp>
        <p:nvSpPr>
          <p:cNvPr id="573" name="Google Shape;573;p5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574" name="Google Shape;574;p5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Lo, J. C., Groeger, J. A., Santhi, N., Arbon, E. L., Lazar, A. S., Hasan, S., Von Schantz, M., Archer, S. N., y Dijk, D.-J.. 2012. Effects of partial and acute total sleep deprivation on performance across cognitive domains, individuals and circadian phase. PLOS ONE, 7(9), pp. 1–16</a:t>
            </a:r>
            <a:endParaRPr sz="800">
              <a:solidFill>
                <a:srgbClr val="94B6BD"/>
              </a:solidFill>
            </a:endParaRPr>
          </a:p>
        </p:txBody>
      </p:sp>
      <p:pic>
        <p:nvPicPr>
          <p:cNvPr id="575" name="Google Shape;575;p50"/>
          <p:cNvPicPr preferRelativeResize="0"/>
          <p:nvPr/>
        </p:nvPicPr>
        <p:blipFill rotWithShape="1">
          <a:blip r:embed="rId3">
            <a:alphaModFix/>
          </a:blip>
          <a:srcRect b="0" l="0" r="0" t="0"/>
          <a:stretch/>
        </p:blipFill>
        <p:spPr>
          <a:xfrm>
            <a:off x="5413648" y="2326671"/>
            <a:ext cx="2920650" cy="1871024"/>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9" name="Shape 579"/>
        <p:cNvGrpSpPr/>
        <p:nvPr/>
      </p:nvGrpSpPr>
      <p:grpSpPr>
        <a:xfrm>
          <a:off x="0" y="0"/>
          <a:ext cx="0" cy="0"/>
          <a:chOff x="0" y="0"/>
          <a:chExt cx="0" cy="0"/>
        </a:xfrm>
      </p:grpSpPr>
      <p:sp>
        <p:nvSpPr>
          <p:cNvPr id="580" name="Google Shape;580;p5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81" name="Google Shape;581;p51"/>
          <p:cNvPicPr preferRelativeResize="0"/>
          <p:nvPr/>
        </p:nvPicPr>
        <p:blipFill rotWithShape="1">
          <a:blip r:embed="rId3">
            <a:alphaModFix/>
          </a:blip>
          <a:srcRect b="0" l="0" r="0" t="0"/>
          <a:stretch/>
        </p:blipFill>
        <p:spPr>
          <a:xfrm>
            <a:off x="2298576" y="480563"/>
            <a:ext cx="4546849" cy="3725175"/>
          </a:xfrm>
          <a:prstGeom prst="rect">
            <a:avLst/>
          </a:prstGeom>
          <a:noFill/>
          <a:ln>
            <a:noFill/>
          </a:ln>
        </p:spPr>
      </p:pic>
      <p:sp>
        <p:nvSpPr>
          <p:cNvPr id="582" name="Google Shape;582;p5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6" name="Shape 586"/>
        <p:cNvGrpSpPr/>
        <p:nvPr/>
      </p:nvGrpSpPr>
      <p:grpSpPr>
        <a:xfrm>
          <a:off x="0" y="0"/>
          <a:ext cx="0" cy="0"/>
          <a:chOff x="0" y="0"/>
          <a:chExt cx="0" cy="0"/>
        </a:xfrm>
      </p:grpSpPr>
      <p:sp>
        <p:nvSpPr>
          <p:cNvPr id="587" name="Google Shape;587;p5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Propuesta de investigación</a:t>
            </a:r>
            <a:endParaRPr/>
          </a:p>
        </p:txBody>
      </p:sp>
      <p:sp>
        <p:nvSpPr>
          <p:cNvPr id="588" name="Google Shape;588;p52"/>
          <p:cNvSpPr txBox="1"/>
          <p:nvPr>
            <p:ph idx="1" type="body"/>
          </p:nvPr>
        </p:nvSpPr>
        <p:spPr>
          <a:xfrm>
            <a:off x="1303800" y="1761450"/>
            <a:ext cx="27534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419"/>
              <a:t>Diseñar e integrar un simulador de conducción que permita la recolección de variables asociadas a la somnolencia, de manera que estas puedan utilizarse para el entrenamiento de algoritmos de aprendizaje de máquina y evaluar su desempeño para clasificar diferentes grados de somnolencia.</a:t>
            </a:r>
            <a:endParaRPr/>
          </a:p>
        </p:txBody>
      </p:sp>
      <p:sp>
        <p:nvSpPr>
          <p:cNvPr id="589" name="Google Shape;589;p5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0" name="Google Shape;590;p52"/>
          <p:cNvPicPr preferRelativeResize="0"/>
          <p:nvPr/>
        </p:nvPicPr>
        <p:blipFill rotWithShape="1">
          <a:blip r:embed="rId3">
            <a:alphaModFix/>
          </a:blip>
          <a:srcRect b="0" l="0" r="0" t="0"/>
          <a:stretch/>
        </p:blipFill>
        <p:spPr>
          <a:xfrm>
            <a:off x="4751770" y="1822228"/>
            <a:ext cx="3699274" cy="2170099"/>
          </a:xfrm>
          <a:prstGeom prst="rect">
            <a:avLst/>
          </a:prstGeom>
          <a:noFill/>
          <a:ln>
            <a:noFill/>
          </a:ln>
        </p:spPr>
      </p:pic>
      <p:sp>
        <p:nvSpPr>
          <p:cNvPr id="591" name="Google Shape;591;p52"/>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5" name="Shape 595"/>
        <p:cNvGrpSpPr/>
        <p:nvPr/>
      </p:nvGrpSpPr>
      <p:grpSpPr>
        <a:xfrm>
          <a:off x="0" y="0"/>
          <a:ext cx="0" cy="0"/>
          <a:chOff x="0" y="0"/>
          <a:chExt cx="0" cy="0"/>
        </a:xfrm>
      </p:grpSpPr>
      <p:sp>
        <p:nvSpPr>
          <p:cNvPr id="596" name="Google Shape;596;p53"/>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Simulador</a:t>
            </a:r>
            <a:endParaRPr sz="2400">
              <a:solidFill>
                <a:schemeClr val="accent2"/>
              </a:solidFill>
            </a:endParaRPr>
          </a:p>
        </p:txBody>
      </p:sp>
      <p:sp>
        <p:nvSpPr>
          <p:cNvPr id="597" name="Google Shape;597;p5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598" name="Google Shape;598;p53"/>
          <p:cNvPicPr preferRelativeResize="0"/>
          <p:nvPr/>
        </p:nvPicPr>
        <p:blipFill>
          <a:blip r:embed="rId3">
            <a:alphaModFix/>
          </a:blip>
          <a:stretch>
            <a:fillRect/>
          </a:stretch>
        </p:blipFill>
        <p:spPr>
          <a:xfrm>
            <a:off x="779088" y="1643450"/>
            <a:ext cx="7585822" cy="2645200"/>
          </a:xfrm>
          <a:prstGeom prst="rect">
            <a:avLst/>
          </a:prstGeom>
          <a:noFill/>
          <a:ln>
            <a:noFill/>
          </a:ln>
        </p:spPr>
      </p:pic>
      <p:sp>
        <p:nvSpPr>
          <p:cNvPr id="599" name="Google Shape;599;p53"/>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54"/>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Rasgos de comportamiento</a:t>
            </a:r>
            <a:endParaRPr sz="2400">
              <a:solidFill>
                <a:schemeClr val="accent2"/>
              </a:solidFill>
            </a:endParaRPr>
          </a:p>
        </p:txBody>
      </p:sp>
      <p:sp>
        <p:nvSpPr>
          <p:cNvPr id="605" name="Google Shape;605;p54"/>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06" name="Google Shape;606;p54"/>
          <p:cNvPicPr preferRelativeResize="0"/>
          <p:nvPr/>
        </p:nvPicPr>
        <p:blipFill>
          <a:blip r:embed="rId3">
            <a:alphaModFix/>
          </a:blip>
          <a:stretch>
            <a:fillRect/>
          </a:stretch>
        </p:blipFill>
        <p:spPr>
          <a:xfrm>
            <a:off x="1762476" y="1719100"/>
            <a:ext cx="5619048" cy="2707550"/>
          </a:xfrm>
          <a:prstGeom prst="rect">
            <a:avLst/>
          </a:prstGeom>
          <a:noFill/>
          <a:ln>
            <a:noFill/>
          </a:ln>
        </p:spPr>
      </p:pic>
      <p:sp>
        <p:nvSpPr>
          <p:cNvPr id="607" name="Google Shape;607;p54"/>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1" name="Shape 611"/>
        <p:cNvGrpSpPr/>
        <p:nvPr/>
      </p:nvGrpSpPr>
      <p:grpSpPr>
        <a:xfrm>
          <a:off x="0" y="0"/>
          <a:ext cx="0" cy="0"/>
          <a:chOff x="0" y="0"/>
          <a:chExt cx="0" cy="0"/>
        </a:xfrm>
      </p:grpSpPr>
      <p:sp>
        <p:nvSpPr>
          <p:cNvPr id="612" name="Google Shape;612;p55"/>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Rasgos de comportamiento</a:t>
            </a:r>
            <a:endParaRPr sz="2400">
              <a:solidFill>
                <a:schemeClr val="accent2"/>
              </a:solidFill>
            </a:endParaRPr>
          </a:p>
        </p:txBody>
      </p:sp>
      <p:sp>
        <p:nvSpPr>
          <p:cNvPr id="613" name="Google Shape;613;p55"/>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14" name="Google Shape;614;p55"/>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chemeClr val="dk1"/>
                </a:solidFill>
              </a:rPr>
              <a:t>Baccour, M. H., Driewer, F., Kasneci, E., &amp; Rosenstiel, W. (2019, June). Camera-based eye blink detection algorithm for assessing driver drowsiness. </a:t>
            </a:r>
            <a:br>
              <a:rPr lang="es-419" sz="800">
                <a:solidFill>
                  <a:schemeClr val="dk1"/>
                </a:solidFill>
              </a:rPr>
            </a:br>
            <a:r>
              <a:rPr lang="es-419" sz="800">
                <a:solidFill>
                  <a:schemeClr val="dk1"/>
                </a:solidFill>
              </a:rPr>
              <a:t>In 2019 IEEE Intelligent Vehicles Symposium (IV) (pp. 987-993). IEEE</a:t>
            </a:r>
            <a:endParaRPr sz="800">
              <a:solidFill>
                <a:schemeClr val="dk1"/>
              </a:solidFill>
            </a:endParaRPr>
          </a:p>
        </p:txBody>
      </p:sp>
      <p:pic>
        <p:nvPicPr>
          <p:cNvPr id="615" name="Google Shape;615;p55"/>
          <p:cNvPicPr preferRelativeResize="0"/>
          <p:nvPr/>
        </p:nvPicPr>
        <p:blipFill rotWithShape="1">
          <a:blip r:embed="rId3">
            <a:alphaModFix/>
          </a:blip>
          <a:srcRect b="0" l="0" r="0" t="0"/>
          <a:stretch/>
        </p:blipFill>
        <p:spPr>
          <a:xfrm>
            <a:off x="995662" y="2008663"/>
            <a:ext cx="7152672" cy="19764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9" name="Shape 619"/>
        <p:cNvGrpSpPr/>
        <p:nvPr/>
      </p:nvGrpSpPr>
      <p:grpSpPr>
        <a:xfrm>
          <a:off x="0" y="0"/>
          <a:ext cx="0" cy="0"/>
          <a:chOff x="0" y="0"/>
          <a:chExt cx="0" cy="0"/>
        </a:xfrm>
      </p:grpSpPr>
      <p:sp>
        <p:nvSpPr>
          <p:cNvPr id="620" name="Google Shape;620;p56"/>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Rasgos fisiológicos</a:t>
            </a:r>
            <a:endParaRPr sz="2400">
              <a:solidFill>
                <a:schemeClr val="accent2"/>
              </a:solidFill>
            </a:endParaRPr>
          </a:p>
        </p:txBody>
      </p:sp>
      <p:sp>
        <p:nvSpPr>
          <p:cNvPr id="621" name="Google Shape;621;p56"/>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22" name="Google Shape;622;p56"/>
          <p:cNvPicPr preferRelativeResize="0"/>
          <p:nvPr/>
        </p:nvPicPr>
        <p:blipFill>
          <a:blip r:embed="rId3">
            <a:alphaModFix/>
          </a:blip>
          <a:stretch>
            <a:fillRect/>
          </a:stretch>
        </p:blipFill>
        <p:spPr>
          <a:xfrm>
            <a:off x="1454912" y="1939475"/>
            <a:ext cx="6234175" cy="2098150"/>
          </a:xfrm>
          <a:prstGeom prst="rect">
            <a:avLst/>
          </a:prstGeom>
          <a:noFill/>
          <a:ln>
            <a:noFill/>
          </a:ln>
        </p:spPr>
      </p:pic>
      <p:sp>
        <p:nvSpPr>
          <p:cNvPr id="623" name="Google Shape;623;p56"/>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7" name="Shape 627"/>
        <p:cNvGrpSpPr/>
        <p:nvPr/>
      </p:nvGrpSpPr>
      <p:grpSpPr>
        <a:xfrm>
          <a:off x="0" y="0"/>
          <a:ext cx="0" cy="0"/>
          <a:chOff x="0" y="0"/>
          <a:chExt cx="0" cy="0"/>
        </a:xfrm>
      </p:grpSpPr>
      <p:sp>
        <p:nvSpPr>
          <p:cNvPr id="628" name="Google Shape;628;p57"/>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Medición de la somnolencia</a:t>
            </a:r>
            <a:endParaRPr/>
          </a:p>
        </p:txBody>
      </p:sp>
      <p:sp>
        <p:nvSpPr>
          <p:cNvPr id="629" name="Google Shape;629;p57"/>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30" name="Google Shape;630;p57"/>
          <p:cNvSpPr txBox="1"/>
          <p:nvPr/>
        </p:nvSpPr>
        <p:spPr>
          <a:xfrm>
            <a:off x="800450" y="4547875"/>
            <a:ext cx="7537200" cy="3078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Ref</a:t>
            </a:r>
            <a:endParaRPr sz="800">
              <a:solidFill>
                <a:srgbClr val="94B6BD"/>
              </a:solidFill>
            </a:endParaRPr>
          </a:p>
        </p:txBody>
      </p:sp>
      <p:pic>
        <p:nvPicPr>
          <p:cNvPr id="631" name="Google Shape;631;p57"/>
          <p:cNvPicPr preferRelativeResize="0"/>
          <p:nvPr/>
        </p:nvPicPr>
        <p:blipFill rotWithShape="1">
          <a:blip r:embed="rId3">
            <a:alphaModFix/>
          </a:blip>
          <a:srcRect b="0" l="0" r="0" t="0"/>
          <a:stretch/>
        </p:blipFill>
        <p:spPr>
          <a:xfrm>
            <a:off x="345691" y="1741324"/>
            <a:ext cx="3851008" cy="2890750"/>
          </a:xfrm>
          <a:prstGeom prst="rect">
            <a:avLst/>
          </a:prstGeom>
          <a:noFill/>
          <a:ln>
            <a:noFill/>
          </a:ln>
        </p:spPr>
      </p:pic>
      <p:pic>
        <p:nvPicPr>
          <p:cNvPr id="632" name="Google Shape;632;p57"/>
          <p:cNvPicPr preferRelativeResize="0"/>
          <p:nvPr/>
        </p:nvPicPr>
        <p:blipFill rotWithShape="1">
          <a:blip r:embed="rId4">
            <a:alphaModFix/>
          </a:blip>
          <a:srcRect b="0" l="0" r="0" t="0"/>
          <a:stretch/>
        </p:blipFill>
        <p:spPr>
          <a:xfrm>
            <a:off x="4572000" y="1741325"/>
            <a:ext cx="2258826" cy="1160924"/>
          </a:xfrm>
          <a:prstGeom prst="rect">
            <a:avLst/>
          </a:prstGeom>
          <a:noFill/>
          <a:ln>
            <a:noFill/>
          </a:ln>
        </p:spPr>
      </p:pic>
      <p:pic>
        <p:nvPicPr>
          <p:cNvPr id="633" name="Google Shape;633;p57"/>
          <p:cNvPicPr preferRelativeResize="0"/>
          <p:nvPr/>
        </p:nvPicPr>
        <p:blipFill>
          <a:blip r:embed="rId5">
            <a:alphaModFix/>
          </a:blip>
          <a:stretch>
            <a:fillRect/>
          </a:stretch>
        </p:blipFill>
        <p:spPr>
          <a:xfrm>
            <a:off x="4572000" y="3365102"/>
            <a:ext cx="4231249" cy="1371875"/>
          </a:xfrm>
          <a:prstGeom prst="rect">
            <a:avLst/>
          </a:prstGeom>
          <a:noFill/>
          <a:ln>
            <a:noFill/>
          </a:ln>
        </p:spPr>
      </p:pic>
      <p:sp>
        <p:nvSpPr>
          <p:cNvPr id="634" name="Google Shape;634;p57"/>
          <p:cNvSpPr txBox="1"/>
          <p:nvPr/>
        </p:nvSpPr>
        <p:spPr>
          <a:xfrm>
            <a:off x="4499575" y="1387325"/>
            <a:ext cx="437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latin typeface="Maven Pro"/>
                <a:ea typeface="Maven Pro"/>
                <a:cs typeface="Maven Pro"/>
                <a:sym typeface="Maven Pro"/>
              </a:rPr>
              <a:t>Escala de autorreporte (Karolinska Sleepiness Scale (K</a:t>
            </a:r>
            <a:r>
              <a:rPr lang="es-419" sz="1100">
                <a:solidFill>
                  <a:schemeClr val="dk2"/>
                </a:solidFill>
                <a:latin typeface="Maven Pro"/>
                <a:ea typeface="Maven Pro"/>
                <a:cs typeface="Maven Pro"/>
                <a:sym typeface="Maven Pro"/>
              </a:rPr>
              <a:t>SS)</a:t>
            </a:r>
            <a:r>
              <a:rPr lang="es-419" sz="1100">
                <a:solidFill>
                  <a:schemeClr val="dk2"/>
                </a:solidFill>
                <a:latin typeface="Maven Pro"/>
                <a:ea typeface="Maven Pro"/>
                <a:cs typeface="Maven Pro"/>
                <a:sym typeface="Maven Pro"/>
              </a:rPr>
              <a:t>)</a:t>
            </a:r>
            <a:endParaRPr sz="1100">
              <a:solidFill>
                <a:schemeClr val="dk2"/>
              </a:solidFill>
              <a:latin typeface="Maven Pro"/>
              <a:ea typeface="Maven Pro"/>
              <a:cs typeface="Maven Pro"/>
              <a:sym typeface="Maven Pro"/>
            </a:endParaRPr>
          </a:p>
        </p:txBody>
      </p:sp>
      <p:sp>
        <p:nvSpPr>
          <p:cNvPr id="635" name="Google Shape;635;p57"/>
          <p:cNvSpPr txBox="1"/>
          <p:nvPr/>
        </p:nvSpPr>
        <p:spPr>
          <a:xfrm>
            <a:off x="4499575" y="3032875"/>
            <a:ext cx="4376100" cy="35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419" sz="1100">
                <a:solidFill>
                  <a:schemeClr val="dk2"/>
                </a:solidFill>
                <a:latin typeface="Maven Pro"/>
                <a:ea typeface="Maven Pro"/>
                <a:cs typeface="Maven Pro"/>
                <a:sym typeface="Maven Pro"/>
              </a:rPr>
              <a:t>Escala de observador (</a:t>
            </a:r>
            <a:r>
              <a:rPr lang="es-419" sz="1100">
                <a:solidFill>
                  <a:schemeClr val="dk2"/>
                </a:solidFill>
                <a:latin typeface="Maven Pro"/>
                <a:ea typeface="Maven Pro"/>
                <a:cs typeface="Maven Pro"/>
                <a:sym typeface="Maven Pro"/>
              </a:rPr>
              <a:t>Weinbeer scale</a:t>
            </a:r>
            <a:r>
              <a:rPr lang="es-419" sz="1100">
                <a:solidFill>
                  <a:schemeClr val="dk2"/>
                </a:solidFill>
                <a:latin typeface="Maven Pro"/>
                <a:ea typeface="Maven Pro"/>
                <a:cs typeface="Maven Pro"/>
                <a:sym typeface="Maven Pro"/>
              </a:rPr>
              <a:t>)</a:t>
            </a:r>
            <a:endParaRPr sz="1100">
              <a:solidFill>
                <a:schemeClr val="dk2"/>
              </a:solidFill>
              <a:latin typeface="Maven Pro"/>
              <a:ea typeface="Maven Pro"/>
              <a:cs typeface="Maven Pro"/>
              <a:sym typeface="Maven Pro"/>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9" name="Shape 639"/>
        <p:cNvGrpSpPr/>
        <p:nvPr/>
      </p:nvGrpSpPr>
      <p:grpSpPr>
        <a:xfrm>
          <a:off x="0" y="0"/>
          <a:ext cx="0" cy="0"/>
          <a:chOff x="0" y="0"/>
          <a:chExt cx="0" cy="0"/>
        </a:xfrm>
      </p:grpSpPr>
      <p:sp>
        <p:nvSpPr>
          <p:cNvPr id="640" name="Google Shape;640;p58"/>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Recolección de datos</a:t>
            </a:r>
            <a:endParaRPr/>
          </a:p>
        </p:txBody>
      </p:sp>
      <p:sp>
        <p:nvSpPr>
          <p:cNvPr id="641" name="Google Shape;641;p58"/>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42" name="Google Shape;642;p58"/>
          <p:cNvPicPr preferRelativeResize="0"/>
          <p:nvPr/>
        </p:nvPicPr>
        <p:blipFill rotWithShape="1">
          <a:blip r:embed="rId3">
            <a:alphaModFix/>
          </a:blip>
          <a:srcRect b="0" l="0" r="0" t="0"/>
          <a:stretch/>
        </p:blipFill>
        <p:spPr>
          <a:xfrm>
            <a:off x="1091413" y="1723749"/>
            <a:ext cx="6961176" cy="2545125"/>
          </a:xfrm>
          <a:prstGeom prst="rect">
            <a:avLst/>
          </a:prstGeom>
          <a:noFill/>
          <a:ln>
            <a:noFill/>
          </a:ln>
        </p:spPr>
      </p:pic>
      <p:sp>
        <p:nvSpPr>
          <p:cNvPr id="643" name="Google Shape;643;p58"/>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id="648" name="Google Shape;648;p59" title="KSS_7_Wein_1.mp4">
            <a:hlinkClick r:id="rId3"/>
          </p:cNvPr>
          <p:cNvPicPr preferRelativeResize="0"/>
          <p:nvPr/>
        </p:nvPicPr>
        <p:blipFill>
          <a:blip r:embed="rId4">
            <a:alphaModFix/>
          </a:blip>
          <a:stretch>
            <a:fillRect/>
          </a:stretch>
        </p:blipFill>
        <p:spPr>
          <a:xfrm>
            <a:off x="5715000" y="0"/>
            <a:ext cx="3429000" cy="2571725"/>
          </a:xfrm>
          <a:prstGeom prst="rect">
            <a:avLst/>
          </a:prstGeom>
          <a:noFill/>
          <a:ln>
            <a:noFill/>
          </a:ln>
        </p:spPr>
      </p:pic>
      <p:pic>
        <p:nvPicPr>
          <p:cNvPr id="649" name="Google Shape;649;p59" title="KSS_9_Wein_5.mp4">
            <a:hlinkClick r:id="rId5"/>
          </p:cNvPr>
          <p:cNvPicPr preferRelativeResize="0"/>
          <p:nvPr/>
        </p:nvPicPr>
        <p:blipFill>
          <a:blip r:embed="rId4">
            <a:alphaModFix/>
          </a:blip>
          <a:stretch>
            <a:fillRect/>
          </a:stretch>
        </p:blipFill>
        <p:spPr>
          <a:xfrm>
            <a:off x="5715009" y="2571750"/>
            <a:ext cx="3428992" cy="2571750"/>
          </a:xfrm>
          <a:prstGeom prst="rect">
            <a:avLst/>
          </a:prstGeom>
          <a:noFill/>
          <a:ln>
            <a:noFill/>
          </a:ln>
        </p:spPr>
      </p:pic>
      <p:sp>
        <p:nvSpPr>
          <p:cNvPr id="650" name="Google Shape;650;p59"/>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Participantes</a:t>
            </a:r>
            <a:endParaRPr/>
          </a:p>
        </p:txBody>
      </p:sp>
      <p:sp>
        <p:nvSpPr>
          <p:cNvPr id="651" name="Google Shape;651;p59"/>
          <p:cNvSpPr txBox="1"/>
          <p:nvPr>
            <p:ph idx="1" type="body"/>
          </p:nvPr>
        </p:nvSpPr>
        <p:spPr>
          <a:xfrm>
            <a:off x="1094050" y="1686175"/>
            <a:ext cx="37077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12 participantes (7 hombres, 5 mujeres) entre 24 y 26 años, todos con experiencia de conducción y sin problemas de salud.</a:t>
            </a:r>
            <a:endParaRPr/>
          </a:p>
          <a:p>
            <a:pPr indent="0" lvl="0" marL="0" rtl="0" algn="l">
              <a:spcBef>
                <a:spcPts val="1200"/>
              </a:spcBef>
              <a:spcAft>
                <a:spcPts val="0"/>
              </a:spcAft>
              <a:buNone/>
            </a:pPr>
            <a:r>
              <a:rPr lang="es-419"/>
              <a:t>Para inducir la somnolencia de forma natural:</a:t>
            </a:r>
            <a:endParaRPr/>
          </a:p>
          <a:p>
            <a:pPr indent="-311150" lvl="0" marL="457200" rtl="0" algn="l">
              <a:spcBef>
                <a:spcPts val="1200"/>
              </a:spcBef>
              <a:spcAft>
                <a:spcPts val="0"/>
              </a:spcAft>
              <a:buSzPts val="1300"/>
              <a:buChar char="●"/>
            </a:pPr>
            <a:r>
              <a:rPr lang="es-419"/>
              <a:t>Limitar el sueño de la noche anterior a un máximo de 5h (4,58 ± 0,67)</a:t>
            </a:r>
            <a:endParaRPr/>
          </a:p>
          <a:p>
            <a:pPr indent="-311150" lvl="0" marL="457200" rtl="0" algn="l">
              <a:spcBef>
                <a:spcPts val="0"/>
              </a:spcBef>
              <a:spcAft>
                <a:spcPts val="0"/>
              </a:spcAft>
              <a:buSzPts val="1300"/>
              <a:buChar char="●"/>
            </a:pPr>
            <a:r>
              <a:rPr lang="es-419"/>
              <a:t>No tomar bebidas energizantes 6h antes.</a:t>
            </a:r>
            <a:endParaRPr/>
          </a:p>
          <a:p>
            <a:pPr indent="-311150" lvl="0" marL="457200" rtl="0" algn="l">
              <a:spcBef>
                <a:spcPts val="0"/>
              </a:spcBef>
              <a:spcAft>
                <a:spcPts val="0"/>
              </a:spcAft>
              <a:buSzPts val="1300"/>
              <a:buChar char="●"/>
            </a:pPr>
            <a:r>
              <a:rPr lang="es-419"/>
              <a:t>El experimento se realizó de noche entre las 8 p.m. y 12 am</a:t>
            </a:r>
            <a:endParaRPr/>
          </a:p>
        </p:txBody>
      </p:sp>
      <p:grpSp>
        <p:nvGrpSpPr>
          <p:cNvPr id="652" name="Google Shape;652;p59"/>
          <p:cNvGrpSpPr/>
          <p:nvPr/>
        </p:nvGrpSpPr>
        <p:grpSpPr>
          <a:xfrm>
            <a:off x="5039575" y="575463"/>
            <a:ext cx="531850" cy="1420800"/>
            <a:chOff x="4390150" y="7375"/>
            <a:chExt cx="531850" cy="1420800"/>
          </a:xfrm>
        </p:grpSpPr>
        <p:sp>
          <p:nvSpPr>
            <p:cNvPr id="653" name="Google Shape;653;p59"/>
            <p:cNvSpPr/>
            <p:nvPr/>
          </p:nvSpPr>
          <p:spPr>
            <a:xfrm>
              <a:off x="4745000" y="7375"/>
              <a:ext cx="177000" cy="1770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59"/>
            <p:cNvSpPr/>
            <p:nvPr/>
          </p:nvSpPr>
          <p:spPr>
            <a:xfrm>
              <a:off x="4745000" y="159775"/>
              <a:ext cx="177000" cy="1770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59"/>
            <p:cNvSpPr/>
            <p:nvPr/>
          </p:nvSpPr>
          <p:spPr>
            <a:xfrm>
              <a:off x="4745000" y="312175"/>
              <a:ext cx="177000" cy="177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59"/>
            <p:cNvSpPr/>
            <p:nvPr/>
          </p:nvSpPr>
          <p:spPr>
            <a:xfrm>
              <a:off x="4745000" y="464575"/>
              <a:ext cx="177000" cy="1770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59"/>
            <p:cNvSpPr/>
            <p:nvPr/>
          </p:nvSpPr>
          <p:spPr>
            <a:xfrm>
              <a:off x="4745000" y="616975"/>
              <a:ext cx="177000" cy="1770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59"/>
            <p:cNvSpPr/>
            <p:nvPr/>
          </p:nvSpPr>
          <p:spPr>
            <a:xfrm>
              <a:off x="4745000" y="769375"/>
              <a:ext cx="177000" cy="1770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59"/>
            <p:cNvSpPr/>
            <p:nvPr/>
          </p:nvSpPr>
          <p:spPr>
            <a:xfrm>
              <a:off x="4745000" y="946375"/>
              <a:ext cx="177000" cy="1770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59"/>
            <p:cNvSpPr/>
            <p:nvPr/>
          </p:nvSpPr>
          <p:spPr>
            <a:xfrm>
              <a:off x="4745000" y="1098775"/>
              <a:ext cx="177000" cy="1770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59"/>
            <p:cNvSpPr/>
            <p:nvPr/>
          </p:nvSpPr>
          <p:spPr>
            <a:xfrm>
              <a:off x="4745000" y="1251175"/>
              <a:ext cx="177000" cy="1770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59"/>
            <p:cNvSpPr/>
            <p:nvPr/>
          </p:nvSpPr>
          <p:spPr>
            <a:xfrm>
              <a:off x="4390150" y="946375"/>
              <a:ext cx="294300" cy="177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63" name="Google Shape;663;p59"/>
          <p:cNvGrpSpPr/>
          <p:nvPr/>
        </p:nvGrpSpPr>
        <p:grpSpPr>
          <a:xfrm>
            <a:off x="5039575" y="3147213"/>
            <a:ext cx="531850" cy="1420800"/>
            <a:chOff x="4390150" y="7375"/>
            <a:chExt cx="531850" cy="1420800"/>
          </a:xfrm>
        </p:grpSpPr>
        <p:sp>
          <p:nvSpPr>
            <p:cNvPr id="664" name="Google Shape;664;p59"/>
            <p:cNvSpPr/>
            <p:nvPr/>
          </p:nvSpPr>
          <p:spPr>
            <a:xfrm>
              <a:off x="4745000" y="7375"/>
              <a:ext cx="177000" cy="177000"/>
            </a:xfrm>
            <a:prstGeom prst="rect">
              <a:avLst/>
            </a:prstGeom>
            <a:solidFill>
              <a:srgbClr val="93C47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59"/>
            <p:cNvSpPr/>
            <p:nvPr/>
          </p:nvSpPr>
          <p:spPr>
            <a:xfrm>
              <a:off x="4745000" y="159775"/>
              <a:ext cx="177000" cy="177000"/>
            </a:xfrm>
            <a:prstGeom prst="rect">
              <a:avLst/>
            </a:prstGeom>
            <a:solidFill>
              <a:srgbClr val="B6D7A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59"/>
            <p:cNvSpPr/>
            <p:nvPr/>
          </p:nvSpPr>
          <p:spPr>
            <a:xfrm>
              <a:off x="4745000" y="312175"/>
              <a:ext cx="177000" cy="177000"/>
            </a:xfrm>
            <a:prstGeom prst="rect">
              <a:avLst/>
            </a:prstGeom>
            <a:solidFill>
              <a:srgbClr val="D9EAD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9"/>
            <p:cNvSpPr/>
            <p:nvPr/>
          </p:nvSpPr>
          <p:spPr>
            <a:xfrm>
              <a:off x="4745000" y="464575"/>
              <a:ext cx="177000" cy="177000"/>
            </a:xfrm>
            <a:prstGeom prst="rect">
              <a:avLst/>
            </a:prstGeom>
            <a:solidFill>
              <a:srgbClr val="FFF2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59"/>
            <p:cNvSpPr/>
            <p:nvPr/>
          </p:nvSpPr>
          <p:spPr>
            <a:xfrm>
              <a:off x="4745000" y="616975"/>
              <a:ext cx="177000" cy="177000"/>
            </a:xfrm>
            <a:prstGeom prst="rect">
              <a:avLst/>
            </a:prstGeom>
            <a:solidFill>
              <a:srgbClr val="FFE5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59"/>
            <p:cNvSpPr/>
            <p:nvPr/>
          </p:nvSpPr>
          <p:spPr>
            <a:xfrm>
              <a:off x="4745000" y="769375"/>
              <a:ext cx="177000" cy="177000"/>
            </a:xfrm>
            <a:prstGeom prst="rect">
              <a:avLst/>
            </a:prstGeom>
            <a:solidFill>
              <a:srgbClr val="FFD9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59"/>
            <p:cNvSpPr/>
            <p:nvPr/>
          </p:nvSpPr>
          <p:spPr>
            <a:xfrm>
              <a:off x="4745000" y="946375"/>
              <a:ext cx="177000" cy="177000"/>
            </a:xfrm>
            <a:prstGeom prst="rect">
              <a:avLst/>
            </a:prstGeom>
            <a:solidFill>
              <a:srgbClr val="F4CCCC"/>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59"/>
            <p:cNvSpPr/>
            <p:nvPr/>
          </p:nvSpPr>
          <p:spPr>
            <a:xfrm>
              <a:off x="4745000" y="1098775"/>
              <a:ext cx="177000" cy="177000"/>
            </a:xfrm>
            <a:prstGeom prst="rect">
              <a:avLst/>
            </a:prstGeom>
            <a:solidFill>
              <a:srgbClr val="EA9999"/>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59"/>
            <p:cNvSpPr/>
            <p:nvPr/>
          </p:nvSpPr>
          <p:spPr>
            <a:xfrm>
              <a:off x="4745000" y="1251175"/>
              <a:ext cx="177000" cy="177000"/>
            </a:xfrm>
            <a:prstGeom prst="rect">
              <a:avLst/>
            </a:prstGeom>
            <a:solidFill>
              <a:srgbClr val="E0666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59"/>
            <p:cNvSpPr/>
            <p:nvPr/>
          </p:nvSpPr>
          <p:spPr>
            <a:xfrm>
              <a:off x="4390150" y="1251175"/>
              <a:ext cx="294300" cy="177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74" name="Google Shape;674;p59"/>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52"/>
                                        </p:tgtEl>
                                        <p:attrNameLst>
                                          <p:attrName>style.visibility</p:attrName>
                                        </p:attrNameLst>
                                      </p:cBhvr>
                                      <p:to>
                                        <p:strVal val="visible"/>
                                      </p:to>
                                    </p:set>
                                    <p:animEffect filter="fade" transition="in">
                                      <p:cBhvr>
                                        <p:cTn dur="1000"/>
                                        <p:tgtEl>
                                          <p:spTgt spid="6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8" name="Shape 678"/>
        <p:cNvGrpSpPr/>
        <p:nvPr/>
      </p:nvGrpSpPr>
      <p:grpSpPr>
        <a:xfrm>
          <a:off x="0" y="0"/>
          <a:ext cx="0" cy="0"/>
          <a:chOff x="0" y="0"/>
          <a:chExt cx="0" cy="0"/>
        </a:xfrm>
      </p:grpSpPr>
      <p:sp>
        <p:nvSpPr>
          <p:cNvPr id="679" name="Google Shape;679;p60"/>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i="1" sz="2400">
              <a:solidFill>
                <a:schemeClr val="accent2"/>
              </a:solidFill>
            </a:endParaRPr>
          </a:p>
          <a:p>
            <a:pPr indent="0" lvl="0" marL="0" rtl="0" algn="l">
              <a:spcBef>
                <a:spcPts val="0"/>
              </a:spcBef>
              <a:spcAft>
                <a:spcPts val="0"/>
              </a:spcAft>
              <a:buNone/>
            </a:pPr>
            <a:r>
              <a:rPr lang="es-419" sz="2400">
                <a:solidFill>
                  <a:schemeClr val="accent2"/>
                </a:solidFill>
              </a:rPr>
              <a:t>Evolución de la somnolencia</a:t>
            </a:r>
            <a:endParaRPr sz="2400">
              <a:solidFill>
                <a:schemeClr val="accent2"/>
              </a:solidFill>
            </a:endParaRPr>
          </a:p>
        </p:txBody>
      </p:sp>
      <p:sp>
        <p:nvSpPr>
          <p:cNvPr id="680" name="Google Shape;680;p60"/>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81" name="Google Shape;681;p60"/>
          <p:cNvSpPr txBox="1"/>
          <p:nvPr>
            <p:ph idx="1" type="body"/>
          </p:nvPr>
        </p:nvSpPr>
        <p:spPr>
          <a:xfrm>
            <a:off x="1303800" y="1761450"/>
            <a:ext cx="2753400" cy="2541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Se aplicó la prueba estadística ANOVA con un análisis post-hoc (Tuckey) comparando 3 puntos en el tiempo.</a:t>
            </a:r>
            <a:endParaRPr/>
          </a:p>
          <a:p>
            <a:pPr indent="0" lvl="0" marL="0" rtl="0" algn="l">
              <a:spcBef>
                <a:spcPts val="1200"/>
              </a:spcBef>
              <a:spcAft>
                <a:spcPts val="1200"/>
              </a:spcAft>
              <a:buNone/>
            </a:pPr>
            <a:r>
              <a:rPr lang="es-419"/>
              <a:t>Se encontraron diferencias estadísticamente significativas en: inicio-intermedio, e inicio-fin (</a:t>
            </a:r>
            <a:r>
              <a:rPr i="1" lang="es-419"/>
              <a:t>p</a:t>
            </a:r>
            <a:r>
              <a:rPr lang="es-419"/>
              <a:t> &lt; 0.05)</a:t>
            </a:r>
            <a:endParaRPr/>
          </a:p>
        </p:txBody>
      </p:sp>
      <p:pic>
        <p:nvPicPr>
          <p:cNvPr id="682" name="Google Shape;682;p60"/>
          <p:cNvPicPr preferRelativeResize="0"/>
          <p:nvPr/>
        </p:nvPicPr>
        <p:blipFill>
          <a:blip r:embed="rId3">
            <a:alphaModFix/>
          </a:blip>
          <a:stretch>
            <a:fillRect/>
          </a:stretch>
        </p:blipFill>
        <p:spPr>
          <a:xfrm>
            <a:off x="4572000" y="1709650"/>
            <a:ext cx="3745248" cy="2645200"/>
          </a:xfrm>
          <a:prstGeom prst="rect">
            <a:avLst/>
          </a:prstGeom>
          <a:noFill/>
          <a:ln>
            <a:noFill/>
          </a:ln>
        </p:spPr>
      </p:pic>
      <p:sp>
        <p:nvSpPr>
          <p:cNvPr id="683" name="Google Shape;683;p60"/>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61"/>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Resultados KSS</a:t>
            </a:r>
            <a:endParaRPr/>
          </a:p>
        </p:txBody>
      </p:sp>
      <p:sp>
        <p:nvSpPr>
          <p:cNvPr id="689" name="Google Shape;689;p61"/>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690" name="Google Shape;690;p61"/>
          <p:cNvPicPr preferRelativeResize="0"/>
          <p:nvPr/>
        </p:nvPicPr>
        <p:blipFill rotWithShape="1">
          <a:blip r:embed="rId3">
            <a:alphaModFix/>
          </a:blip>
          <a:srcRect b="52175" l="0" r="0" t="0"/>
          <a:stretch/>
        </p:blipFill>
        <p:spPr>
          <a:xfrm>
            <a:off x="2036750" y="1456775"/>
            <a:ext cx="5070500" cy="1065174"/>
          </a:xfrm>
          <a:prstGeom prst="rect">
            <a:avLst/>
          </a:prstGeom>
          <a:noFill/>
          <a:ln>
            <a:noFill/>
          </a:ln>
        </p:spPr>
      </p:pic>
      <p:pic>
        <p:nvPicPr>
          <p:cNvPr id="691" name="Google Shape;691;p61"/>
          <p:cNvPicPr preferRelativeResize="0"/>
          <p:nvPr/>
        </p:nvPicPr>
        <p:blipFill>
          <a:blip r:embed="rId4">
            <a:alphaModFix/>
          </a:blip>
          <a:stretch>
            <a:fillRect/>
          </a:stretch>
        </p:blipFill>
        <p:spPr>
          <a:xfrm>
            <a:off x="2085724" y="2793482"/>
            <a:ext cx="4972549" cy="1482880"/>
          </a:xfrm>
          <a:prstGeom prst="rect">
            <a:avLst/>
          </a:prstGeom>
          <a:noFill/>
          <a:ln>
            <a:noFill/>
          </a:ln>
        </p:spPr>
      </p:pic>
      <p:sp>
        <p:nvSpPr>
          <p:cNvPr id="692" name="Google Shape;692;p61"/>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sp>
        <p:nvSpPr>
          <p:cNvPr id="697" name="Google Shape;697;p62"/>
          <p:cNvSpPr txBox="1"/>
          <p:nvPr>
            <p:ph type="title"/>
          </p:nvPr>
        </p:nvSpPr>
        <p:spPr>
          <a:xfrm>
            <a:off x="1303800" y="598575"/>
            <a:ext cx="7030500" cy="999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419"/>
              <a:t>Resultados Weinbeer</a:t>
            </a:r>
            <a:endParaRPr/>
          </a:p>
        </p:txBody>
      </p:sp>
      <p:sp>
        <p:nvSpPr>
          <p:cNvPr id="698" name="Google Shape;698;p62"/>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sp>
        <p:nvSpPr>
          <p:cNvPr id="699" name="Google Shape;699;p62"/>
          <p:cNvSpPr txBox="1"/>
          <p:nvPr/>
        </p:nvSpPr>
        <p:spPr>
          <a:xfrm>
            <a:off x="800450" y="4547875"/>
            <a:ext cx="7537200" cy="431100"/>
          </a:xfrm>
          <a:prstGeom prst="rect">
            <a:avLst/>
          </a:prstGeom>
          <a:noFill/>
          <a:ln>
            <a:noFill/>
          </a:ln>
        </p:spPr>
        <p:txBody>
          <a:bodyPr anchorCtr="0" anchor="t" bIns="91425" lIns="91425" spcFirstLastPara="1" rIns="91425" wrap="square" tIns="91425">
            <a:spAutoFit/>
          </a:bodyPr>
          <a:lstStyle/>
          <a:p>
            <a:pPr indent="0" lvl="0" marL="0" rtl="0" algn="r">
              <a:spcBef>
                <a:spcPts val="0"/>
              </a:spcBef>
              <a:spcAft>
                <a:spcPts val="0"/>
              </a:spcAft>
              <a:buNone/>
            </a:pPr>
            <a:r>
              <a:rPr lang="es-419" sz="800">
                <a:solidFill>
                  <a:srgbClr val="94B6BD"/>
                </a:solidFill>
              </a:rPr>
              <a:t>García Pérez, S. 2022. Detección de somnolencia durante la conducción en un ambiente simulado. Tesis de Maestría en Ciencias. </a:t>
            </a:r>
            <a:endParaRPr sz="800">
              <a:solidFill>
                <a:srgbClr val="94B6BD"/>
              </a:solidFill>
            </a:endParaRPr>
          </a:p>
          <a:p>
            <a:pPr indent="0" lvl="0" marL="0" rtl="0" algn="r">
              <a:spcBef>
                <a:spcPts val="0"/>
              </a:spcBef>
              <a:spcAft>
                <a:spcPts val="0"/>
              </a:spcAft>
              <a:buNone/>
            </a:pPr>
            <a:r>
              <a:rPr lang="es-419" sz="800">
                <a:solidFill>
                  <a:srgbClr val="94B6BD"/>
                </a:solidFill>
              </a:rPr>
              <a:t>Centro de Investigación Científica y de Educación Superior de Ensenada, Baja California.</a:t>
            </a:r>
            <a:endParaRPr sz="800">
              <a:solidFill>
                <a:srgbClr val="94B6BD"/>
              </a:solidFill>
            </a:endParaRPr>
          </a:p>
        </p:txBody>
      </p:sp>
      <p:pic>
        <p:nvPicPr>
          <p:cNvPr id="700" name="Google Shape;700;p62"/>
          <p:cNvPicPr preferRelativeResize="0"/>
          <p:nvPr/>
        </p:nvPicPr>
        <p:blipFill>
          <a:blip r:embed="rId3">
            <a:alphaModFix/>
          </a:blip>
          <a:stretch>
            <a:fillRect/>
          </a:stretch>
        </p:blipFill>
        <p:spPr>
          <a:xfrm>
            <a:off x="2085737" y="2825753"/>
            <a:ext cx="4972525" cy="1509025"/>
          </a:xfrm>
          <a:prstGeom prst="rect">
            <a:avLst/>
          </a:prstGeom>
          <a:noFill/>
          <a:ln>
            <a:noFill/>
          </a:ln>
        </p:spPr>
      </p:pic>
      <p:pic>
        <p:nvPicPr>
          <p:cNvPr id="701" name="Google Shape;701;p62"/>
          <p:cNvPicPr preferRelativeResize="0"/>
          <p:nvPr/>
        </p:nvPicPr>
        <p:blipFill rotWithShape="1">
          <a:blip r:embed="rId4">
            <a:alphaModFix/>
          </a:blip>
          <a:srcRect b="0" l="0" r="0" t="48154"/>
          <a:stretch/>
        </p:blipFill>
        <p:spPr>
          <a:xfrm>
            <a:off x="2085725" y="1480207"/>
            <a:ext cx="4972551" cy="1132442"/>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63"/>
          <p:cNvSpPr txBox="1"/>
          <p:nvPr>
            <p:ph type="title"/>
          </p:nvPr>
        </p:nvSpPr>
        <p:spPr>
          <a:xfrm>
            <a:off x="1388625" y="772725"/>
            <a:ext cx="6366900" cy="18633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s-419" sz="6000"/>
              <a:t>¿Preguntas?</a:t>
            </a:r>
            <a:endParaRPr sz="6000"/>
          </a:p>
        </p:txBody>
      </p:sp>
      <p:sp>
        <p:nvSpPr>
          <p:cNvPr id="707" name="Google Shape;707;p63"/>
          <p:cNvSpPr txBox="1"/>
          <p:nvPr>
            <p:ph idx="1" type="body"/>
          </p:nvPr>
        </p:nvSpPr>
        <p:spPr>
          <a:xfrm>
            <a:off x="1388625" y="2483700"/>
            <a:ext cx="6366900" cy="11112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b="1" lang="es-419" sz="1600">
                <a:solidFill>
                  <a:schemeClr val="dk1"/>
                </a:solidFill>
              </a:rPr>
              <a:t>hussein@cicese.mx</a:t>
            </a:r>
            <a:endParaRPr b="1" sz="1600">
              <a:solidFill>
                <a:schemeClr val="dk1"/>
              </a:solidFill>
            </a:endParaRPr>
          </a:p>
          <a:p>
            <a:pPr indent="0" lvl="0" marL="0" rtl="0" algn="ctr">
              <a:spcBef>
                <a:spcPts val="1200"/>
              </a:spcBef>
              <a:spcAft>
                <a:spcPts val="1200"/>
              </a:spcAft>
              <a:buNone/>
            </a:pPr>
            <a:r>
              <a:t/>
            </a:r>
            <a:endParaRPr b="1" sz="1600">
              <a:solidFill>
                <a:schemeClr val="dk1"/>
              </a:solidFill>
            </a:endParaRPr>
          </a:p>
        </p:txBody>
      </p:sp>
      <p:sp>
        <p:nvSpPr>
          <p:cNvPr id="708" name="Google Shape;708;p63"/>
          <p:cNvSpPr txBox="1"/>
          <p:nvPr>
            <p:ph idx="12" type="sldNum"/>
          </p:nvPr>
        </p:nvSpPr>
        <p:spPr>
          <a:xfrm>
            <a:off x="8451046" y="4736976"/>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es-419"/>
              <a:t>‹#›</a:t>
            </a:fld>
            <a:endParaRPr/>
          </a:p>
        </p:txBody>
      </p:sp>
      <p:pic>
        <p:nvPicPr>
          <p:cNvPr id="709" name="Google Shape;709;p63"/>
          <p:cNvPicPr preferRelativeResize="0"/>
          <p:nvPr/>
        </p:nvPicPr>
        <p:blipFill>
          <a:blip r:embed="rId3">
            <a:alphaModFix/>
          </a:blip>
          <a:stretch>
            <a:fillRect/>
          </a:stretch>
        </p:blipFill>
        <p:spPr>
          <a:xfrm>
            <a:off x="7771986" y="3437649"/>
            <a:ext cx="1372013" cy="1705850"/>
          </a:xfrm>
          <a:prstGeom prst="rect">
            <a:avLst/>
          </a:prstGeom>
          <a:noFill/>
          <a:ln>
            <a:noFill/>
          </a:ln>
        </p:spPr>
      </p:pic>
      <p:pic>
        <p:nvPicPr>
          <p:cNvPr id="710" name="Google Shape;710;p63"/>
          <p:cNvPicPr preferRelativeResize="0"/>
          <p:nvPr/>
        </p:nvPicPr>
        <p:blipFill>
          <a:blip r:embed="rId4">
            <a:alphaModFix/>
          </a:blip>
          <a:stretch>
            <a:fillRect/>
          </a:stretch>
        </p:blipFill>
        <p:spPr>
          <a:xfrm>
            <a:off x="0" y="3437650"/>
            <a:ext cx="2273117" cy="17058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Impulso CDSI">
  <a:themeElements>
    <a:clrScheme name="Momentum">
      <a:dk1>
        <a:srgbClr val="94B6BD"/>
      </a:dk1>
      <a:lt1>
        <a:srgbClr val="FFFFFF"/>
      </a:lt1>
      <a:dk2>
        <a:srgbClr val="073763"/>
      </a:dk2>
      <a:lt2>
        <a:srgbClr val="BBBBBB"/>
      </a:lt2>
      <a:accent1>
        <a:srgbClr val="3A4664"/>
      </a:accent1>
      <a:accent2>
        <a:srgbClr val="94B6BD"/>
      </a:accent2>
      <a:accent3>
        <a:srgbClr val="EEEEEE"/>
      </a:accent3>
      <a:accent4>
        <a:srgbClr val="BBBBBB"/>
      </a:accent4>
      <a:accent5>
        <a:srgbClr val="0B5394"/>
      </a:accent5>
      <a:accent6>
        <a:srgbClr val="D9D2E9"/>
      </a:accent6>
      <a:hlink>
        <a:srgbClr val="DD7E6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